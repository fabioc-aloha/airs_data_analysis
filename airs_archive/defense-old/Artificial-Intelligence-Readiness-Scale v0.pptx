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4630400" cy="8229600"/>
  <p:notesSz cx="8229600" cy="14630400"/>
  <p:embeddedFontLst>
    <p:embeddedFont>
      <p:font typeface="Roboto Slab"/>
      <p:regular r:id="rId37"/>
    </p:embeddedFont>
    <p:embeddedFont>
      <p:font typeface="Roboto Slab"/>
      <p:regular r:id="rId38"/>
    </p:embeddedFont>
    <p:embeddedFont>
      <p:font typeface="Roboto"/>
      <p:regular r:id="rId39"/>
    </p:embeddedFont>
    <p:embeddedFont>
      <p:font typeface="Roboto"/>
      <p:regular r:id="rId40"/>
    </p:embeddedFont>
    <p:embeddedFont>
      <p:font typeface="Roboto"/>
      <p:regular r:id="rId41"/>
    </p:embeddedFont>
    <p:embeddedFont>
      <p:font typeface="Roboto"/>
      <p:regular r:id="rId4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9.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6.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sv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sv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svg"/><Relationship Id="rId13" Type="http://schemas.openxmlformats.org/officeDocument/2006/relationships/slideLayout" Target="../slideLayouts/slideLayout20.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2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7.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slideLayout" Target="../slideLayouts/slideLayout30.xml"/><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650450"/>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Artificial Intelligence Readiness Scale</a:t>
            </a:r>
            <a:endParaRPr lang="en-US" sz="4450" dirty="0"/>
          </a:p>
        </p:txBody>
      </p:sp>
      <p:sp>
        <p:nvSpPr>
          <p:cNvPr id="4" name="Text 1"/>
          <p:cNvSpPr/>
          <p:nvPr/>
        </p:nvSpPr>
        <p:spPr>
          <a:xfrm>
            <a:off x="793790" y="4158734"/>
            <a:ext cx="616398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Extending UTAUT2 for Enterprise AI Adoption</a:t>
            </a:r>
            <a:endParaRPr lang="en-US" sz="2200" dirty="0"/>
          </a:p>
        </p:txBody>
      </p:sp>
      <p:sp>
        <p:nvSpPr>
          <p:cNvPr id="5" name="Text 2"/>
          <p:cNvSpPr/>
          <p:nvPr/>
        </p:nvSpPr>
        <p:spPr>
          <a:xfrm>
            <a:off x="793790" y="4853226"/>
            <a:ext cx="7556421" cy="725805"/>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Fabio Correa</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 Doctor of Business Administration</a:t>
            </a:r>
            <a:endParaRPr lang="en-US" sz="1750" dirty="0"/>
          </a:p>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Touro University Worldwide | December 2025</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430066"/>
            <a:ext cx="5054441"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Dissertation Committee</a:t>
            </a:r>
            <a:endParaRPr lang="en-US" sz="3550" dirty="0"/>
          </a:p>
        </p:txBody>
      </p:sp>
      <p:sp>
        <p:nvSpPr>
          <p:cNvPr id="3" name="Shape 1"/>
          <p:cNvSpPr/>
          <p:nvPr/>
        </p:nvSpPr>
        <p:spPr>
          <a:xfrm>
            <a:off x="793790" y="3450669"/>
            <a:ext cx="4196358" cy="1367909"/>
          </a:xfrm>
          <a:prstGeom prst="roundRect">
            <a:avLst>
              <a:gd name="adj" fmla="val 2487"/>
            </a:avLst>
          </a:prstGeom>
          <a:solidFill>
            <a:srgbClr val="FBFCFE"/>
          </a:solidFill>
          <a:ln w="30480">
            <a:solidFill>
              <a:srgbClr val="CFD2D8"/>
            </a:solidFill>
            <a:prstDash val="solid"/>
          </a:ln>
        </p:spPr>
      </p:sp>
      <p:sp>
        <p:nvSpPr>
          <p:cNvPr id="4" name="Text 2"/>
          <p:cNvSpPr/>
          <p:nvPr/>
        </p:nvSpPr>
        <p:spPr>
          <a:xfrm>
            <a:off x="1051084" y="3707963"/>
            <a:ext cx="2850713"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Dr. Karina Kasztelnik</a:t>
            </a:r>
            <a:endParaRPr lang="en-US" sz="2200" dirty="0"/>
          </a:p>
        </p:txBody>
      </p:sp>
      <p:sp>
        <p:nvSpPr>
          <p:cNvPr id="5" name="Text 3"/>
          <p:cNvSpPr/>
          <p:nvPr/>
        </p:nvSpPr>
        <p:spPr>
          <a:xfrm>
            <a:off x="1051084" y="4198382"/>
            <a:ext cx="368177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Committee Chair</a:t>
            </a:r>
            <a:endParaRPr lang="en-US" sz="1750" dirty="0"/>
          </a:p>
        </p:txBody>
      </p:sp>
      <p:sp>
        <p:nvSpPr>
          <p:cNvPr id="6" name="Shape 4"/>
          <p:cNvSpPr/>
          <p:nvPr/>
        </p:nvSpPr>
        <p:spPr>
          <a:xfrm>
            <a:off x="5216962" y="3450669"/>
            <a:ext cx="4196358" cy="1367909"/>
          </a:xfrm>
          <a:prstGeom prst="roundRect">
            <a:avLst>
              <a:gd name="adj" fmla="val 2487"/>
            </a:avLst>
          </a:prstGeom>
          <a:solidFill>
            <a:srgbClr val="FBFCFE"/>
          </a:solidFill>
          <a:ln w="30480">
            <a:solidFill>
              <a:srgbClr val="CFD2D8"/>
            </a:solidFill>
            <a:prstDash val="solid"/>
          </a:ln>
        </p:spPr>
      </p:sp>
      <p:sp>
        <p:nvSpPr>
          <p:cNvPr id="7" name="Text 5"/>
          <p:cNvSpPr/>
          <p:nvPr/>
        </p:nvSpPr>
        <p:spPr>
          <a:xfrm>
            <a:off x="5474256" y="370796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Dr. Jerome Jones</a:t>
            </a:r>
            <a:endParaRPr lang="en-US" sz="2200" dirty="0"/>
          </a:p>
        </p:txBody>
      </p:sp>
      <p:sp>
        <p:nvSpPr>
          <p:cNvPr id="8" name="Text 6"/>
          <p:cNvSpPr/>
          <p:nvPr/>
        </p:nvSpPr>
        <p:spPr>
          <a:xfrm>
            <a:off x="5474256" y="4198382"/>
            <a:ext cx="368177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Committee Member</a:t>
            </a:r>
            <a:endParaRPr lang="en-US" sz="1750" dirty="0"/>
          </a:p>
        </p:txBody>
      </p:sp>
      <p:sp>
        <p:nvSpPr>
          <p:cNvPr id="9" name="Shape 7"/>
          <p:cNvSpPr/>
          <p:nvPr/>
        </p:nvSpPr>
        <p:spPr>
          <a:xfrm>
            <a:off x="9640133" y="3450669"/>
            <a:ext cx="4196358" cy="1367909"/>
          </a:xfrm>
          <a:prstGeom prst="roundRect">
            <a:avLst>
              <a:gd name="adj" fmla="val 2487"/>
            </a:avLst>
          </a:prstGeom>
          <a:solidFill>
            <a:srgbClr val="FBFCFE"/>
          </a:solidFill>
          <a:ln w="30480">
            <a:solidFill>
              <a:srgbClr val="CFD2D8"/>
            </a:solidFill>
            <a:prstDash val="solid"/>
          </a:ln>
        </p:spPr>
      </p:sp>
      <p:sp>
        <p:nvSpPr>
          <p:cNvPr id="10" name="Text 8"/>
          <p:cNvSpPr/>
          <p:nvPr/>
        </p:nvSpPr>
        <p:spPr>
          <a:xfrm>
            <a:off x="9897427" y="370796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Dr. Donna Day</a:t>
            </a:r>
            <a:endParaRPr lang="en-US" sz="2200" dirty="0"/>
          </a:p>
        </p:txBody>
      </p:sp>
      <p:sp>
        <p:nvSpPr>
          <p:cNvPr id="11" name="Text 9"/>
          <p:cNvSpPr/>
          <p:nvPr/>
        </p:nvSpPr>
        <p:spPr>
          <a:xfrm>
            <a:off x="9897427" y="4198382"/>
            <a:ext cx="3681770"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Committee Member</a:t>
            </a:r>
            <a:endParaRPr lang="en-US" sz="1750" dirty="0"/>
          </a:p>
        </p:txBody>
      </p:sp>
      <p:sp>
        <p:nvSpPr>
          <p:cNvPr id="12" name="Text 10"/>
          <p:cNvSpPr/>
          <p:nvPr/>
        </p:nvSpPr>
        <p:spPr>
          <a:xfrm>
            <a:off x="793790" y="507372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Thank you for the opportunity to present this research on developing a diagnostic instrument to understand AI adoption readiness in organizational contexts.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47480"/>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Research Overview</a:t>
            </a:r>
            <a:endParaRPr lang="en-US" sz="3550" dirty="0"/>
          </a:p>
        </p:txBody>
      </p:sp>
      <p:sp>
        <p:nvSpPr>
          <p:cNvPr id="3" name="Text 1"/>
          <p:cNvSpPr/>
          <p:nvPr/>
        </p:nvSpPr>
        <p:spPr>
          <a:xfrm>
            <a:off x="793790" y="2881432"/>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The Study</a:t>
            </a:r>
            <a:endParaRPr lang="en-US" sz="2650" dirty="0"/>
          </a:p>
        </p:txBody>
      </p:sp>
      <p:sp>
        <p:nvSpPr>
          <p:cNvPr id="4" name="Text 2"/>
          <p:cNvSpPr/>
          <p:nvPr/>
        </p:nvSpPr>
        <p:spPr>
          <a:xfrm>
            <a:off x="793790" y="3533537"/>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This dissertation presents the development and validation of the Artificial Intelligence Readiness Scale (AIRS-16), a psychometric instrument extending UTAUT2 to measure AI adoption readiness.</a:t>
            </a:r>
            <a:endParaRPr lang="en-US" sz="1750" dirty="0"/>
          </a:p>
        </p:txBody>
      </p:sp>
      <p:sp>
        <p:nvSpPr>
          <p:cNvPr id="5" name="Text 3"/>
          <p:cNvSpPr/>
          <p:nvPr/>
        </p:nvSpPr>
        <p:spPr>
          <a:xfrm>
            <a:off x="793790" y="5189220"/>
            <a:ext cx="6244709" cy="1088708"/>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Primary Goal:</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Help organizations understand why individuals adopt or resist AI tools by providing validated diagnostic measurement.</a:t>
            </a:r>
            <a:endParaRPr lang="en-US" sz="1750" dirty="0"/>
          </a:p>
        </p:txBody>
      </p:sp>
      <p:sp>
        <p:nvSpPr>
          <p:cNvPr id="6" name="Text 4"/>
          <p:cNvSpPr/>
          <p:nvPr/>
        </p:nvSpPr>
        <p:spPr>
          <a:xfrm>
            <a:off x="7599521" y="2881432"/>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Presentation Agenda</a:t>
            </a:r>
            <a:endParaRPr lang="en-US" sz="2650" dirty="0"/>
          </a:p>
        </p:txBody>
      </p:sp>
      <p:sp>
        <p:nvSpPr>
          <p:cNvPr id="7" name="Text 5"/>
          <p:cNvSpPr/>
          <p:nvPr/>
        </p:nvSpPr>
        <p:spPr>
          <a:xfrm>
            <a:off x="7599521" y="3533537"/>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1"/>
            </a:pPr>
            <a:r>
              <a:rPr lang="en-US" sz="1750" dirty="0">
                <a:solidFill>
                  <a:srgbClr val="15213F"/>
                </a:solidFill>
                <a:latin typeface="Roboto" pitchFamily="34" charset="0"/>
                <a:ea typeface="Roboto" pitchFamily="34" charset="-122"/>
                <a:cs typeface="Roboto" pitchFamily="34" charset="-120"/>
              </a:rPr>
              <a:t>The AI adoption paradox and research gaps</a:t>
            </a:r>
            <a:endParaRPr lang="en-US" sz="1750" dirty="0"/>
          </a:p>
        </p:txBody>
      </p:sp>
      <p:sp>
        <p:nvSpPr>
          <p:cNvPr id="8" name="Text 6"/>
          <p:cNvSpPr/>
          <p:nvPr/>
        </p:nvSpPr>
        <p:spPr>
          <a:xfrm>
            <a:off x="7599521" y="3975735"/>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2"/>
            </a:pPr>
            <a:r>
              <a:rPr lang="en-US" sz="1750" dirty="0">
                <a:solidFill>
                  <a:srgbClr val="15213F"/>
                </a:solidFill>
                <a:latin typeface="Roboto" pitchFamily="34" charset="0"/>
                <a:ea typeface="Roboto" pitchFamily="34" charset="-122"/>
                <a:cs typeface="Roboto" pitchFamily="34" charset="-120"/>
              </a:rPr>
              <a:t>Theoretical framework and hypotheses</a:t>
            </a:r>
            <a:endParaRPr lang="en-US" sz="1750" dirty="0"/>
          </a:p>
        </p:txBody>
      </p:sp>
      <p:sp>
        <p:nvSpPr>
          <p:cNvPr id="9" name="Text 7"/>
          <p:cNvSpPr/>
          <p:nvPr/>
        </p:nvSpPr>
        <p:spPr>
          <a:xfrm>
            <a:off x="7599521" y="4417933"/>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3"/>
            </a:pPr>
            <a:r>
              <a:rPr lang="en-US" sz="1750" dirty="0">
                <a:solidFill>
                  <a:srgbClr val="15213F"/>
                </a:solidFill>
                <a:latin typeface="Roboto" pitchFamily="34" charset="0"/>
                <a:ea typeface="Roboto" pitchFamily="34" charset="-122"/>
                <a:cs typeface="Roboto" pitchFamily="34" charset="-120"/>
              </a:rPr>
              <a:t>Methodology and sample characteristics</a:t>
            </a:r>
            <a:endParaRPr lang="en-US" sz="1750" dirty="0"/>
          </a:p>
        </p:txBody>
      </p:sp>
      <p:sp>
        <p:nvSpPr>
          <p:cNvPr id="10" name="Text 8"/>
          <p:cNvSpPr/>
          <p:nvPr/>
        </p:nvSpPr>
        <p:spPr>
          <a:xfrm>
            <a:off x="7599521" y="4860131"/>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4"/>
            </a:pPr>
            <a:r>
              <a:rPr lang="en-US" sz="1750" dirty="0">
                <a:solidFill>
                  <a:srgbClr val="15213F"/>
                </a:solidFill>
                <a:latin typeface="Roboto" pitchFamily="34" charset="0"/>
                <a:ea typeface="Roboto" pitchFamily="34" charset="-122"/>
                <a:cs typeface="Roboto" pitchFamily="34" charset="-120"/>
              </a:rPr>
              <a:t>Key findings and paradigm shifts</a:t>
            </a:r>
            <a:endParaRPr lang="en-US" sz="1750" dirty="0"/>
          </a:p>
        </p:txBody>
      </p:sp>
      <p:sp>
        <p:nvSpPr>
          <p:cNvPr id="11" name="Text 9"/>
          <p:cNvSpPr/>
          <p:nvPr/>
        </p:nvSpPr>
        <p:spPr>
          <a:xfrm>
            <a:off x="7599521" y="5302329"/>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5"/>
            </a:pPr>
            <a:r>
              <a:rPr lang="en-US" sz="1750" dirty="0">
                <a:solidFill>
                  <a:srgbClr val="15213F"/>
                </a:solidFill>
                <a:latin typeface="Roboto" pitchFamily="34" charset="0"/>
                <a:ea typeface="Roboto" pitchFamily="34" charset="-122"/>
                <a:cs typeface="Roboto" pitchFamily="34" charset="-120"/>
              </a:rPr>
              <a:t>Theoretical and practical contributions</a:t>
            </a:r>
            <a:endParaRPr lang="en-US" sz="1750" dirty="0"/>
          </a:p>
        </p:txBody>
      </p:sp>
      <p:sp>
        <p:nvSpPr>
          <p:cNvPr id="12" name="Text 10"/>
          <p:cNvSpPr/>
          <p:nvPr/>
        </p:nvSpPr>
        <p:spPr>
          <a:xfrm>
            <a:off x="7599521" y="5744528"/>
            <a:ext cx="6244709"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6"/>
            </a:pPr>
            <a:r>
              <a:rPr lang="en-US" sz="1750" dirty="0">
                <a:solidFill>
                  <a:srgbClr val="15213F"/>
                </a:solidFill>
                <a:latin typeface="Roboto" pitchFamily="34" charset="0"/>
                <a:ea typeface="Roboto" pitchFamily="34" charset="-122"/>
                <a:cs typeface="Roboto" pitchFamily="34" charset="-120"/>
              </a:rPr>
              <a:t>Limitations and future directions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637109"/>
            <a:ext cx="5385197"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The AI Adoption Paradox</a:t>
            </a:r>
            <a:endParaRPr lang="en-US" sz="3550" dirty="0"/>
          </a:p>
        </p:txBody>
      </p:sp>
      <p:sp>
        <p:nvSpPr>
          <p:cNvPr id="3" name="Text 1"/>
          <p:cNvSpPr/>
          <p:nvPr/>
        </p:nvSpPr>
        <p:spPr>
          <a:xfrm>
            <a:off x="793790" y="2771061"/>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88%</a:t>
            </a:r>
            <a:endParaRPr lang="en-US" sz="5850" dirty="0"/>
          </a:p>
        </p:txBody>
      </p:sp>
      <p:sp>
        <p:nvSpPr>
          <p:cNvPr id="4" name="Text 2"/>
          <p:cNvSpPr/>
          <p:nvPr/>
        </p:nvSpPr>
        <p:spPr>
          <a:xfrm>
            <a:off x="793790" y="3802856"/>
            <a:ext cx="4158615" cy="708660"/>
          </a:xfrm>
          <a:prstGeom prst="rect">
            <a:avLst/>
          </a:prstGeom>
          <a:noFill/>
          <a:ln/>
        </p:spPr>
        <p:txBody>
          <a:bodyPr wrap="squar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Organizations Report AI Adoption</a:t>
            </a:r>
            <a:endParaRPr lang="en-US" sz="2200" dirty="0"/>
          </a:p>
        </p:txBody>
      </p:sp>
      <p:sp>
        <p:nvSpPr>
          <p:cNvPr id="5" name="Text 3"/>
          <p:cNvSpPr/>
          <p:nvPr/>
        </p:nvSpPr>
        <p:spPr>
          <a:xfrm>
            <a:off x="793790" y="4647605"/>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McKinsey State of AI 2025</a:t>
            </a:r>
            <a:endParaRPr lang="en-US" sz="1750" dirty="0"/>
          </a:p>
        </p:txBody>
      </p:sp>
      <p:sp>
        <p:nvSpPr>
          <p:cNvPr id="6" name="Text 4"/>
          <p:cNvSpPr/>
          <p:nvPr/>
        </p:nvSpPr>
        <p:spPr>
          <a:xfrm>
            <a:off x="5235893" y="2771061"/>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6%</a:t>
            </a:r>
            <a:endParaRPr lang="en-US" sz="5850" dirty="0"/>
          </a:p>
        </p:txBody>
      </p:sp>
      <p:sp>
        <p:nvSpPr>
          <p:cNvPr id="7" name="Text 5"/>
          <p:cNvSpPr/>
          <p:nvPr/>
        </p:nvSpPr>
        <p:spPr>
          <a:xfrm>
            <a:off x="5235893" y="3802856"/>
            <a:ext cx="4158615" cy="708660"/>
          </a:xfrm>
          <a:prstGeom prst="rect">
            <a:avLst/>
          </a:prstGeom>
          <a:noFill/>
          <a:ln/>
        </p:spPr>
        <p:txBody>
          <a:bodyPr wrap="squar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Achieve Meaningful Business Value</a:t>
            </a:r>
            <a:endParaRPr lang="en-US" sz="2200" dirty="0"/>
          </a:p>
        </p:txBody>
      </p:sp>
      <p:sp>
        <p:nvSpPr>
          <p:cNvPr id="8" name="Text 6"/>
          <p:cNvSpPr/>
          <p:nvPr/>
        </p:nvSpPr>
        <p:spPr>
          <a:xfrm>
            <a:off x="5235893" y="4647605"/>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Despite significant investment</a:t>
            </a:r>
            <a:endParaRPr lang="en-US" sz="1750" dirty="0"/>
          </a:p>
        </p:txBody>
      </p:sp>
      <p:sp>
        <p:nvSpPr>
          <p:cNvPr id="9" name="Text 7"/>
          <p:cNvSpPr/>
          <p:nvPr/>
        </p:nvSpPr>
        <p:spPr>
          <a:xfrm>
            <a:off x="9677995" y="2771061"/>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90-95%</a:t>
            </a:r>
            <a:endParaRPr lang="en-US" sz="5850" dirty="0"/>
          </a:p>
        </p:txBody>
      </p:sp>
      <p:sp>
        <p:nvSpPr>
          <p:cNvPr id="10" name="Text 8"/>
          <p:cNvSpPr/>
          <p:nvPr/>
        </p:nvSpPr>
        <p:spPr>
          <a:xfrm>
            <a:off x="10339626" y="3802856"/>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AI Pilots Fail to Scale</a:t>
            </a:r>
            <a:endParaRPr lang="en-US" sz="2200" dirty="0"/>
          </a:p>
        </p:txBody>
      </p:sp>
      <p:sp>
        <p:nvSpPr>
          <p:cNvPr id="11" name="Text 9"/>
          <p:cNvSpPr/>
          <p:nvPr/>
        </p:nvSpPr>
        <p:spPr>
          <a:xfrm>
            <a:off x="9677995" y="4293275"/>
            <a:ext cx="4158615"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MIT Media Lab findings</a:t>
            </a:r>
            <a:endParaRPr lang="en-US" sz="1750" dirty="0"/>
          </a:p>
        </p:txBody>
      </p:sp>
      <p:sp>
        <p:nvSpPr>
          <p:cNvPr id="12" name="Shape 10"/>
          <p:cNvSpPr/>
          <p:nvPr/>
        </p:nvSpPr>
        <p:spPr>
          <a:xfrm>
            <a:off x="793790" y="5265658"/>
            <a:ext cx="13042821" cy="1326713"/>
          </a:xfrm>
          <a:prstGeom prst="roundRect">
            <a:avLst>
              <a:gd name="adj" fmla="val 2565"/>
            </a:avLst>
          </a:prstGeom>
          <a:solidFill>
            <a:srgbClr val="C3CFEF"/>
          </a:solidFill>
          <a:ln/>
        </p:spPr>
      </p:sp>
      <p:pic>
        <p:nvPicPr>
          <p:cNvPr id="13" name="Image 0" descr="preencoded.png">    </p:cNvPr>
          <p:cNvPicPr>
            <a:picLocks noChangeAspect="1"/>
          </p:cNvPicPr>
          <p:nvPr/>
        </p:nvPicPr>
        <p:blipFill>
          <a:blip r:embed="rId1"/>
          <a:stretch>
            <a:fillRect/>
          </a:stretch>
        </p:blipFill>
        <p:spPr>
          <a:xfrm>
            <a:off x="1020604" y="5609749"/>
            <a:ext cx="283488" cy="226814"/>
          </a:xfrm>
          <a:prstGeom prst="rect">
            <a:avLst/>
          </a:prstGeom>
        </p:spPr>
      </p:pic>
      <p:sp>
        <p:nvSpPr>
          <p:cNvPr id="14" name="Text 11"/>
          <p:cNvSpPr/>
          <p:nvPr/>
        </p:nvSpPr>
        <p:spPr>
          <a:xfrm>
            <a:off x="1530906" y="5549146"/>
            <a:ext cx="12078891"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Roboto" pitchFamily="34" charset="0"/>
                <a:ea typeface="Roboto" pitchFamily="34" charset="-122"/>
                <a:cs typeface="Roboto" pitchFamily="34" charset="-120"/>
              </a:rPr>
              <a:t>The Critical Gap:</a:t>
            </a:r>
            <a:pPr algn="l" indent="0" marL="0">
              <a:lnSpc>
                <a:spcPts val="2850"/>
              </a:lnSpc>
              <a:buNone/>
            </a:pPr>
            <a:r>
              <a:rPr lang="en-US" sz="1750" dirty="0">
                <a:solidFill>
                  <a:srgbClr val="000000"/>
                </a:solidFill>
                <a:latin typeface="Roboto" pitchFamily="34" charset="0"/>
                <a:ea typeface="Roboto" pitchFamily="34" charset="-122"/>
                <a:cs typeface="Roboto" pitchFamily="34" charset="-120"/>
              </a:rPr>
              <a:t> Organizations invest heavily in AI technology but lack validated tools to understand why individuals actually adopt or resist these systems at the human level.</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57933"/>
            <a:ext cx="7866221"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Three Interconnected Research Gaps</a:t>
            </a:r>
            <a:endParaRPr lang="en-US" sz="3550" dirty="0"/>
          </a:p>
        </p:txBody>
      </p:sp>
      <p:sp>
        <p:nvSpPr>
          <p:cNvPr id="3" name="Text 1"/>
          <p:cNvSpPr/>
          <p:nvPr/>
        </p:nvSpPr>
        <p:spPr>
          <a:xfrm>
            <a:off x="793790" y="2578537"/>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4" name="Image 0" descr="preencoded.png">    </p:cNvPr>
          <p:cNvPicPr>
            <a:picLocks noChangeAspect="1"/>
          </p:cNvPicPr>
          <p:nvPr/>
        </p:nvPicPr>
        <p:blipFill>
          <a:blip r:embed="rId1"/>
          <a:stretch>
            <a:fillRect/>
          </a:stretch>
        </p:blipFill>
        <p:spPr>
          <a:xfrm>
            <a:off x="793790" y="2933581"/>
            <a:ext cx="4196358" cy="30480"/>
          </a:xfrm>
          <a:prstGeom prst="rect">
            <a:avLst/>
          </a:prstGeom>
        </p:spPr>
      </p:pic>
      <p:sp>
        <p:nvSpPr>
          <p:cNvPr id="5" name="Text 2"/>
          <p:cNvSpPr/>
          <p:nvPr/>
        </p:nvSpPr>
        <p:spPr>
          <a:xfrm>
            <a:off x="793790" y="310788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Theoretical Gap</a:t>
            </a:r>
            <a:endParaRPr lang="en-US" sz="2200" dirty="0"/>
          </a:p>
        </p:txBody>
      </p:sp>
      <p:sp>
        <p:nvSpPr>
          <p:cNvPr id="6" name="Text 3"/>
          <p:cNvSpPr/>
          <p:nvPr/>
        </p:nvSpPr>
        <p:spPr>
          <a:xfrm>
            <a:off x="793790" y="3598307"/>
            <a:ext cx="4196358" cy="290322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UTAUT2 was validated on mobile apps and consumer technologies, not AI systems. Venkatesh (2021) identified nine unique AI adoption challenges that existing frameworks fail to address, including trust in opaque systems, ethical concerns, and autonomous decision-making.</a:t>
            </a:r>
            <a:endParaRPr lang="en-US" sz="1750" dirty="0"/>
          </a:p>
        </p:txBody>
      </p:sp>
      <p:sp>
        <p:nvSpPr>
          <p:cNvPr id="7" name="Text 4"/>
          <p:cNvSpPr/>
          <p:nvPr/>
        </p:nvSpPr>
        <p:spPr>
          <a:xfrm>
            <a:off x="5216962" y="2578537"/>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8" name="Image 1" descr="preencoded.png">    </p:cNvPr>
          <p:cNvPicPr>
            <a:picLocks noChangeAspect="1"/>
          </p:cNvPicPr>
          <p:nvPr/>
        </p:nvPicPr>
        <p:blipFill>
          <a:blip r:embed="rId2"/>
          <a:stretch>
            <a:fillRect/>
          </a:stretch>
        </p:blipFill>
        <p:spPr>
          <a:xfrm>
            <a:off x="5216962" y="2956322"/>
            <a:ext cx="4196358" cy="30480"/>
          </a:xfrm>
          <a:prstGeom prst="rect">
            <a:avLst/>
          </a:prstGeom>
        </p:spPr>
      </p:pic>
      <p:sp>
        <p:nvSpPr>
          <p:cNvPr id="9" name="Text 5"/>
          <p:cNvSpPr/>
          <p:nvPr/>
        </p:nvSpPr>
        <p:spPr>
          <a:xfrm>
            <a:off x="5216962" y="310788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Measurement Gap</a:t>
            </a:r>
            <a:endParaRPr lang="en-US" sz="2200" dirty="0"/>
          </a:p>
        </p:txBody>
      </p:sp>
      <p:sp>
        <p:nvSpPr>
          <p:cNvPr id="10" name="Text 6"/>
          <p:cNvSpPr/>
          <p:nvPr/>
        </p:nvSpPr>
        <p:spPr>
          <a:xfrm>
            <a:off x="5216962" y="3598307"/>
            <a:ext cx="4196358" cy="217741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No psychometrically validated instrument exists to measure AI adoption readiness. Organizations rely on ad hoc surveys, general technology readiness scales, or anecdotal feedback—none designed specifically for AI contexts.</a:t>
            </a:r>
            <a:endParaRPr lang="en-US" sz="1750" dirty="0"/>
          </a:p>
        </p:txBody>
      </p:sp>
      <p:sp>
        <p:nvSpPr>
          <p:cNvPr id="11" name="Text 7"/>
          <p:cNvSpPr/>
          <p:nvPr/>
        </p:nvSpPr>
        <p:spPr>
          <a:xfrm>
            <a:off x="9640133" y="2578537"/>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2" name="Image 2" descr="preencoded.png">    </p:cNvPr>
          <p:cNvPicPr>
            <a:picLocks noChangeAspect="1"/>
          </p:cNvPicPr>
          <p:nvPr/>
        </p:nvPicPr>
        <p:blipFill>
          <a:blip r:embed="rId3"/>
          <a:stretch>
            <a:fillRect/>
          </a:stretch>
        </p:blipFill>
        <p:spPr>
          <a:xfrm>
            <a:off x="9640133" y="2956322"/>
            <a:ext cx="4196358" cy="30480"/>
          </a:xfrm>
          <a:prstGeom prst="rect">
            <a:avLst/>
          </a:prstGeom>
        </p:spPr>
      </p:pic>
      <p:sp>
        <p:nvSpPr>
          <p:cNvPr id="13" name="Text 8"/>
          <p:cNvSpPr/>
          <p:nvPr/>
        </p:nvSpPr>
        <p:spPr>
          <a:xfrm>
            <a:off x="9640133" y="310788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Practice Gap</a:t>
            </a:r>
            <a:endParaRPr lang="en-US" sz="2200" dirty="0"/>
          </a:p>
        </p:txBody>
      </p:sp>
      <p:sp>
        <p:nvSpPr>
          <p:cNvPr id="14" name="Text 9"/>
          <p:cNvSpPr/>
          <p:nvPr/>
        </p:nvSpPr>
        <p:spPr>
          <a:xfrm>
            <a:off x="9640133" y="3598307"/>
            <a:ext cx="4196358" cy="217741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Without valid diagnostic measurement, organizations cannot identify adoption barriers, segment users effectively, or design targeted interventions. This contributes directly to the 90-95% pilot failure rate.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52820"/>
            <a:ext cx="4082891" cy="510302"/>
          </a:xfrm>
          <a:prstGeom prst="rect">
            <a:avLst/>
          </a:prstGeom>
          <a:noFill/>
          <a:ln/>
        </p:spPr>
        <p:txBody>
          <a:bodyPr wrap="none" lIns="0" tIns="0" rIns="0" bIns="0" rtlCol="0" anchor="t"/>
          <a:lstStyle/>
          <a:p>
            <a:pPr algn="l" indent="0" marL="0">
              <a:lnSpc>
                <a:spcPts val="4000"/>
              </a:lnSpc>
              <a:buNone/>
            </a:pPr>
            <a:r>
              <a:rPr lang="en-US" sz="3200" dirty="0">
                <a:solidFill>
                  <a:srgbClr val="3257B8"/>
                </a:solidFill>
                <a:latin typeface="Roboto Slab" pitchFamily="34" charset="0"/>
                <a:ea typeface="Roboto Slab" pitchFamily="34" charset="-122"/>
                <a:cs typeface="Roboto Slab" pitchFamily="34" charset="-120"/>
              </a:rPr>
              <a:t>Research Questions</a:t>
            </a:r>
            <a:endParaRPr lang="en-US" sz="3200" dirty="0"/>
          </a:p>
        </p:txBody>
      </p:sp>
      <p:sp>
        <p:nvSpPr>
          <p:cNvPr id="3" name="Text 1"/>
          <p:cNvSpPr/>
          <p:nvPr/>
        </p:nvSpPr>
        <p:spPr>
          <a:xfrm>
            <a:off x="793790" y="1244679"/>
            <a:ext cx="3952637" cy="382786"/>
          </a:xfrm>
          <a:prstGeom prst="rect">
            <a:avLst/>
          </a:prstGeom>
          <a:noFill/>
          <a:ln/>
        </p:spPr>
        <p:txBody>
          <a:bodyPr wrap="none" lIns="0" tIns="0" rIns="0" bIns="0" rtlCol="0" anchor="t"/>
          <a:lstStyle/>
          <a:p>
            <a:pPr algn="l" indent="0" marL="0">
              <a:lnSpc>
                <a:spcPts val="3000"/>
              </a:lnSpc>
              <a:buNone/>
            </a:pPr>
            <a:r>
              <a:rPr lang="en-US" sz="2400" dirty="0">
                <a:solidFill>
                  <a:srgbClr val="3257B8"/>
                </a:solidFill>
                <a:latin typeface="Roboto Slab" pitchFamily="34" charset="0"/>
                <a:ea typeface="Roboto Slab" pitchFamily="34" charset="-122"/>
                <a:cs typeface="Roboto Slab" pitchFamily="34" charset="-120"/>
              </a:rPr>
              <a:t>Primary Research Question</a:t>
            </a:r>
            <a:endParaRPr lang="en-US" sz="2400" dirty="0"/>
          </a:p>
        </p:txBody>
      </p:sp>
      <p:sp>
        <p:nvSpPr>
          <p:cNvPr id="4" name="Text 2"/>
          <p:cNvSpPr/>
          <p:nvPr/>
        </p:nvSpPr>
        <p:spPr>
          <a:xfrm>
            <a:off x="1099899" y="2163128"/>
            <a:ext cx="12736711" cy="653415"/>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How can UTAUT2 be extended with AI-specific constructs to better predict behavioral intention to adopt AI tools in professional and academic contexts?</a:t>
            </a:r>
            <a:endParaRPr lang="en-US" sz="1600" dirty="0"/>
          </a:p>
        </p:txBody>
      </p:sp>
      <p:sp>
        <p:nvSpPr>
          <p:cNvPr id="5" name="Shape 3"/>
          <p:cNvSpPr/>
          <p:nvPr/>
        </p:nvSpPr>
        <p:spPr>
          <a:xfrm>
            <a:off x="793790" y="1933575"/>
            <a:ext cx="22860" cy="1112520"/>
          </a:xfrm>
          <a:prstGeom prst="rect">
            <a:avLst/>
          </a:prstGeom>
          <a:solidFill>
            <a:srgbClr val="3257B8"/>
          </a:solidFill>
          <a:ln/>
        </p:spPr>
      </p:sp>
      <p:sp>
        <p:nvSpPr>
          <p:cNvPr id="6" name="Text 4"/>
          <p:cNvSpPr/>
          <p:nvPr/>
        </p:nvSpPr>
        <p:spPr>
          <a:xfrm>
            <a:off x="793790" y="3352205"/>
            <a:ext cx="4447937" cy="382786"/>
          </a:xfrm>
          <a:prstGeom prst="rect">
            <a:avLst/>
          </a:prstGeom>
          <a:noFill/>
          <a:ln/>
        </p:spPr>
        <p:txBody>
          <a:bodyPr wrap="none" lIns="0" tIns="0" rIns="0" bIns="0" rtlCol="0" anchor="t"/>
          <a:lstStyle/>
          <a:p>
            <a:pPr algn="l" indent="0" marL="0">
              <a:lnSpc>
                <a:spcPts val="3000"/>
              </a:lnSpc>
              <a:buNone/>
            </a:pPr>
            <a:r>
              <a:rPr lang="en-US" sz="2400" dirty="0">
                <a:solidFill>
                  <a:srgbClr val="3257B8"/>
                </a:solidFill>
                <a:latin typeface="Roboto Slab" pitchFamily="34" charset="0"/>
                <a:ea typeface="Roboto Slab" pitchFamily="34" charset="-122"/>
                <a:cs typeface="Roboto Slab" pitchFamily="34" charset="-120"/>
              </a:rPr>
              <a:t>Secondary Research Questions</a:t>
            </a:r>
            <a:endParaRPr lang="en-US" sz="2400" dirty="0"/>
          </a:p>
        </p:txBody>
      </p:sp>
      <p:sp>
        <p:nvSpPr>
          <p:cNvPr id="7" name="Shape 5"/>
          <p:cNvSpPr/>
          <p:nvPr/>
        </p:nvSpPr>
        <p:spPr>
          <a:xfrm>
            <a:off x="793790" y="4041100"/>
            <a:ext cx="13042821" cy="3535680"/>
          </a:xfrm>
          <a:prstGeom prst="roundRect">
            <a:avLst>
              <a:gd name="adj" fmla="val 866"/>
            </a:avLst>
          </a:prstGeom>
          <a:noFill/>
          <a:ln w="7620">
            <a:solidFill>
              <a:srgbClr val="000000">
                <a:alpha val="8000"/>
              </a:srgbClr>
            </a:solidFill>
            <a:prstDash val="solid"/>
          </a:ln>
        </p:spPr>
      </p:sp>
      <p:sp>
        <p:nvSpPr>
          <p:cNvPr id="8" name="Shape 6"/>
          <p:cNvSpPr/>
          <p:nvPr/>
        </p:nvSpPr>
        <p:spPr>
          <a:xfrm>
            <a:off x="801410" y="4048720"/>
            <a:ext cx="13027581" cy="586740"/>
          </a:xfrm>
          <a:prstGeom prst="rect">
            <a:avLst/>
          </a:prstGeom>
          <a:solidFill>
            <a:srgbClr val="FFFFFF">
              <a:alpha val="4000"/>
            </a:srgbClr>
          </a:solidFill>
          <a:ln/>
        </p:spPr>
      </p:sp>
      <p:sp>
        <p:nvSpPr>
          <p:cNvPr id="9" name="Text 7"/>
          <p:cNvSpPr/>
          <p:nvPr/>
        </p:nvSpPr>
        <p:spPr>
          <a:xfrm>
            <a:off x="1005602" y="4178737"/>
            <a:ext cx="890707" cy="326708"/>
          </a:xfrm>
          <a:prstGeom prst="rect">
            <a:avLst/>
          </a:prstGeom>
          <a:noFill/>
          <a:ln/>
        </p:spPr>
        <p:txBody>
          <a:bodyPr wrap="none" lIns="0" tIns="0" rIns="0" bIns="0" rtlCol="0" anchor="t"/>
          <a:lstStyle/>
          <a:p>
            <a:pPr algn="l" indent="0" marL="0">
              <a:lnSpc>
                <a:spcPts val="2550"/>
              </a:lnSpc>
              <a:buNone/>
            </a:pPr>
            <a:r>
              <a:rPr lang="en-US" sz="1600" b="1" dirty="0">
                <a:solidFill>
                  <a:srgbClr val="15213F"/>
                </a:solidFill>
                <a:latin typeface="Roboto" pitchFamily="34" charset="0"/>
                <a:ea typeface="Roboto" pitchFamily="34" charset="-122"/>
                <a:cs typeface="Roboto" pitchFamily="34" charset="-120"/>
              </a:rPr>
              <a:t>RQ</a:t>
            </a:r>
            <a:endParaRPr lang="en-US" sz="1600" dirty="0"/>
          </a:p>
        </p:txBody>
      </p:sp>
      <p:sp>
        <p:nvSpPr>
          <p:cNvPr id="10" name="Text 8"/>
          <p:cNvSpPr/>
          <p:nvPr/>
        </p:nvSpPr>
        <p:spPr>
          <a:xfrm>
            <a:off x="2312075" y="4178737"/>
            <a:ext cx="4795242" cy="326708"/>
          </a:xfrm>
          <a:prstGeom prst="rect">
            <a:avLst/>
          </a:prstGeom>
          <a:noFill/>
          <a:ln/>
        </p:spPr>
        <p:txBody>
          <a:bodyPr wrap="none" lIns="0" tIns="0" rIns="0" bIns="0" rtlCol="0" anchor="t"/>
          <a:lstStyle/>
          <a:p>
            <a:pPr algn="l" indent="0" marL="0">
              <a:lnSpc>
                <a:spcPts val="2550"/>
              </a:lnSpc>
              <a:buNone/>
            </a:pPr>
            <a:r>
              <a:rPr lang="en-US" sz="1600" b="1" dirty="0">
                <a:solidFill>
                  <a:srgbClr val="15213F"/>
                </a:solidFill>
                <a:latin typeface="Roboto" pitchFamily="34" charset="0"/>
                <a:ea typeface="Roboto" pitchFamily="34" charset="-122"/>
                <a:cs typeface="Roboto" pitchFamily="34" charset="-120"/>
              </a:rPr>
              <a:t>Focus</a:t>
            </a:r>
            <a:endParaRPr lang="en-US" sz="1600" dirty="0"/>
          </a:p>
        </p:txBody>
      </p:sp>
      <p:sp>
        <p:nvSpPr>
          <p:cNvPr id="11" name="Text 9"/>
          <p:cNvSpPr/>
          <p:nvPr/>
        </p:nvSpPr>
        <p:spPr>
          <a:xfrm>
            <a:off x="7523083" y="4178737"/>
            <a:ext cx="6101834" cy="326708"/>
          </a:xfrm>
          <a:prstGeom prst="rect">
            <a:avLst/>
          </a:prstGeom>
          <a:noFill/>
          <a:ln/>
        </p:spPr>
        <p:txBody>
          <a:bodyPr wrap="none" lIns="0" tIns="0" rIns="0" bIns="0" rtlCol="0" anchor="t"/>
          <a:lstStyle/>
          <a:p>
            <a:pPr algn="l" indent="0" marL="0">
              <a:lnSpc>
                <a:spcPts val="2550"/>
              </a:lnSpc>
              <a:buNone/>
            </a:pPr>
            <a:r>
              <a:rPr lang="en-US" sz="1600" b="1" dirty="0">
                <a:solidFill>
                  <a:srgbClr val="15213F"/>
                </a:solidFill>
                <a:latin typeface="Roboto" pitchFamily="34" charset="0"/>
                <a:ea typeface="Roboto" pitchFamily="34" charset="-122"/>
                <a:cs typeface="Roboto" pitchFamily="34" charset="-120"/>
              </a:rPr>
              <a:t>Answer</a:t>
            </a:r>
            <a:endParaRPr lang="en-US" sz="1600" dirty="0"/>
          </a:p>
        </p:txBody>
      </p:sp>
      <p:sp>
        <p:nvSpPr>
          <p:cNvPr id="12" name="Shape 10"/>
          <p:cNvSpPr/>
          <p:nvPr/>
        </p:nvSpPr>
        <p:spPr>
          <a:xfrm>
            <a:off x="801410" y="4635460"/>
            <a:ext cx="13027581" cy="586740"/>
          </a:xfrm>
          <a:prstGeom prst="rect">
            <a:avLst/>
          </a:prstGeom>
          <a:solidFill>
            <a:srgbClr val="000000">
              <a:alpha val="4000"/>
            </a:srgbClr>
          </a:solidFill>
          <a:ln/>
        </p:spPr>
      </p:sp>
      <p:sp>
        <p:nvSpPr>
          <p:cNvPr id="13" name="Text 11"/>
          <p:cNvSpPr/>
          <p:nvPr/>
        </p:nvSpPr>
        <p:spPr>
          <a:xfrm>
            <a:off x="1005602" y="4765477"/>
            <a:ext cx="890707"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RQ1</a:t>
            </a:r>
            <a:endParaRPr lang="en-US" sz="1600" dirty="0"/>
          </a:p>
        </p:txBody>
      </p:sp>
      <p:sp>
        <p:nvSpPr>
          <p:cNvPr id="14" name="Text 12"/>
          <p:cNvSpPr/>
          <p:nvPr/>
        </p:nvSpPr>
        <p:spPr>
          <a:xfrm>
            <a:off x="2312075" y="4765477"/>
            <a:ext cx="4795242"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Factor structure</a:t>
            </a:r>
            <a:endParaRPr lang="en-US" sz="1600" dirty="0"/>
          </a:p>
        </p:txBody>
      </p:sp>
      <p:sp>
        <p:nvSpPr>
          <p:cNvPr id="15" name="Text 13"/>
          <p:cNvSpPr/>
          <p:nvPr/>
        </p:nvSpPr>
        <p:spPr>
          <a:xfrm>
            <a:off x="7523083" y="4765477"/>
            <a:ext cx="6101834"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8 factors with 16 validated items</a:t>
            </a:r>
            <a:endParaRPr lang="en-US" sz="1600" dirty="0"/>
          </a:p>
        </p:txBody>
      </p:sp>
      <p:sp>
        <p:nvSpPr>
          <p:cNvPr id="16" name="Shape 14"/>
          <p:cNvSpPr/>
          <p:nvPr/>
        </p:nvSpPr>
        <p:spPr>
          <a:xfrm>
            <a:off x="801410" y="5222200"/>
            <a:ext cx="13027581" cy="586740"/>
          </a:xfrm>
          <a:prstGeom prst="rect">
            <a:avLst/>
          </a:prstGeom>
          <a:solidFill>
            <a:srgbClr val="FFFFFF">
              <a:alpha val="4000"/>
            </a:srgbClr>
          </a:solidFill>
          <a:ln/>
        </p:spPr>
      </p:sp>
      <p:sp>
        <p:nvSpPr>
          <p:cNvPr id="17" name="Text 15"/>
          <p:cNvSpPr/>
          <p:nvPr/>
        </p:nvSpPr>
        <p:spPr>
          <a:xfrm>
            <a:off x="1005602" y="5352217"/>
            <a:ext cx="890707"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RQ2</a:t>
            </a:r>
            <a:endParaRPr lang="en-US" sz="1600" dirty="0"/>
          </a:p>
        </p:txBody>
      </p:sp>
      <p:sp>
        <p:nvSpPr>
          <p:cNvPr id="18" name="Text 16"/>
          <p:cNvSpPr/>
          <p:nvPr/>
        </p:nvSpPr>
        <p:spPr>
          <a:xfrm>
            <a:off x="2312075" y="5352217"/>
            <a:ext cx="4795242"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Measurement invariance</a:t>
            </a:r>
            <a:endParaRPr lang="en-US" sz="1600" dirty="0"/>
          </a:p>
        </p:txBody>
      </p:sp>
      <p:sp>
        <p:nvSpPr>
          <p:cNvPr id="19" name="Text 17"/>
          <p:cNvSpPr/>
          <p:nvPr/>
        </p:nvSpPr>
        <p:spPr>
          <a:xfrm>
            <a:off x="7523083" y="5352217"/>
            <a:ext cx="6101834"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Configural invariance achieved across populations</a:t>
            </a:r>
            <a:endParaRPr lang="en-US" sz="1600" dirty="0"/>
          </a:p>
        </p:txBody>
      </p:sp>
      <p:sp>
        <p:nvSpPr>
          <p:cNvPr id="20" name="Shape 18"/>
          <p:cNvSpPr/>
          <p:nvPr/>
        </p:nvSpPr>
        <p:spPr>
          <a:xfrm>
            <a:off x="801410" y="5808940"/>
            <a:ext cx="13027581" cy="586740"/>
          </a:xfrm>
          <a:prstGeom prst="rect">
            <a:avLst/>
          </a:prstGeom>
          <a:solidFill>
            <a:srgbClr val="000000">
              <a:alpha val="4000"/>
            </a:srgbClr>
          </a:solidFill>
          <a:ln/>
        </p:spPr>
      </p:sp>
      <p:sp>
        <p:nvSpPr>
          <p:cNvPr id="21" name="Text 19"/>
          <p:cNvSpPr/>
          <p:nvPr/>
        </p:nvSpPr>
        <p:spPr>
          <a:xfrm>
            <a:off x="1005602" y="5938957"/>
            <a:ext cx="890707"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RQ3</a:t>
            </a:r>
            <a:endParaRPr lang="en-US" sz="1600" dirty="0"/>
          </a:p>
        </p:txBody>
      </p:sp>
      <p:sp>
        <p:nvSpPr>
          <p:cNvPr id="22" name="Text 20"/>
          <p:cNvSpPr/>
          <p:nvPr/>
        </p:nvSpPr>
        <p:spPr>
          <a:xfrm>
            <a:off x="2312075" y="5938957"/>
            <a:ext cx="4795242"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Strongest predictors</a:t>
            </a:r>
            <a:endParaRPr lang="en-US" sz="1600" dirty="0"/>
          </a:p>
        </p:txBody>
      </p:sp>
      <p:sp>
        <p:nvSpPr>
          <p:cNvPr id="23" name="Text 21"/>
          <p:cNvSpPr/>
          <p:nvPr/>
        </p:nvSpPr>
        <p:spPr>
          <a:xfrm>
            <a:off x="7523083" y="5938957"/>
            <a:ext cx="6101834"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Price Value &gt; Hedonic Motivation &gt; Social Influence</a:t>
            </a:r>
            <a:endParaRPr lang="en-US" sz="1600" dirty="0"/>
          </a:p>
        </p:txBody>
      </p:sp>
      <p:sp>
        <p:nvSpPr>
          <p:cNvPr id="24" name="Shape 22"/>
          <p:cNvSpPr/>
          <p:nvPr/>
        </p:nvSpPr>
        <p:spPr>
          <a:xfrm>
            <a:off x="801410" y="6395680"/>
            <a:ext cx="13027581" cy="586740"/>
          </a:xfrm>
          <a:prstGeom prst="rect">
            <a:avLst/>
          </a:prstGeom>
          <a:solidFill>
            <a:srgbClr val="FFFFFF">
              <a:alpha val="4000"/>
            </a:srgbClr>
          </a:solidFill>
          <a:ln/>
        </p:spPr>
      </p:sp>
      <p:sp>
        <p:nvSpPr>
          <p:cNvPr id="25" name="Text 23"/>
          <p:cNvSpPr/>
          <p:nvPr/>
        </p:nvSpPr>
        <p:spPr>
          <a:xfrm>
            <a:off x="1005602" y="6525697"/>
            <a:ext cx="890707"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RQ4</a:t>
            </a:r>
            <a:endParaRPr lang="en-US" sz="1600" dirty="0"/>
          </a:p>
        </p:txBody>
      </p:sp>
      <p:sp>
        <p:nvSpPr>
          <p:cNvPr id="26" name="Text 24"/>
          <p:cNvSpPr/>
          <p:nvPr/>
        </p:nvSpPr>
        <p:spPr>
          <a:xfrm>
            <a:off x="2312075" y="6525697"/>
            <a:ext cx="4795242"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AI Trust extension</a:t>
            </a:r>
            <a:endParaRPr lang="en-US" sz="1600" dirty="0"/>
          </a:p>
        </p:txBody>
      </p:sp>
      <p:sp>
        <p:nvSpPr>
          <p:cNvPr id="27" name="Text 25"/>
          <p:cNvSpPr/>
          <p:nvPr/>
        </p:nvSpPr>
        <p:spPr>
          <a:xfrm>
            <a:off x="7523083" y="6525697"/>
            <a:ext cx="6101834"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Marginal effect (p = .064) with diagnostic value</a:t>
            </a:r>
            <a:endParaRPr lang="en-US" sz="1600" dirty="0"/>
          </a:p>
        </p:txBody>
      </p:sp>
      <p:sp>
        <p:nvSpPr>
          <p:cNvPr id="28" name="Shape 26"/>
          <p:cNvSpPr/>
          <p:nvPr/>
        </p:nvSpPr>
        <p:spPr>
          <a:xfrm>
            <a:off x="801410" y="6982420"/>
            <a:ext cx="13027581" cy="586740"/>
          </a:xfrm>
          <a:prstGeom prst="rect">
            <a:avLst/>
          </a:prstGeom>
          <a:solidFill>
            <a:srgbClr val="000000">
              <a:alpha val="4000"/>
            </a:srgbClr>
          </a:solidFill>
          <a:ln/>
        </p:spPr>
      </p:sp>
      <p:sp>
        <p:nvSpPr>
          <p:cNvPr id="29" name="Text 27"/>
          <p:cNvSpPr/>
          <p:nvPr/>
        </p:nvSpPr>
        <p:spPr>
          <a:xfrm>
            <a:off x="1005602" y="7112437"/>
            <a:ext cx="890707"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RQ5</a:t>
            </a:r>
            <a:endParaRPr lang="en-US" sz="1600" dirty="0"/>
          </a:p>
        </p:txBody>
      </p:sp>
      <p:sp>
        <p:nvSpPr>
          <p:cNvPr id="30" name="Text 28"/>
          <p:cNvSpPr/>
          <p:nvPr/>
        </p:nvSpPr>
        <p:spPr>
          <a:xfrm>
            <a:off x="2312075" y="7112437"/>
            <a:ext cx="4795242"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Moderators</a:t>
            </a:r>
            <a:endParaRPr lang="en-US" sz="1600" dirty="0"/>
          </a:p>
        </p:txBody>
      </p:sp>
      <p:sp>
        <p:nvSpPr>
          <p:cNvPr id="31" name="Text 29"/>
          <p:cNvSpPr/>
          <p:nvPr/>
        </p:nvSpPr>
        <p:spPr>
          <a:xfrm>
            <a:off x="7523083" y="7112437"/>
            <a:ext cx="6101834" cy="326708"/>
          </a:xfrm>
          <a:prstGeom prst="rect">
            <a:avLst/>
          </a:prstGeom>
          <a:noFill/>
          <a:ln/>
        </p:spPr>
        <p:txBody>
          <a:bodyPr wrap="non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Experience and population moderate hedonic motivation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067157"/>
            <a:ext cx="7087910"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Theoretical Framework: UTAUT2</a:t>
            </a:r>
            <a:endParaRPr lang="en-US" sz="3550" dirty="0"/>
          </a:p>
        </p:txBody>
      </p:sp>
      <p:sp>
        <p:nvSpPr>
          <p:cNvPr id="4" name="Text 1"/>
          <p:cNvSpPr/>
          <p:nvPr/>
        </p:nvSpPr>
        <p:spPr>
          <a:xfrm>
            <a:off x="6280190" y="2201108"/>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Why UTAUT2?</a:t>
            </a:r>
            <a:endParaRPr lang="en-US" sz="2650" dirty="0"/>
          </a:p>
        </p:txBody>
      </p:sp>
      <p:sp>
        <p:nvSpPr>
          <p:cNvPr id="5" name="Text 2"/>
          <p:cNvSpPr/>
          <p:nvPr/>
        </p:nvSpPr>
        <p:spPr>
          <a:xfrm>
            <a:off x="6280190" y="2853214"/>
            <a:ext cx="3501509" cy="725805"/>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Superior explanatory power:</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74% variance vs. TAM's ~40%</a:t>
            </a:r>
            <a:endParaRPr lang="en-US" sz="1750" dirty="0"/>
          </a:p>
        </p:txBody>
      </p:sp>
      <p:sp>
        <p:nvSpPr>
          <p:cNvPr id="6" name="Text 3"/>
          <p:cNvSpPr/>
          <p:nvPr/>
        </p:nvSpPr>
        <p:spPr>
          <a:xfrm>
            <a:off x="6280190" y="3658314"/>
            <a:ext cx="3501509" cy="108870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Theoretical integration:</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Synthesizes 8 prior models (TRA, TPB, TAM, MM, etc.)</a:t>
            </a:r>
            <a:endParaRPr lang="en-US" sz="1750" dirty="0"/>
          </a:p>
        </p:txBody>
      </p:sp>
      <p:sp>
        <p:nvSpPr>
          <p:cNvPr id="7" name="Text 4"/>
          <p:cNvSpPr/>
          <p:nvPr/>
        </p:nvSpPr>
        <p:spPr>
          <a:xfrm>
            <a:off x="6280190" y="4826318"/>
            <a:ext cx="3501509" cy="108870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Consumer-relevant constructs:</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Includes Hedonic Motivation, Price Value, Habit</a:t>
            </a:r>
            <a:endParaRPr lang="en-US" sz="1750" dirty="0"/>
          </a:p>
        </p:txBody>
      </p:sp>
      <p:sp>
        <p:nvSpPr>
          <p:cNvPr id="8" name="Text 5"/>
          <p:cNvSpPr/>
          <p:nvPr/>
        </p:nvSpPr>
        <p:spPr>
          <a:xfrm>
            <a:off x="6280190" y="5994321"/>
            <a:ext cx="3501509" cy="108870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Current gold standard:</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Most comprehensive technology acceptance framework</a:t>
            </a:r>
            <a:endParaRPr lang="en-US" sz="1750" dirty="0"/>
          </a:p>
        </p:txBody>
      </p:sp>
      <p:sp>
        <p:nvSpPr>
          <p:cNvPr id="9" name="Text 6"/>
          <p:cNvSpPr/>
          <p:nvPr/>
        </p:nvSpPr>
        <p:spPr>
          <a:xfrm>
            <a:off x="10342721" y="2201108"/>
            <a:ext cx="3486507"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AI-Specific Extension</a:t>
            </a:r>
            <a:endParaRPr lang="en-US" sz="2650" dirty="0"/>
          </a:p>
        </p:txBody>
      </p:sp>
      <p:sp>
        <p:nvSpPr>
          <p:cNvPr id="10" name="Text 7"/>
          <p:cNvSpPr/>
          <p:nvPr/>
        </p:nvSpPr>
        <p:spPr>
          <a:xfrm>
            <a:off x="10342721" y="2853214"/>
            <a:ext cx="3501509" cy="1088708"/>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AI Trust</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added as theoretically grounded extension based on Glikson &amp; Woolley (2020).</a:t>
            </a:r>
            <a:endParaRPr lang="en-US" sz="1750" dirty="0"/>
          </a:p>
        </p:txBody>
      </p:sp>
      <p:sp>
        <p:nvSpPr>
          <p:cNvPr id="11" name="Text 8"/>
          <p:cNvSpPr/>
          <p:nvPr/>
        </p:nvSpPr>
        <p:spPr>
          <a:xfrm>
            <a:off x="10342721" y="4145994"/>
            <a:ext cx="3501509" cy="1814513"/>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Trust in AI differs fundamentally from general technology trust due to AI's opacity, probabilistic reasoning, and autonomous decision-making capabilities.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87229"/>
            <a:ext cx="3581162" cy="368618"/>
          </a:xfrm>
          <a:prstGeom prst="rect">
            <a:avLst/>
          </a:prstGeom>
          <a:noFill/>
          <a:ln/>
        </p:spPr>
        <p:txBody>
          <a:bodyPr wrap="none" lIns="0" tIns="0" rIns="0" bIns="0" rtlCol="0" anchor="t"/>
          <a:lstStyle/>
          <a:p>
            <a:pPr algn="l" indent="0" marL="0">
              <a:lnSpc>
                <a:spcPts val="2900"/>
              </a:lnSpc>
              <a:buNone/>
            </a:pPr>
            <a:r>
              <a:rPr lang="en-US" sz="2300" dirty="0">
                <a:solidFill>
                  <a:srgbClr val="3257B8"/>
                </a:solidFill>
                <a:latin typeface="Roboto Slab" pitchFamily="34" charset="0"/>
                <a:ea typeface="Roboto Slab" pitchFamily="34" charset="-122"/>
                <a:cs typeface="Roboto Slab" pitchFamily="34" charset="-120"/>
              </a:rPr>
              <a:t>Core UTAUT2 Hypotheses</a:t>
            </a:r>
            <a:endParaRPr lang="en-US" sz="2300" dirty="0"/>
          </a:p>
        </p:txBody>
      </p:sp>
      <p:pic>
        <p:nvPicPr>
          <p:cNvPr id="3" name="Image 0" descr="preencoded.png">    </p:cNvPr>
          <p:cNvPicPr>
            <a:picLocks noChangeAspect="1"/>
          </p:cNvPicPr>
          <p:nvPr/>
        </p:nvPicPr>
        <p:blipFill>
          <a:blip r:embed="rId1"/>
          <a:stretch>
            <a:fillRect/>
          </a:stretch>
        </p:blipFill>
        <p:spPr>
          <a:xfrm>
            <a:off x="793790" y="1350645"/>
            <a:ext cx="737116" cy="884515"/>
          </a:xfrm>
          <a:prstGeom prst="rect">
            <a:avLst/>
          </a:prstGeom>
        </p:spPr>
      </p:pic>
      <p:sp>
        <p:nvSpPr>
          <p:cNvPr id="4" name="Text 1"/>
          <p:cNvSpPr/>
          <p:nvPr/>
        </p:nvSpPr>
        <p:spPr>
          <a:xfrm>
            <a:off x="1678305" y="1498044"/>
            <a:ext cx="305073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H1a: Performance Expectancy → BI</a:t>
            </a:r>
            <a:endParaRPr lang="en-US" sz="1450" dirty="0"/>
          </a:p>
        </p:txBody>
      </p:sp>
      <p:sp>
        <p:nvSpPr>
          <p:cNvPr id="5" name="Text 2"/>
          <p:cNvSpPr/>
          <p:nvPr/>
        </p:nvSpPr>
        <p:spPr>
          <a:xfrm>
            <a:off x="1678305" y="1816775"/>
            <a:ext cx="1215830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AI will improve my work performance</a:t>
            </a:r>
            <a:endParaRPr lang="en-US" sz="1150" dirty="0"/>
          </a:p>
        </p:txBody>
      </p:sp>
      <p:pic>
        <p:nvPicPr>
          <p:cNvPr id="6" name="Image 1" descr="preencoded.png">    </p:cNvPr>
          <p:cNvPicPr>
            <a:picLocks noChangeAspect="1"/>
          </p:cNvPicPr>
          <p:nvPr/>
        </p:nvPicPr>
        <p:blipFill>
          <a:blip r:embed="rId2"/>
          <a:stretch>
            <a:fillRect/>
          </a:stretch>
        </p:blipFill>
        <p:spPr>
          <a:xfrm>
            <a:off x="793790" y="2235160"/>
            <a:ext cx="737116" cy="884515"/>
          </a:xfrm>
          <a:prstGeom prst="rect">
            <a:avLst/>
          </a:prstGeom>
        </p:spPr>
      </p:pic>
      <p:sp>
        <p:nvSpPr>
          <p:cNvPr id="7" name="Text 3"/>
          <p:cNvSpPr/>
          <p:nvPr/>
        </p:nvSpPr>
        <p:spPr>
          <a:xfrm>
            <a:off x="1678305" y="2382560"/>
            <a:ext cx="2420303"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H1b: Effort Expectancy → BI</a:t>
            </a:r>
            <a:endParaRPr lang="en-US" sz="1450" dirty="0"/>
          </a:p>
        </p:txBody>
      </p:sp>
      <p:sp>
        <p:nvSpPr>
          <p:cNvPr id="8" name="Text 4"/>
          <p:cNvSpPr/>
          <p:nvPr/>
        </p:nvSpPr>
        <p:spPr>
          <a:xfrm>
            <a:off x="1678305" y="2701290"/>
            <a:ext cx="1215830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AI is easy to use and learn</a:t>
            </a:r>
            <a:endParaRPr lang="en-US" sz="1150" dirty="0"/>
          </a:p>
        </p:txBody>
      </p:sp>
      <p:pic>
        <p:nvPicPr>
          <p:cNvPr id="9" name="Image 2" descr="preencoded.png">    </p:cNvPr>
          <p:cNvPicPr>
            <a:picLocks noChangeAspect="1"/>
          </p:cNvPicPr>
          <p:nvPr/>
        </p:nvPicPr>
        <p:blipFill>
          <a:blip r:embed="rId3"/>
          <a:stretch>
            <a:fillRect/>
          </a:stretch>
        </p:blipFill>
        <p:spPr>
          <a:xfrm>
            <a:off x="793790" y="3119676"/>
            <a:ext cx="737116" cy="884515"/>
          </a:xfrm>
          <a:prstGeom prst="rect">
            <a:avLst/>
          </a:prstGeom>
        </p:spPr>
      </p:pic>
      <p:sp>
        <p:nvSpPr>
          <p:cNvPr id="10" name="Text 5"/>
          <p:cNvSpPr/>
          <p:nvPr/>
        </p:nvSpPr>
        <p:spPr>
          <a:xfrm>
            <a:off x="1678305" y="3267075"/>
            <a:ext cx="2254091"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H1c: Social Influence → BI</a:t>
            </a:r>
            <a:endParaRPr lang="en-US" sz="1450" dirty="0"/>
          </a:p>
        </p:txBody>
      </p:sp>
      <p:sp>
        <p:nvSpPr>
          <p:cNvPr id="11" name="Text 6"/>
          <p:cNvSpPr/>
          <p:nvPr/>
        </p:nvSpPr>
        <p:spPr>
          <a:xfrm>
            <a:off x="1678305" y="3585805"/>
            <a:ext cx="1215830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Important others think I should use AI</a:t>
            </a:r>
            <a:endParaRPr lang="en-US" sz="1150" dirty="0"/>
          </a:p>
        </p:txBody>
      </p:sp>
      <p:pic>
        <p:nvPicPr>
          <p:cNvPr id="12" name="Image 3" descr="preencoded.png">    </p:cNvPr>
          <p:cNvPicPr>
            <a:picLocks noChangeAspect="1"/>
          </p:cNvPicPr>
          <p:nvPr/>
        </p:nvPicPr>
        <p:blipFill>
          <a:blip r:embed="rId4"/>
          <a:stretch>
            <a:fillRect/>
          </a:stretch>
        </p:blipFill>
        <p:spPr>
          <a:xfrm>
            <a:off x="793790" y="4004191"/>
            <a:ext cx="737116" cy="884515"/>
          </a:xfrm>
          <a:prstGeom prst="rect">
            <a:avLst/>
          </a:prstGeom>
        </p:spPr>
      </p:pic>
      <p:sp>
        <p:nvSpPr>
          <p:cNvPr id="13" name="Text 7"/>
          <p:cNvSpPr/>
          <p:nvPr/>
        </p:nvSpPr>
        <p:spPr>
          <a:xfrm>
            <a:off x="1678305" y="4151590"/>
            <a:ext cx="2855595"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H1d: Facilitating Conditions → BI</a:t>
            </a:r>
            <a:endParaRPr lang="en-US" sz="1450" dirty="0"/>
          </a:p>
        </p:txBody>
      </p:sp>
      <p:sp>
        <p:nvSpPr>
          <p:cNvPr id="14" name="Text 8"/>
          <p:cNvSpPr/>
          <p:nvPr/>
        </p:nvSpPr>
        <p:spPr>
          <a:xfrm>
            <a:off x="1678305" y="4470321"/>
            <a:ext cx="1215830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Resources and support are available</a:t>
            </a:r>
            <a:endParaRPr lang="en-US" sz="1150" dirty="0"/>
          </a:p>
        </p:txBody>
      </p:sp>
      <p:pic>
        <p:nvPicPr>
          <p:cNvPr id="15" name="Image 4" descr="preencoded.png">    </p:cNvPr>
          <p:cNvPicPr>
            <a:picLocks noChangeAspect="1"/>
          </p:cNvPicPr>
          <p:nvPr/>
        </p:nvPicPr>
        <p:blipFill>
          <a:blip r:embed="rId5"/>
          <a:stretch>
            <a:fillRect/>
          </a:stretch>
        </p:blipFill>
        <p:spPr>
          <a:xfrm>
            <a:off x="793790" y="4888706"/>
            <a:ext cx="737116" cy="884515"/>
          </a:xfrm>
          <a:prstGeom prst="rect">
            <a:avLst/>
          </a:prstGeom>
        </p:spPr>
      </p:pic>
      <p:sp>
        <p:nvSpPr>
          <p:cNvPr id="16" name="Text 9"/>
          <p:cNvSpPr/>
          <p:nvPr/>
        </p:nvSpPr>
        <p:spPr>
          <a:xfrm>
            <a:off x="1678305" y="5036106"/>
            <a:ext cx="2583656"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H1e: Hedonic Motivation → BI</a:t>
            </a:r>
            <a:endParaRPr lang="en-US" sz="1450" dirty="0"/>
          </a:p>
        </p:txBody>
      </p:sp>
      <p:sp>
        <p:nvSpPr>
          <p:cNvPr id="17" name="Text 10"/>
          <p:cNvSpPr/>
          <p:nvPr/>
        </p:nvSpPr>
        <p:spPr>
          <a:xfrm>
            <a:off x="1678305" y="5354836"/>
            <a:ext cx="1215830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Using AI is enjoyable and engaging</a:t>
            </a:r>
            <a:endParaRPr lang="en-US" sz="1150" dirty="0"/>
          </a:p>
        </p:txBody>
      </p:sp>
      <p:pic>
        <p:nvPicPr>
          <p:cNvPr id="18" name="Image 5" descr="preencoded.png">    </p:cNvPr>
          <p:cNvPicPr>
            <a:picLocks noChangeAspect="1"/>
          </p:cNvPicPr>
          <p:nvPr/>
        </p:nvPicPr>
        <p:blipFill>
          <a:blip r:embed="rId6"/>
          <a:stretch>
            <a:fillRect/>
          </a:stretch>
        </p:blipFill>
        <p:spPr>
          <a:xfrm>
            <a:off x="793790" y="5773222"/>
            <a:ext cx="737116" cy="884515"/>
          </a:xfrm>
          <a:prstGeom prst="rect">
            <a:avLst/>
          </a:prstGeom>
        </p:spPr>
      </p:pic>
      <p:sp>
        <p:nvSpPr>
          <p:cNvPr id="19" name="Text 11"/>
          <p:cNvSpPr/>
          <p:nvPr/>
        </p:nvSpPr>
        <p:spPr>
          <a:xfrm>
            <a:off x="1678305" y="5920621"/>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H1f: Price Value → BI</a:t>
            </a:r>
            <a:endParaRPr lang="en-US" sz="1450" dirty="0"/>
          </a:p>
        </p:txBody>
      </p:sp>
      <p:sp>
        <p:nvSpPr>
          <p:cNvPr id="20" name="Text 12"/>
          <p:cNvSpPr/>
          <p:nvPr/>
        </p:nvSpPr>
        <p:spPr>
          <a:xfrm>
            <a:off x="1678305" y="6239351"/>
            <a:ext cx="1215830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Benefits outweigh total costs</a:t>
            </a:r>
            <a:endParaRPr lang="en-US" sz="1150" dirty="0"/>
          </a:p>
        </p:txBody>
      </p:sp>
      <p:pic>
        <p:nvPicPr>
          <p:cNvPr id="21" name="Image 6" descr="preencoded.png">    </p:cNvPr>
          <p:cNvPicPr>
            <a:picLocks noChangeAspect="1"/>
          </p:cNvPicPr>
          <p:nvPr/>
        </p:nvPicPr>
        <p:blipFill>
          <a:blip r:embed="rId7"/>
          <a:stretch>
            <a:fillRect/>
          </a:stretch>
        </p:blipFill>
        <p:spPr>
          <a:xfrm>
            <a:off x="793790" y="6657737"/>
            <a:ext cx="737116" cy="884515"/>
          </a:xfrm>
          <a:prstGeom prst="rect">
            <a:avLst/>
          </a:prstGeom>
        </p:spPr>
      </p:pic>
      <p:sp>
        <p:nvSpPr>
          <p:cNvPr id="22" name="Text 13"/>
          <p:cNvSpPr/>
          <p:nvPr/>
        </p:nvSpPr>
        <p:spPr>
          <a:xfrm>
            <a:off x="1678305" y="6805136"/>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15213F"/>
                </a:solidFill>
                <a:latin typeface="Roboto Slab" pitchFamily="34" charset="0"/>
                <a:ea typeface="Roboto Slab" pitchFamily="34" charset="-122"/>
                <a:cs typeface="Roboto Slab" pitchFamily="34" charset="-120"/>
              </a:rPr>
              <a:t>H1g: Habit → BI</a:t>
            </a:r>
            <a:endParaRPr lang="en-US" sz="1450" dirty="0"/>
          </a:p>
        </p:txBody>
      </p:sp>
      <p:sp>
        <p:nvSpPr>
          <p:cNvPr id="23" name="Text 14"/>
          <p:cNvSpPr/>
          <p:nvPr/>
        </p:nvSpPr>
        <p:spPr>
          <a:xfrm>
            <a:off x="1678305" y="7123867"/>
            <a:ext cx="12158305" cy="235744"/>
          </a:xfrm>
          <a:prstGeom prst="rect">
            <a:avLst/>
          </a:prstGeom>
          <a:noFill/>
          <a:ln/>
        </p:spPr>
        <p:txBody>
          <a:bodyPr wrap="none" lIns="0" tIns="0" rIns="0" bIns="0" rtlCol="0" anchor="t"/>
          <a:lstStyle/>
          <a:p>
            <a:pPr algn="l" indent="0" marL="0">
              <a:lnSpc>
                <a:spcPts val="1850"/>
              </a:lnSpc>
              <a:buNone/>
            </a:pPr>
            <a:r>
              <a:rPr lang="en-US" sz="1150" dirty="0">
                <a:solidFill>
                  <a:srgbClr val="15213F"/>
                </a:solidFill>
                <a:latin typeface="Roboto" pitchFamily="34" charset="0"/>
                <a:ea typeface="Roboto" pitchFamily="34" charset="-122"/>
                <a:cs typeface="Roboto" pitchFamily="34" charset="-120"/>
              </a:rPr>
              <a:t>AI use has become automatic</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909048"/>
            <a:ext cx="922543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Novel Hypotheses: Extension &amp; Moderation</a:t>
            </a:r>
            <a:endParaRPr lang="en-US" sz="3550" dirty="0"/>
          </a:p>
        </p:txBody>
      </p:sp>
      <p:sp>
        <p:nvSpPr>
          <p:cNvPr id="3" name="Shape 1"/>
          <p:cNvSpPr/>
          <p:nvPr/>
        </p:nvSpPr>
        <p:spPr>
          <a:xfrm>
            <a:off x="793790" y="2929652"/>
            <a:ext cx="4196358" cy="3390900"/>
          </a:xfrm>
          <a:prstGeom prst="roundRect">
            <a:avLst>
              <a:gd name="adj" fmla="val 1003"/>
            </a:avLst>
          </a:prstGeom>
          <a:solidFill>
            <a:srgbClr val="E9ECF2"/>
          </a:solidFill>
          <a:ln/>
        </p:spPr>
      </p:sp>
      <p:sp>
        <p:nvSpPr>
          <p:cNvPr id="4" name="Text 2"/>
          <p:cNvSpPr/>
          <p:nvPr/>
        </p:nvSpPr>
        <p:spPr>
          <a:xfrm>
            <a:off x="1020604" y="3156466"/>
            <a:ext cx="3623786" cy="425291"/>
          </a:xfrm>
          <a:prstGeom prst="rect">
            <a:avLst/>
          </a:prstGeom>
          <a:noFill/>
          <a:ln/>
        </p:spPr>
        <p:txBody>
          <a:bodyPr wrap="none" lIns="0" tIns="0" rIns="0" bIns="0" rtlCol="0" anchor="t"/>
          <a:lstStyle/>
          <a:p>
            <a:pPr algn="l" indent="0" marL="0">
              <a:lnSpc>
                <a:spcPts val="3300"/>
              </a:lnSpc>
              <a:buNone/>
            </a:pPr>
            <a:r>
              <a:rPr lang="en-US" sz="2650" dirty="0">
                <a:solidFill>
                  <a:srgbClr val="15213F"/>
                </a:solidFill>
                <a:latin typeface="Roboto Slab" pitchFamily="34" charset="0"/>
                <a:ea typeface="Roboto Slab" pitchFamily="34" charset="-122"/>
                <a:cs typeface="Roboto Slab" pitchFamily="34" charset="-120"/>
              </a:rPr>
              <a:t>H2: AI Trust Extension</a:t>
            </a:r>
            <a:endParaRPr lang="en-US" sz="2650" dirty="0"/>
          </a:p>
        </p:txBody>
      </p:sp>
      <p:sp>
        <p:nvSpPr>
          <p:cNvPr id="5" name="Text 3"/>
          <p:cNvSpPr/>
          <p:nvPr/>
        </p:nvSpPr>
        <p:spPr>
          <a:xfrm>
            <a:off x="1020604" y="3717846"/>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AI Trust positively influences Behavioral Intention beyond what UTAUT2 constructs explain.</a:t>
            </a:r>
            <a:endParaRPr lang="en-US" sz="1750" dirty="0"/>
          </a:p>
        </p:txBody>
      </p:sp>
      <p:sp>
        <p:nvSpPr>
          <p:cNvPr id="6" name="Text 4"/>
          <p:cNvSpPr/>
          <p:nvPr/>
        </p:nvSpPr>
        <p:spPr>
          <a:xfrm>
            <a:off x="1020604" y="4942642"/>
            <a:ext cx="3742730" cy="725805"/>
          </a:xfrm>
          <a:prstGeom prst="rect">
            <a:avLst/>
          </a:prstGeom>
          <a:noFill/>
          <a:ln/>
        </p:spPr>
        <p:txBody>
          <a:bodyPr wrap="square" lIns="0" tIns="0" rIns="0" bIns="0" rtlCol="0" anchor="t"/>
          <a:lstStyle/>
          <a:p>
            <a:pPr algn="l" indent="0" marL="0">
              <a:lnSpc>
                <a:spcPts val="2850"/>
              </a:lnSpc>
              <a:buNone/>
            </a:pPr>
            <a:r>
              <a:rPr lang="en-US" sz="1750" i="1" dirty="0">
                <a:solidFill>
                  <a:srgbClr val="15213F"/>
                </a:solidFill>
                <a:latin typeface="Roboto" pitchFamily="34" charset="0"/>
                <a:ea typeface="Roboto" pitchFamily="34" charset="-122"/>
                <a:cs typeface="Roboto" pitchFamily="34" charset="-120"/>
              </a:rPr>
              <a:t>Tests theoretical contribution of AI-specific construct</a:t>
            </a:r>
            <a:endParaRPr lang="en-US" sz="1750" dirty="0"/>
          </a:p>
        </p:txBody>
      </p:sp>
      <p:sp>
        <p:nvSpPr>
          <p:cNvPr id="7" name="Shape 5"/>
          <p:cNvSpPr/>
          <p:nvPr/>
        </p:nvSpPr>
        <p:spPr>
          <a:xfrm>
            <a:off x="5216962" y="2929652"/>
            <a:ext cx="4196358" cy="3390900"/>
          </a:xfrm>
          <a:prstGeom prst="roundRect">
            <a:avLst>
              <a:gd name="adj" fmla="val 1003"/>
            </a:avLst>
          </a:prstGeom>
          <a:solidFill>
            <a:srgbClr val="E9ECF2"/>
          </a:solidFill>
          <a:ln/>
        </p:spPr>
      </p:sp>
      <p:sp>
        <p:nvSpPr>
          <p:cNvPr id="8" name="Text 6"/>
          <p:cNvSpPr/>
          <p:nvPr/>
        </p:nvSpPr>
        <p:spPr>
          <a:xfrm>
            <a:off x="5443776" y="3156466"/>
            <a:ext cx="3742730" cy="850583"/>
          </a:xfrm>
          <a:prstGeom prst="rect">
            <a:avLst/>
          </a:prstGeom>
          <a:noFill/>
          <a:ln/>
        </p:spPr>
        <p:txBody>
          <a:bodyPr wrap="square" lIns="0" tIns="0" rIns="0" bIns="0" rtlCol="0" anchor="t"/>
          <a:lstStyle/>
          <a:p>
            <a:pPr algn="l" indent="0" marL="0">
              <a:lnSpc>
                <a:spcPts val="3300"/>
              </a:lnSpc>
              <a:buNone/>
            </a:pPr>
            <a:r>
              <a:rPr lang="en-US" sz="2650" dirty="0">
                <a:solidFill>
                  <a:srgbClr val="15213F"/>
                </a:solidFill>
                <a:latin typeface="Roboto Slab" pitchFamily="34" charset="0"/>
                <a:ea typeface="Roboto Slab" pitchFamily="34" charset="-122"/>
                <a:cs typeface="Roboto Slab" pitchFamily="34" charset="-120"/>
              </a:rPr>
              <a:t>H3: Experience Moderation</a:t>
            </a:r>
            <a:endParaRPr lang="en-US" sz="2650" dirty="0"/>
          </a:p>
        </p:txBody>
      </p:sp>
      <p:sp>
        <p:nvSpPr>
          <p:cNvPr id="9" name="Text 7"/>
          <p:cNvSpPr/>
          <p:nvPr/>
        </p:nvSpPr>
        <p:spPr>
          <a:xfrm>
            <a:off x="5443776" y="4143137"/>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Experience level moderates the relationships between UTAUT2 constructs and Behavioral Intention.</a:t>
            </a:r>
            <a:endParaRPr lang="en-US" sz="1750" dirty="0"/>
          </a:p>
        </p:txBody>
      </p:sp>
      <p:sp>
        <p:nvSpPr>
          <p:cNvPr id="10" name="Text 8"/>
          <p:cNvSpPr/>
          <p:nvPr/>
        </p:nvSpPr>
        <p:spPr>
          <a:xfrm>
            <a:off x="5443776" y="5367933"/>
            <a:ext cx="3742730" cy="725805"/>
          </a:xfrm>
          <a:prstGeom prst="rect">
            <a:avLst/>
          </a:prstGeom>
          <a:noFill/>
          <a:ln/>
        </p:spPr>
        <p:txBody>
          <a:bodyPr wrap="square" lIns="0" tIns="0" rIns="0" bIns="0" rtlCol="0" anchor="t"/>
          <a:lstStyle/>
          <a:p>
            <a:pPr algn="l" indent="0" marL="0">
              <a:lnSpc>
                <a:spcPts val="2850"/>
              </a:lnSpc>
              <a:buNone/>
            </a:pPr>
            <a:r>
              <a:rPr lang="en-US" sz="1750" i="1" dirty="0">
                <a:solidFill>
                  <a:srgbClr val="15213F"/>
                </a:solidFill>
                <a:latin typeface="Roboto" pitchFamily="34" charset="0"/>
                <a:ea typeface="Roboto" pitchFamily="34" charset="-122"/>
                <a:cs typeface="Roboto" pitchFamily="34" charset="-120"/>
              </a:rPr>
              <a:t>Tests boundary conditions across expertise</a:t>
            </a:r>
            <a:endParaRPr lang="en-US" sz="1750" dirty="0"/>
          </a:p>
        </p:txBody>
      </p:sp>
      <p:sp>
        <p:nvSpPr>
          <p:cNvPr id="11" name="Shape 9"/>
          <p:cNvSpPr/>
          <p:nvPr/>
        </p:nvSpPr>
        <p:spPr>
          <a:xfrm>
            <a:off x="9640133" y="2929652"/>
            <a:ext cx="4196358" cy="3390900"/>
          </a:xfrm>
          <a:prstGeom prst="roundRect">
            <a:avLst>
              <a:gd name="adj" fmla="val 1003"/>
            </a:avLst>
          </a:prstGeom>
          <a:solidFill>
            <a:srgbClr val="E9ECF2"/>
          </a:solidFill>
          <a:ln/>
        </p:spPr>
      </p:sp>
      <p:sp>
        <p:nvSpPr>
          <p:cNvPr id="12" name="Text 10"/>
          <p:cNvSpPr/>
          <p:nvPr/>
        </p:nvSpPr>
        <p:spPr>
          <a:xfrm>
            <a:off x="9866948" y="3156466"/>
            <a:ext cx="3742730" cy="850583"/>
          </a:xfrm>
          <a:prstGeom prst="rect">
            <a:avLst/>
          </a:prstGeom>
          <a:noFill/>
          <a:ln/>
        </p:spPr>
        <p:txBody>
          <a:bodyPr wrap="square" lIns="0" tIns="0" rIns="0" bIns="0" rtlCol="0" anchor="t"/>
          <a:lstStyle/>
          <a:p>
            <a:pPr algn="l" indent="0" marL="0">
              <a:lnSpc>
                <a:spcPts val="3300"/>
              </a:lnSpc>
              <a:buNone/>
            </a:pPr>
            <a:r>
              <a:rPr lang="en-US" sz="2650" dirty="0">
                <a:solidFill>
                  <a:srgbClr val="15213F"/>
                </a:solidFill>
                <a:latin typeface="Roboto Slab" pitchFamily="34" charset="0"/>
                <a:ea typeface="Roboto Slab" pitchFamily="34" charset="-122"/>
                <a:cs typeface="Roboto Slab" pitchFamily="34" charset="-120"/>
              </a:rPr>
              <a:t>H4: Population Moderation</a:t>
            </a:r>
            <a:endParaRPr lang="en-US" sz="2650" dirty="0"/>
          </a:p>
        </p:txBody>
      </p:sp>
      <p:sp>
        <p:nvSpPr>
          <p:cNvPr id="13" name="Text 11"/>
          <p:cNvSpPr/>
          <p:nvPr/>
        </p:nvSpPr>
        <p:spPr>
          <a:xfrm>
            <a:off x="9866948" y="4143137"/>
            <a:ext cx="3742730"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Population type (students vs. professionals) moderates UTAUT2-BI relationships.</a:t>
            </a:r>
            <a:endParaRPr lang="en-US" sz="1750" dirty="0"/>
          </a:p>
        </p:txBody>
      </p:sp>
      <p:sp>
        <p:nvSpPr>
          <p:cNvPr id="14" name="Text 12"/>
          <p:cNvSpPr/>
          <p:nvPr/>
        </p:nvSpPr>
        <p:spPr>
          <a:xfrm>
            <a:off x="9866948" y="5367933"/>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Tests generalizability across contexts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64858" y="600908"/>
            <a:ext cx="6280904" cy="518874"/>
          </a:xfrm>
          <a:prstGeom prst="rect">
            <a:avLst/>
          </a:prstGeom>
          <a:noFill/>
          <a:ln/>
        </p:spPr>
        <p:txBody>
          <a:bodyPr wrap="none" lIns="0" tIns="0" rIns="0" bIns="0" rtlCol="0" anchor="t"/>
          <a:lstStyle/>
          <a:p>
            <a:pPr algn="l" indent="0" marL="0">
              <a:lnSpc>
                <a:spcPts val="4050"/>
              </a:lnSpc>
              <a:buNone/>
            </a:pPr>
            <a:r>
              <a:rPr lang="en-US" sz="3250" dirty="0">
                <a:solidFill>
                  <a:srgbClr val="3257B8"/>
                </a:solidFill>
                <a:latin typeface="Roboto Slab" pitchFamily="34" charset="0"/>
                <a:ea typeface="Roboto Slab" pitchFamily="34" charset="-122"/>
                <a:cs typeface="Roboto Slab" pitchFamily="34" charset="-120"/>
              </a:rPr>
              <a:t>Research Design &amp; Methodology</a:t>
            </a:r>
            <a:endParaRPr lang="en-US" sz="3250" dirty="0"/>
          </a:p>
        </p:txBody>
      </p:sp>
      <p:pic>
        <p:nvPicPr>
          <p:cNvPr id="3" name="Image 0" descr="preencoded.png">    </p:cNvPr>
          <p:cNvPicPr>
            <a:picLocks noChangeAspect="1"/>
          </p:cNvPicPr>
          <p:nvPr/>
        </p:nvPicPr>
        <p:blipFill>
          <a:blip r:embed="rId1"/>
          <a:stretch>
            <a:fillRect/>
          </a:stretch>
        </p:blipFill>
        <p:spPr>
          <a:xfrm>
            <a:off x="764858" y="1664613"/>
            <a:ext cx="5982176" cy="5982176"/>
          </a:xfrm>
          <a:prstGeom prst="rect">
            <a:avLst/>
          </a:prstGeom>
        </p:spPr>
      </p:pic>
      <p:sp>
        <p:nvSpPr>
          <p:cNvPr id="4" name="Text 1"/>
          <p:cNvSpPr/>
          <p:nvPr/>
        </p:nvSpPr>
        <p:spPr>
          <a:xfrm>
            <a:off x="7576066" y="1638657"/>
            <a:ext cx="3133725" cy="389096"/>
          </a:xfrm>
          <a:prstGeom prst="rect">
            <a:avLst/>
          </a:prstGeom>
          <a:noFill/>
          <a:ln/>
        </p:spPr>
        <p:txBody>
          <a:bodyPr wrap="none" lIns="0" tIns="0" rIns="0" bIns="0" rtlCol="0" anchor="t"/>
          <a:lstStyle/>
          <a:p>
            <a:pPr algn="l" indent="0" marL="0">
              <a:lnSpc>
                <a:spcPts val="3050"/>
              </a:lnSpc>
              <a:buNone/>
            </a:pPr>
            <a:r>
              <a:rPr lang="en-US" sz="2450" dirty="0">
                <a:solidFill>
                  <a:srgbClr val="3257B8"/>
                </a:solidFill>
                <a:latin typeface="Roboto Slab" pitchFamily="34" charset="0"/>
                <a:ea typeface="Roboto Slab" pitchFamily="34" charset="-122"/>
                <a:cs typeface="Roboto Slab" pitchFamily="34" charset="-120"/>
              </a:rPr>
              <a:t>Study Characteristics</a:t>
            </a:r>
            <a:endParaRPr lang="en-US" sz="2450" dirty="0"/>
          </a:p>
        </p:txBody>
      </p:sp>
      <p:sp>
        <p:nvSpPr>
          <p:cNvPr id="5" name="Shape 2"/>
          <p:cNvSpPr/>
          <p:nvPr/>
        </p:nvSpPr>
        <p:spPr>
          <a:xfrm>
            <a:off x="7576066" y="2261235"/>
            <a:ext cx="6297097" cy="3662124"/>
          </a:xfrm>
          <a:prstGeom prst="roundRect">
            <a:avLst>
              <a:gd name="adj" fmla="val 850"/>
            </a:avLst>
          </a:prstGeom>
          <a:noFill/>
          <a:ln w="7620">
            <a:solidFill>
              <a:srgbClr val="000000">
                <a:alpha val="8000"/>
              </a:srgbClr>
            </a:solidFill>
            <a:prstDash val="solid"/>
          </a:ln>
        </p:spPr>
      </p:sp>
      <p:sp>
        <p:nvSpPr>
          <p:cNvPr id="6" name="Shape 3"/>
          <p:cNvSpPr/>
          <p:nvPr/>
        </p:nvSpPr>
        <p:spPr>
          <a:xfrm>
            <a:off x="7583686" y="2268855"/>
            <a:ext cx="6281857" cy="596503"/>
          </a:xfrm>
          <a:prstGeom prst="rect">
            <a:avLst/>
          </a:prstGeom>
          <a:solidFill>
            <a:srgbClr val="FFFFFF">
              <a:alpha val="4000"/>
            </a:srgbClr>
          </a:solidFill>
          <a:ln/>
        </p:spPr>
      </p:sp>
      <p:sp>
        <p:nvSpPr>
          <p:cNvPr id="7" name="Text 4"/>
          <p:cNvSpPr/>
          <p:nvPr/>
        </p:nvSpPr>
        <p:spPr>
          <a:xfrm>
            <a:off x="7791331" y="2401014"/>
            <a:ext cx="2722007" cy="332184"/>
          </a:xfrm>
          <a:prstGeom prst="rect">
            <a:avLst/>
          </a:prstGeom>
          <a:noFill/>
          <a:ln/>
        </p:spPr>
        <p:txBody>
          <a:bodyPr wrap="none" lIns="0" tIns="0" rIns="0" bIns="0" rtlCol="0" anchor="t"/>
          <a:lstStyle/>
          <a:p>
            <a:pPr algn="l" indent="0" marL="0">
              <a:lnSpc>
                <a:spcPts val="2600"/>
              </a:lnSpc>
              <a:buNone/>
            </a:pPr>
            <a:r>
              <a:rPr lang="en-US" sz="1600" b="1" dirty="0">
                <a:solidFill>
                  <a:srgbClr val="15213F"/>
                </a:solidFill>
                <a:latin typeface="Roboto" pitchFamily="34" charset="0"/>
                <a:ea typeface="Roboto" pitchFamily="34" charset="-122"/>
                <a:cs typeface="Roboto" pitchFamily="34" charset="-120"/>
              </a:rPr>
              <a:t>Design</a:t>
            </a:r>
            <a:endParaRPr lang="en-US" sz="1600" dirty="0"/>
          </a:p>
        </p:txBody>
      </p:sp>
      <p:sp>
        <p:nvSpPr>
          <p:cNvPr id="8" name="Text 5"/>
          <p:cNvSpPr/>
          <p:nvPr/>
        </p:nvSpPr>
        <p:spPr>
          <a:xfrm>
            <a:off x="10936010" y="2401014"/>
            <a:ext cx="2722007" cy="332184"/>
          </a:xfrm>
          <a:prstGeom prst="rect">
            <a:avLst/>
          </a:prstGeom>
          <a:noFill/>
          <a:ln/>
        </p:spPr>
        <p:txBody>
          <a:bodyPr wrap="none" lIns="0" tIns="0" rIns="0" bIns="0" rtlCol="0" anchor="t"/>
          <a:lstStyle/>
          <a:p>
            <a:pPr algn="l" indent="0" marL="0">
              <a:lnSpc>
                <a:spcPts val="2600"/>
              </a:lnSpc>
              <a:buNone/>
            </a:pPr>
            <a:r>
              <a:rPr lang="en-US" sz="1600" dirty="0">
                <a:solidFill>
                  <a:srgbClr val="15213F"/>
                </a:solidFill>
                <a:latin typeface="Roboto" pitchFamily="34" charset="0"/>
                <a:ea typeface="Roboto" pitchFamily="34" charset="-122"/>
                <a:cs typeface="Roboto" pitchFamily="34" charset="-120"/>
              </a:rPr>
              <a:t>Cross-sectional, quantitative</a:t>
            </a:r>
            <a:endParaRPr lang="en-US" sz="1600" dirty="0"/>
          </a:p>
        </p:txBody>
      </p:sp>
      <p:sp>
        <p:nvSpPr>
          <p:cNvPr id="9" name="Shape 6"/>
          <p:cNvSpPr/>
          <p:nvPr/>
        </p:nvSpPr>
        <p:spPr>
          <a:xfrm>
            <a:off x="7583686" y="2865358"/>
            <a:ext cx="6281857" cy="928687"/>
          </a:xfrm>
          <a:prstGeom prst="rect">
            <a:avLst/>
          </a:prstGeom>
          <a:solidFill>
            <a:srgbClr val="000000">
              <a:alpha val="4000"/>
            </a:srgbClr>
          </a:solidFill>
          <a:ln/>
        </p:spPr>
      </p:sp>
      <p:sp>
        <p:nvSpPr>
          <p:cNvPr id="10" name="Text 7"/>
          <p:cNvSpPr/>
          <p:nvPr/>
        </p:nvSpPr>
        <p:spPr>
          <a:xfrm>
            <a:off x="7791331" y="2997518"/>
            <a:ext cx="2722007" cy="332184"/>
          </a:xfrm>
          <a:prstGeom prst="rect">
            <a:avLst/>
          </a:prstGeom>
          <a:noFill/>
          <a:ln/>
        </p:spPr>
        <p:txBody>
          <a:bodyPr wrap="none" lIns="0" tIns="0" rIns="0" bIns="0" rtlCol="0" anchor="t"/>
          <a:lstStyle/>
          <a:p>
            <a:pPr algn="l" indent="0" marL="0">
              <a:lnSpc>
                <a:spcPts val="2600"/>
              </a:lnSpc>
              <a:buNone/>
            </a:pPr>
            <a:r>
              <a:rPr lang="en-US" sz="1600" b="1" dirty="0">
                <a:solidFill>
                  <a:srgbClr val="15213F"/>
                </a:solidFill>
                <a:latin typeface="Roboto" pitchFamily="34" charset="0"/>
                <a:ea typeface="Roboto" pitchFamily="34" charset="-122"/>
                <a:cs typeface="Roboto" pitchFamily="34" charset="-120"/>
              </a:rPr>
              <a:t>Sample Size</a:t>
            </a:r>
            <a:endParaRPr lang="en-US" sz="1600" dirty="0"/>
          </a:p>
        </p:txBody>
      </p:sp>
      <p:sp>
        <p:nvSpPr>
          <p:cNvPr id="11" name="Text 8"/>
          <p:cNvSpPr/>
          <p:nvPr/>
        </p:nvSpPr>
        <p:spPr>
          <a:xfrm>
            <a:off x="10936010" y="2997518"/>
            <a:ext cx="2722007" cy="664369"/>
          </a:xfrm>
          <a:prstGeom prst="rect">
            <a:avLst/>
          </a:prstGeom>
          <a:noFill/>
          <a:ln/>
        </p:spPr>
        <p:txBody>
          <a:bodyPr wrap="square" lIns="0" tIns="0" rIns="0" bIns="0" rtlCol="0" anchor="t"/>
          <a:lstStyle/>
          <a:p>
            <a:pPr algn="l" indent="0" marL="0">
              <a:lnSpc>
                <a:spcPts val="2600"/>
              </a:lnSpc>
              <a:buNone/>
            </a:pPr>
            <a:r>
              <a:rPr lang="en-US" sz="1600" dirty="0">
                <a:solidFill>
                  <a:srgbClr val="15213F"/>
                </a:solidFill>
                <a:latin typeface="Roboto" pitchFamily="34" charset="0"/>
                <a:ea typeface="Roboto" pitchFamily="34" charset="-122"/>
                <a:cs typeface="Roboto" pitchFamily="34" charset="-120"/>
              </a:rPr>
              <a:t>N = 523 (students + professionals)</a:t>
            </a:r>
            <a:endParaRPr lang="en-US" sz="1600" dirty="0"/>
          </a:p>
        </p:txBody>
      </p:sp>
      <p:sp>
        <p:nvSpPr>
          <p:cNvPr id="12" name="Shape 9"/>
          <p:cNvSpPr/>
          <p:nvPr/>
        </p:nvSpPr>
        <p:spPr>
          <a:xfrm>
            <a:off x="7583686" y="3794046"/>
            <a:ext cx="6281857" cy="928687"/>
          </a:xfrm>
          <a:prstGeom prst="rect">
            <a:avLst/>
          </a:prstGeom>
          <a:solidFill>
            <a:srgbClr val="FFFFFF">
              <a:alpha val="4000"/>
            </a:srgbClr>
          </a:solidFill>
          <a:ln/>
        </p:spPr>
      </p:sp>
      <p:sp>
        <p:nvSpPr>
          <p:cNvPr id="13" name="Text 10"/>
          <p:cNvSpPr/>
          <p:nvPr/>
        </p:nvSpPr>
        <p:spPr>
          <a:xfrm>
            <a:off x="7791331" y="3926205"/>
            <a:ext cx="2722007" cy="332184"/>
          </a:xfrm>
          <a:prstGeom prst="rect">
            <a:avLst/>
          </a:prstGeom>
          <a:noFill/>
          <a:ln/>
        </p:spPr>
        <p:txBody>
          <a:bodyPr wrap="none" lIns="0" tIns="0" rIns="0" bIns="0" rtlCol="0" anchor="t"/>
          <a:lstStyle/>
          <a:p>
            <a:pPr algn="l" indent="0" marL="0">
              <a:lnSpc>
                <a:spcPts val="2600"/>
              </a:lnSpc>
              <a:buNone/>
            </a:pPr>
            <a:r>
              <a:rPr lang="en-US" sz="1600" b="1" dirty="0">
                <a:solidFill>
                  <a:srgbClr val="15213F"/>
                </a:solidFill>
                <a:latin typeface="Roboto" pitchFamily="34" charset="0"/>
                <a:ea typeface="Roboto" pitchFamily="34" charset="-122"/>
                <a:cs typeface="Roboto" pitchFamily="34" charset="-120"/>
              </a:rPr>
              <a:t>Initial Items</a:t>
            </a:r>
            <a:endParaRPr lang="en-US" sz="1600" dirty="0"/>
          </a:p>
        </p:txBody>
      </p:sp>
      <p:sp>
        <p:nvSpPr>
          <p:cNvPr id="14" name="Text 11"/>
          <p:cNvSpPr/>
          <p:nvPr/>
        </p:nvSpPr>
        <p:spPr>
          <a:xfrm>
            <a:off x="10936010" y="3926205"/>
            <a:ext cx="2722007" cy="664369"/>
          </a:xfrm>
          <a:prstGeom prst="rect">
            <a:avLst/>
          </a:prstGeom>
          <a:noFill/>
          <a:ln/>
        </p:spPr>
        <p:txBody>
          <a:bodyPr wrap="square" lIns="0" tIns="0" rIns="0" bIns="0" rtlCol="0" anchor="t"/>
          <a:lstStyle/>
          <a:p>
            <a:pPr algn="l" indent="0" marL="0">
              <a:lnSpc>
                <a:spcPts val="2600"/>
              </a:lnSpc>
              <a:buNone/>
            </a:pPr>
            <a:r>
              <a:rPr lang="en-US" sz="1600" dirty="0">
                <a:solidFill>
                  <a:srgbClr val="15213F"/>
                </a:solidFill>
                <a:latin typeface="Roboto" pitchFamily="34" charset="0"/>
                <a:ea typeface="Roboto" pitchFamily="34" charset="-122"/>
                <a:cs typeface="Roboto" pitchFamily="34" charset="-120"/>
              </a:rPr>
              <a:t>28 items across 12 constructs</a:t>
            </a:r>
            <a:endParaRPr lang="en-US" sz="1600" dirty="0"/>
          </a:p>
        </p:txBody>
      </p:sp>
      <p:sp>
        <p:nvSpPr>
          <p:cNvPr id="15" name="Shape 12"/>
          <p:cNvSpPr/>
          <p:nvPr/>
        </p:nvSpPr>
        <p:spPr>
          <a:xfrm>
            <a:off x="7583686" y="4722733"/>
            <a:ext cx="6281857" cy="596503"/>
          </a:xfrm>
          <a:prstGeom prst="rect">
            <a:avLst/>
          </a:prstGeom>
          <a:solidFill>
            <a:srgbClr val="000000">
              <a:alpha val="4000"/>
            </a:srgbClr>
          </a:solidFill>
          <a:ln/>
        </p:spPr>
      </p:sp>
      <p:sp>
        <p:nvSpPr>
          <p:cNvPr id="16" name="Text 13"/>
          <p:cNvSpPr/>
          <p:nvPr/>
        </p:nvSpPr>
        <p:spPr>
          <a:xfrm>
            <a:off x="7791331" y="4854893"/>
            <a:ext cx="2722007" cy="332184"/>
          </a:xfrm>
          <a:prstGeom prst="rect">
            <a:avLst/>
          </a:prstGeom>
          <a:noFill/>
          <a:ln/>
        </p:spPr>
        <p:txBody>
          <a:bodyPr wrap="none" lIns="0" tIns="0" rIns="0" bIns="0" rtlCol="0" anchor="t"/>
          <a:lstStyle/>
          <a:p>
            <a:pPr algn="l" indent="0" marL="0">
              <a:lnSpc>
                <a:spcPts val="2600"/>
              </a:lnSpc>
              <a:buNone/>
            </a:pPr>
            <a:r>
              <a:rPr lang="en-US" sz="1600" b="1" dirty="0">
                <a:solidFill>
                  <a:srgbClr val="15213F"/>
                </a:solidFill>
                <a:latin typeface="Roboto" pitchFamily="34" charset="0"/>
                <a:ea typeface="Roboto" pitchFamily="34" charset="-122"/>
                <a:cs typeface="Roboto" pitchFamily="34" charset="-120"/>
              </a:rPr>
              <a:t>Final Instrument</a:t>
            </a:r>
            <a:endParaRPr lang="en-US" sz="1600" dirty="0"/>
          </a:p>
        </p:txBody>
      </p:sp>
      <p:sp>
        <p:nvSpPr>
          <p:cNvPr id="17" name="Text 14"/>
          <p:cNvSpPr/>
          <p:nvPr/>
        </p:nvSpPr>
        <p:spPr>
          <a:xfrm>
            <a:off x="10936010" y="4854893"/>
            <a:ext cx="2722007" cy="332184"/>
          </a:xfrm>
          <a:prstGeom prst="rect">
            <a:avLst/>
          </a:prstGeom>
          <a:noFill/>
          <a:ln/>
        </p:spPr>
        <p:txBody>
          <a:bodyPr wrap="none" lIns="0" tIns="0" rIns="0" bIns="0" rtlCol="0" anchor="t"/>
          <a:lstStyle/>
          <a:p>
            <a:pPr algn="l" indent="0" marL="0">
              <a:lnSpc>
                <a:spcPts val="2600"/>
              </a:lnSpc>
              <a:buNone/>
            </a:pPr>
            <a:r>
              <a:rPr lang="en-US" sz="1600" dirty="0">
                <a:solidFill>
                  <a:srgbClr val="15213F"/>
                </a:solidFill>
                <a:latin typeface="Roboto" pitchFamily="34" charset="0"/>
                <a:ea typeface="Roboto" pitchFamily="34" charset="-122"/>
                <a:cs typeface="Roboto" pitchFamily="34" charset="-120"/>
              </a:rPr>
              <a:t>16 items across 8 factors</a:t>
            </a:r>
            <a:endParaRPr lang="en-US" sz="1600" dirty="0"/>
          </a:p>
        </p:txBody>
      </p:sp>
      <p:sp>
        <p:nvSpPr>
          <p:cNvPr id="18" name="Shape 15"/>
          <p:cNvSpPr/>
          <p:nvPr/>
        </p:nvSpPr>
        <p:spPr>
          <a:xfrm>
            <a:off x="7583686" y="5319236"/>
            <a:ext cx="6281857" cy="596503"/>
          </a:xfrm>
          <a:prstGeom prst="rect">
            <a:avLst/>
          </a:prstGeom>
          <a:solidFill>
            <a:srgbClr val="FFFFFF">
              <a:alpha val="4000"/>
            </a:srgbClr>
          </a:solidFill>
          <a:ln/>
        </p:spPr>
      </p:sp>
      <p:sp>
        <p:nvSpPr>
          <p:cNvPr id="19" name="Text 16"/>
          <p:cNvSpPr/>
          <p:nvPr/>
        </p:nvSpPr>
        <p:spPr>
          <a:xfrm>
            <a:off x="7791331" y="5451396"/>
            <a:ext cx="2722007" cy="332184"/>
          </a:xfrm>
          <a:prstGeom prst="rect">
            <a:avLst/>
          </a:prstGeom>
          <a:noFill/>
          <a:ln/>
        </p:spPr>
        <p:txBody>
          <a:bodyPr wrap="none" lIns="0" tIns="0" rIns="0" bIns="0" rtlCol="0" anchor="t"/>
          <a:lstStyle/>
          <a:p>
            <a:pPr algn="l" indent="0" marL="0">
              <a:lnSpc>
                <a:spcPts val="2600"/>
              </a:lnSpc>
              <a:buNone/>
            </a:pPr>
            <a:r>
              <a:rPr lang="en-US" sz="1600" b="1" dirty="0">
                <a:solidFill>
                  <a:srgbClr val="15213F"/>
                </a:solidFill>
                <a:latin typeface="Roboto" pitchFamily="34" charset="0"/>
                <a:ea typeface="Roboto" pitchFamily="34" charset="-122"/>
                <a:cs typeface="Roboto" pitchFamily="34" charset="-120"/>
              </a:rPr>
              <a:t>Analysis</a:t>
            </a:r>
            <a:endParaRPr lang="en-US" sz="1600" dirty="0"/>
          </a:p>
        </p:txBody>
      </p:sp>
      <p:sp>
        <p:nvSpPr>
          <p:cNvPr id="20" name="Text 17"/>
          <p:cNvSpPr/>
          <p:nvPr/>
        </p:nvSpPr>
        <p:spPr>
          <a:xfrm>
            <a:off x="10936010" y="5451396"/>
            <a:ext cx="2722007" cy="332184"/>
          </a:xfrm>
          <a:prstGeom prst="rect">
            <a:avLst/>
          </a:prstGeom>
          <a:noFill/>
          <a:ln/>
        </p:spPr>
        <p:txBody>
          <a:bodyPr wrap="none" lIns="0" tIns="0" rIns="0" bIns="0" rtlCol="0" anchor="t"/>
          <a:lstStyle/>
          <a:p>
            <a:pPr algn="l" indent="0" marL="0">
              <a:lnSpc>
                <a:spcPts val="2600"/>
              </a:lnSpc>
              <a:buNone/>
            </a:pPr>
            <a:r>
              <a:rPr lang="en-US" sz="1600" dirty="0">
                <a:solidFill>
                  <a:srgbClr val="15213F"/>
                </a:solidFill>
                <a:latin typeface="Roboto" pitchFamily="34" charset="0"/>
                <a:ea typeface="Roboto" pitchFamily="34" charset="-122"/>
                <a:cs typeface="Roboto" pitchFamily="34" charset="-120"/>
              </a:rPr>
              <a:t>EFA → CFA → SEM</a:t>
            </a:r>
            <a:endParaRPr lang="en-US" sz="1600" dirty="0"/>
          </a:p>
        </p:txBody>
      </p:sp>
      <p:sp>
        <p:nvSpPr>
          <p:cNvPr id="21" name="Text 18"/>
          <p:cNvSpPr/>
          <p:nvPr/>
        </p:nvSpPr>
        <p:spPr>
          <a:xfrm>
            <a:off x="7576066" y="6156841"/>
            <a:ext cx="6297097" cy="664369"/>
          </a:xfrm>
          <a:prstGeom prst="rect">
            <a:avLst/>
          </a:prstGeom>
          <a:noFill/>
          <a:ln/>
        </p:spPr>
        <p:txBody>
          <a:bodyPr wrap="square" lIns="0" tIns="0" rIns="0" bIns="0" rtlCol="0" anchor="t"/>
          <a:lstStyle/>
          <a:p>
            <a:pPr algn="l" indent="0" marL="0">
              <a:lnSpc>
                <a:spcPts val="2600"/>
              </a:lnSpc>
              <a:buNone/>
            </a:pPr>
            <a:r>
              <a:rPr lang="en-US" sz="1600" dirty="0">
                <a:solidFill>
                  <a:srgbClr val="15213F"/>
                </a:solidFill>
                <a:latin typeface="Roboto" pitchFamily="34" charset="0"/>
                <a:ea typeface="Roboto" pitchFamily="34" charset="-122"/>
                <a:cs typeface="Roboto" pitchFamily="34" charset="-120"/>
              </a:rPr>
              <a:t>Rigorous psychometric validation following established best practices for instrument development and scale validation.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624364"/>
            <a:ext cx="5932527" cy="481965"/>
          </a:xfrm>
          <a:prstGeom prst="rect">
            <a:avLst/>
          </a:prstGeom>
          <a:noFill/>
          <a:ln/>
        </p:spPr>
        <p:txBody>
          <a:bodyPr wrap="none" lIns="0" tIns="0" rIns="0" bIns="0" rtlCol="0" anchor="t"/>
          <a:lstStyle/>
          <a:p>
            <a:pPr algn="l" indent="0" marL="0">
              <a:lnSpc>
                <a:spcPts val="3750"/>
              </a:lnSpc>
              <a:buNone/>
            </a:pPr>
            <a:r>
              <a:rPr lang="en-US" sz="3000" dirty="0">
                <a:solidFill>
                  <a:srgbClr val="3257B8"/>
                </a:solidFill>
                <a:latin typeface="Roboto Slab" pitchFamily="34" charset="0"/>
                <a:ea typeface="Roboto Slab" pitchFamily="34" charset="-122"/>
                <a:cs typeface="Roboto Slab" pitchFamily="34" charset="-120"/>
              </a:rPr>
              <a:t>Psychometric Validation Results</a:t>
            </a:r>
            <a:endParaRPr lang="en-US" sz="3000" dirty="0"/>
          </a:p>
        </p:txBody>
      </p:sp>
      <p:sp>
        <p:nvSpPr>
          <p:cNvPr id="3" name="Text 1"/>
          <p:cNvSpPr/>
          <p:nvPr/>
        </p:nvSpPr>
        <p:spPr>
          <a:xfrm>
            <a:off x="793790" y="1183362"/>
            <a:ext cx="3773686" cy="361474"/>
          </a:xfrm>
          <a:prstGeom prst="rect">
            <a:avLst/>
          </a:prstGeom>
          <a:noFill/>
          <a:ln/>
        </p:spPr>
        <p:txBody>
          <a:bodyPr wrap="none" lIns="0" tIns="0" rIns="0" bIns="0" rtlCol="0" anchor="t"/>
          <a:lstStyle/>
          <a:p>
            <a:pPr algn="l" indent="0" marL="0">
              <a:lnSpc>
                <a:spcPts val="2800"/>
              </a:lnSpc>
              <a:buNone/>
            </a:pPr>
            <a:r>
              <a:rPr lang="en-US" sz="2250" dirty="0">
                <a:solidFill>
                  <a:srgbClr val="3257B8"/>
                </a:solidFill>
                <a:latin typeface="Roboto Slab" pitchFamily="34" charset="0"/>
                <a:ea typeface="Roboto Slab" pitchFamily="34" charset="-122"/>
                <a:cs typeface="Roboto Slab" pitchFamily="34" charset="-120"/>
              </a:rPr>
              <a:t>Model Fit Indices: Excellent</a:t>
            </a:r>
            <a:endParaRPr lang="en-US" sz="2250" dirty="0"/>
          </a:p>
        </p:txBody>
      </p:sp>
      <p:sp>
        <p:nvSpPr>
          <p:cNvPr id="4" name="Text 2"/>
          <p:cNvSpPr/>
          <p:nvPr/>
        </p:nvSpPr>
        <p:spPr>
          <a:xfrm>
            <a:off x="1701522" y="3087172"/>
            <a:ext cx="2371368" cy="481965"/>
          </a:xfrm>
          <a:prstGeom prst="rect">
            <a:avLst/>
          </a:prstGeom>
          <a:noFill/>
          <a:ln/>
        </p:spPr>
        <p:txBody>
          <a:bodyPr wrap="none" lIns="0" tIns="0" rIns="0" bIns="0" rtlCol="0" anchor="t"/>
          <a:lstStyle/>
          <a:p>
            <a:pPr algn="ctr" indent="0" marL="0">
              <a:lnSpc>
                <a:spcPts val="3750"/>
              </a:lnSpc>
              <a:buNone/>
            </a:pPr>
            <a:r>
              <a:rPr lang="en-US" sz="3750" dirty="0">
                <a:solidFill>
                  <a:srgbClr val="15213F"/>
                </a:solidFill>
                <a:latin typeface="Roboto Slab" pitchFamily="34" charset="0"/>
                <a:ea typeface="Roboto Slab" pitchFamily="34" charset="-122"/>
                <a:cs typeface="Roboto Slab" pitchFamily="34" charset="-120"/>
              </a:rPr>
              <a:t>.975</a:t>
            </a:r>
            <a:endParaRPr lang="en-US" sz="3750" dirty="0"/>
          </a:p>
        </p:txBody>
      </p:sp>
      <p:pic>
        <p:nvPicPr>
          <p:cNvPr id="5" name="Image 0" descr="preencoded.png">    </p:cNvPr>
          <p:cNvPicPr>
            <a:picLocks noChangeAspect="1"/>
          </p:cNvPicPr>
          <p:nvPr/>
        </p:nvPicPr>
        <p:blipFill>
          <a:blip r:embed="rId1"/>
          <a:stretch>
            <a:fillRect/>
          </a:stretch>
        </p:blipFill>
        <p:spPr>
          <a:xfrm>
            <a:off x="1441252" y="1882140"/>
            <a:ext cx="2892028" cy="2892028"/>
          </a:xfrm>
          <a:prstGeom prst="rect">
            <a:avLst/>
          </a:prstGeom>
        </p:spPr>
      </p:pic>
      <p:sp>
        <p:nvSpPr>
          <p:cNvPr id="6" name="Text 3"/>
          <p:cNvSpPr/>
          <p:nvPr/>
        </p:nvSpPr>
        <p:spPr>
          <a:xfrm>
            <a:off x="1682234" y="5015032"/>
            <a:ext cx="2409944" cy="301228"/>
          </a:xfrm>
          <a:prstGeom prst="rect">
            <a:avLst/>
          </a:prstGeom>
          <a:noFill/>
          <a:ln/>
        </p:spPr>
        <p:txBody>
          <a:bodyPr wrap="none" lIns="0" tIns="0" rIns="0" bIns="0" rtlCol="0" anchor="t"/>
          <a:lstStyle/>
          <a:p>
            <a:pPr algn="ctr"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CFI</a:t>
            </a:r>
            <a:endParaRPr lang="en-US" sz="1850" dirty="0"/>
          </a:p>
        </p:txBody>
      </p:sp>
      <p:sp>
        <p:nvSpPr>
          <p:cNvPr id="7" name="Text 4"/>
          <p:cNvSpPr/>
          <p:nvPr/>
        </p:nvSpPr>
        <p:spPr>
          <a:xfrm>
            <a:off x="793790" y="5431869"/>
            <a:ext cx="4186952" cy="616744"/>
          </a:xfrm>
          <a:prstGeom prst="rect">
            <a:avLst/>
          </a:prstGeom>
          <a:noFill/>
          <a:ln/>
        </p:spPr>
        <p:txBody>
          <a:bodyPr wrap="square" lIns="0" tIns="0" rIns="0" bIns="0" rtlCol="0" anchor="t"/>
          <a:lstStyle/>
          <a:p>
            <a:pPr algn="ctr" indent="0" marL="0">
              <a:lnSpc>
                <a:spcPts val="2400"/>
              </a:lnSpc>
              <a:buNone/>
            </a:pPr>
            <a:r>
              <a:rPr lang="en-US" sz="1500" dirty="0">
                <a:solidFill>
                  <a:srgbClr val="15213F"/>
                </a:solidFill>
                <a:latin typeface="Roboto" pitchFamily="34" charset="0"/>
                <a:ea typeface="Roboto" pitchFamily="34" charset="-122"/>
                <a:cs typeface="Roboto" pitchFamily="34" charset="-120"/>
              </a:rPr>
              <a:t>Comparative Fit Index</a:t>
            </a:r>
            <a:endParaRPr lang="en-US" sz="1500" dirty="0"/>
          </a:p>
          <a:p>
            <a:pPr algn="ctr" indent="0" marL="0">
              <a:lnSpc>
                <a:spcPts val="2400"/>
              </a:lnSpc>
              <a:buNone/>
            </a:pPr>
            <a:r>
              <a:rPr lang="en-US" sz="1500" dirty="0">
                <a:solidFill>
                  <a:srgbClr val="15213F"/>
                </a:solidFill>
                <a:latin typeface="Roboto" pitchFamily="34" charset="0"/>
                <a:ea typeface="Roboto" pitchFamily="34" charset="-122"/>
                <a:cs typeface="Roboto" pitchFamily="34" charset="-120"/>
              </a:rPr>
              <a:t>(Threshold: &gt; .95)</a:t>
            </a:r>
            <a:endParaRPr lang="en-US" sz="1500" dirty="0"/>
          </a:p>
        </p:txBody>
      </p:sp>
      <p:sp>
        <p:nvSpPr>
          <p:cNvPr id="8" name="Text 5"/>
          <p:cNvSpPr/>
          <p:nvPr/>
        </p:nvSpPr>
        <p:spPr>
          <a:xfrm>
            <a:off x="6129457" y="3087172"/>
            <a:ext cx="2371368" cy="481965"/>
          </a:xfrm>
          <a:prstGeom prst="rect">
            <a:avLst/>
          </a:prstGeom>
          <a:noFill/>
          <a:ln/>
        </p:spPr>
        <p:txBody>
          <a:bodyPr wrap="none" lIns="0" tIns="0" rIns="0" bIns="0" rtlCol="0" anchor="t"/>
          <a:lstStyle/>
          <a:p>
            <a:pPr algn="ctr" indent="0" marL="0">
              <a:lnSpc>
                <a:spcPts val="3750"/>
              </a:lnSpc>
              <a:buNone/>
            </a:pPr>
            <a:r>
              <a:rPr lang="en-US" sz="3750" dirty="0">
                <a:solidFill>
                  <a:srgbClr val="15213F"/>
                </a:solidFill>
                <a:latin typeface="Roboto Slab" pitchFamily="34" charset="0"/>
                <a:ea typeface="Roboto Slab" pitchFamily="34" charset="-122"/>
                <a:cs typeface="Roboto Slab" pitchFamily="34" charset="-120"/>
              </a:rPr>
              <a:t>.960</a:t>
            </a:r>
            <a:endParaRPr lang="en-US" sz="3750" dirty="0"/>
          </a:p>
        </p:txBody>
      </p:sp>
      <p:pic>
        <p:nvPicPr>
          <p:cNvPr id="9" name="Image 1" descr="preencoded.png">    </p:cNvPr>
          <p:cNvPicPr>
            <a:picLocks noChangeAspect="1"/>
          </p:cNvPicPr>
          <p:nvPr/>
        </p:nvPicPr>
        <p:blipFill>
          <a:blip r:embed="rId2"/>
          <a:stretch>
            <a:fillRect/>
          </a:stretch>
        </p:blipFill>
        <p:spPr>
          <a:xfrm>
            <a:off x="5869186" y="1882140"/>
            <a:ext cx="2892028" cy="2892028"/>
          </a:xfrm>
          <a:prstGeom prst="rect">
            <a:avLst/>
          </a:prstGeom>
        </p:spPr>
      </p:pic>
      <p:sp>
        <p:nvSpPr>
          <p:cNvPr id="10" name="Text 6"/>
          <p:cNvSpPr/>
          <p:nvPr/>
        </p:nvSpPr>
        <p:spPr>
          <a:xfrm>
            <a:off x="6110168" y="5015032"/>
            <a:ext cx="2409944" cy="301228"/>
          </a:xfrm>
          <a:prstGeom prst="rect">
            <a:avLst/>
          </a:prstGeom>
          <a:noFill/>
          <a:ln/>
        </p:spPr>
        <p:txBody>
          <a:bodyPr wrap="none" lIns="0" tIns="0" rIns="0" bIns="0" rtlCol="0" anchor="t"/>
          <a:lstStyle/>
          <a:p>
            <a:pPr algn="ctr"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TLI</a:t>
            </a:r>
            <a:endParaRPr lang="en-US" sz="1850" dirty="0"/>
          </a:p>
        </p:txBody>
      </p:sp>
      <p:sp>
        <p:nvSpPr>
          <p:cNvPr id="11" name="Text 7"/>
          <p:cNvSpPr/>
          <p:nvPr/>
        </p:nvSpPr>
        <p:spPr>
          <a:xfrm>
            <a:off x="5221724" y="5431869"/>
            <a:ext cx="4186952" cy="616744"/>
          </a:xfrm>
          <a:prstGeom prst="rect">
            <a:avLst/>
          </a:prstGeom>
          <a:noFill/>
          <a:ln/>
        </p:spPr>
        <p:txBody>
          <a:bodyPr wrap="square" lIns="0" tIns="0" rIns="0" bIns="0" rtlCol="0" anchor="t"/>
          <a:lstStyle/>
          <a:p>
            <a:pPr algn="ctr" indent="0" marL="0">
              <a:lnSpc>
                <a:spcPts val="2400"/>
              </a:lnSpc>
              <a:buNone/>
            </a:pPr>
            <a:r>
              <a:rPr lang="en-US" sz="1500" dirty="0">
                <a:solidFill>
                  <a:srgbClr val="15213F"/>
                </a:solidFill>
                <a:latin typeface="Roboto" pitchFamily="34" charset="0"/>
                <a:ea typeface="Roboto" pitchFamily="34" charset="-122"/>
                <a:cs typeface="Roboto" pitchFamily="34" charset="-120"/>
              </a:rPr>
              <a:t>Tucker-Lewis Index</a:t>
            </a:r>
            <a:endParaRPr lang="en-US" sz="1500" dirty="0"/>
          </a:p>
          <a:p>
            <a:pPr algn="ctr" indent="0" marL="0">
              <a:lnSpc>
                <a:spcPts val="2400"/>
              </a:lnSpc>
              <a:buNone/>
            </a:pPr>
            <a:r>
              <a:rPr lang="en-US" sz="1500" dirty="0">
                <a:solidFill>
                  <a:srgbClr val="15213F"/>
                </a:solidFill>
                <a:latin typeface="Roboto" pitchFamily="34" charset="0"/>
                <a:ea typeface="Roboto" pitchFamily="34" charset="-122"/>
                <a:cs typeface="Roboto" pitchFamily="34" charset="-120"/>
              </a:rPr>
              <a:t>(Threshold: &gt; .95)</a:t>
            </a:r>
            <a:endParaRPr lang="en-US" sz="1500" dirty="0"/>
          </a:p>
        </p:txBody>
      </p:sp>
      <p:sp>
        <p:nvSpPr>
          <p:cNvPr id="12" name="Text 8"/>
          <p:cNvSpPr/>
          <p:nvPr/>
        </p:nvSpPr>
        <p:spPr>
          <a:xfrm>
            <a:off x="10557391" y="3087172"/>
            <a:ext cx="2371368" cy="481965"/>
          </a:xfrm>
          <a:prstGeom prst="rect">
            <a:avLst/>
          </a:prstGeom>
          <a:noFill/>
          <a:ln/>
        </p:spPr>
        <p:txBody>
          <a:bodyPr wrap="none" lIns="0" tIns="0" rIns="0" bIns="0" rtlCol="0" anchor="t"/>
          <a:lstStyle/>
          <a:p>
            <a:pPr algn="ctr" indent="0" marL="0">
              <a:lnSpc>
                <a:spcPts val="3750"/>
              </a:lnSpc>
              <a:buNone/>
            </a:pPr>
            <a:r>
              <a:rPr lang="en-US" sz="3750" dirty="0">
                <a:solidFill>
                  <a:srgbClr val="15213F"/>
                </a:solidFill>
                <a:latin typeface="Roboto Slab" pitchFamily="34" charset="0"/>
                <a:ea typeface="Roboto Slab" pitchFamily="34" charset="-122"/>
                <a:cs typeface="Roboto Slab" pitchFamily="34" charset="-120"/>
              </a:rPr>
              <a:t>.065</a:t>
            </a:r>
            <a:endParaRPr lang="en-US" sz="3750" dirty="0"/>
          </a:p>
        </p:txBody>
      </p:sp>
      <p:pic>
        <p:nvPicPr>
          <p:cNvPr id="13" name="Image 2" descr="preencoded.png">    </p:cNvPr>
          <p:cNvPicPr>
            <a:picLocks noChangeAspect="1"/>
          </p:cNvPicPr>
          <p:nvPr/>
        </p:nvPicPr>
        <p:blipFill>
          <a:blip r:embed="rId3"/>
          <a:stretch>
            <a:fillRect/>
          </a:stretch>
        </p:blipFill>
        <p:spPr>
          <a:xfrm>
            <a:off x="10297120" y="1882140"/>
            <a:ext cx="2892028" cy="2892028"/>
          </a:xfrm>
          <a:prstGeom prst="rect">
            <a:avLst/>
          </a:prstGeom>
        </p:spPr>
      </p:pic>
      <p:sp>
        <p:nvSpPr>
          <p:cNvPr id="14" name="Text 9"/>
          <p:cNvSpPr/>
          <p:nvPr/>
        </p:nvSpPr>
        <p:spPr>
          <a:xfrm>
            <a:off x="10538103" y="5015032"/>
            <a:ext cx="2409944" cy="301228"/>
          </a:xfrm>
          <a:prstGeom prst="rect">
            <a:avLst/>
          </a:prstGeom>
          <a:noFill/>
          <a:ln/>
        </p:spPr>
        <p:txBody>
          <a:bodyPr wrap="none" lIns="0" tIns="0" rIns="0" bIns="0" rtlCol="0" anchor="t"/>
          <a:lstStyle/>
          <a:p>
            <a:pPr algn="ctr"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RMSEA</a:t>
            </a:r>
            <a:endParaRPr lang="en-US" sz="1850" dirty="0"/>
          </a:p>
        </p:txBody>
      </p:sp>
      <p:sp>
        <p:nvSpPr>
          <p:cNvPr id="15" name="Text 10"/>
          <p:cNvSpPr/>
          <p:nvPr/>
        </p:nvSpPr>
        <p:spPr>
          <a:xfrm>
            <a:off x="9649658" y="5431869"/>
            <a:ext cx="4186952" cy="616744"/>
          </a:xfrm>
          <a:prstGeom prst="rect">
            <a:avLst/>
          </a:prstGeom>
          <a:noFill/>
          <a:ln/>
        </p:spPr>
        <p:txBody>
          <a:bodyPr wrap="square" lIns="0" tIns="0" rIns="0" bIns="0" rtlCol="0" anchor="t"/>
          <a:lstStyle/>
          <a:p>
            <a:pPr algn="ctr" indent="0" marL="0">
              <a:lnSpc>
                <a:spcPts val="2400"/>
              </a:lnSpc>
              <a:buNone/>
            </a:pPr>
            <a:r>
              <a:rPr lang="en-US" sz="1500" dirty="0">
                <a:solidFill>
                  <a:srgbClr val="15213F"/>
                </a:solidFill>
                <a:latin typeface="Roboto" pitchFamily="34" charset="0"/>
                <a:ea typeface="Roboto" pitchFamily="34" charset="-122"/>
                <a:cs typeface="Roboto" pitchFamily="34" charset="-120"/>
              </a:rPr>
              <a:t>Root Mean Square Error</a:t>
            </a:r>
            <a:endParaRPr lang="en-US" sz="1500" dirty="0"/>
          </a:p>
          <a:p>
            <a:pPr algn="ctr" indent="0" marL="0">
              <a:lnSpc>
                <a:spcPts val="2400"/>
              </a:lnSpc>
              <a:buNone/>
            </a:pPr>
            <a:r>
              <a:rPr lang="en-US" sz="1500" dirty="0">
                <a:solidFill>
                  <a:srgbClr val="15213F"/>
                </a:solidFill>
                <a:latin typeface="Roboto" pitchFamily="34" charset="0"/>
                <a:ea typeface="Roboto" pitchFamily="34" charset="-122"/>
                <a:cs typeface="Roboto" pitchFamily="34" charset="-120"/>
              </a:rPr>
              <a:t>(Threshold: &lt; .08)</a:t>
            </a:r>
            <a:endParaRPr lang="en-US" sz="1500" dirty="0"/>
          </a:p>
        </p:txBody>
      </p:sp>
      <p:sp>
        <p:nvSpPr>
          <p:cNvPr id="16" name="Text 11"/>
          <p:cNvSpPr/>
          <p:nvPr/>
        </p:nvSpPr>
        <p:spPr>
          <a:xfrm>
            <a:off x="793790" y="6337816"/>
            <a:ext cx="3085267" cy="361474"/>
          </a:xfrm>
          <a:prstGeom prst="rect">
            <a:avLst/>
          </a:prstGeom>
          <a:noFill/>
          <a:ln/>
        </p:spPr>
        <p:txBody>
          <a:bodyPr wrap="none" lIns="0" tIns="0" rIns="0" bIns="0" rtlCol="0" anchor="t"/>
          <a:lstStyle/>
          <a:p>
            <a:pPr algn="l" indent="0" marL="0">
              <a:lnSpc>
                <a:spcPts val="2800"/>
              </a:lnSpc>
              <a:buNone/>
            </a:pPr>
            <a:r>
              <a:rPr lang="en-US" sz="2250" dirty="0">
                <a:solidFill>
                  <a:srgbClr val="3257B8"/>
                </a:solidFill>
                <a:latin typeface="Roboto Slab" pitchFamily="34" charset="0"/>
                <a:ea typeface="Roboto Slab" pitchFamily="34" charset="-122"/>
                <a:cs typeface="Roboto Slab" pitchFamily="34" charset="-120"/>
              </a:rPr>
              <a:t>Reliability Coefficients</a:t>
            </a:r>
            <a:endParaRPr lang="en-US" sz="2250" dirty="0"/>
          </a:p>
        </p:txBody>
      </p:sp>
      <p:sp>
        <p:nvSpPr>
          <p:cNvPr id="17" name="Text 12"/>
          <p:cNvSpPr/>
          <p:nvPr/>
        </p:nvSpPr>
        <p:spPr>
          <a:xfrm>
            <a:off x="793790" y="6988493"/>
            <a:ext cx="13042821"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All Cronbach's alpha values exceed .74, well above the .70 threshold for acceptable internal consistency. The instrument demonstrates strong psychometric properties across all validated factors.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826895"/>
            <a:ext cx="4788694"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Sample Demographics</a:t>
            </a:r>
            <a:endParaRPr lang="en-US" sz="3550" dirty="0"/>
          </a:p>
        </p:txBody>
      </p:sp>
      <p:sp>
        <p:nvSpPr>
          <p:cNvPr id="3" name="Text 1"/>
          <p:cNvSpPr/>
          <p:nvPr/>
        </p:nvSpPr>
        <p:spPr>
          <a:xfrm>
            <a:off x="793790" y="2960846"/>
            <a:ext cx="576584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Participant Characteristics (N = 523)</a:t>
            </a:r>
            <a:endParaRPr lang="en-US" sz="2650" dirty="0"/>
          </a:p>
        </p:txBody>
      </p:sp>
      <p:sp>
        <p:nvSpPr>
          <p:cNvPr id="4" name="Text 2"/>
          <p:cNvSpPr/>
          <p:nvPr/>
        </p:nvSpPr>
        <p:spPr>
          <a:xfrm>
            <a:off x="793790" y="3612952"/>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Population:</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41% Academic contexts, 59% Working professionals</a:t>
            </a:r>
            <a:endParaRPr lang="en-US" sz="1750" dirty="0"/>
          </a:p>
        </p:txBody>
      </p:sp>
      <p:sp>
        <p:nvSpPr>
          <p:cNvPr id="5" name="Text 3"/>
          <p:cNvSpPr/>
          <p:nvPr/>
        </p:nvSpPr>
        <p:spPr>
          <a:xfrm>
            <a:off x="793790" y="4055150"/>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Education:</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34% Some college, 28% Bachelor's, 18% Master's degrees</a:t>
            </a:r>
            <a:endParaRPr lang="en-US" sz="1750" dirty="0"/>
          </a:p>
        </p:txBody>
      </p:sp>
      <p:sp>
        <p:nvSpPr>
          <p:cNvPr id="6" name="Text 4"/>
          <p:cNvSpPr/>
          <p:nvPr/>
        </p:nvSpPr>
        <p:spPr>
          <a:xfrm>
            <a:off x="793790" y="4497348"/>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Experience:</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37% with 11+ years, 19% less than 1 year, 18% 1–3 years</a:t>
            </a:r>
            <a:endParaRPr lang="en-US" sz="1750" dirty="0"/>
          </a:p>
        </p:txBody>
      </p:sp>
      <p:sp>
        <p:nvSpPr>
          <p:cNvPr id="7" name="Text 5"/>
          <p:cNvSpPr/>
          <p:nvPr/>
        </p:nvSpPr>
        <p:spPr>
          <a:xfrm>
            <a:off x="793790" y="4939546"/>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Leadership:</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24% in supervisory roles (managers and executives)</a:t>
            </a:r>
            <a:endParaRPr lang="en-US" sz="1750" dirty="0"/>
          </a:p>
        </p:txBody>
      </p:sp>
      <p:sp>
        <p:nvSpPr>
          <p:cNvPr id="8" name="Text 6"/>
          <p:cNvSpPr/>
          <p:nvPr/>
        </p:nvSpPr>
        <p:spPr>
          <a:xfrm>
            <a:off x="793790" y="5381744"/>
            <a:ext cx="7604284"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15213F"/>
                </a:solidFill>
                <a:latin typeface="Roboto" pitchFamily="34" charset="0"/>
                <a:ea typeface="Roboto" pitchFamily="34" charset="-122"/>
                <a:cs typeface="Roboto" pitchFamily="34" charset="-120"/>
              </a:rPr>
              <a:t>Disability:</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13% identify as having a disability</a:t>
            </a:r>
            <a:endParaRPr lang="en-US" sz="1750" dirty="0"/>
          </a:p>
        </p:txBody>
      </p:sp>
      <p:sp>
        <p:nvSpPr>
          <p:cNvPr id="9" name="Text 7"/>
          <p:cNvSpPr/>
          <p:nvPr/>
        </p:nvSpPr>
        <p:spPr>
          <a:xfrm>
            <a:off x="8959096" y="296084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Quality Controls</a:t>
            </a:r>
            <a:endParaRPr lang="en-US" sz="2650" dirty="0"/>
          </a:p>
        </p:txBody>
      </p:sp>
      <p:sp>
        <p:nvSpPr>
          <p:cNvPr id="10" name="Text 8"/>
          <p:cNvSpPr/>
          <p:nvPr/>
        </p:nvSpPr>
        <p:spPr>
          <a:xfrm>
            <a:off x="8959096" y="3612952"/>
            <a:ext cx="4885015" cy="725805"/>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Recruitment:</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Centiment professional research panel with blinded recruitment methodology.</a:t>
            </a:r>
            <a:endParaRPr lang="en-US" sz="1750" dirty="0"/>
          </a:p>
        </p:txBody>
      </p:sp>
      <p:sp>
        <p:nvSpPr>
          <p:cNvPr id="11" name="Text 9"/>
          <p:cNvSpPr/>
          <p:nvPr/>
        </p:nvSpPr>
        <p:spPr>
          <a:xfrm>
            <a:off x="8959096" y="4542830"/>
            <a:ext cx="4885015"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Topic not disclosed until consent phase to reduce self-selection bias.</a:t>
            </a:r>
            <a:endParaRPr lang="en-US" sz="1750" dirty="0"/>
          </a:p>
        </p:txBody>
      </p:sp>
      <p:sp>
        <p:nvSpPr>
          <p:cNvPr id="12" name="Text 10"/>
          <p:cNvSpPr/>
          <p:nvPr/>
        </p:nvSpPr>
        <p:spPr>
          <a:xfrm>
            <a:off x="8959096" y="5472708"/>
            <a:ext cx="4885015"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Multiple attention checks embedded throughout survey with quality control exclusions applied.</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696158"/>
            <a:ext cx="7114937" cy="453628"/>
          </a:xfrm>
          <a:prstGeom prst="rect">
            <a:avLst/>
          </a:prstGeom>
          <a:noFill/>
          <a:ln/>
        </p:spPr>
        <p:txBody>
          <a:bodyPr wrap="none" lIns="0" tIns="0" rIns="0" bIns="0" rtlCol="0" anchor="t"/>
          <a:lstStyle/>
          <a:p>
            <a:pPr algn="l" indent="0" marL="0">
              <a:lnSpc>
                <a:spcPts val="3550"/>
              </a:lnSpc>
              <a:buNone/>
            </a:pPr>
            <a:r>
              <a:rPr lang="en-US" sz="2850" dirty="0">
                <a:solidFill>
                  <a:srgbClr val="3257B8"/>
                </a:solidFill>
                <a:latin typeface="Roboto Slab" pitchFamily="34" charset="0"/>
                <a:ea typeface="Roboto Slab" pitchFamily="34" charset="-122"/>
                <a:cs typeface="Roboto Slab" pitchFamily="34" charset="-120"/>
              </a:rPr>
              <a:t>Key Finding #1: The Value Paradigm Shift</a:t>
            </a:r>
            <a:endParaRPr lang="en-US" sz="2850" dirty="0"/>
          </a:p>
        </p:txBody>
      </p:sp>
      <p:sp>
        <p:nvSpPr>
          <p:cNvPr id="3" name="Text 1"/>
          <p:cNvSpPr/>
          <p:nvPr/>
        </p:nvSpPr>
        <p:spPr>
          <a:xfrm>
            <a:off x="793790" y="1222296"/>
            <a:ext cx="4477822" cy="340162"/>
          </a:xfrm>
          <a:prstGeom prst="rect">
            <a:avLst/>
          </a:prstGeom>
          <a:noFill/>
          <a:ln/>
        </p:spPr>
        <p:txBody>
          <a:bodyPr wrap="none" lIns="0" tIns="0" rIns="0" bIns="0" rtlCol="0" anchor="t"/>
          <a:lstStyle/>
          <a:p>
            <a:pPr algn="l" indent="0" marL="0">
              <a:lnSpc>
                <a:spcPts val="2650"/>
              </a:lnSpc>
              <a:buNone/>
            </a:pPr>
            <a:r>
              <a:rPr lang="en-US" sz="2100" dirty="0">
                <a:solidFill>
                  <a:srgbClr val="3257B8"/>
                </a:solidFill>
                <a:latin typeface="Roboto Slab" pitchFamily="34" charset="0"/>
                <a:ea typeface="Roboto Slab" pitchFamily="34" charset="-122"/>
                <a:cs typeface="Roboto Slab" pitchFamily="34" charset="-120"/>
              </a:rPr>
              <a:t>What Actually Drives AI Adoption?</a:t>
            </a:r>
            <a:endParaRPr lang="en-US" sz="2100" dirty="0"/>
          </a:p>
        </p:txBody>
      </p:sp>
      <p:sp>
        <p:nvSpPr>
          <p:cNvPr id="4" name="Shape 2"/>
          <p:cNvSpPr/>
          <p:nvPr/>
        </p:nvSpPr>
        <p:spPr>
          <a:xfrm>
            <a:off x="793790" y="1834634"/>
            <a:ext cx="13042821" cy="4723686"/>
          </a:xfrm>
          <a:prstGeom prst="roundRect">
            <a:avLst>
              <a:gd name="adj" fmla="val 576"/>
            </a:avLst>
          </a:prstGeom>
          <a:noFill/>
          <a:ln w="7620">
            <a:solidFill>
              <a:srgbClr val="000000">
                <a:alpha val="8000"/>
              </a:srgbClr>
            </a:solidFill>
            <a:prstDash val="solid"/>
          </a:ln>
        </p:spPr>
      </p:sp>
      <p:sp>
        <p:nvSpPr>
          <p:cNvPr id="5" name="Shape 3"/>
          <p:cNvSpPr/>
          <p:nvPr/>
        </p:nvSpPr>
        <p:spPr>
          <a:xfrm>
            <a:off x="801410" y="1842254"/>
            <a:ext cx="13027581" cy="523161"/>
          </a:xfrm>
          <a:prstGeom prst="rect">
            <a:avLst/>
          </a:prstGeom>
          <a:solidFill>
            <a:srgbClr val="FFFFFF">
              <a:alpha val="4000"/>
            </a:srgbClr>
          </a:solidFill>
          <a:ln/>
        </p:spPr>
      </p:sp>
      <p:sp>
        <p:nvSpPr>
          <p:cNvPr id="6" name="Text 4"/>
          <p:cNvSpPr/>
          <p:nvPr/>
        </p:nvSpPr>
        <p:spPr>
          <a:xfrm>
            <a:off x="983099" y="1958697"/>
            <a:ext cx="4844296"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Predictor</a:t>
            </a:r>
            <a:endParaRPr lang="en-US" sz="1400" dirty="0"/>
          </a:p>
        </p:txBody>
      </p:sp>
      <p:sp>
        <p:nvSpPr>
          <p:cNvPr id="7" name="Text 5"/>
          <p:cNvSpPr/>
          <p:nvPr/>
        </p:nvSpPr>
        <p:spPr>
          <a:xfrm>
            <a:off x="6197918" y="1958697"/>
            <a:ext cx="1583531"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β</a:t>
            </a:r>
            <a:endParaRPr lang="en-US" sz="1400" dirty="0"/>
          </a:p>
        </p:txBody>
      </p:sp>
      <p:sp>
        <p:nvSpPr>
          <p:cNvPr id="8" name="Text 6"/>
          <p:cNvSpPr/>
          <p:nvPr/>
        </p:nvSpPr>
        <p:spPr>
          <a:xfrm>
            <a:off x="8151971" y="1958697"/>
            <a:ext cx="1583531"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p</a:t>
            </a:r>
            <a:endParaRPr lang="en-US" sz="1400" dirty="0"/>
          </a:p>
        </p:txBody>
      </p:sp>
      <p:sp>
        <p:nvSpPr>
          <p:cNvPr id="9" name="Text 7"/>
          <p:cNvSpPr/>
          <p:nvPr/>
        </p:nvSpPr>
        <p:spPr>
          <a:xfrm>
            <a:off x="10106025" y="1958697"/>
            <a:ext cx="3541514"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Result</a:t>
            </a:r>
            <a:endParaRPr lang="en-US" sz="1400" dirty="0"/>
          </a:p>
        </p:txBody>
      </p:sp>
      <p:sp>
        <p:nvSpPr>
          <p:cNvPr id="10" name="Shape 8"/>
          <p:cNvSpPr/>
          <p:nvPr/>
        </p:nvSpPr>
        <p:spPr>
          <a:xfrm>
            <a:off x="801410" y="2365415"/>
            <a:ext cx="13027581" cy="523161"/>
          </a:xfrm>
          <a:prstGeom prst="rect">
            <a:avLst/>
          </a:prstGeom>
          <a:solidFill>
            <a:srgbClr val="000000">
              <a:alpha val="4000"/>
            </a:srgbClr>
          </a:solidFill>
          <a:ln/>
        </p:spPr>
      </p:sp>
      <p:sp>
        <p:nvSpPr>
          <p:cNvPr id="11" name="Text 9"/>
          <p:cNvSpPr/>
          <p:nvPr/>
        </p:nvSpPr>
        <p:spPr>
          <a:xfrm>
            <a:off x="983099" y="2481858"/>
            <a:ext cx="4844296"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Price Value</a:t>
            </a:r>
            <a:endParaRPr lang="en-US" sz="1400" dirty="0"/>
          </a:p>
        </p:txBody>
      </p:sp>
      <p:sp>
        <p:nvSpPr>
          <p:cNvPr id="12" name="Text 10"/>
          <p:cNvSpPr/>
          <p:nvPr/>
        </p:nvSpPr>
        <p:spPr>
          <a:xfrm>
            <a:off x="6197918" y="2481858"/>
            <a:ext cx="1583531"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.505</a:t>
            </a:r>
            <a:endParaRPr lang="en-US" sz="1400" dirty="0"/>
          </a:p>
        </p:txBody>
      </p:sp>
      <p:sp>
        <p:nvSpPr>
          <p:cNvPr id="13" name="Text 11"/>
          <p:cNvSpPr/>
          <p:nvPr/>
        </p:nvSpPr>
        <p:spPr>
          <a:xfrm>
            <a:off x="8151971" y="2481858"/>
            <a:ext cx="1583531"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&lt;.001</a:t>
            </a:r>
            <a:endParaRPr lang="en-US" sz="1400" dirty="0"/>
          </a:p>
        </p:txBody>
      </p:sp>
      <p:sp>
        <p:nvSpPr>
          <p:cNvPr id="14" name="Text 12"/>
          <p:cNvSpPr/>
          <p:nvPr/>
        </p:nvSpPr>
        <p:spPr>
          <a:xfrm>
            <a:off x="10106025" y="2481858"/>
            <a:ext cx="3541514"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 Strongest Driver</a:t>
            </a:r>
            <a:endParaRPr lang="en-US" sz="1400" dirty="0"/>
          </a:p>
        </p:txBody>
      </p:sp>
      <p:sp>
        <p:nvSpPr>
          <p:cNvPr id="15" name="Shape 13"/>
          <p:cNvSpPr/>
          <p:nvPr/>
        </p:nvSpPr>
        <p:spPr>
          <a:xfrm>
            <a:off x="801410" y="2888575"/>
            <a:ext cx="13027581" cy="523161"/>
          </a:xfrm>
          <a:prstGeom prst="rect">
            <a:avLst/>
          </a:prstGeom>
          <a:solidFill>
            <a:srgbClr val="FFFFFF">
              <a:alpha val="4000"/>
            </a:srgbClr>
          </a:solidFill>
          <a:ln/>
        </p:spPr>
      </p:sp>
      <p:sp>
        <p:nvSpPr>
          <p:cNvPr id="16" name="Text 14"/>
          <p:cNvSpPr/>
          <p:nvPr/>
        </p:nvSpPr>
        <p:spPr>
          <a:xfrm>
            <a:off x="983099" y="3005018"/>
            <a:ext cx="4844296"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Hedonic Motivation</a:t>
            </a:r>
            <a:endParaRPr lang="en-US" sz="1400" dirty="0"/>
          </a:p>
        </p:txBody>
      </p:sp>
      <p:sp>
        <p:nvSpPr>
          <p:cNvPr id="17" name="Text 15"/>
          <p:cNvSpPr/>
          <p:nvPr/>
        </p:nvSpPr>
        <p:spPr>
          <a:xfrm>
            <a:off x="6197918" y="3005018"/>
            <a:ext cx="1583531"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.217</a:t>
            </a:r>
            <a:endParaRPr lang="en-US" sz="1400" dirty="0"/>
          </a:p>
        </p:txBody>
      </p:sp>
      <p:sp>
        <p:nvSpPr>
          <p:cNvPr id="18" name="Text 16"/>
          <p:cNvSpPr/>
          <p:nvPr/>
        </p:nvSpPr>
        <p:spPr>
          <a:xfrm>
            <a:off x="8151971" y="3005018"/>
            <a:ext cx="1583531"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.014</a:t>
            </a:r>
            <a:endParaRPr lang="en-US" sz="1400" dirty="0"/>
          </a:p>
        </p:txBody>
      </p:sp>
      <p:sp>
        <p:nvSpPr>
          <p:cNvPr id="19" name="Text 17"/>
          <p:cNvSpPr/>
          <p:nvPr/>
        </p:nvSpPr>
        <p:spPr>
          <a:xfrm>
            <a:off x="10106025" y="3005018"/>
            <a:ext cx="3541514"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 Supported</a:t>
            </a:r>
            <a:endParaRPr lang="en-US" sz="1400" dirty="0"/>
          </a:p>
        </p:txBody>
      </p:sp>
      <p:sp>
        <p:nvSpPr>
          <p:cNvPr id="20" name="Shape 18"/>
          <p:cNvSpPr/>
          <p:nvPr/>
        </p:nvSpPr>
        <p:spPr>
          <a:xfrm>
            <a:off x="801410" y="3411736"/>
            <a:ext cx="13027581" cy="523161"/>
          </a:xfrm>
          <a:prstGeom prst="rect">
            <a:avLst/>
          </a:prstGeom>
          <a:solidFill>
            <a:srgbClr val="000000">
              <a:alpha val="4000"/>
            </a:srgbClr>
          </a:solidFill>
          <a:ln/>
        </p:spPr>
      </p:sp>
      <p:sp>
        <p:nvSpPr>
          <p:cNvPr id="21" name="Text 19"/>
          <p:cNvSpPr/>
          <p:nvPr/>
        </p:nvSpPr>
        <p:spPr>
          <a:xfrm>
            <a:off x="983099" y="3528179"/>
            <a:ext cx="4844296"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Social Influence</a:t>
            </a:r>
            <a:endParaRPr lang="en-US" sz="1400" dirty="0"/>
          </a:p>
        </p:txBody>
      </p:sp>
      <p:sp>
        <p:nvSpPr>
          <p:cNvPr id="22" name="Text 20"/>
          <p:cNvSpPr/>
          <p:nvPr/>
        </p:nvSpPr>
        <p:spPr>
          <a:xfrm>
            <a:off x="6197918" y="3528179"/>
            <a:ext cx="1583531"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.136</a:t>
            </a:r>
            <a:endParaRPr lang="en-US" sz="1400" dirty="0"/>
          </a:p>
        </p:txBody>
      </p:sp>
      <p:sp>
        <p:nvSpPr>
          <p:cNvPr id="23" name="Text 21"/>
          <p:cNvSpPr/>
          <p:nvPr/>
        </p:nvSpPr>
        <p:spPr>
          <a:xfrm>
            <a:off x="8151971" y="3528179"/>
            <a:ext cx="1583531"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.024</a:t>
            </a:r>
            <a:endParaRPr lang="en-US" sz="1400" dirty="0"/>
          </a:p>
        </p:txBody>
      </p:sp>
      <p:sp>
        <p:nvSpPr>
          <p:cNvPr id="24" name="Text 22"/>
          <p:cNvSpPr/>
          <p:nvPr/>
        </p:nvSpPr>
        <p:spPr>
          <a:xfrm>
            <a:off x="10106025" y="3528179"/>
            <a:ext cx="3541514" cy="290274"/>
          </a:xfrm>
          <a:prstGeom prst="rect">
            <a:avLst/>
          </a:prstGeom>
          <a:noFill/>
          <a:ln/>
        </p:spPr>
        <p:txBody>
          <a:bodyPr wrap="none" lIns="0" tIns="0" rIns="0" bIns="0" rtlCol="0" anchor="t"/>
          <a:lstStyle/>
          <a:p>
            <a:pPr algn="l" indent="0" marL="0">
              <a:lnSpc>
                <a:spcPts val="2250"/>
              </a:lnSpc>
              <a:buNone/>
            </a:pPr>
            <a:r>
              <a:rPr lang="en-US" sz="1400" b="1" dirty="0">
                <a:solidFill>
                  <a:srgbClr val="3257B8"/>
                </a:solidFill>
                <a:latin typeface="Roboto" pitchFamily="34" charset="0"/>
                <a:ea typeface="Roboto" pitchFamily="34" charset="-122"/>
                <a:cs typeface="Roboto" pitchFamily="34" charset="-120"/>
              </a:rPr>
              <a:t>✓ Supported</a:t>
            </a:r>
            <a:endParaRPr lang="en-US" sz="1400" dirty="0"/>
          </a:p>
        </p:txBody>
      </p:sp>
      <p:sp>
        <p:nvSpPr>
          <p:cNvPr id="25" name="Shape 23"/>
          <p:cNvSpPr/>
          <p:nvPr/>
        </p:nvSpPr>
        <p:spPr>
          <a:xfrm>
            <a:off x="801410" y="3934897"/>
            <a:ext cx="13027581" cy="523161"/>
          </a:xfrm>
          <a:prstGeom prst="rect">
            <a:avLst/>
          </a:prstGeom>
          <a:solidFill>
            <a:srgbClr val="FFFFFF">
              <a:alpha val="4000"/>
            </a:srgbClr>
          </a:solidFill>
          <a:ln/>
        </p:spPr>
      </p:sp>
      <p:sp>
        <p:nvSpPr>
          <p:cNvPr id="26" name="Text 24"/>
          <p:cNvSpPr/>
          <p:nvPr/>
        </p:nvSpPr>
        <p:spPr>
          <a:xfrm>
            <a:off x="983099" y="4051340"/>
            <a:ext cx="4844296"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AI Trust</a:t>
            </a:r>
            <a:endParaRPr lang="en-US" sz="1400" dirty="0"/>
          </a:p>
        </p:txBody>
      </p:sp>
      <p:sp>
        <p:nvSpPr>
          <p:cNvPr id="27" name="Text 25"/>
          <p:cNvSpPr/>
          <p:nvPr/>
        </p:nvSpPr>
        <p:spPr>
          <a:xfrm>
            <a:off x="6197918" y="4051340"/>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.106</a:t>
            </a:r>
            <a:endParaRPr lang="en-US" sz="1400" dirty="0"/>
          </a:p>
        </p:txBody>
      </p:sp>
      <p:sp>
        <p:nvSpPr>
          <p:cNvPr id="28" name="Text 26"/>
          <p:cNvSpPr/>
          <p:nvPr/>
        </p:nvSpPr>
        <p:spPr>
          <a:xfrm>
            <a:off x="8151971" y="4051340"/>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.064</a:t>
            </a:r>
            <a:endParaRPr lang="en-US" sz="1400" dirty="0"/>
          </a:p>
        </p:txBody>
      </p:sp>
      <p:sp>
        <p:nvSpPr>
          <p:cNvPr id="29" name="Text 27"/>
          <p:cNvSpPr/>
          <p:nvPr/>
        </p:nvSpPr>
        <p:spPr>
          <a:xfrm>
            <a:off x="10106025" y="4051340"/>
            <a:ext cx="3541514"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Marginal</a:t>
            </a:r>
            <a:endParaRPr lang="en-US" sz="1400" dirty="0"/>
          </a:p>
        </p:txBody>
      </p:sp>
      <p:sp>
        <p:nvSpPr>
          <p:cNvPr id="30" name="Shape 28"/>
          <p:cNvSpPr/>
          <p:nvPr/>
        </p:nvSpPr>
        <p:spPr>
          <a:xfrm>
            <a:off x="801410" y="4458057"/>
            <a:ext cx="13027581" cy="523161"/>
          </a:xfrm>
          <a:prstGeom prst="rect">
            <a:avLst/>
          </a:prstGeom>
          <a:solidFill>
            <a:srgbClr val="000000">
              <a:alpha val="4000"/>
            </a:srgbClr>
          </a:solidFill>
          <a:ln/>
        </p:spPr>
      </p:sp>
      <p:sp>
        <p:nvSpPr>
          <p:cNvPr id="31" name="Text 29"/>
          <p:cNvSpPr/>
          <p:nvPr/>
        </p:nvSpPr>
        <p:spPr>
          <a:xfrm>
            <a:off x="983099" y="4574500"/>
            <a:ext cx="4844296"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Performance Expectancy</a:t>
            </a:r>
            <a:endParaRPr lang="en-US" sz="1400" dirty="0"/>
          </a:p>
        </p:txBody>
      </p:sp>
      <p:sp>
        <p:nvSpPr>
          <p:cNvPr id="32" name="Text 30"/>
          <p:cNvSpPr/>
          <p:nvPr/>
        </p:nvSpPr>
        <p:spPr>
          <a:xfrm>
            <a:off x="6197918" y="4574500"/>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−.028</a:t>
            </a:r>
            <a:endParaRPr lang="en-US" sz="1400" dirty="0"/>
          </a:p>
        </p:txBody>
      </p:sp>
      <p:sp>
        <p:nvSpPr>
          <p:cNvPr id="33" name="Text 31"/>
          <p:cNvSpPr/>
          <p:nvPr/>
        </p:nvSpPr>
        <p:spPr>
          <a:xfrm>
            <a:off x="8151971" y="4574500"/>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.791</a:t>
            </a:r>
            <a:endParaRPr lang="en-US" sz="1400" dirty="0"/>
          </a:p>
        </p:txBody>
      </p:sp>
      <p:sp>
        <p:nvSpPr>
          <p:cNvPr id="34" name="Text 32"/>
          <p:cNvSpPr/>
          <p:nvPr/>
        </p:nvSpPr>
        <p:spPr>
          <a:xfrm>
            <a:off x="10106025" y="4574500"/>
            <a:ext cx="3541514"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Not Significant</a:t>
            </a:r>
            <a:endParaRPr lang="en-US" sz="1400" dirty="0"/>
          </a:p>
        </p:txBody>
      </p:sp>
      <p:sp>
        <p:nvSpPr>
          <p:cNvPr id="35" name="Shape 33"/>
          <p:cNvSpPr/>
          <p:nvPr/>
        </p:nvSpPr>
        <p:spPr>
          <a:xfrm>
            <a:off x="801410" y="4981218"/>
            <a:ext cx="13027581" cy="523161"/>
          </a:xfrm>
          <a:prstGeom prst="rect">
            <a:avLst/>
          </a:prstGeom>
          <a:solidFill>
            <a:srgbClr val="FFFFFF">
              <a:alpha val="4000"/>
            </a:srgbClr>
          </a:solidFill>
          <a:ln/>
        </p:spPr>
      </p:sp>
      <p:sp>
        <p:nvSpPr>
          <p:cNvPr id="36" name="Text 34"/>
          <p:cNvSpPr/>
          <p:nvPr/>
        </p:nvSpPr>
        <p:spPr>
          <a:xfrm>
            <a:off x="983099" y="5097661"/>
            <a:ext cx="4844296"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Effort Expectancy</a:t>
            </a:r>
            <a:endParaRPr lang="en-US" sz="1400" dirty="0"/>
          </a:p>
        </p:txBody>
      </p:sp>
      <p:sp>
        <p:nvSpPr>
          <p:cNvPr id="37" name="Text 35"/>
          <p:cNvSpPr/>
          <p:nvPr/>
        </p:nvSpPr>
        <p:spPr>
          <a:xfrm>
            <a:off x="6197918" y="5097661"/>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−.008</a:t>
            </a:r>
            <a:endParaRPr lang="en-US" sz="1400" dirty="0"/>
          </a:p>
        </p:txBody>
      </p:sp>
      <p:sp>
        <p:nvSpPr>
          <p:cNvPr id="38" name="Text 36"/>
          <p:cNvSpPr/>
          <p:nvPr/>
        </p:nvSpPr>
        <p:spPr>
          <a:xfrm>
            <a:off x="8151971" y="5097661"/>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.875</a:t>
            </a:r>
            <a:endParaRPr lang="en-US" sz="1400" dirty="0"/>
          </a:p>
        </p:txBody>
      </p:sp>
      <p:sp>
        <p:nvSpPr>
          <p:cNvPr id="39" name="Text 37"/>
          <p:cNvSpPr/>
          <p:nvPr/>
        </p:nvSpPr>
        <p:spPr>
          <a:xfrm>
            <a:off x="10106025" y="5097661"/>
            <a:ext cx="3541514"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Not Significant</a:t>
            </a:r>
            <a:endParaRPr lang="en-US" sz="1400" dirty="0"/>
          </a:p>
        </p:txBody>
      </p:sp>
      <p:sp>
        <p:nvSpPr>
          <p:cNvPr id="40" name="Shape 38"/>
          <p:cNvSpPr/>
          <p:nvPr/>
        </p:nvSpPr>
        <p:spPr>
          <a:xfrm>
            <a:off x="801410" y="5504378"/>
            <a:ext cx="13027581" cy="523161"/>
          </a:xfrm>
          <a:prstGeom prst="rect">
            <a:avLst/>
          </a:prstGeom>
          <a:solidFill>
            <a:srgbClr val="000000">
              <a:alpha val="4000"/>
            </a:srgbClr>
          </a:solidFill>
          <a:ln/>
        </p:spPr>
      </p:sp>
      <p:sp>
        <p:nvSpPr>
          <p:cNvPr id="41" name="Text 39"/>
          <p:cNvSpPr/>
          <p:nvPr/>
        </p:nvSpPr>
        <p:spPr>
          <a:xfrm>
            <a:off x="983099" y="5620822"/>
            <a:ext cx="4844296"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Facilitating Conditions</a:t>
            </a:r>
            <a:endParaRPr lang="en-US" sz="1400" dirty="0"/>
          </a:p>
        </p:txBody>
      </p:sp>
      <p:sp>
        <p:nvSpPr>
          <p:cNvPr id="42" name="Text 40"/>
          <p:cNvSpPr/>
          <p:nvPr/>
        </p:nvSpPr>
        <p:spPr>
          <a:xfrm>
            <a:off x="6197918" y="5620822"/>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.059</a:t>
            </a:r>
            <a:endParaRPr lang="en-US" sz="1400" dirty="0"/>
          </a:p>
        </p:txBody>
      </p:sp>
      <p:sp>
        <p:nvSpPr>
          <p:cNvPr id="43" name="Text 41"/>
          <p:cNvSpPr/>
          <p:nvPr/>
        </p:nvSpPr>
        <p:spPr>
          <a:xfrm>
            <a:off x="8151971" y="5620822"/>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.338</a:t>
            </a:r>
            <a:endParaRPr lang="en-US" sz="1400" dirty="0"/>
          </a:p>
        </p:txBody>
      </p:sp>
      <p:sp>
        <p:nvSpPr>
          <p:cNvPr id="44" name="Text 42"/>
          <p:cNvSpPr/>
          <p:nvPr/>
        </p:nvSpPr>
        <p:spPr>
          <a:xfrm>
            <a:off x="10106025" y="5620822"/>
            <a:ext cx="3541514"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Not Significant</a:t>
            </a:r>
            <a:endParaRPr lang="en-US" sz="1400" dirty="0"/>
          </a:p>
        </p:txBody>
      </p:sp>
      <p:sp>
        <p:nvSpPr>
          <p:cNvPr id="45" name="Shape 43"/>
          <p:cNvSpPr/>
          <p:nvPr/>
        </p:nvSpPr>
        <p:spPr>
          <a:xfrm>
            <a:off x="801410" y="6027539"/>
            <a:ext cx="13027581" cy="523161"/>
          </a:xfrm>
          <a:prstGeom prst="rect">
            <a:avLst/>
          </a:prstGeom>
          <a:solidFill>
            <a:srgbClr val="FFFFFF">
              <a:alpha val="4000"/>
            </a:srgbClr>
          </a:solidFill>
          <a:ln/>
        </p:spPr>
      </p:sp>
      <p:sp>
        <p:nvSpPr>
          <p:cNvPr id="46" name="Text 44"/>
          <p:cNvSpPr/>
          <p:nvPr/>
        </p:nvSpPr>
        <p:spPr>
          <a:xfrm>
            <a:off x="983099" y="6143982"/>
            <a:ext cx="4844296"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Habit</a:t>
            </a:r>
            <a:endParaRPr lang="en-US" sz="1400" dirty="0"/>
          </a:p>
        </p:txBody>
      </p:sp>
      <p:sp>
        <p:nvSpPr>
          <p:cNvPr id="47" name="Text 45"/>
          <p:cNvSpPr/>
          <p:nvPr/>
        </p:nvSpPr>
        <p:spPr>
          <a:xfrm>
            <a:off x="6197918" y="6143982"/>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.023</a:t>
            </a:r>
            <a:endParaRPr lang="en-US" sz="1400" dirty="0"/>
          </a:p>
        </p:txBody>
      </p:sp>
      <p:sp>
        <p:nvSpPr>
          <p:cNvPr id="48" name="Text 46"/>
          <p:cNvSpPr/>
          <p:nvPr/>
        </p:nvSpPr>
        <p:spPr>
          <a:xfrm>
            <a:off x="8151971" y="6143982"/>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.631</a:t>
            </a:r>
            <a:endParaRPr lang="en-US" sz="1400" dirty="0"/>
          </a:p>
        </p:txBody>
      </p:sp>
      <p:sp>
        <p:nvSpPr>
          <p:cNvPr id="49" name="Text 47"/>
          <p:cNvSpPr/>
          <p:nvPr/>
        </p:nvSpPr>
        <p:spPr>
          <a:xfrm>
            <a:off x="10106025" y="6143982"/>
            <a:ext cx="3541514"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 Not Significant</a:t>
            </a:r>
            <a:endParaRPr lang="en-US" sz="1400" dirty="0"/>
          </a:p>
        </p:txBody>
      </p:sp>
      <p:sp>
        <p:nvSpPr>
          <p:cNvPr id="50" name="Shape 48"/>
          <p:cNvSpPr/>
          <p:nvPr/>
        </p:nvSpPr>
        <p:spPr>
          <a:xfrm>
            <a:off x="793790" y="6762393"/>
            <a:ext cx="13042821" cy="771049"/>
          </a:xfrm>
          <a:prstGeom prst="roundRect">
            <a:avLst>
              <a:gd name="adj" fmla="val 3530"/>
            </a:avLst>
          </a:prstGeom>
          <a:solidFill>
            <a:srgbClr val="C3CFEF"/>
          </a:solidFill>
          <a:ln/>
        </p:spPr>
      </p:sp>
      <p:pic>
        <p:nvPicPr>
          <p:cNvPr id="51" name="Image 0" descr="preencoded.png">    </p:cNvPr>
          <p:cNvPicPr>
            <a:picLocks noChangeAspect="1"/>
          </p:cNvPicPr>
          <p:nvPr/>
        </p:nvPicPr>
        <p:blipFill>
          <a:blip r:embed="rId1"/>
          <a:stretch>
            <a:fillRect/>
          </a:stretch>
        </p:blipFill>
        <p:spPr>
          <a:xfrm>
            <a:off x="975241" y="7036118"/>
            <a:ext cx="226814" cy="181451"/>
          </a:xfrm>
          <a:prstGeom prst="rect">
            <a:avLst/>
          </a:prstGeom>
        </p:spPr>
      </p:pic>
      <p:sp>
        <p:nvSpPr>
          <p:cNvPr id="52" name="Text 49"/>
          <p:cNvSpPr/>
          <p:nvPr/>
        </p:nvSpPr>
        <p:spPr>
          <a:xfrm>
            <a:off x="1383506" y="6989207"/>
            <a:ext cx="12271653" cy="290274"/>
          </a:xfrm>
          <a:prstGeom prst="rect">
            <a:avLst/>
          </a:prstGeom>
          <a:noFill/>
          <a:ln/>
        </p:spPr>
        <p:txBody>
          <a:bodyPr wrap="none" lIns="0" tIns="0" rIns="0" bIns="0" rtlCol="0" anchor="t"/>
          <a:lstStyle/>
          <a:p>
            <a:pPr algn="l" indent="0" marL="0">
              <a:lnSpc>
                <a:spcPts val="2250"/>
              </a:lnSpc>
              <a:buNone/>
            </a:pPr>
            <a:r>
              <a:rPr lang="en-US" sz="1400" b="1" dirty="0">
                <a:solidFill>
                  <a:srgbClr val="000000"/>
                </a:solidFill>
                <a:latin typeface="Roboto" pitchFamily="34" charset="0"/>
                <a:ea typeface="Roboto" pitchFamily="34" charset="-122"/>
                <a:cs typeface="Roboto" pitchFamily="34" charset="-120"/>
              </a:rPr>
              <a:t>Model R² = .852</a:t>
            </a:r>
            <a:pPr algn="l" indent="0" marL="0">
              <a:lnSpc>
                <a:spcPts val="2250"/>
              </a:lnSpc>
              <a:buNone/>
            </a:pPr>
            <a:r>
              <a:rPr lang="en-US" sz="1400" dirty="0">
                <a:solidFill>
                  <a:srgbClr val="000000"/>
                </a:solidFill>
                <a:latin typeface="Roboto" pitchFamily="34" charset="0"/>
                <a:ea typeface="Roboto" pitchFamily="34" charset="-122"/>
                <a:cs typeface="Roboto" pitchFamily="34" charset="-120"/>
              </a:rPr>
              <a:t> — The model explains 85.2% of variance in AI adoption intention, demonstrating exceptional predictive power.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76618" y="876419"/>
            <a:ext cx="7549634" cy="507921"/>
          </a:xfrm>
          <a:prstGeom prst="rect">
            <a:avLst/>
          </a:prstGeom>
          <a:noFill/>
          <a:ln/>
        </p:spPr>
        <p:txBody>
          <a:bodyPr wrap="none" lIns="0" tIns="0" rIns="0" bIns="0" rtlCol="0" anchor="t"/>
          <a:lstStyle/>
          <a:p>
            <a:pPr algn="l" indent="0" marL="0">
              <a:lnSpc>
                <a:spcPts val="4000"/>
              </a:lnSpc>
              <a:buNone/>
            </a:pPr>
            <a:r>
              <a:rPr lang="en-US" sz="3200" dirty="0">
                <a:solidFill>
                  <a:srgbClr val="3257B8"/>
                </a:solidFill>
                <a:latin typeface="Roboto Slab" pitchFamily="34" charset="0"/>
                <a:ea typeface="Roboto Slab" pitchFamily="34" charset="-122"/>
                <a:cs typeface="Roboto Slab" pitchFamily="34" charset="-120"/>
              </a:rPr>
              <a:t>Key Finding #2: Traditional Drivers Fail</a:t>
            </a:r>
            <a:endParaRPr lang="en-US" sz="3200" dirty="0"/>
          </a:p>
        </p:txBody>
      </p:sp>
      <p:sp>
        <p:nvSpPr>
          <p:cNvPr id="4" name="Text 1"/>
          <p:cNvSpPr/>
          <p:nvPr/>
        </p:nvSpPr>
        <p:spPr>
          <a:xfrm>
            <a:off x="6276618" y="1465540"/>
            <a:ext cx="4479369" cy="381000"/>
          </a:xfrm>
          <a:prstGeom prst="rect">
            <a:avLst/>
          </a:prstGeom>
          <a:noFill/>
          <a:ln/>
        </p:spPr>
        <p:txBody>
          <a:bodyPr wrap="none" lIns="0" tIns="0" rIns="0" bIns="0" rtlCol="0" anchor="t"/>
          <a:lstStyle/>
          <a:p>
            <a:pPr algn="l" indent="0" marL="0">
              <a:lnSpc>
                <a:spcPts val="3000"/>
              </a:lnSpc>
              <a:buNone/>
            </a:pPr>
            <a:r>
              <a:rPr lang="en-US" sz="2400" dirty="0">
                <a:solidFill>
                  <a:srgbClr val="3257B8"/>
                </a:solidFill>
                <a:latin typeface="Roboto Slab" pitchFamily="34" charset="0"/>
                <a:ea typeface="Roboto Slab" pitchFamily="34" charset="-122"/>
                <a:cs typeface="Roboto Slab" pitchFamily="34" charset="-120"/>
              </a:rPr>
              <a:t>A Fundamental Paradigm Shift</a:t>
            </a:r>
            <a:endParaRPr lang="en-US" sz="2400" dirty="0"/>
          </a:p>
        </p:txBody>
      </p:sp>
      <p:sp>
        <p:nvSpPr>
          <p:cNvPr id="5" name="Text 2"/>
          <p:cNvSpPr/>
          <p:nvPr/>
        </p:nvSpPr>
        <p:spPr>
          <a:xfrm>
            <a:off x="6276618" y="2354461"/>
            <a:ext cx="3533894" cy="634841"/>
          </a:xfrm>
          <a:prstGeom prst="rect">
            <a:avLst/>
          </a:prstGeom>
          <a:noFill/>
          <a:ln/>
        </p:spPr>
        <p:txBody>
          <a:bodyPr wrap="square" lIns="0" tIns="0" rIns="0" bIns="0" rtlCol="0" anchor="t"/>
          <a:lstStyle/>
          <a:p>
            <a:pPr algn="l" indent="0" marL="0">
              <a:lnSpc>
                <a:spcPts val="2500"/>
              </a:lnSpc>
              <a:buNone/>
            </a:pPr>
            <a:r>
              <a:rPr lang="en-US" sz="2000" dirty="0">
                <a:solidFill>
                  <a:srgbClr val="3257B8"/>
                </a:solidFill>
                <a:latin typeface="Roboto Slab" pitchFamily="34" charset="0"/>
                <a:ea typeface="Roboto Slab" pitchFamily="34" charset="-122"/>
                <a:cs typeface="Roboto Slab" pitchFamily="34" charset="-120"/>
              </a:rPr>
              <a:t>Traditional Technology Adoption</a:t>
            </a:r>
            <a:endParaRPr lang="en-US" sz="2000" dirty="0"/>
          </a:p>
        </p:txBody>
      </p:sp>
      <p:sp>
        <p:nvSpPr>
          <p:cNvPr id="6" name="Text 3"/>
          <p:cNvSpPr/>
          <p:nvPr/>
        </p:nvSpPr>
        <p:spPr>
          <a:xfrm>
            <a:off x="6276618" y="3192423"/>
            <a:ext cx="3533894" cy="650319"/>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15213F"/>
                </a:solidFill>
                <a:latin typeface="Roboto" pitchFamily="34" charset="0"/>
                <a:ea typeface="Roboto" pitchFamily="34" charset="-122"/>
                <a:cs typeface="Roboto" pitchFamily="34" charset="-120"/>
              </a:rPr>
              <a:t>Users ask: "Will this make me productive?"</a:t>
            </a:r>
            <a:endParaRPr lang="en-US" sz="1600" dirty="0"/>
          </a:p>
        </p:txBody>
      </p:sp>
      <p:sp>
        <p:nvSpPr>
          <p:cNvPr id="7" name="Text 4"/>
          <p:cNvSpPr/>
          <p:nvPr/>
        </p:nvSpPr>
        <p:spPr>
          <a:xfrm>
            <a:off x="6276618" y="3913823"/>
            <a:ext cx="3533894" cy="650319"/>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15213F"/>
                </a:solidFill>
                <a:latin typeface="Roboto" pitchFamily="34" charset="0"/>
                <a:ea typeface="Roboto" pitchFamily="34" charset="-122"/>
                <a:cs typeface="Roboto" pitchFamily="34" charset="-120"/>
              </a:rPr>
              <a:t>Organizations respond with feature lists</a:t>
            </a:r>
            <a:endParaRPr lang="en-US" sz="1600" dirty="0"/>
          </a:p>
        </p:txBody>
      </p:sp>
      <p:sp>
        <p:nvSpPr>
          <p:cNvPr id="8" name="Text 5"/>
          <p:cNvSpPr/>
          <p:nvPr/>
        </p:nvSpPr>
        <p:spPr>
          <a:xfrm>
            <a:off x="6276618" y="4635222"/>
            <a:ext cx="3533894" cy="650319"/>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15213F"/>
                </a:solidFill>
                <a:latin typeface="Roboto" pitchFamily="34" charset="0"/>
                <a:ea typeface="Roboto" pitchFamily="34" charset="-122"/>
                <a:cs typeface="Roboto" pitchFamily="34" charset="-120"/>
              </a:rPr>
              <a:t>Performance Expectancy dominates</a:t>
            </a:r>
            <a:endParaRPr lang="en-US" sz="1600" dirty="0"/>
          </a:p>
        </p:txBody>
      </p:sp>
      <p:sp>
        <p:nvSpPr>
          <p:cNvPr id="9" name="Text 6"/>
          <p:cNvSpPr/>
          <p:nvPr/>
        </p:nvSpPr>
        <p:spPr>
          <a:xfrm>
            <a:off x="6276618" y="5356622"/>
            <a:ext cx="3533894" cy="325160"/>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15213F"/>
                </a:solidFill>
                <a:latin typeface="Roboto" pitchFamily="34" charset="0"/>
                <a:ea typeface="Roboto" pitchFamily="34" charset="-122"/>
                <a:cs typeface="Roboto" pitchFamily="34" charset="-120"/>
              </a:rPr>
              <a:t>Training solves adoption problems</a:t>
            </a:r>
            <a:endParaRPr lang="en-US" sz="1600" dirty="0"/>
          </a:p>
        </p:txBody>
      </p:sp>
      <p:sp>
        <p:nvSpPr>
          <p:cNvPr id="10" name="Text 7"/>
          <p:cNvSpPr/>
          <p:nvPr/>
        </p:nvSpPr>
        <p:spPr>
          <a:xfrm>
            <a:off x="6276618" y="5752862"/>
            <a:ext cx="3533894" cy="325160"/>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15213F"/>
                </a:solidFill>
                <a:latin typeface="Roboto" pitchFamily="34" charset="0"/>
                <a:ea typeface="Roboto" pitchFamily="34" charset="-122"/>
                <a:cs typeface="Roboto" pitchFamily="34" charset="-120"/>
              </a:rPr>
              <a:t>Ease of use is critical</a:t>
            </a:r>
            <a:endParaRPr lang="en-US" sz="1600" dirty="0"/>
          </a:p>
        </p:txBody>
      </p:sp>
      <p:sp>
        <p:nvSpPr>
          <p:cNvPr id="11" name="Text 8"/>
          <p:cNvSpPr/>
          <p:nvPr/>
        </p:nvSpPr>
        <p:spPr>
          <a:xfrm>
            <a:off x="10313908" y="2354461"/>
            <a:ext cx="2539960" cy="317421"/>
          </a:xfrm>
          <a:prstGeom prst="rect">
            <a:avLst/>
          </a:prstGeom>
          <a:noFill/>
          <a:ln/>
        </p:spPr>
        <p:txBody>
          <a:bodyPr wrap="none" lIns="0" tIns="0" rIns="0" bIns="0" rtlCol="0" anchor="t"/>
          <a:lstStyle/>
          <a:p>
            <a:pPr algn="l" indent="0" marL="0">
              <a:lnSpc>
                <a:spcPts val="2500"/>
              </a:lnSpc>
              <a:buNone/>
            </a:pPr>
            <a:r>
              <a:rPr lang="en-US" sz="2000" dirty="0">
                <a:solidFill>
                  <a:srgbClr val="3257B8"/>
                </a:solidFill>
                <a:latin typeface="Roboto Slab" pitchFamily="34" charset="0"/>
                <a:ea typeface="Roboto Slab" pitchFamily="34" charset="-122"/>
                <a:cs typeface="Roboto Slab" pitchFamily="34" charset="-120"/>
              </a:rPr>
              <a:t>AI Adoption Reality</a:t>
            </a:r>
            <a:endParaRPr lang="en-US" sz="2000" dirty="0"/>
          </a:p>
        </p:txBody>
      </p:sp>
      <p:sp>
        <p:nvSpPr>
          <p:cNvPr id="12" name="Text 9"/>
          <p:cNvSpPr/>
          <p:nvPr/>
        </p:nvSpPr>
        <p:spPr>
          <a:xfrm>
            <a:off x="10313908" y="2875002"/>
            <a:ext cx="3533894" cy="650319"/>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15213F"/>
                </a:solidFill>
                <a:latin typeface="Roboto" pitchFamily="34" charset="0"/>
                <a:ea typeface="Roboto" pitchFamily="34" charset="-122"/>
                <a:cs typeface="Roboto" pitchFamily="34" charset="-120"/>
              </a:rPr>
              <a:t>Users ask: "Is this worth my total investment?"</a:t>
            </a:r>
            <a:endParaRPr lang="en-US" sz="1600" dirty="0"/>
          </a:p>
        </p:txBody>
      </p:sp>
      <p:sp>
        <p:nvSpPr>
          <p:cNvPr id="13" name="Text 10"/>
          <p:cNvSpPr/>
          <p:nvPr/>
        </p:nvSpPr>
        <p:spPr>
          <a:xfrm>
            <a:off x="10313908" y="3596402"/>
            <a:ext cx="3533894" cy="650319"/>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15213F"/>
                </a:solidFill>
                <a:latin typeface="Roboto" pitchFamily="34" charset="0"/>
                <a:ea typeface="Roboto" pitchFamily="34" charset="-122"/>
                <a:cs typeface="Roboto" pitchFamily="34" charset="-120"/>
              </a:rPr>
              <a:t>Organizations must demonstrate value</a:t>
            </a:r>
            <a:endParaRPr lang="en-US" sz="1600" dirty="0"/>
          </a:p>
        </p:txBody>
      </p:sp>
      <p:sp>
        <p:nvSpPr>
          <p:cNvPr id="14" name="Text 11"/>
          <p:cNvSpPr/>
          <p:nvPr/>
        </p:nvSpPr>
        <p:spPr>
          <a:xfrm>
            <a:off x="10313908" y="4317802"/>
            <a:ext cx="3533894" cy="325160"/>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15213F"/>
                </a:solidFill>
                <a:latin typeface="Roboto" pitchFamily="34" charset="0"/>
                <a:ea typeface="Roboto" pitchFamily="34" charset="-122"/>
                <a:cs typeface="Roboto" pitchFamily="34" charset="-120"/>
              </a:rPr>
              <a:t>Price Value dominates (β = .505)</a:t>
            </a:r>
            <a:endParaRPr lang="en-US" sz="1600" dirty="0"/>
          </a:p>
        </p:txBody>
      </p:sp>
      <p:sp>
        <p:nvSpPr>
          <p:cNvPr id="15" name="Text 12"/>
          <p:cNvSpPr/>
          <p:nvPr/>
        </p:nvSpPr>
        <p:spPr>
          <a:xfrm>
            <a:off x="10313908" y="4714042"/>
            <a:ext cx="3533894" cy="325160"/>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15213F"/>
                </a:solidFill>
                <a:latin typeface="Roboto" pitchFamily="34" charset="0"/>
                <a:ea typeface="Roboto" pitchFamily="34" charset="-122"/>
                <a:cs typeface="Roboto" pitchFamily="34" charset="-120"/>
              </a:rPr>
              <a:t>Trust must be established first</a:t>
            </a:r>
            <a:endParaRPr lang="en-US" sz="1600" dirty="0"/>
          </a:p>
        </p:txBody>
      </p:sp>
      <p:sp>
        <p:nvSpPr>
          <p:cNvPr id="16" name="Text 13"/>
          <p:cNvSpPr/>
          <p:nvPr/>
        </p:nvSpPr>
        <p:spPr>
          <a:xfrm>
            <a:off x="10313908" y="5110282"/>
            <a:ext cx="3533894" cy="325160"/>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15213F"/>
                </a:solidFill>
                <a:latin typeface="Roboto" pitchFamily="34" charset="0"/>
                <a:ea typeface="Roboto" pitchFamily="34" charset="-122"/>
                <a:cs typeface="Roboto" pitchFamily="34" charset="-120"/>
              </a:rPr>
              <a:t>Features matter less than worth</a:t>
            </a:r>
            <a:endParaRPr lang="en-US" sz="1600" dirty="0"/>
          </a:p>
        </p:txBody>
      </p:sp>
      <p:sp>
        <p:nvSpPr>
          <p:cNvPr id="17" name="Text 14"/>
          <p:cNvSpPr/>
          <p:nvPr/>
        </p:nvSpPr>
        <p:spPr>
          <a:xfrm>
            <a:off x="6276618" y="6377702"/>
            <a:ext cx="7563564" cy="975479"/>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Performance Expectancy, Effort Expectancy, Facilitating Conditions, and Habit—the pillars of 30 years of technology adoption research—are not significant predictors for AI.</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86527" y="618053"/>
            <a:ext cx="7668220" cy="561737"/>
          </a:xfrm>
          <a:prstGeom prst="rect">
            <a:avLst/>
          </a:prstGeom>
          <a:noFill/>
          <a:ln/>
        </p:spPr>
        <p:txBody>
          <a:bodyPr wrap="none" lIns="0" tIns="0" rIns="0" bIns="0" rtlCol="0" anchor="t"/>
          <a:lstStyle/>
          <a:p>
            <a:pPr algn="l" indent="0" marL="0">
              <a:lnSpc>
                <a:spcPts val="4400"/>
              </a:lnSpc>
              <a:buNone/>
            </a:pPr>
            <a:r>
              <a:rPr lang="en-US" sz="3500" dirty="0">
                <a:solidFill>
                  <a:srgbClr val="3257B8"/>
                </a:solidFill>
                <a:latin typeface="Roboto Slab" pitchFamily="34" charset="0"/>
                <a:ea typeface="Roboto Slab" pitchFamily="34" charset="-122"/>
                <a:cs typeface="Roboto Slab" pitchFamily="34" charset="-120"/>
              </a:rPr>
              <a:t>Key Finding #3: Four User Segments</a:t>
            </a:r>
            <a:endParaRPr lang="en-US" sz="3500" dirty="0"/>
          </a:p>
        </p:txBody>
      </p:sp>
      <p:sp>
        <p:nvSpPr>
          <p:cNvPr id="3" name="Text 1"/>
          <p:cNvSpPr/>
          <p:nvPr/>
        </p:nvSpPr>
        <p:spPr>
          <a:xfrm>
            <a:off x="786527" y="1269683"/>
            <a:ext cx="4530090" cy="421243"/>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Distinct AI Adoption Profiles</a:t>
            </a:r>
            <a:endParaRPr lang="en-US" sz="2650" dirty="0"/>
          </a:p>
        </p:txBody>
      </p:sp>
      <p:pic>
        <p:nvPicPr>
          <p:cNvPr id="4" name="Image 0" descr="preencoded.png">    </p:cNvPr>
          <p:cNvPicPr>
            <a:picLocks noChangeAspect="1"/>
          </p:cNvPicPr>
          <p:nvPr/>
        </p:nvPicPr>
        <p:blipFill>
          <a:blip r:embed="rId1"/>
          <a:stretch>
            <a:fillRect/>
          </a:stretch>
        </p:blipFill>
        <p:spPr>
          <a:xfrm>
            <a:off x="786527" y="2027992"/>
            <a:ext cx="2198489" cy="2198489"/>
          </a:xfrm>
          <a:prstGeom prst="rect">
            <a:avLst/>
          </a:prstGeom>
        </p:spPr>
      </p:pic>
      <p:sp>
        <p:nvSpPr>
          <p:cNvPr id="5" name="Text 2"/>
          <p:cNvSpPr/>
          <p:nvPr/>
        </p:nvSpPr>
        <p:spPr>
          <a:xfrm>
            <a:off x="786527" y="4507349"/>
            <a:ext cx="2809280" cy="351234"/>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AI Enthusiasts (16%)</a:t>
            </a:r>
            <a:endParaRPr lang="en-US" sz="2200" dirty="0"/>
          </a:p>
        </p:txBody>
      </p:sp>
      <p:sp>
        <p:nvSpPr>
          <p:cNvPr id="6" name="Text 3"/>
          <p:cNvSpPr/>
          <p:nvPr/>
        </p:nvSpPr>
        <p:spPr>
          <a:xfrm>
            <a:off x="786527" y="4993362"/>
            <a:ext cx="3053596" cy="719138"/>
          </a:xfrm>
          <a:prstGeom prst="rect">
            <a:avLst/>
          </a:prstGeom>
          <a:noFill/>
          <a:ln/>
        </p:spPr>
        <p:txBody>
          <a:bodyPr wrap="square" lIns="0" tIns="0" rIns="0" bIns="0" rtlCol="0" anchor="t"/>
          <a:lstStyle/>
          <a:p>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Trust:</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+1.37σ | </a:t>
            </a:r>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Anxiety:</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−0.86σ | </a:t>
            </a:r>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Intent:</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+1.32σ</a:t>
            </a:r>
            <a:endParaRPr lang="en-US" sz="1750" dirty="0"/>
          </a:p>
        </p:txBody>
      </p:sp>
      <p:sp>
        <p:nvSpPr>
          <p:cNvPr id="7" name="Text 4"/>
          <p:cNvSpPr/>
          <p:nvPr/>
        </p:nvSpPr>
        <p:spPr>
          <a:xfrm>
            <a:off x="786527" y="5847278"/>
            <a:ext cx="3053596" cy="1438275"/>
          </a:xfrm>
          <a:prstGeom prst="rect">
            <a:avLst/>
          </a:prstGeom>
          <a:noFill/>
          <a:ln/>
        </p:spPr>
        <p:txBody>
          <a:bodyPr wrap="square" lIns="0" tIns="0" rIns="0" bIns="0" rtlCol="0" anchor="t"/>
          <a:lstStyle/>
          <a:p>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Strategy:</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Deploy as champions and early evangelists. Give early access to new tools.</a:t>
            </a:r>
            <a:endParaRPr lang="en-US" sz="1750" dirty="0"/>
          </a:p>
        </p:txBody>
      </p:sp>
      <p:pic>
        <p:nvPicPr>
          <p:cNvPr id="8" name="Image 1" descr="preencoded.png">    </p:cNvPr>
          <p:cNvPicPr>
            <a:picLocks noChangeAspect="1"/>
          </p:cNvPicPr>
          <p:nvPr/>
        </p:nvPicPr>
        <p:blipFill>
          <a:blip r:embed="rId2"/>
          <a:stretch>
            <a:fillRect/>
          </a:stretch>
        </p:blipFill>
        <p:spPr>
          <a:xfrm>
            <a:off x="4120991" y="2027992"/>
            <a:ext cx="2198608" cy="2198608"/>
          </a:xfrm>
          <a:prstGeom prst="rect">
            <a:avLst/>
          </a:prstGeom>
        </p:spPr>
      </p:pic>
      <p:sp>
        <p:nvSpPr>
          <p:cNvPr id="9" name="Text 5"/>
          <p:cNvSpPr/>
          <p:nvPr/>
        </p:nvSpPr>
        <p:spPr>
          <a:xfrm>
            <a:off x="4120991" y="4507468"/>
            <a:ext cx="3053715" cy="702469"/>
          </a:xfrm>
          <a:prstGeom prst="rect">
            <a:avLst/>
          </a:prstGeom>
          <a:noFill/>
          <a:ln/>
        </p:spPr>
        <p:txBody>
          <a:bodyPr wrap="squar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Cautious Adopters (30%)</a:t>
            </a:r>
            <a:endParaRPr lang="en-US" sz="2200" dirty="0"/>
          </a:p>
        </p:txBody>
      </p:sp>
      <p:sp>
        <p:nvSpPr>
          <p:cNvPr id="10" name="Text 6"/>
          <p:cNvSpPr/>
          <p:nvPr/>
        </p:nvSpPr>
        <p:spPr>
          <a:xfrm>
            <a:off x="4120991" y="5344716"/>
            <a:ext cx="3053715" cy="719138"/>
          </a:xfrm>
          <a:prstGeom prst="rect">
            <a:avLst/>
          </a:prstGeom>
          <a:noFill/>
          <a:ln/>
        </p:spPr>
        <p:txBody>
          <a:bodyPr wrap="square" lIns="0" tIns="0" rIns="0" bIns="0" rtlCol="0" anchor="t"/>
          <a:lstStyle/>
          <a:p>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Trust:</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+0.86σ | </a:t>
            </a:r>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Anxiety:</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+0.84σ | </a:t>
            </a:r>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Intent:</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+0.88σ</a:t>
            </a:r>
            <a:endParaRPr lang="en-US" sz="1750" dirty="0"/>
          </a:p>
        </p:txBody>
      </p:sp>
      <p:sp>
        <p:nvSpPr>
          <p:cNvPr id="11" name="Text 7"/>
          <p:cNvSpPr/>
          <p:nvPr/>
        </p:nvSpPr>
        <p:spPr>
          <a:xfrm>
            <a:off x="4120991" y="6198632"/>
            <a:ext cx="3053715" cy="1438275"/>
          </a:xfrm>
          <a:prstGeom prst="rect">
            <a:avLst/>
          </a:prstGeom>
          <a:noFill/>
          <a:ln/>
        </p:spPr>
        <p:txBody>
          <a:bodyPr wrap="square" lIns="0" tIns="0" rIns="0" bIns="0" rtlCol="0" anchor="t"/>
          <a:lstStyle/>
          <a:p>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Strategy:</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Provide proof points, case studies, and ROI evidence. Reduce perceived risk.</a:t>
            </a:r>
            <a:endParaRPr lang="en-US" sz="1750" dirty="0"/>
          </a:p>
        </p:txBody>
      </p:sp>
      <p:pic>
        <p:nvPicPr>
          <p:cNvPr id="12" name="Image 2" descr="preencoded.png">    </p:cNvPr>
          <p:cNvPicPr>
            <a:picLocks noChangeAspect="1"/>
          </p:cNvPicPr>
          <p:nvPr/>
        </p:nvPicPr>
        <p:blipFill>
          <a:blip r:embed="rId3"/>
          <a:stretch>
            <a:fillRect/>
          </a:stretch>
        </p:blipFill>
        <p:spPr>
          <a:xfrm>
            <a:off x="7455575" y="2027992"/>
            <a:ext cx="2198608" cy="2198608"/>
          </a:xfrm>
          <a:prstGeom prst="rect">
            <a:avLst/>
          </a:prstGeom>
        </p:spPr>
      </p:pic>
      <p:sp>
        <p:nvSpPr>
          <p:cNvPr id="13" name="Text 8"/>
          <p:cNvSpPr/>
          <p:nvPr/>
        </p:nvSpPr>
        <p:spPr>
          <a:xfrm>
            <a:off x="7455575" y="4507468"/>
            <a:ext cx="2835473" cy="351234"/>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Moderate Users (37%)</a:t>
            </a:r>
            <a:endParaRPr lang="en-US" sz="2200" dirty="0"/>
          </a:p>
        </p:txBody>
      </p:sp>
      <p:sp>
        <p:nvSpPr>
          <p:cNvPr id="14" name="Text 9"/>
          <p:cNvSpPr/>
          <p:nvPr/>
        </p:nvSpPr>
        <p:spPr>
          <a:xfrm>
            <a:off x="7455575" y="4993481"/>
            <a:ext cx="3053715" cy="719138"/>
          </a:xfrm>
          <a:prstGeom prst="rect">
            <a:avLst/>
          </a:prstGeom>
          <a:noFill/>
          <a:ln/>
        </p:spPr>
        <p:txBody>
          <a:bodyPr wrap="square" lIns="0" tIns="0" rIns="0" bIns="0" rtlCol="0" anchor="t"/>
          <a:lstStyle/>
          <a:p>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Trust:</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+0.01σ | </a:t>
            </a:r>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Anxiety:</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+0.42σ | </a:t>
            </a:r>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Intent:</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−0.07σ</a:t>
            </a:r>
            <a:endParaRPr lang="en-US" sz="1750" dirty="0"/>
          </a:p>
        </p:txBody>
      </p:sp>
      <p:sp>
        <p:nvSpPr>
          <p:cNvPr id="15" name="Text 10"/>
          <p:cNvSpPr/>
          <p:nvPr/>
        </p:nvSpPr>
        <p:spPr>
          <a:xfrm>
            <a:off x="7455575" y="5847398"/>
            <a:ext cx="3053715" cy="1078706"/>
          </a:xfrm>
          <a:prstGeom prst="rect">
            <a:avLst/>
          </a:prstGeom>
          <a:noFill/>
          <a:ln/>
        </p:spPr>
        <p:txBody>
          <a:bodyPr wrap="square" lIns="0" tIns="0" rIns="0" bIns="0" rtlCol="0" anchor="t"/>
          <a:lstStyle/>
          <a:p>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Strategy:</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Reduce friction and leverage social influence. Show peer adoption.</a:t>
            </a:r>
            <a:endParaRPr lang="en-US" sz="1750" dirty="0"/>
          </a:p>
        </p:txBody>
      </p:sp>
      <p:pic>
        <p:nvPicPr>
          <p:cNvPr id="16" name="Image 3" descr="preencoded.png">    </p:cNvPr>
          <p:cNvPicPr>
            <a:picLocks noChangeAspect="1"/>
          </p:cNvPicPr>
          <p:nvPr/>
        </p:nvPicPr>
        <p:blipFill>
          <a:blip r:embed="rId4"/>
          <a:stretch>
            <a:fillRect/>
          </a:stretch>
        </p:blipFill>
        <p:spPr>
          <a:xfrm>
            <a:off x="10790158" y="2027992"/>
            <a:ext cx="2198608" cy="2198608"/>
          </a:xfrm>
          <a:prstGeom prst="rect">
            <a:avLst/>
          </a:prstGeom>
        </p:spPr>
      </p:pic>
      <p:sp>
        <p:nvSpPr>
          <p:cNvPr id="17" name="Text 11"/>
          <p:cNvSpPr/>
          <p:nvPr/>
        </p:nvSpPr>
        <p:spPr>
          <a:xfrm>
            <a:off x="10790158" y="4507468"/>
            <a:ext cx="3053715" cy="702469"/>
          </a:xfrm>
          <a:prstGeom prst="rect">
            <a:avLst/>
          </a:prstGeom>
          <a:noFill/>
          <a:ln/>
        </p:spPr>
        <p:txBody>
          <a:bodyPr wrap="squar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Anxious Avoiders (17%)</a:t>
            </a:r>
            <a:endParaRPr lang="en-US" sz="2200" dirty="0"/>
          </a:p>
        </p:txBody>
      </p:sp>
      <p:sp>
        <p:nvSpPr>
          <p:cNvPr id="18" name="Text 12"/>
          <p:cNvSpPr/>
          <p:nvPr/>
        </p:nvSpPr>
        <p:spPr>
          <a:xfrm>
            <a:off x="10790158" y="5344716"/>
            <a:ext cx="3053715" cy="719138"/>
          </a:xfrm>
          <a:prstGeom prst="rect">
            <a:avLst/>
          </a:prstGeom>
          <a:noFill/>
          <a:ln/>
        </p:spPr>
        <p:txBody>
          <a:bodyPr wrap="square" lIns="0" tIns="0" rIns="0" bIns="0" rtlCol="0" anchor="t"/>
          <a:lstStyle/>
          <a:p>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Trust:</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−1.49σ | </a:t>
            </a:r>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Anxiety:</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+0.76σ | </a:t>
            </a:r>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Intent:</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−1.53σ</a:t>
            </a:r>
            <a:endParaRPr lang="en-US" sz="1750" dirty="0"/>
          </a:p>
        </p:txBody>
      </p:sp>
      <p:sp>
        <p:nvSpPr>
          <p:cNvPr id="19" name="Text 13"/>
          <p:cNvSpPr/>
          <p:nvPr/>
        </p:nvSpPr>
        <p:spPr>
          <a:xfrm>
            <a:off x="10790158" y="6198632"/>
            <a:ext cx="3053715" cy="1438275"/>
          </a:xfrm>
          <a:prstGeom prst="rect">
            <a:avLst/>
          </a:prstGeom>
          <a:noFill/>
          <a:ln/>
        </p:spPr>
        <p:txBody>
          <a:bodyPr wrap="square" lIns="0" tIns="0" rIns="0" bIns="0" rtlCol="0" anchor="t"/>
          <a:lstStyle/>
          <a:p>
            <a:pPr algn="l" indent="0" marL="0">
              <a:lnSpc>
                <a:spcPts val="2800"/>
              </a:lnSpc>
              <a:buNone/>
            </a:pPr>
            <a:r>
              <a:rPr lang="en-US" sz="1750" b="1" dirty="0">
                <a:solidFill>
                  <a:srgbClr val="15213F"/>
                </a:solidFill>
                <a:latin typeface="Roboto" pitchFamily="34" charset="0"/>
                <a:ea typeface="Roboto" pitchFamily="34" charset="-122"/>
                <a:cs typeface="Roboto" pitchFamily="34" charset="-120"/>
              </a:rPr>
              <a:t>Strategy:</a:t>
            </a:r>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 Trust-building interventions before feature exposure. Address anxiety first.</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82241" y="614601"/>
            <a:ext cx="5636300" cy="363141"/>
          </a:xfrm>
          <a:prstGeom prst="rect">
            <a:avLst/>
          </a:prstGeom>
          <a:noFill/>
          <a:ln/>
        </p:spPr>
        <p:txBody>
          <a:bodyPr wrap="none" lIns="0" tIns="0" rIns="0" bIns="0" rtlCol="0" anchor="t"/>
          <a:lstStyle/>
          <a:p>
            <a:pPr algn="l" indent="0" marL="0">
              <a:lnSpc>
                <a:spcPts val="2850"/>
              </a:lnSpc>
              <a:buNone/>
            </a:pPr>
            <a:r>
              <a:rPr lang="en-US" sz="2250" dirty="0">
                <a:solidFill>
                  <a:srgbClr val="3257B8"/>
                </a:solidFill>
                <a:latin typeface="Roboto Slab" pitchFamily="34" charset="0"/>
                <a:ea typeface="Roboto Slab" pitchFamily="34" charset="-122"/>
                <a:cs typeface="Roboto Slab" pitchFamily="34" charset="-120"/>
              </a:rPr>
              <a:t>Moderator Finding #1: Experience Effects</a:t>
            </a:r>
            <a:endParaRPr lang="en-US" sz="2250" dirty="0"/>
          </a:p>
        </p:txBody>
      </p:sp>
      <p:sp>
        <p:nvSpPr>
          <p:cNvPr id="3" name="Text 1"/>
          <p:cNvSpPr/>
          <p:nvPr/>
        </p:nvSpPr>
        <p:spPr>
          <a:xfrm>
            <a:off x="782241" y="1035844"/>
            <a:ext cx="4315182" cy="272296"/>
          </a:xfrm>
          <a:prstGeom prst="rect">
            <a:avLst/>
          </a:prstGeom>
          <a:noFill/>
          <a:ln/>
        </p:spPr>
        <p:txBody>
          <a:bodyPr wrap="none" lIns="0" tIns="0" rIns="0" bIns="0" rtlCol="0" anchor="t"/>
          <a:lstStyle/>
          <a:p>
            <a:pPr algn="l" indent="0" marL="0">
              <a:lnSpc>
                <a:spcPts val="2100"/>
              </a:lnSpc>
              <a:buNone/>
            </a:pPr>
            <a:r>
              <a:rPr lang="en-US" sz="1700" dirty="0">
                <a:solidFill>
                  <a:srgbClr val="3257B8"/>
                </a:solidFill>
                <a:latin typeface="Roboto Slab" pitchFamily="34" charset="0"/>
                <a:ea typeface="Roboto Slab" pitchFamily="34" charset="-122"/>
                <a:cs typeface="Roboto Slab" pitchFamily="34" charset="-120"/>
              </a:rPr>
              <a:t>Experience Amplifies Hedonic Motivation</a:t>
            </a:r>
            <a:endParaRPr lang="en-US" sz="1700" dirty="0"/>
          </a:p>
        </p:txBody>
      </p:sp>
      <p:pic>
        <p:nvPicPr>
          <p:cNvPr id="4" name="Image 0" descr="preencoded.png">    </p:cNvPr>
          <p:cNvPicPr>
            <a:picLocks noChangeAspect="1"/>
          </p:cNvPicPr>
          <p:nvPr/>
        </p:nvPicPr>
        <p:blipFill>
          <a:blip r:embed="rId1"/>
          <a:stretch>
            <a:fillRect/>
          </a:stretch>
        </p:blipFill>
        <p:spPr>
          <a:xfrm>
            <a:off x="782241" y="1526024"/>
            <a:ext cx="8492847" cy="4755952"/>
          </a:xfrm>
          <a:prstGeom prst="rect">
            <a:avLst/>
          </a:prstGeom>
        </p:spPr>
      </p:pic>
      <p:sp>
        <p:nvSpPr>
          <p:cNvPr id="5" name="Text 2"/>
          <p:cNvSpPr/>
          <p:nvPr/>
        </p:nvSpPr>
        <p:spPr>
          <a:xfrm>
            <a:off x="782241" y="6590586"/>
            <a:ext cx="1816060" cy="226933"/>
          </a:xfrm>
          <a:prstGeom prst="rect">
            <a:avLst/>
          </a:prstGeom>
          <a:noFill/>
          <a:ln/>
        </p:spPr>
        <p:txBody>
          <a:bodyPr wrap="none" lIns="0" tIns="0" rIns="0" bIns="0" rtlCol="0" anchor="t"/>
          <a:lstStyle/>
          <a:p>
            <a:pPr algn="l" indent="0" marL="0">
              <a:lnSpc>
                <a:spcPts val="1750"/>
              </a:lnSpc>
              <a:buNone/>
            </a:pPr>
            <a:r>
              <a:rPr lang="en-US" sz="1400" dirty="0">
                <a:solidFill>
                  <a:srgbClr val="3257B8"/>
                </a:solidFill>
                <a:latin typeface="Roboto Slab" pitchFamily="34" charset="0"/>
                <a:ea typeface="Roboto Slab" pitchFamily="34" charset="-122"/>
                <a:cs typeface="Roboto Slab" pitchFamily="34" charset="-120"/>
              </a:rPr>
              <a:t>Statistical Results</a:t>
            </a:r>
            <a:endParaRPr lang="en-US" sz="1400" dirty="0"/>
          </a:p>
        </p:txBody>
      </p:sp>
      <p:sp>
        <p:nvSpPr>
          <p:cNvPr id="6" name="Text 3"/>
          <p:cNvSpPr/>
          <p:nvPr/>
        </p:nvSpPr>
        <p:spPr>
          <a:xfrm>
            <a:off x="782241" y="6962775"/>
            <a:ext cx="6355794" cy="232410"/>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HM × Experience:</a:t>
            </a:r>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 β = .136, p = .009 (significant)</a:t>
            </a:r>
            <a:endParaRPr lang="en-US" sz="1100" dirty="0"/>
          </a:p>
        </p:txBody>
      </p:sp>
      <p:sp>
        <p:nvSpPr>
          <p:cNvPr id="7" name="Text 4"/>
          <p:cNvSpPr/>
          <p:nvPr/>
        </p:nvSpPr>
        <p:spPr>
          <a:xfrm>
            <a:off x="782241" y="7325916"/>
            <a:ext cx="6355794" cy="232410"/>
          </a:xfrm>
          <a:prstGeom prst="rect">
            <a:avLst/>
          </a:prstGeom>
          <a:noFill/>
          <a:ln/>
        </p:spPr>
        <p:txBody>
          <a:bodyPr wrap="none" lIns="0" tIns="0" rIns="0" bIns="0" rtlCol="0" anchor="t"/>
          <a:lstStyle/>
          <a:p>
            <a:pPr algn="l" indent="0" marL="0">
              <a:lnSpc>
                <a:spcPts val="1800"/>
              </a:lnSpc>
              <a:buNone/>
            </a:pPr>
            <a:r>
              <a:rPr lang="en-US" sz="1100" b="1" dirty="0">
                <a:solidFill>
                  <a:srgbClr val="15213F"/>
                </a:solidFill>
                <a:latin typeface="Roboto" pitchFamily="34" charset="0"/>
                <a:ea typeface="Roboto" pitchFamily="34" charset="-122"/>
                <a:cs typeface="Roboto" pitchFamily="34" charset="-120"/>
              </a:rPr>
              <a:t>PE × Experience:</a:t>
            </a:r>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 β = .112, p = .055 (marginal)</a:t>
            </a:r>
            <a:endParaRPr lang="en-US" sz="1100" dirty="0"/>
          </a:p>
        </p:txBody>
      </p:sp>
      <p:sp>
        <p:nvSpPr>
          <p:cNvPr id="8" name="Text 5"/>
          <p:cNvSpPr/>
          <p:nvPr/>
        </p:nvSpPr>
        <p:spPr>
          <a:xfrm>
            <a:off x="7499985" y="6590586"/>
            <a:ext cx="1816060" cy="226933"/>
          </a:xfrm>
          <a:prstGeom prst="rect">
            <a:avLst/>
          </a:prstGeom>
          <a:noFill/>
          <a:ln/>
        </p:spPr>
        <p:txBody>
          <a:bodyPr wrap="none" lIns="0" tIns="0" rIns="0" bIns="0" rtlCol="0" anchor="t"/>
          <a:lstStyle/>
          <a:p>
            <a:pPr algn="l" indent="0" marL="0">
              <a:lnSpc>
                <a:spcPts val="1750"/>
              </a:lnSpc>
              <a:buNone/>
            </a:pPr>
            <a:r>
              <a:rPr lang="en-US" sz="1400" dirty="0">
                <a:solidFill>
                  <a:srgbClr val="3257B8"/>
                </a:solidFill>
                <a:latin typeface="Roboto Slab" pitchFamily="34" charset="0"/>
                <a:ea typeface="Roboto Slab" pitchFamily="34" charset="-122"/>
                <a:cs typeface="Roboto Slab" pitchFamily="34" charset="-120"/>
              </a:rPr>
              <a:t>Interpretation</a:t>
            </a:r>
            <a:endParaRPr lang="en-US" sz="1400" dirty="0"/>
          </a:p>
        </p:txBody>
      </p:sp>
      <p:sp>
        <p:nvSpPr>
          <p:cNvPr id="9" name="Text 6"/>
          <p:cNvSpPr/>
          <p:nvPr/>
        </p:nvSpPr>
        <p:spPr>
          <a:xfrm>
            <a:off x="7499985" y="6962775"/>
            <a:ext cx="6355794" cy="464820"/>
          </a:xfrm>
          <a:prstGeom prst="rect">
            <a:avLst/>
          </a:prstGeom>
          <a:noFill/>
          <a:ln/>
        </p:spPr>
        <p:txBody>
          <a:bodyPr wrap="square" lIns="0" tIns="0" rIns="0" bIns="0" rtlCol="0" anchor="t"/>
          <a:lstStyle/>
          <a:p>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Experienced professionals (4+ years) weight enjoyment </a:t>
            </a:r>
            <a:pPr algn="l" indent="0" marL="0">
              <a:lnSpc>
                <a:spcPts val="1800"/>
              </a:lnSpc>
              <a:buNone/>
            </a:pPr>
            <a:r>
              <a:rPr lang="en-US" sz="1100" i="1" dirty="0">
                <a:solidFill>
                  <a:srgbClr val="15213F"/>
                </a:solidFill>
                <a:latin typeface="Roboto" pitchFamily="34" charset="0"/>
                <a:ea typeface="Roboto" pitchFamily="34" charset="-122"/>
                <a:cs typeface="Roboto" pitchFamily="34" charset="-120"/>
              </a:rPr>
              <a:t>more</a:t>
            </a:r>
            <a:pPr algn="l" indent="0" marL="0">
              <a:lnSpc>
                <a:spcPts val="1800"/>
              </a:lnSpc>
              <a:buNone/>
            </a:pPr>
            <a:r>
              <a:rPr lang="en-US" sz="1100" dirty="0">
                <a:solidFill>
                  <a:srgbClr val="15213F"/>
                </a:solidFill>
                <a:latin typeface="Roboto" pitchFamily="34" charset="0"/>
                <a:ea typeface="Roboto" pitchFamily="34" charset="-122"/>
                <a:cs typeface="Roboto" pitchFamily="34" charset="-120"/>
              </a:rPr>
              <a:t> heavily in adoption decisions, not less. Counterintuitive finding suggests sustainability of use depends on hedonic experience.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732115"/>
            <a:ext cx="8265438" cy="481965"/>
          </a:xfrm>
          <a:prstGeom prst="rect">
            <a:avLst/>
          </a:prstGeom>
          <a:noFill/>
          <a:ln/>
        </p:spPr>
        <p:txBody>
          <a:bodyPr wrap="none" lIns="0" tIns="0" rIns="0" bIns="0" rtlCol="0" anchor="t"/>
          <a:lstStyle/>
          <a:p>
            <a:pPr algn="l" indent="0" marL="0">
              <a:lnSpc>
                <a:spcPts val="3750"/>
              </a:lnSpc>
              <a:buNone/>
            </a:pPr>
            <a:r>
              <a:rPr lang="en-US" sz="3000" dirty="0">
                <a:solidFill>
                  <a:srgbClr val="3257B8"/>
                </a:solidFill>
                <a:latin typeface="Roboto Slab" pitchFamily="34" charset="0"/>
                <a:ea typeface="Roboto Slab" pitchFamily="34" charset="-122"/>
                <a:cs typeface="Roboto Slab" pitchFamily="34" charset="-120"/>
              </a:rPr>
              <a:t>Moderator Finding #2: Population Differences</a:t>
            </a:r>
            <a:endParaRPr lang="en-US" sz="3000" dirty="0"/>
          </a:p>
        </p:txBody>
      </p:sp>
      <p:sp>
        <p:nvSpPr>
          <p:cNvPr id="3" name="Text 1"/>
          <p:cNvSpPr/>
          <p:nvPr/>
        </p:nvSpPr>
        <p:spPr>
          <a:xfrm>
            <a:off x="793790" y="1291114"/>
            <a:ext cx="5036463" cy="361474"/>
          </a:xfrm>
          <a:prstGeom prst="rect">
            <a:avLst/>
          </a:prstGeom>
          <a:noFill/>
          <a:ln/>
        </p:spPr>
        <p:txBody>
          <a:bodyPr wrap="none" lIns="0" tIns="0" rIns="0" bIns="0" rtlCol="0" anchor="t"/>
          <a:lstStyle/>
          <a:p>
            <a:pPr algn="l" indent="0" marL="0">
              <a:lnSpc>
                <a:spcPts val="2800"/>
              </a:lnSpc>
              <a:buNone/>
            </a:pPr>
            <a:r>
              <a:rPr lang="en-US" sz="2250" dirty="0">
                <a:solidFill>
                  <a:srgbClr val="3257B8"/>
                </a:solidFill>
                <a:latin typeface="Roboto Slab" pitchFamily="34" charset="0"/>
                <a:ea typeface="Roboto Slab" pitchFamily="34" charset="-122"/>
                <a:cs typeface="Roboto Slab" pitchFamily="34" charset="-120"/>
              </a:rPr>
              <a:t>Hedonic Motivation: Opposite Effects</a:t>
            </a:r>
            <a:endParaRPr lang="en-US" sz="2250" dirty="0"/>
          </a:p>
        </p:txBody>
      </p:sp>
      <p:sp>
        <p:nvSpPr>
          <p:cNvPr id="4" name="Shape 2"/>
          <p:cNvSpPr/>
          <p:nvPr/>
        </p:nvSpPr>
        <p:spPr>
          <a:xfrm>
            <a:off x="793790" y="3784878"/>
            <a:ext cx="13042821" cy="22860"/>
          </a:xfrm>
          <a:prstGeom prst="roundRect">
            <a:avLst>
              <a:gd name="adj" fmla="val 126512"/>
            </a:avLst>
          </a:prstGeom>
          <a:solidFill>
            <a:srgbClr val="CFD2D8"/>
          </a:solidFill>
          <a:ln/>
        </p:spPr>
      </p:sp>
      <p:sp>
        <p:nvSpPr>
          <p:cNvPr id="5" name="Shape 3"/>
          <p:cNvSpPr/>
          <p:nvPr/>
        </p:nvSpPr>
        <p:spPr>
          <a:xfrm>
            <a:off x="793790" y="1941790"/>
            <a:ext cx="6400919" cy="1843087"/>
          </a:xfrm>
          <a:prstGeom prst="roundRect">
            <a:avLst>
              <a:gd name="adj" fmla="val 1569"/>
            </a:avLst>
          </a:prstGeom>
          <a:solidFill>
            <a:srgbClr val="E9ECF2"/>
          </a:solidFill>
          <a:ln/>
        </p:spPr>
      </p:sp>
      <p:sp>
        <p:nvSpPr>
          <p:cNvPr id="6" name="Text 4"/>
          <p:cNvSpPr/>
          <p:nvPr/>
        </p:nvSpPr>
        <p:spPr>
          <a:xfrm>
            <a:off x="2778323" y="2134553"/>
            <a:ext cx="2431733" cy="301228"/>
          </a:xfrm>
          <a:prstGeom prst="rect">
            <a:avLst/>
          </a:prstGeom>
          <a:noFill/>
          <a:ln/>
        </p:spPr>
        <p:txBody>
          <a:bodyPr wrap="none" lIns="0" tIns="0" rIns="0" bIns="0" rtlCol="0" anchor="t"/>
          <a:lstStyle/>
          <a:p>
            <a:pPr algn="ctr"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Academic Population</a:t>
            </a:r>
            <a:endParaRPr lang="en-US" sz="1850" dirty="0"/>
          </a:p>
        </p:txBody>
      </p:sp>
      <p:sp>
        <p:nvSpPr>
          <p:cNvPr id="7" name="Text 5"/>
          <p:cNvSpPr/>
          <p:nvPr/>
        </p:nvSpPr>
        <p:spPr>
          <a:xfrm>
            <a:off x="986552" y="2551390"/>
            <a:ext cx="6015395" cy="308372"/>
          </a:xfrm>
          <a:prstGeom prst="rect">
            <a:avLst/>
          </a:prstGeom>
          <a:noFill/>
          <a:ln/>
        </p:spPr>
        <p:txBody>
          <a:bodyPr wrap="none" lIns="0" tIns="0" rIns="0" bIns="0" rtlCol="0" anchor="t"/>
          <a:lstStyle/>
          <a:p>
            <a:pPr algn="ctr" indent="0" marL="0">
              <a:lnSpc>
                <a:spcPts val="2400"/>
              </a:lnSpc>
              <a:buNone/>
            </a:pPr>
            <a:r>
              <a:rPr lang="en-US" sz="1500" b="1" dirty="0">
                <a:solidFill>
                  <a:srgbClr val="15213F"/>
                </a:solidFill>
                <a:latin typeface="Roboto" pitchFamily="34" charset="0"/>
                <a:ea typeface="Roboto" pitchFamily="34" charset="-122"/>
                <a:cs typeface="Roboto" pitchFamily="34" charset="-120"/>
              </a:rPr>
              <a:t>HM → BI:</a:t>
            </a:r>
            <a:pPr algn="ctr" indent="0" marL="0">
              <a:lnSpc>
                <a:spcPts val="2400"/>
              </a:lnSpc>
              <a:buNone/>
            </a:pPr>
            <a:r>
              <a:rPr lang="en-US" sz="1500" dirty="0">
                <a:solidFill>
                  <a:srgbClr val="15213F"/>
                </a:solidFill>
                <a:latin typeface="Roboto" pitchFamily="34" charset="0"/>
                <a:ea typeface="Roboto" pitchFamily="34" charset="-122"/>
                <a:cs typeface="Roboto" pitchFamily="34" charset="-120"/>
              </a:rPr>
              <a:t> β = .449</a:t>
            </a:r>
            <a:endParaRPr lang="en-US" sz="1500" dirty="0"/>
          </a:p>
        </p:txBody>
      </p:sp>
      <p:sp>
        <p:nvSpPr>
          <p:cNvPr id="8" name="Text 6"/>
          <p:cNvSpPr/>
          <p:nvPr/>
        </p:nvSpPr>
        <p:spPr>
          <a:xfrm>
            <a:off x="986552" y="2975372"/>
            <a:ext cx="6015395" cy="616744"/>
          </a:xfrm>
          <a:prstGeom prst="rect">
            <a:avLst/>
          </a:prstGeom>
          <a:noFill/>
          <a:ln/>
        </p:spPr>
        <p:txBody>
          <a:bodyPr wrap="square" lIns="0" tIns="0" rIns="0" bIns="0" rtlCol="0" anchor="t"/>
          <a:lstStyle/>
          <a:p>
            <a:pPr algn="ctr" indent="0" marL="0">
              <a:lnSpc>
                <a:spcPts val="2400"/>
              </a:lnSpc>
              <a:buNone/>
            </a:pPr>
            <a:r>
              <a:rPr lang="en-US" sz="1500" dirty="0">
                <a:solidFill>
                  <a:srgbClr val="15213F"/>
                </a:solidFill>
                <a:latin typeface="Roboto" pitchFamily="34" charset="0"/>
                <a:ea typeface="Roboto" pitchFamily="34" charset="-122"/>
                <a:cs typeface="Roboto" pitchFamily="34" charset="-120"/>
              </a:rPr>
              <a:t>Strong positive effect. Enjoying tools is valued and culturally acceptable in academic contexts.</a:t>
            </a:r>
            <a:endParaRPr lang="en-US" sz="1500" dirty="0"/>
          </a:p>
        </p:txBody>
      </p:sp>
      <p:sp>
        <p:nvSpPr>
          <p:cNvPr id="9" name="Shape 7"/>
          <p:cNvSpPr/>
          <p:nvPr/>
        </p:nvSpPr>
        <p:spPr>
          <a:xfrm>
            <a:off x="7435691" y="3807738"/>
            <a:ext cx="6400919" cy="1843087"/>
          </a:xfrm>
          <a:prstGeom prst="rect">
            <a:avLst/>
          </a:prstGeom>
          <a:solidFill>
            <a:srgbClr val="E9ECF2"/>
          </a:solidFill>
          <a:ln/>
        </p:spPr>
      </p:sp>
      <p:sp>
        <p:nvSpPr>
          <p:cNvPr id="10" name="Text 8"/>
          <p:cNvSpPr/>
          <p:nvPr/>
        </p:nvSpPr>
        <p:spPr>
          <a:xfrm>
            <a:off x="9285446" y="4000500"/>
            <a:ext cx="2701290" cy="301228"/>
          </a:xfrm>
          <a:prstGeom prst="rect">
            <a:avLst/>
          </a:prstGeom>
          <a:noFill/>
          <a:ln/>
        </p:spPr>
        <p:txBody>
          <a:bodyPr wrap="none" lIns="0" tIns="0" rIns="0" bIns="0" rtlCol="0" anchor="t"/>
          <a:lstStyle/>
          <a:p>
            <a:pPr algn="ctr"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Professional Population</a:t>
            </a:r>
            <a:endParaRPr lang="en-US" sz="1850" dirty="0"/>
          </a:p>
        </p:txBody>
      </p:sp>
      <p:sp>
        <p:nvSpPr>
          <p:cNvPr id="11" name="Text 9"/>
          <p:cNvSpPr/>
          <p:nvPr/>
        </p:nvSpPr>
        <p:spPr>
          <a:xfrm>
            <a:off x="7628453" y="4417338"/>
            <a:ext cx="6015395" cy="308372"/>
          </a:xfrm>
          <a:prstGeom prst="rect">
            <a:avLst/>
          </a:prstGeom>
          <a:noFill/>
          <a:ln/>
        </p:spPr>
        <p:txBody>
          <a:bodyPr wrap="none" lIns="0" tIns="0" rIns="0" bIns="0" rtlCol="0" anchor="t"/>
          <a:lstStyle/>
          <a:p>
            <a:pPr algn="ctr" indent="0" marL="0">
              <a:lnSpc>
                <a:spcPts val="2400"/>
              </a:lnSpc>
              <a:buNone/>
            </a:pPr>
            <a:r>
              <a:rPr lang="en-US" sz="1500" b="1" dirty="0">
                <a:solidFill>
                  <a:srgbClr val="15213F"/>
                </a:solidFill>
                <a:latin typeface="Roboto" pitchFamily="34" charset="0"/>
                <a:ea typeface="Roboto" pitchFamily="34" charset="-122"/>
                <a:cs typeface="Roboto" pitchFamily="34" charset="-120"/>
              </a:rPr>
              <a:t>HM → BI:</a:t>
            </a:r>
            <a:pPr algn="ctr" indent="0" marL="0">
              <a:lnSpc>
                <a:spcPts val="2400"/>
              </a:lnSpc>
              <a:buNone/>
            </a:pPr>
            <a:r>
              <a:rPr lang="en-US" sz="1500" dirty="0">
                <a:solidFill>
                  <a:srgbClr val="15213F"/>
                </a:solidFill>
                <a:latin typeface="Roboto" pitchFamily="34" charset="0"/>
                <a:ea typeface="Roboto" pitchFamily="34" charset="-122"/>
                <a:cs typeface="Roboto" pitchFamily="34" charset="-120"/>
              </a:rPr>
              <a:t> β = −.301</a:t>
            </a:r>
            <a:endParaRPr lang="en-US" sz="1500" dirty="0"/>
          </a:p>
        </p:txBody>
      </p:sp>
      <p:sp>
        <p:nvSpPr>
          <p:cNvPr id="12" name="Text 10"/>
          <p:cNvSpPr/>
          <p:nvPr/>
        </p:nvSpPr>
        <p:spPr>
          <a:xfrm>
            <a:off x="7628453" y="4841319"/>
            <a:ext cx="6015395" cy="616744"/>
          </a:xfrm>
          <a:prstGeom prst="rect">
            <a:avLst/>
          </a:prstGeom>
          <a:noFill/>
          <a:ln/>
        </p:spPr>
        <p:txBody>
          <a:bodyPr wrap="square" lIns="0" tIns="0" rIns="0" bIns="0" rtlCol="0" anchor="t"/>
          <a:lstStyle/>
          <a:p>
            <a:pPr algn="ctr" indent="0" marL="0">
              <a:lnSpc>
                <a:spcPts val="2400"/>
              </a:lnSpc>
              <a:buNone/>
            </a:pPr>
            <a:r>
              <a:rPr lang="en-US" sz="1500" dirty="0">
                <a:solidFill>
                  <a:srgbClr val="15213F"/>
                </a:solidFill>
                <a:latin typeface="Roboto" pitchFamily="34" charset="0"/>
                <a:ea typeface="Roboto" pitchFamily="34" charset="-122"/>
                <a:cs typeface="Roboto" pitchFamily="34" charset="-120"/>
              </a:rPr>
              <a:t>Negative effect. Professional norms may view "fun" tools as unprofessional or unserious.</a:t>
            </a:r>
            <a:endParaRPr lang="en-US" sz="1500" dirty="0"/>
          </a:p>
        </p:txBody>
      </p:sp>
      <p:sp>
        <p:nvSpPr>
          <p:cNvPr id="13" name="Text 11"/>
          <p:cNvSpPr/>
          <p:nvPr/>
        </p:nvSpPr>
        <p:spPr>
          <a:xfrm>
            <a:off x="793790" y="5844778"/>
            <a:ext cx="13042821"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Difference:</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Δβ = −.750, p = .041 (significant)</a:t>
            </a:r>
            <a:endParaRPr lang="en-US" sz="1500" dirty="0"/>
          </a:p>
        </p:txBody>
      </p:sp>
      <p:sp>
        <p:nvSpPr>
          <p:cNvPr id="14" name="Shape 12"/>
          <p:cNvSpPr/>
          <p:nvPr/>
        </p:nvSpPr>
        <p:spPr>
          <a:xfrm>
            <a:off x="793790" y="6369963"/>
            <a:ext cx="13042821" cy="1127403"/>
          </a:xfrm>
          <a:prstGeom prst="roundRect">
            <a:avLst>
              <a:gd name="adj" fmla="val 2565"/>
            </a:avLst>
          </a:prstGeom>
          <a:solidFill>
            <a:srgbClr val="C3CFEF"/>
          </a:solidFill>
          <a:ln/>
        </p:spPr>
      </p:sp>
      <p:pic>
        <p:nvPicPr>
          <p:cNvPr id="15" name="Image 0" descr="preencoded.png">    </p:cNvPr>
          <p:cNvPicPr>
            <a:picLocks noChangeAspect="1"/>
          </p:cNvPicPr>
          <p:nvPr/>
        </p:nvPicPr>
        <p:blipFill>
          <a:blip r:embed="rId1"/>
          <a:stretch>
            <a:fillRect/>
          </a:stretch>
        </p:blipFill>
        <p:spPr>
          <a:xfrm>
            <a:off x="986552" y="6655475"/>
            <a:ext cx="240983" cy="192762"/>
          </a:xfrm>
          <a:prstGeom prst="rect">
            <a:avLst/>
          </a:prstGeom>
        </p:spPr>
      </p:pic>
      <p:sp>
        <p:nvSpPr>
          <p:cNvPr id="16" name="Text 13"/>
          <p:cNvSpPr/>
          <p:nvPr/>
        </p:nvSpPr>
        <p:spPr>
          <a:xfrm>
            <a:off x="1420297" y="6610826"/>
            <a:ext cx="12223552" cy="616744"/>
          </a:xfrm>
          <a:prstGeom prst="rect">
            <a:avLst/>
          </a:prstGeom>
          <a:noFill/>
          <a:ln/>
        </p:spPr>
        <p:txBody>
          <a:bodyPr wrap="square" lIns="0" tIns="0" rIns="0" bIns="0" rtlCol="0" anchor="t"/>
          <a:lstStyle/>
          <a:p>
            <a:pPr algn="l" indent="0" marL="0">
              <a:lnSpc>
                <a:spcPts val="2400"/>
              </a:lnSpc>
              <a:buNone/>
            </a:pPr>
            <a:r>
              <a:rPr lang="en-US" sz="1500" b="1" dirty="0">
                <a:solidFill>
                  <a:srgbClr val="000000"/>
                </a:solidFill>
                <a:latin typeface="Roboto" pitchFamily="34" charset="0"/>
                <a:ea typeface="Roboto" pitchFamily="34" charset="-122"/>
                <a:cs typeface="Roboto" pitchFamily="34" charset="-120"/>
              </a:rPr>
              <a:t>Practical Implication:</a:t>
            </a:r>
            <a:pPr algn="l" indent="0" marL="0">
              <a:lnSpc>
                <a:spcPts val="2400"/>
              </a:lnSpc>
              <a:buNone/>
            </a:pPr>
            <a:r>
              <a:rPr lang="en-US" sz="1500" dirty="0">
                <a:solidFill>
                  <a:srgbClr val="000000"/>
                </a:solidFill>
                <a:latin typeface="Roboto" pitchFamily="34" charset="0"/>
                <a:ea typeface="Roboto" pitchFamily="34" charset="-122"/>
                <a:cs typeface="Roboto" pitchFamily="34" charset="-120"/>
              </a:rPr>
              <a:t> Organizations should message AI tools differently to academic versus professional audiences. "Enjoyable" resonates in academia but may backfire in corporate contexts.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742950"/>
            <a:ext cx="6407706" cy="481965"/>
          </a:xfrm>
          <a:prstGeom prst="rect">
            <a:avLst/>
          </a:prstGeom>
          <a:noFill/>
          <a:ln/>
        </p:spPr>
        <p:txBody>
          <a:bodyPr wrap="none" lIns="0" tIns="0" rIns="0" bIns="0" rtlCol="0" anchor="t"/>
          <a:lstStyle/>
          <a:p>
            <a:pPr algn="l" indent="0" marL="0">
              <a:lnSpc>
                <a:spcPts val="3750"/>
              </a:lnSpc>
              <a:buNone/>
            </a:pPr>
            <a:r>
              <a:rPr lang="en-US" sz="3000" dirty="0">
                <a:solidFill>
                  <a:srgbClr val="3257B8"/>
                </a:solidFill>
                <a:latin typeface="Roboto Slab" pitchFamily="34" charset="0"/>
                <a:ea typeface="Roboto Slab" pitchFamily="34" charset="-122"/>
                <a:cs typeface="Roboto Slab" pitchFamily="34" charset="-120"/>
              </a:rPr>
              <a:t>The AIRS-16 Diagnostic Instrument</a:t>
            </a:r>
            <a:endParaRPr lang="en-US" sz="3000" dirty="0"/>
          </a:p>
        </p:txBody>
      </p:sp>
      <p:sp>
        <p:nvSpPr>
          <p:cNvPr id="3" name="Text 1"/>
          <p:cNvSpPr/>
          <p:nvPr/>
        </p:nvSpPr>
        <p:spPr>
          <a:xfrm>
            <a:off x="793790" y="1301948"/>
            <a:ext cx="5145643" cy="361474"/>
          </a:xfrm>
          <a:prstGeom prst="rect">
            <a:avLst/>
          </a:prstGeom>
          <a:noFill/>
          <a:ln/>
        </p:spPr>
        <p:txBody>
          <a:bodyPr wrap="none" lIns="0" tIns="0" rIns="0" bIns="0" rtlCol="0" anchor="t"/>
          <a:lstStyle/>
          <a:p>
            <a:pPr algn="l" indent="0" marL="0">
              <a:lnSpc>
                <a:spcPts val="2800"/>
              </a:lnSpc>
              <a:buNone/>
            </a:pPr>
            <a:r>
              <a:rPr lang="en-US" sz="2250" dirty="0">
                <a:solidFill>
                  <a:srgbClr val="3257B8"/>
                </a:solidFill>
                <a:latin typeface="Roboto Slab" pitchFamily="34" charset="0"/>
                <a:ea typeface="Roboto Slab" pitchFamily="34" charset="-122"/>
                <a:cs typeface="Roboto Slab" pitchFamily="34" charset="-120"/>
              </a:rPr>
              <a:t>Validated 8-Factor Measurement Tool</a:t>
            </a:r>
            <a:endParaRPr lang="en-US" sz="2250" dirty="0"/>
          </a:p>
        </p:txBody>
      </p:sp>
      <p:sp>
        <p:nvSpPr>
          <p:cNvPr id="4" name="Shape 2"/>
          <p:cNvSpPr/>
          <p:nvPr/>
        </p:nvSpPr>
        <p:spPr>
          <a:xfrm>
            <a:off x="793790" y="1952625"/>
            <a:ext cx="13042821" cy="5008721"/>
          </a:xfrm>
          <a:prstGeom prst="roundRect">
            <a:avLst>
              <a:gd name="adj" fmla="val 577"/>
            </a:avLst>
          </a:prstGeom>
          <a:noFill/>
          <a:ln w="7620">
            <a:solidFill>
              <a:srgbClr val="000000">
                <a:alpha val="8000"/>
              </a:srgbClr>
            </a:solidFill>
            <a:prstDash val="solid"/>
          </a:ln>
        </p:spPr>
      </p:sp>
      <p:sp>
        <p:nvSpPr>
          <p:cNvPr id="5" name="Shape 3"/>
          <p:cNvSpPr/>
          <p:nvPr/>
        </p:nvSpPr>
        <p:spPr>
          <a:xfrm>
            <a:off x="801410" y="1960245"/>
            <a:ext cx="13027581" cy="554831"/>
          </a:xfrm>
          <a:prstGeom prst="rect">
            <a:avLst/>
          </a:prstGeom>
          <a:solidFill>
            <a:srgbClr val="FFFFFF">
              <a:alpha val="4000"/>
            </a:srgbClr>
          </a:solidFill>
          <a:ln/>
        </p:spPr>
      </p:sp>
      <p:sp>
        <p:nvSpPr>
          <p:cNvPr id="6" name="Text 4"/>
          <p:cNvSpPr/>
          <p:nvPr/>
        </p:nvSpPr>
        <p:spPr>
          <a:xfrm>
            <a:off x="994410" y="2083475"/>
            <a:ext cx="4170283"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Factor</a:t>
            </a:r>
            <a:endParaRPr lang="en-US" sz="1500" dirty="0"/>
          </a:p>
        </p:txBody>
      </p:sp>
      <p:sp>
        <p:nvSpPr>
          <p:cNvPr id="7" name="Text 5"/>
          <p:cNvSpPr/>
          <p:nvPr/>
        </p:nvSpPr>
        <p:spPr>
          <a:xfrm>
            <a:off x="5557838" y="2083475"/>
            <a:ext cx="1560909"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Items</a:t>
            </a:r>
            <a:endParaRPr lang="en-US" sz="1500" dirty="0"/>
          </a:p>
        </p:txBody>
      </p:sp>
      <p:sp>
        <p:nvSpPr>
          <p:cNvPr id="8" name="Text 6"/>
          <p:cNvSpPr/>
          <p:nvPr/>
        </p:nvSpPr>
        <p:spPr>
          <a:xfrm>
            <a:off x="7511891" y="2083475"/>
            <a:ext cx="1560909"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α</a:t>
            </a:r>
            <a:endParaRPr lang="en-US" sz="1500" dirty="0"/>
          </a:p>
        </p:txBody>
      </p:sp>
      <p:sp>
        <p:nvSpPr>
          <p:cNvPr id="9" name="Text 7"/>
          <p:cNvSpPr/>
          <p:nvPr/>
        </p:nvSpPr>
        <p:spPr>
          <a:xfrm>
            <a:off x="9465945" y="2083475"/>
            <a:ext cx="4170283"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Diagnostic Purpose</a:t>
            </a:r>
            <a:endParaRPr lang="en-US" sz="1500" dirty="0"/>
          </a:p>
        </p:txBody>
      </p:sp>
      <p:sp>
        <p:nvSpPr>
          <p:cNvPr id="10" name="Shape 8"/>
          <p:cNvSpPr/>
          <p:nvPr/>
        </p:nvSpPr>
        <p:spPr>
          <a:xfrm>
            <a:off x="801410" y="2515076"/>
            <a:ext cx="13027581" cy="554831"/>
          </a:xfrm>
          <a:prstGeom prst="rect">
            <a:avLst/>
          </a:prstGeom>
          <a:solidFill>
            <a:srgbClr val="000000">
              <a:alpha val="4000"/>
            </a:srgbClr>
          </a:solidFill>
          <a:ln/>
        </p:spPr>
      </p:sp>
      <p:sp>
        <p:nvSpPr>
          <p:cNvPr id="11" name="Text 9"/>
          <p:cNvSpPr/>
          <p:nvPr/>
        </p:nvSpPr>
        <p:spPr>
          <a:xfrm>
            <a:off x="994410" y="2638306"/>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Performance Expectancy</a:t>
            </a:r>
            <a:endParaRPr lang="en-US" sz="1500" dirty="0"/>
          </a:p>
        </p:txBody>
      </p:sp>
      <p:sp>
        <p:nvSpPr>
          <p:cNvPr id="12" name="Text 10"/>
          <p:cNvSpPr/>
          <p:nvPr/>
        </p:nvSpPr>
        <p:spPr>
          <a:xfrm>
            <a:off x="5557838" y="2638306"/>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2</a:t>
            </a:r>
            <a:endParaRPr lang="en-US" sz="1500" dirty="0"/>
          </a:p>
        </p:txBody>
      </p:sp>
      <p:sp>
        <p:nvSpPr>
          <p:cNvPr id="13" name="Text 11"/>
          <p:cNvSpPr/>
          <p:nvPr/>
        </p:nvSpPr>
        <p:spPr>
          <a:xfrm>
            <a:off x="7511891" y="2638306"/>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.80</a:t>
            </a:r>
            <a:endParaRPr lang="en-US" sz="1500" dirty="0"/>
          </a:p>
        </p:txBody>
      </p:sp>
      <p:sp>
        <p:nvSpPr>
          <p:cNvPr id="14" name="Text 12"/>
          <p:cNvSpPr/>
          <p:nvPr/>
        </p:nvSpPr>
        <p:spPr>
          <a:xfrm>
            <a:off x="9465945" y="2638306"/>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Perceived productivity benefits</a:t>
            </a:r>
            <a:endParaRPr lang="en-US" sz="1500" dirty="0"/>
          </a:p>
        </p:txBody>
      </p:sp>
      <p:sp>
        <p:nvSpPr>
          <p:cNvPr id="15" name="Shape 13"/>
          <p:cNvSpPr/>
          <p:nvPr/>
        </p:nvSpPr>
        <p:spPr>
          <a:xfrm>
            <a:off x="801410" y="3069908"/>
            <a:ext cx="13027581" cy="554831"/>
          </a:xfrm>
          <a:prstGeom prst="rect">
            <a:avLst/>
          </a:prstGeom>
          <a:solidFill>
            <a:srgbClr val="FFFFFF">
              <a:alpha val="4000"/>
            </a:srgbClr>
          </a:solidFill>
          <a:ln/>
        </p:spPr>
      </p:sp>
      <p:sp>
        <p:nvSpPr>
          <p:cNvPr id="16" name="Text 14"/>
          <p:cNvSpPr/>
          <p:nvPr/>
        </p:nvSpPr>
        <p:spPr>
          <a:xfrm>
            <a:off x="994410" y="3193137"/>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Effort Expectancy</a:t>
            </a:r>
            <a:endParaRPr lang="en-US" sz="1500" dirty="0"/>
          </a:p>
        </p:txBody>
      </p:sp>
      <p:sp>
        <p:nvSpPr>
          <p:cNvPr id="17" name="Text 15"/>
          <p:cNvSpPr/>
          <p:nvPr/>
        </p:nvSpPr>
        <p:spPr>
          <a:xfrm>
            <a:off x="5557838" y="3193137"/>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2</a:t>
            </a:r>
            <a:endParaRPr lang="en-US" sz="1500" dirty="0"/>
          </a:p>
        </p:txBody>
      </p:sp>
      <p:sp>
        <p:nvSpPr>
          <p:cNvPr id="18" name="Text 16"/>
          <p:cNvSpPr/>
          <p:nvPr/>
        </p:nvSpPr>
        <p:spPr>
          <a:xfrm>
            <a:off x="7511891" y="3193137"/>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.86</a:t>
            </a:r>
            <a:endParaRPr lang="en-US" sz="1500" dirty="0"/>
          </a:p>
        </p:txBody>
      </p:sp>
      <p:sp>
        <p:nvSpPr>
          <p:cNvPr id="19" name="Text 17"/>
          <p:cNvSpPr/>
          <p:nvPr/>
        </p:nvSpPr>
        <p:spPr>
          <a:xfrm>
            <a:off x="9465945" y="3193137"/>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Ease of use perceptions</a:t>
            </a:r>
            <a:endParaRPr lang="en-US" sz="1500" dirty="0"/>
          </a:p>
        </p:txBody>
      </p:sp>
      <p:sp>
        <p:nvSpPr>
          <p:cNvPr id="20" name="Shape 18"/>
          <p:cNvSpPr/>
          <p:nvPr/>
        </p:nvSpPr>
        <p:spPr>
          <a:xfrm>
            <a:off x="801410" y="3624739"/>
            <a:ext cx="13027581" cy="554831"/>
          </a:xfrm>
          <a:prstGeom prst="rect">
            <a:avLst/>
          </a:prstGeom>
          <a:solidFill>
            <a:srgbClr val="000000">
              <a:alpha val="4000"/>
            </a:srgbClr>
          </a:solidFill>
          <a:ln/>
        </p:spPr>
      </p:sp>
      <p:sp>
        <p:nvSpPr>
          <p:cNvPr id="21" name="Text 19"/>
          <p:cNvSpPr/>
          <p:nvPr/>
        </p:nvSpPr>
        <p:spPr>
          <a:xfrm>
            <a:off x="994410" y="3747968"/>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Social Influence</a:t>
            </a:r>
            <a:endParaRPr lang="en-US" sz="1500" dirty="0"/>
          </a:p>
        </p:txBody>
      </p:sp>
      <p:sp>
        <p:nvSpPr>
          <p:cNvPr id="22" name="Text 20"/>
          <p:cNvSpPr/>
          <p:nvPr/>
        </p:nvSpPr>
        <p:spPr>
          <a:xfrm>
            <a:off x="5557838" y="3747968"/>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2</a:t>
            </a:r>
            <a:endParaRPr lang="en-US" sz="1500" dirty="0"/>
          </a:p>
        </p:txBody>
      </p:sp>
      <p:sp>
        <p:nvSpPr>
          <p:cNvPr id="23" name="Text 21"/>
          <p:cNvSpPr/>
          <p:nvPr/>
        </p:nvSpPr>
        <p:spPr>
          <a:xfrm>
            <a:off x="7511891" y="3747968"/>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.75</a:t>
            </a:r>
            <a:endParaRPr lang="en-US" sz="1500" dirty="0"/>
          </a:p>
        </p:txBody>
      </p:sp>
      <p:sp>
        <p:nvSpPr>
          <p:cNvPr id="24" name="Text 22"/>
          <p:cNvSpPr/>
          <p:nvPr/>
        </p:nvSpPr>
        <p:spPr>
          <a:xfrm>
            <a:off x="9465945" y="3747968"/>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Peer and organizational support</a:t>
            </a:r>
            <a:endParaRPr lang="en-US" sz="1500" dirty="0"/>
          </a:p>
        </p:txBody>
      </p:sp>
      <p:sp>
        <p:nvSpPr>
          <p:cNvPr id="25" name="Shape 23"/>
          <p:cNvSpPr/>
          <p:nvPr/>
        </p:nvSpPr>
        <p:spPr>
          <a:xfrm>
            <a:off x="801410" y="4179570"/>
            <a:ext cx="13027581" cy="554831"/>
          </a:xfrm>
          <a:prstGeom prst="rect">
            <a:avLst/>
          </a:prstGeom>
          <a:solidFill>
            <a:srgbClr val="FFFFFF">
              <a:alpha val="4000"/>
            </a:srgbClr>
          </a:solidFill>
          <a:ln/>
        </p:spPr>
      </p:sp>
      <p:sp>
        <p:nvSpPr>
          <p:cNvPr id="26" name="Text 24"/>
          <p:cNvSpPr/>
          <p:nvPr/>
        </p:nvSpPr>
        <p:spPr>
          <a:xfrm>
            <a:off x="994410" y="4302800"/>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Facilitating Conditions</a:t>
            </a:r>
            <a:endParaRPr lang="en-US" sz="1500" dirty="0"/>
          </a:p>
        </p:txBody>
      </p:sp>
      <p:sp>
        <p:nvSpPr>
          <p:cNvPr id="27" name="Text 25"/>
          <p:cNvSpPr/>
          <p:nvPr/>
        </p:nvSpPr>
        <p:spPr>
          <a:xfrm>
            <a:off x="5557838" y="4302800"/>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2</a:t>
            </a:r>
            <a:endParaRPr lang="en-US" sz="1500" dirty="0"/>
          </a:p>
        </p:txBody>
      </p:sp>
      <p:sp>
        <p:nvSpPr>
          <p:cNvPr id="28" name="Text 26"/>
          <p:cNvSpPr/>
          <p:nvPr/>
        </p:nvSpPr>
        <p:spPr>
          <a:xfrm>
            <a:off x="7511891" y="4302800"/>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.74</a:t>
            </a:r>
            <a:endParaRPr lang="en-US" sz="1500" dirty="0"/>
          </a:p>
        </p:txBody>
      </p:sp>
      <p:sp>
        <p:nvSpPr>
          <p:cNvPr id="29" name="Text 27"/>
          <p:cNvSpPr/>
          <p:nvPr/>
        </p:nvSpPr>
        <p:spPr>
          <a:xfrm>
            <a:off x="9465945" y="4302800"/>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Resource and support availability</a:t>
            </a:r>
            <a:endParaRPr lang="en-US" sz="1500" dirty="0"/>
          </a:p>
        </p:txBody>
      </p:sp>
      <p:sp>
        <p:nvSpPr>
          <p:cNvPr id="30" name="Shape 28"/>
          <p:cNvSpPr/>
          <p:nvPr/>
        </p:nvSpPr>
        <p:spPr>
          <a:xfrm>
            <a:off x="801410" y="4734401"/>
            <a:ext cx="13027581" cy="554831"/>
          </a:xfrm>
          <a:prstGeom prst="rect">
            <a:avLst/>
          </a:prstGeom>
          <a:solidFill>
            <a:srgbClr val="000000">
              <a:alpha val="4000"/>
            </a:srgbClr>
          </a:solidFill>
          <a:ln/>
        </p:spPr>
      </p:sp>
      <p:sp>
        <p:nvSpPr>
          <p:cNvPr id="31" name="Text 29"/>
          <p:cNvSpPr/>
          <p:nvPr/>
        </p:nvSpPr>
        <p:spPr>
          <a:xfrm>
            <a:off x="994410" y="4857631"/>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Hedonic Motivation</a:t>
            </a:r>
            <a:endParaRPr lang="en-US" sz="1500" dirty="0"/>
          </a:p>
        </p:txBody>
      </p:sp>
      <p:sp>
        <p:nvSpPr>
          <p:cNvPr id="32" name="Text 30"/>
          <p:cNvSpPr/>
          <p:nvPr/>
        </p:nvSpPr>
        <p:spPr>
          <a:xfrm>
            <a:off x="5557838" y="4857631"/>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2</a:t>
            </a:r>
            <a:endParaRPr lang="en-US" sz="1500" dirty="0"/>
          </a:p>
        </p:txBody>
      </p:sp>
      <p:sp>
        <p:nvSpPr>
          <p:cNvPr id="33" name="Text 31"/>
          <p:cNvSpPr/>
          <p:nvPr/>
        </p:nvSpPr>
        <p:spPr>
          <a:xfrm>
            <a:off x="7511891" y="4857631"/>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.86</a:t>
            </a:r>
            <a:endParaRPr lang="en-US" sz="1500" dirty="0"/>
          </a:p>
        </p:txBody>
      </p:sp>
      <p:sp>
        <p:nvSpPr>
          <p:cNvPr id="34" name="Text 32"/>
          <p:cNvSpPr/>
          <p:nvPr/>
        </p:nvSpPr>
        <p:spPr>
          <a:xfrm>
            <a:off x="9465945" y="4857631"/>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Enjoyment and engagement</a:t>
            </a:r>
            <a:endParaRPr lang="en-US" sz="1500" dirty="0"/>
          </a:p>
        </p:txBody>
      </p:sp>
      <p:sp>
        <p:nvSpPr>
          <p:cNvPr id="35" name="Shape 33"/>
          <p:cNvSpPr/>
          <p:nvPr/>
        </p:nvSpPr>
        <p:spPr>
          <a:xfrm>
            <a:off x="801410" y="5289233"/>
            <a:ext cx="13027581" cy="554831"/>
          </a:xfrm>
          <a:prstGeom prst="rect">
            <a:avLst/>
          </a:prstGeom>
          <a:solidFill>
            <a:srgbClr val="FFFFFF">
              <a:alpha val="4000"/>
            </a:srgbClr>
          </a:solidFill>
          <a:ln/>
        </p:spPr>
      </p:sp>
      <p:sp>
        <p:nvSpPr>
          <p:cNvPr id="36" name="Text 34"/>
          <p:cNvSpPr/>
          <p:nvPr/>
        </p:nvSpPr>
        <p:spPr>
          <a:xfrm>
            <a:off x="994410" y="5412462"/>
            <a:ext cx="4170283" cy="308372"/>
          </a:xfrm>
          <a:prstGeom prst="rect">
            <a:avLst/>
          </a:prstGeom>
          <a:noFill/>
          <a:ln/>
        </p:spPr>
        <p:txBody>
          <a:bodyPr wrap="none" lIns="0" tIns="0" rIns="0" bIns="0" rtlCol="0" anchor="t"/>
          <a:lstStyle/>
          <a:p>
            <a:pPr algn="l" indent="0" marL="0">
              <a:lnSpc>
                <a:spcPts val="2400"/>
              </a:lnSpc>
              <a:buNone/>
            </a:pPr>
            <a:r>
              <a:rPr lang="en-US" sz="1500" b="1" dirty="0">
                <a:solidFill>
                  <a:srgbClr val="3257B8"/>
                </a:solidFill>
                <a:latin typeface="Roboto" pitchFamily="34" charset="0"/>
                <a:ea typeface="Roboto" pitchFamily="34" charset="-122"/>
                <a:cs typeface="Roboto" pitchFamily="34" charset="-120"/>
              </a:rPr>
              <a:t>Price Value</a:t>
            </a:r>
            <a:endParaRPr lang="en-US" sz="1500" dirty="0"/>
          </a:p>
        </p:txBody>
      </p:sp>
      <p:sp>
        <p:nvSpPr>
          <p:cNvPr id="37" name="Text 35"/>
          <p:cNvSpPr/>
          <p:nvPr/>
        </p:nvSpPr>
        <p:spPr>
          <a:xfrm>
            <a:off x="5557838" y="5412462"/>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2</a:t>
            </a:r>
            <a:endParaRPr lang="en-US" sz="1500" dirty="0"/>
          </a:p>
        </p:txBody>
      </p:sp>
      <p:sp>
        <p:nvSpPr>
          <p:cNvPr id="38" name="Text 36"/>
          <p:cNvSpPr/>
          <p:nvPr/>
        </p:nvSpPr>
        <p:spPr>
          <a:xfrm>
            <a:off x="7511891" y="5412462"/>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.88</a:t>
            </a:r>
            <a:endParaRPr lang="en-US" sz="1500" dirty="0"/>
          </a:p>
        </p:txBody>
      </p:sp>
      <p:sp>
        <p:nvSpPr>
          <p:cNvPr id="39" name="Text 37"/>
          <p:cNvSpPr/>
          <p:nvPr/>
        </p:nvSpPr>
        <p:spPr>
          <a:xfrm>
            <a:off x="9465945" y="5412462"/>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Worth relative to total cost</a:t>
            </a:r>
            <a:endParaRPr lang="en-US" sz="1500" dirty="0"/>
          </a:p>
        </p:txBody>
      </p:sp>
      <p:sp>
        <p:nvSpPr>
          <p:cNvPr id="40" name="Shape 38"/>
          <p:cNvSpPr/>
          <p:nvPr/>
        </p:nvSpPr>
        <p:spPr>
          <a:xfrm>
            <a:off x="801410" y="5844064"/>
            <a:ext cx="13027581" cy="554831"/>
          </a:xfrm>
          <a:prstGeom prst="rect">
            <a:avLst/>
          </a:prstGeom>
          <a:solidFill>
            <a:srgbClr val="000000">
              <a:alpha val="4000"/>
            </a:srgbClr>
          </a:solidFill>
          <a:ln/>
        </p:spPr>
      </p:sp>
      <p:sp>
        <p:nvSpPr>
          <p:cNvPr id="41" name="Text 39"/>
          <p:cNvSpPr/>
          <p:nvPr/>
        </p:nvSpPr>
        <p:spPr>
          <a:xfrm>
            <a:off x="994410" y="5967293"/>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Habit</a:t>
            </a:r>
            <a:endParaRPr lang="en-US" sz="1500" dirty="0"/>
          </a:p>
        </p:txBody>
      </p:sp>
      <p:sp>
        <p:nvSpPr>
          <p:cNvPr id="42" name="Text 40"/>
          <p:cNvSpPr/>
          <p:nvPr/>
        </p:nvSpPr>
        <p:spPr>
          <a:xfrm>
            <a:off x="5557838" y="5967293"/>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2</a:t>
            </a:r>
            <a:endParaRPr lang="en-US" sz="1500" dirty="0"/>
          </a:p>
        </p:txBody>
      </p:sp>
      <p:sp>
        <p:nvSpPr>
          <p:cNvPr id="43" name="Text 41"/>
          <p:cNvSpPr/>
          <p:nvPr/>
        </p:nvSpPr>
        <p:spPr>
          <a:xfrm>
            <a:off x="7511891" y="5967293"/>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.91</a:t>
            </a:r>
            <a:endParaRPr lang="en-US" sz="1500" dirty="0"/>
          </a:p>
        </p:txBody>
      </p:sp>
      <p:sp>
        <p:nvSpPr>
          <p:cNvPr id="44" name="Text 42"/>
          <p:cNvSpPr/>
          <p:nvPr/>
        </p:nvSpPr>
        <p:spPr>
          <a:xfrm>
            <a:off x="9465945" y="5967293"/>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Behavioral automaticity</a:t>
            </a:r>
            <a:endParaRPr lang="en-US" sz="1500" dirty="0"/>
          </a:p>
        </p:txBody>
      </p:sp>
      <p:sp>
        <p:nvSpPr>
          <p:cNvPr id="45" name="Shape 43"/>
          <p:cNvSpPr/>
          <p:nvPr/>
        </p:nvSpPr>
        <p:spPr>
          <a:xfrm>
            <a:off x="801410" y="6398895"/>
            <a:ext cx="13027581" cy="554831"/>
          </a:xfrm>
          <a:prstGeom prst="rect">
            <a:avLst/>
          </a:prstGeom>
          <a:solidFill>
            <a:srgbClr val="FFFFFF">
              <a:alpha val="4000"/>
            </a:srgbClr>
          </a:solidFill>
          <a:ln/>
        </p:spPr>
      </p:sp>
      <p:sp>
        <p:nvSpPr>
          <p:cNvPr id="46" name="Text 44"/>
          <p:cNvSpPr/>
          <p:nvPr/>
        </p:nvSpPr>
        <p:spPr>
          <a:xfrm>
            <a:off x="994410" y="6522125"/>
            <a:ext cx="4170283" cy="308372"/>
          </a:xfrm>
          <a:prstGeom prst="rect">
            <a:avLst/>
          </a:prstGeom>
          <a:noFill/>
          <a:ln/>
        </p:spPr>
        <p:txBody>
          <a:bodyPr wrap="none" lIns="0" tIns="0" rIns="0" bIns="0" rtlCol="0" anchor="t"/>
          <a:lstStyle/>
          <a:p>
            <a:pPr algn="l" indent="0" marL="0">
              <a:lnSpc>
                <a:spcPts val="2400"/>
              </a:lnSpc>
              <a:buNone/>
            </a:pPr>
            <a:r>
              <a:rPr lang="en-US" sz="1500" b="1" dirty="0">
                <a:solidFill>
                  <a:srgbClr val="3257B8"/>
                </a:solidFill>
                <a:latin typeface="Roboto" pitchFamily="34" charset="0"/>
                <a:ea typeface="Roboto" pitchFamily="34" charset="-122"/>
                <a:cs typeface="Roboto" pitchFamily="34" charset="-120"/>
              </a:rPr>
              <a:t>AI Trust</a:t>
            </a:r>
            <a:endParaRPr lang="en-US" sz="1500" dirty="0"/>
          </a:p>
        </p:txBody>
      </p:sp>
      <p:sp>
        <p:nvSpPr>
          <p:cNvPr id="47" name="Text 45"/>
          <p:cNvSpPr/>
          <p:nvPr/>
        </p:nvSpPr>
        <p:spPr>
          <a:xfrm>
            <a:off x="5557838" y="6522125"/>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2</a:t>
            </a:r>
            <a:endParaRPr lang="en-US" sz="1500" dirty="0"/>
          </a:p>
        </p:txBody>
      </p:sp>
      <p:sp>
        <p:nvSpPr>
          <p:cNvPr id="48" name="Text 46"/>
          <p:cNvSpPr/>
          <p:nvPr/>
        </p:nvSpPr>
        <p:spPr>
          <a:xfrm>
            <a:off x="7511891" y="6522125"/>
            <a:ext cx="1560909"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.89</a:t>
            </a:r>
            <a:endParaRPr lang="en-US" sz="1500" dirty="0"/>
          </a:p>
        </p:txBody>
      </p:sp>
      <p:sp>
        <p:nvSpPr>
          <p:cNvPr id="49" name="Text 47"/>
          <p:cNvSpPr/>
          <p:nvPr/>
        </p:nvSpPr>
        <p:spPr>
          <a:xfrm>
            <a:off x="9465945" y="6522125"/>
            <a:ext cx="4170283" cy="308372"/>
          </a:xfrm>
          <a:prstGeom prst="rect">
            <a:avLst/>
          </a:prstGeom>
          <a:noFill/>
          <a:ln/>
        </p:spPr>
        <p:txBody>
          <a:bodyPr wrap="non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AI-specific trust barriers</a:t>
            </a:r>
            <a:endParaRPr lang="en-US" sz="1500" dirty="0"/>
          </a:p>
        </p:txBody>
      </p:sp>
      <p:sp>
        <p:nvSpPr>
          <p:cNvPr id="50" name="Text 48"/>
          <p:cNvSpPr/>
          <p:nvPr/>
        </p:nvSpPr>
        <p:spPr>
          <a:xfrm>
            <a:off x="793790" y="7178159"/>
            <a:ext cx="13042821"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Administration time:</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~3 minutes | </a:t>
            </a:r>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Output:</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 Individual diagnostic profile identifying specific adoption barriers for targeted intervention design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907494"/>
            <a:ext cx="4941689" cy="510302"/>
          </a:xfrm>
          <a:prstGeom prst="rect">
            <a:avLst/>
          </a:prstGeom>
          <a:noFill/>
          <a:ln/>
        </p:spPr>
        <p:txBody>
          <a:bodyPr wrap="none" lIns="0" tIns="0" rIns="0" bIns="0" rtlCol="0" anchor="t"/>
          <a:lstStyle/>
          <a:p>
            <a:pPr algn="l" indent="0" marL="0">
              <a:lnSpc>
                <a:spcPts val="4000"/>
              </a:lnSpc>
              <a:buNone/>
            </a:pPr>
            <a:r>
              <a:rPr lang="en-US" sz="3200" dirty="0">
                <a:solidFill>
                  <a:srgbClr val="3257B8"/>
                </a:solidFill>
                <a:latin typeface="Roboto Slab" pitchFamily="34" charset="0"/>
                <a:ea typeface="Roboto Slab" pitchFamily="34" charset="-122"/>
                <a:cs typeface="Roboto Slab" pitchFamily="34" charset="-120"/>
              </a:rPr>
              <a:t>Theoretical Contributions</a:t>
            </a:r>
            <a:endParaRPr lang="en-US" sz="3200" dirty="0"/>
          </a:p>
        </p:txBody>
      </p:sp>
      <p:sp>
        <p:nvSpPr>
          <p:cNvPr id="3" name="Shape 1"/>
          <p:cNvSpPr/>
          <p:nvPr/>
        </p:nvSpPr>
        <p:spPr>
          <a:xfrm>
            <a:off x="793790" y="1826062"/>
            <a:ext cx="6419374" cy="2645926"/>
          </a:xfrm>
          <a:prstGeom prst="roundRect">
            <a:avLst>
              <a:gd name="adj" fmla="val 1157"/>
            </a:avLst>
          </a:prstGeom>
          <a:solidFill>
            <a:srgbClr val="E9ECF2"/>
          </a:solidFill>
          <a:ln/>
        </p:spPr>
      </p:sp>
      <p:pic>
        <p:nvPicPr>
          <p:cNvPr id="4" name="Image 0" descr="preencoded.png">    </p:cNvPr>
          <p:cNvPicPr>
            <a:picLocks noChangeAspect="1"/>
          </p:cNvPicPr>
          <p:nvPr/>
        </p:nvPicPr>
        <p:blipFill>
          <a:blip r:embed="rId1"/>
          <a:stretch>
            <a:fillRect/>
          </a:stretch>
        </p:blipFill>
        <p:spPr>
          <a:xfrm>
            <a:off x="997863" y="2030135"/>
            <a:ext cx="612338" cy="612338"/>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6217" y="2198489"/>
            <a:ext cx="275511" cy="275511"/>
          </a:xfrm>
          <a:prstGeom prst="rect">
            <a:avLst/>
          </a:prstGeom>
        </p:spPr>
      </p:pic>
      <p:sp>
        <p:nvSpPr>
          <p:cNvPr id="6" name="Text 2"/>
          <p:cNvSpPr/>
          <p:nvPr/>
        </p:nvSpPr>
        <p:spPr>
          <a:xfrm>
            <a:off x="997863" y="2846546"/>
            <a:ext cx="2806898"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Value-Dominant Model</a:t>
            </a:r>
            <a:endParaRPr lang="en-US" sz="2000" dirty="0"/>
          </a:p>
        </p:txBody>
      </p:sp>
      <p:sp>
        <p:nvSpPr>
          <p:cNvPr id="7" name="Text 3"/>
          <p:cNvSpPr/>
          <p:nvPr/>
        </p:nvSpPr>
        <p:spPr>
          <a:xfrm>
            <a:off x="997863" y="3287792"/>
            <a:ext cx="6011228" cy="980123"/>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Price Value (β = .505) dominates Performance Expectancy, reversing 30 years of TAM/UTAUT findings. AI evaluated through cost-benefit lens, not productivity lens.</a:t>
            </a:r>
            <a:endParaRPr lang="en-US" sz="1600" dirty="0"/>
          </a:p>
        </p:txBody>
      </p:sp>
      <p:sp>
        <p:nvSpPr>
          <p:cNvPr id="8" name="Shape 4"/>
          <p:cNvSpPr/>
          <p:nvPr/>
        </p:nvSpPr>
        <p:spPr>
          <a:xfrm>
            <a:off x="7417237" y="1826062"/>
            <a:ext cx="6419374" cy="2645926"/>
          </a:xfrm>
          <a:prstGeom prst="roundRect">
            <a:avLst>
              <a:gd name="adj" fmla="val 1157"/>
            </a:avLst>
          </a:prstGeom>
          <a:solidFill>
            <a:srgbClr val="E9ECF2"/>
          </a:solidFill>
          <a:ln/>
        </p:spPr>
      </p:sp>
      <p:pic>
        <p:nvPicPr>
          <p:cNvPr id="9" name="Image 2" descr="preencoded.png">    </p:cNvPr>
          <p:cNvPicPr>
            <a:picLocks noChangeAspect="1"/>
          </p:cNvPicPr>
          <p:nvPr/>
        </p:nvPicPr>
        <p:blipFill>
          <a:blip r:embed="rId4"/>
          <a:stretch>
            <a:fillRect/>
          </a:stretch>
        </p:blipFill>
        <p:spPr>
          <a:xfrm>
            <a:off x="7621310" y="2030135"/>
            <a:ext cx="612338" cy="612338"/>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89664" y="2198489"/>
            <a:ext cx="275511" cy="275511"/>
          </a:xfrm>
          <a:prstGeom prst="rect">
            <a:avLst/>
          </a:prstGeom>
        </p:spPr>
      </p:pic>
      <p:sp>
        <p:nvSpPr>
          <p:cNvPr id="11" name="Text 5"/>
          <p:cNvSpPr/>
          <p:nvPr/>
        </p:nvSpPr>
        <p:spPr>
          <a:xfrm>
            <a:off x="7621310" y="2846546"/>
            <a:ext cx="3228380"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Traditional Constructs Fail</a:t>
            </a:r>
            <a:endParaRPr lang="en-US" sz="2000" dirty="0"/>
          </a:p>
        </p:txBody>
      </p:sp>
      <p:sp>
        <p:nvSpPr>
          <p:cNvPr id="12" name="Text 6"/>
          <p:cNvSpPr/>
          <p:nvPr/>
        </p:nvSpPr>
        <p:spPr>
          <a:xfrm>
            <a:off x="7621310" y="3287792"/>
            <a:ext cx="6011228" cy="980123"/>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Performance Expectancy, Effort Expectancy, Facilitating Conditions, and Habit show no predictive power for AI. Challenges core assumptions of technology acceptance theory.</a:t>
            </a:r>
            <a:endParaRPr lang="en-US" sz="1600" dirty="0"/>
          </a:p>
        </p:txBody>
      </p:sp>
      <p:sp>
        <p:nvSpPr>
          <p:cNvPr id="13" name="Shape 7"/>
          <p:cNvSpPr/>
          <p:nvPr/>
        </p:nvSpPr>
        <p:spPr>
          <a:xfrm>
            <a:off x="793790" y="4676061"/>
            <a:ext cx="6419374" cy="2645926"/>
          </a:xfrm>
          <a:prstGeom prst="roundRect">
            <a:avLst>
              <a:gd name="adj" fmla="val 1157"/>
            </a:avLst>
          </a:prstGeom>
          <a:solidFill>
            <a:srgbClr val="E9ECF2"/>
          </a:solidFill>
          <a:ln/>
        </p:spPr>
      </p:sp>
      <p:pic>
        <p:nvPicPr>
          <p:cNvPr id="14" name="Image 4" descr="preencoded.png">    </p:cNvPr>
          <p:cNvPicPr>
            <a:picLocks noChangeAspect="1"/>
          </p:cNvPicPr>
          <p:nvPr/>
        </p:nvPicPr>
        <p:blipFill>
          <a:blip r:embed="rId7"/>
          <a:stretch>
            <a:fillRect/>
          </a:stretch>
        </p:blipFill>
        <p:spPr>
          <a:xfrm>
            <a:off x="997863" y="4880134"/>
            <a:ext cx="612338" cy="612338"/>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66217" y="5048488"/>
            <a:ext cx="275511" cy="275511"/>
          </a:xfrm>
          <a:prstGeom prst="rect">
            <a:avLst/>
          </a:prstGeom>
        </p:spPr>
      </p:pic>
      <p:sp>
        <p:nvSpPr>
          <p:cNvPr id="16" name="Text 8"/>
          <p:cNvSpPr/>
          <p:nvPr/>
        </p:nvSpPr>
        <p:spPr>
          <a:xfrm>
            <a:off x="997863" y="5696545"/>
            <a:ext cx="2652593"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AI Trust as Diagnostic</a:t>
            </a:r>
            <a:endParaRPr lang="en-US" sz="2000" dirty="0"/>
          </a:p>
        </p:txBody>
      </p:sp>
      <p:sp>
        <p:nvSpPr>
          <p:cNvPr id="17" name="Text 9"/>
          <p:cNvSpPr/>
          <p:nvPr/>
        </p:nvSpPr>
        <p:spPr>
          <a:xfrm>
            <a:off x="997863" y="6137791"/>
            <a:ext cx="6011228" cy="980123"/>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Marginal predictive effect (p = .064) but essential diagnostic value. Enables targeted trust-building interventions for 17% with trust barriers.</a:t>
            </a:r>
            <a:endParaRPr lang="en-US" sz="1600" dirty="0"/>
          </a:p>
        </p:txBody>
      </p:sp>
      <p:sp>
        <p:nvSpPr>
          <p:cNvPr id="18" name="Shape 10"/>
          <p:cNvSpPr/>
          <p:nvPr/>
        </p:nvSpPr>
        <p:spPr>
          <a:xfrm>
            <a:off x="7417237" y="4676061"/>
            <a:ext cx="6419374" cy="2645926"/>
          </a:xfrm>
          <a:prstGeom prst="roundRect">
            <a:avLst>
              <a:gd name="adj" fmla="val 1157"/>
            </a:avLst>
          </a:prstGeom>
          <a:solidFill>
            <a:srgbClr val="E9ECF2"/>
          </a:solidFill>
          <a:ln/>
        </p:spPr>
      </p:sp>
      <p:pic>
        <p:nvPicPr>
          <p:cNvPr id="19" name="Image 6" descr="preencoded.png">    </p:cNvPr>
          <p:cNvPicPr>
            <a:picLocks noChangeAspect="1"/>
          </p:cNvPicPr>
          <p:nvPr/>
        </p:nvPicPr>
        <p:blipFill>
          <a:blip r:embed="rId10"/>
          <a:stretch>
            <a:fillRect/>
          </a:stretch>
        </p:blipFill>
        <p:spPr>
          <a:xfrm>
            <a:off x="7621310" y="4880134"/>
            <a:ext cx="612338" cy="612338"/>
          </a:xfrm>
          <a:prstGeom prst="rect">
            <a:avLst/>
          </a:prstGeom>
        </p:spPr>
      </p:pic>
      <p:pic>
        <p:nvPicPr>
          <p:cNvPr id="20"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89664" y="5048488"/>
            <a:ext cx="275511" cy="275511"/>
          </a:xfrm>
          <a:prstGeom prst="rect">
            <a:avLst/>
          </a:prstGeom>
        </p:spPr>
      </p:pic>
      <p:sp>
        <p:nvSpPr>
          <p:cNvPr id="21" name="Text 11"/>
          <p:cNvSpPr/>
          <p:nvPr/>
        </p:nvSpPr>
        <p:spPr>
          <a:xfrm>
            <a:off x="7621310" y="5696545"/>
            <a:ext cx="3418046"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Measurement Advancement</a:t>
            </a:r>
            <a:endParaRPr lang="en-US" sz="2000" dirty="0"/>
          </a:p>
        </p:txBody>
      </p:sp>
      <p:sp>
        <p:nvSpPr>
          <p:cNvPr id="22" name="Text 12"/>
          <p:cNvSpPr/>
          <p:nvPr/>
        </p:nvSpPr>
        <p:spPr>
          <a:xfrm>
            <a:off x="7621310" y="6137791"/>
            <a:ext cx="6011228" cy="980123"/>
          </a:xfrm>
          <a:prstGeom prst="rect">
            <a:avLst/>
          </a:prstGeom>
          <a:noFill/>
          <a:ln/>
        </p:spPr>
        <p:txBody>
          <a:bodyPr wrap="square" lIns="0" tIns="0" rIns="0" bIns="0" rtlCol="0" anchor="t"/>
          <a:lstStyle/>
          <a:p>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First psychometrically validated AI adoption instrument with demonstrated configural invariance across academic and professional populations.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646271"/>
            <a:ext cx="370844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Practical Contributions</a:t>
            </a:r>
            <a:endParaRPr lang="en-US" sz="2650" dirty="0"/>
          </a:p>
        </p:txBody>
      </p:sp>
      <p:sp>
        <p:nvSpPr>
          <p:cNvPr id="4" name="Text 1"/>
          <p:cNvSpPr/>
          <p:nvPr/>
        </p:nvSpPr>
        <p:spPr>
          <a:xfrm>
            <a:off x="6280190" y="1326713"/>
            <a:ext cx="170021" cy="212646"/>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Slab Light" pitchFamily="34" charset="0"/>
                <a:ea typeface="Roboto Slab Light" pitchFamily="34" charset="-122"/>
                <a:cs typeface="Roboto Slab Light" pitchFamily="34" charset="-120"/>
              </a:rPr>
              <a:t>01</a:t>
            </a:r>
            <a:endParaRPr lang="en-US" sz="1300" dirty="0"/>
          </a:p>
        </p:txBody>
      </p:sp>
      <p:pic>
        <p:nvPicPr>
          <p:cNvPr id="5" name="Image 1" descr="preencoded.png">    </p:cNvPr>
          <p:cNvPicPr>
            <a:picLocks noChangeAspect="1"/>
          </p:cNvPicPr>
          <p:nvPr/>
        </p:nvPicPr>
        <p:blipFill>
          <a:blip r:embed="rId2"/>
          <a:stretch>
            <a:fillRect/>
          </a:stretch>
        </p:blipFill>
        <p:spPr>
          <a:xfrm>
            <a:off x="6280190" y="1592937"/>
            <a:ext cx="7556421" cy="22860"/>
          </a:xfrm>
          <a:prstGeom prst="rect">
            <a:avLst/>
          </a:prstGeom>
        </p:spPr>
      </p:pic>
      <p:sp>
        <p:nvSpPr>
          <p:cNvPr id="6" name="Text 2"/>
          <p:cNvSpPr/>
          <p:nvPr/>
        </p:nvSpPr>
        <p:spPr>
          <a:xfrm>
            <a:off x="6280190" y="1723668"/>
            <a:ext cx="3313747"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Lead with Value, Not Capabilities</a:t>
            </a:r>
            <a:endParaRPr lang="en-US" sz="1650" dirty="0"/>
          </a:p>
        </p:txBody>
      </p:sp>
      <p:sp>
        <p:nvSpPr>
          <p:cNvPr id="7" name="Text 3"/>
          <p:cNvSpPr/>
          <p:nvPr/>
        </p:nvSpPr>
        <p:spPr>
          <a:xfrm>
            <a:off x="6280190" y="2091452"/>
            <a:ext cx="7556421"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Demonstrate ROI before feature lists. Address total investment: financial cost, time, workflow disruption, learning curve, opportunity cost. Answer "Is this worth it?" not "What can it do?"</a:t>
            </a:r>
            <a:endParaRPr lang="en-US" sz="1300" dirty="0"/>
          </a:p>
        </p:txBody>
      </p:sp>
      <p:sp>
        <p:nvSpPr>
          <p:cNvPr id="8" name="Text 4"/>
          <p:cNvSpPr/>
          <p:nvPr/>
        </p:nvSpPr>
        <p:spPr>
          <a:xfrm>
            <a:off x="6280190" y="2933343"/>
            <a:ext cx="170021" cy="212646"/>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Slab Light" pitchFamily="34" charset="0"/>
                <a:ea typeface="Roboto Slab Light" pitchFamily="34" charset="-122"/>
                <a:cs typeface="Roboto Slab Light" pitchFamily="34" charset="-120"/>
              </a:rPr>
              <a:t>02</a:t>
            </a:r>
            <a:endParaRPr lang="en-US" sz="1300" dirty="0"/>
          </a:p>
        </p:txBody>
      </p:sp>
      <p:pic>
        <p:nvPicPr>
          <p:cNvPr id="9" name="Image 2" descr="preencoded.png">    </p:cNvPr>
          <p:cNvPicPr>
            <a:picLocks noChangeAspect="1"/>
          </p:cNvPicPr>
          <p:nvPr/>
        </p:nvPicPr>
        <p:blipFill>
          <a:blip r:embed="rId3"/>
          <a:stretch>
            <a:fillRect/>
          </a:stretch>
        </p:blipFill>
        <p:spPr>
          <a:xfrm>
            <a:off x="6280190" y="3182660"/>
            <a:ext cx="7556421" cy="22860"/>
          </a:xfrm>
          <a:prstGeom prst="rect">
            <a:avLst/>
          </a:prstGeom>
        </p:spPr>
      </p:pic>
      <p:sp>
        <p:nvSpPr>
          <p:cNvPr id="10" name="Text 5"/>
          <p:cNvSpPr/>
          <p:nvPr/>
        </p:nvSpPr>
        <p:spPr>
          <a:xfrm>
            <a:off x="6280190" y="3330297"/>
            <a:ext cx="3546753"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Deploy Segment-Specific Strategies</a:t>
            </a:r>
            <a:endParaRPr lang="en-US" sz="1650" dirty="0"/>
          </a:p>
        </p:txBody>
      </p:sp>
      <p:sp>
        <p:nvSpPr>
          <p:cNvPr id="11" name="Text 6"/>
          <p:cNvSpPr/>
          <p:nvPr/>
        </p:nvSpPr>
        <p:spPr>
          <a:xfrm>
            <a:off x="6280190" y="3698081"/>
            <a:ext cx="7556421"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16% are enthusiasts—leverage them as champions. 30% need proof—provide evidence. 37% will follow—show peer adoption. 17% have trust barriers—address those first.</a:t>
            </a:r>
            <a:endParaRPr lang="en-US" sz="1300" dirty="0"/>
          </a:p>
        </p:txBody>
      </p:sp>
      <p:sp>
        <p:nvSpPr>
          <p:cNvPr id="12" name="Text 7"/>
          <p:cNvSpPr/>
          <p:nvPr/>
        </p:nvSpPr>
        <p:spPr>
          <a:xfrm>
            <a:off x="6280190" y="4539972"/>
            <a:ext cx="170021" cy="212646"/>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Slab Light" pitchFamily="34" charset="0"/>
                <a:ea typeface="Roboto Slab Light" pitchFamily="34" charset="-122"/>
                <a:cs typeface="Roboto Slab Light" pitchFamily="34" charset="-120"/>
              </a:rPr>
              <a:t>03</a:t>
            </a:r>
            <a:endParaRPr lang="en-US" sz="1300" dirty="0"/>
          </a:p>
        </p:txBody>
      </p:sp>
      <p:pic>
        <p:nvPicPr>
          <p:cNvPr id="13" name="Image 3" descr="preencoded.png">    </p:cNvPr>
          <p:cNvPicPr>
            <a:picLocks noChangeAspect="1"/>
          </p:cNvPicPr>
          <p:nvPr/>
        </p:nvPicPr>
        <p:blipFill>
          <a:blip r:embed="rId4"/>
          <a:stretch>
            <a:fillRect/>
          </a:stretch>
        </p:blipFill>
        <p:spPr>
          <a:xfrm>
            <a:off x="6280190" y="4772263"/>
            <a:ext cx="7556421" cy="22860"/>
          </a:xfrm>
          <a:prstGeom prst="rect">
            <a:avLst/>
          </a:prstGeom>
        </p:spPr>
      </p:pic>
      <p:sp>
        <p:nvSpPr>
          <p:cNvPr id="14" name="Text 8"/>
          <p:cNvSpPr/>
          <p:nvPr/>
        </p:nvSpPr>
        <p:spPr>
          <a:xfrm>
            <a:off x="6280190" y="4936927"/>
            <a:ext cx="2758321"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Use Diagnostic Assessment</a:t>
            </a:r>
            <a:endParaRPr lang="en-US" sz="1650" dirty="0"/>
          </a:p>
        </p:txBody>
      </p:sp>
      <p:sp>
        <p:nvSpPr>
          <p:cNvPr id="15" name="Text 9"/>
          <p:cNvSpPr/>
          <p:nvPr/>
        </p:nvSpPr>
        <p:spPr>
          <a:xfrm>
            <a:off x="6280190" y="5304711"/>
            <a:ext cx="7556421"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AIRS-16 takes 3 minutes and identifies specific barriers. Enables targeted resource allocation instead of blanket training programs.</a:t>
            </a:r>
            <a:endParaRPr lang="en-US" sz="1300" dirty="0"/>
          </a:p>
        </p:txBody>
      </p:sp>
      <p:sp>
        <p:nvSpPr>
          <p:cNvPr id="16" name="Text 10"/>
          <p:cNvSpPr/>
          <p:nvPr/>
        </p:nvSpPr>
        <p:spPr>
          <a:xfrm>
            <a:off x="6280190" y="6146602"/>
            <a:ext cx="170021" cy="212646"/>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Slab Light" pitchFamily="34" charset="0"/>
                <a:ea typeface="Roboto Slab Light" pitchFamily="34" charset="-122"/>
                <a:cs typeface="Roboto Slab Light" pitchFamily="34" charset="-120"/>
              </a:rPr>
              <a:t>04</a:t>
            </a:r>
            <a:endParaRPr lang="en-US" sz="1300" dirty="0"/>
          </a:p>
        </p:txBody>
      </p:sp>
      <p:pic>
        <p:nvPicPr>
          <p:cNvPr id="17" name="Image 4" descr="preencoded.png">    </p:cNvPr>
          <p:cNvPicPr>
            <a:picLocks noChangeAspect="1"/>
          </p:cNvPicPr>
          <p:nvPr/>
        </p:nvPicPr>
        <p:blipFill>
          <a:blip r:embed="rId5"/>
          <a:stretch>
            <a:fillRect/>
          </a:stretch>
        </p:blipFill>
        <p:spPr>
          <a:xfrm>
            <a:off x="6280190" y="6361986"/>
            <a:ext cx="7556421" cy="22860"/>
          </a:xfrm>
          <a:prstGeom prst="rect">
            <a:avLst/>
          </a:prstGeom>
        </p:spPr>
      </p:pic>
      <p:sp>
        <p:nvSpPr>
          <p:cNvPr id="18" name="Text 11"/>
          <p:cNvSpPr/>
          <p:nvPr/>
        </p:nvSpPr>
        <p:spPr>
          <a:xfrm>
            <a:off x="6280190" y="6543556"/>
            <a:ext cx="3054310"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Establish Trust as Prerequisite</a:t>
            </a:r>
            <a:endParaRPr lang="en-US" sz="1650" dirty="0"/>
          </a:p>
        </p:txBody>
      </p:sp>
      <p:sp>
        <p:nvSpPr>
          <p:cNvPr id="19" name="Text 12"/>
          <p:cNvSpPr/>
          <p:nvPr/>
        </p:nvSpPr>
        <p:spPr>
          <a:xfrm>
            <a:off x="6280190" y="6911340"/>
            <a:ext cx="7556421"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Nearly 1 in 5 users have trust barriers blocking adoption. Feature demonstrations are ineffective until trust is built. Diagnose who needs trust interventions first.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692825"/>
            <a:ext cx="4309705" cy="538758"/>
          </a:xfrm>
          <a:prstGeom prst="rect">
            <a:avLst/>
          </a:prstGeom>
          <a:noFill/>
          <a:ln/>
        </p:spPr>
        <p:txBody>
          <a:bodyPr wrap="none" lIns="0" tIns="0" rIns="0" bIns="0" rtlCol="0" anchor="t"/>
          <a:lstStyle/>
          <a:p>
            <a:pPr algn="l" indent="0" marL="0">
              <a:lnSpc>
                <a:spcPts val="4200"/>
              </a:lnSpc>
              <a:buNone/>
            </a:pPr>
            <a:r>
              <a:rPr lang="en-US" sz="3350" dirty="0">
                <a:solidFill>
                  <a:srgbClr val="3257B8"/>
                </a:solidFill>
                <a:latin typeface="Roboto Slab" pitchFamily="34" charset="0"/>
                <a:ea typeface="Roboto Slab" pitchFamily="34" charset="-122"/>
                <a:cs typeface="Roboto Slab" pitchFamily="34" charset="-120"/>
              </a:rPr>
              <a:t>Study Limitations</a:t>
            </a:r>
            <a:endParaRPr lang="en-US" sz="3350" dirty="0"/>
          </a:p>
        </p:txBody>
      </p:sp>
      <p:sp>
        <p:nvSpPr>
          <p:cNvPr id="3" name="Text 1"/>
          <p:cNvSpPr/>
          <p:nvPr/>
        </p:nvSpPr>
        <p:spPr>
          <a:xfrm>
            <a:off x="793790" y="1317665"/>
            <a:ext cx="5818703" cy="403979"/>
          </a:xfrm>
          <a:prstGeom prst="rect">
            <a:avLst/>
          </a:prstGeom>
          <a:noFill/>
          <a:ln/>
        </p:spPr>
        <p:txBody>
          <a:bodyPr wrap="none" lIns="0" tIns="0" rIns="0" bIns="0" rtlCol="0" anchor="t"/>
          <a:lstStyle/>
          <a:p>
            <a:pPr algn="l" indent="0" marL="0">
              <a:lnSpc>
                <a:spcPts val="3150"/>
              </a:lnSpc>
              <a:buNone/>
            </a:pPr>
            <a:r>
              <a:rPr lang="en-US" sz="2500" dirty="0">
                <a:solidFill>
                  <a:srgbClr val="3257B8"/>
                </a:solidFill>
                <a:latin typeface="Roboto Slab" pitchFamily="34" charset="0"/>
                <a:ea typeface="Roboto Slab" pitchFamily="34" charset="-122"/>
                <a:cs typeface="Roboto Slab" pitchFamily="34" charset="-120"/>
              </a:rPr>
              <a:t>Transparency in Research Boundaries</a:t>
            </a:r>
            <a:endParaRPr lang="en-US" sz="2500" dirty="0"/>
          </a:p>
        </p:txBody>
      </p:sp>
      <p:sp>
        <p:nvSpPr>
          <p:cNvPr id="4" name="Shape 2"/>
          <p:cNvSpPr/>
          <p:nvPr/>
        </p:nvSpPr>
        <p:spPr>
          <a:xfrm>
            <a:off x="793790" y="2044779"/>
            <a:ext cx="6413659" cy="2810708"/>
          </a:xfrm>
          <a:prstGeom prst="roundRect">
            <a:avLst>
              <a:gd name="adj" fmla="val 5205"/>
            </a:avLst>
          </a:prstGeom>
          <a:solidFill>
            <a:srgbClr val="FBFCFE"/>
          </a:solidFill>
          <a:ln w="30480">
            <a:solidFill>
              <a:srgbClr val="CFD2D8"/>
            </a:solidFill>
            <a:prstDash val="solid"/>
          </a:ln>
        </p:spPr>
      </p:sp>
      <p:pic>
        <p:nvPicPr>
          <p:cNvPr id="5" name="Image 0" descr="preencoded.png">    </p:cNvPr>
          <p:cNvPicPr>
            <a:picLocks noChangeAspect="1"/>
          </p:cNvPicPr>
          <p:nvPr/>
        </p:nvPicPr>
        <p:blipFill>
          <a:blip r:embed="rId1"/>
          <a:stretch>
            <a:fillRect/>
          </a:stretch>
        </p:blipFill>
        <p:spPr>
          <a:xfrm>
            <a:off x="763310" y="2044779"/>
            <a:ext cx="121920" cy="2810708"/>
          </a:xfrm>
          <a:prstGeom prst="rect">
            <a:avLst/>
          </a:prstGeom>
        </p:spPr>
      </p:pic>
      <p:sp>
        <p:nvSpPr>
          <p:cNvPr id="6" name="Text 3"/>
          <p:cNvSpPr/>
          <p:nvPr/>
        </p:nvSpPr>
        <p:spPr>
          <a:xfrm>
            <a:off x="1131094" y="2290643"/>
            <a:ext cx="2917865" cy="336590"/>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Cross-Sectional Design</a:t>
            </a:r>
            <a:endParaRPr lang="en-US" sz="2100" dirty="0"/>
          </a:p>
        </p:txBody>
      </p:sp>
      <p:sp>
        <p:nvSpPr>
          <p:cNvPr id="7" name="Text 4"/>
          <p:cNvSpPr/>
          <p:nvPr/>
        </p:nvSpPr>
        <p:spPr>
          <a:xfrm>
            <a:off x="1131094" y="2756416"/>
            <a:ext cx="5830491"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Limitation:</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Cannot establish causality, only correlation between constructs.</a:t>
            </a:r>
            <a:endParaRPr lang="en-US" sz="1650" dirty="0"/>
          </a:p>
        </p:txBody>
      </p:sp>
      <p:sp>
        <p:nvSpPr>
          <p:cNvPr id="8" name="Text 5"/>
          <p:cNvSpPr/>
          <p:nvPr/>
        </p:nvSpPr>
        <p:spPr>
          <a:xfrm>
            <a:off x="1131094" y="3575209"/>
            <a:ext cx="5830491" cy="1034415"/>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Mitigation:</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Behavioral validation achieved (ρ = .69 with actual usage). Longitudinal research needed for causal inference.</a:t>
            </a:r>
            <a:endParaRPr lang="en-US" sz="1650" dirty="0"/>
          </a:p>
        </p:txBody>
      </p:sp>
      <p:sp>
        <p:nvSpPr>
          <p:cNvPr id="9" name="Shape 6"/>
          <p:cNvSpPr/>
          <p:nvPr/>
        </p:nvSpPr>
        <p:spPr>
          <a:xfrm>
            <a:off x="7422833" y="2044779"/>
            <a:ext cx="6413778" cy="2810708"/>
          </a:xfrm>
          <a:prstGeom prst="roundRect">
            <a:avLst>
              <a:gd name="adj" fmla="val 5205"/>
            </a:avLst>
          </a:prstGeom>
          <a:solidFill>
            <a:srgbClr val="FBFCFE"/>
          </a:solidFill>
          <a:ln w="30480">
            <a:solidFill>
              <a:srgbClr val="CFD2D8"/>
            </a:solidFill>
            <a:prstDash val="solid"/>
          </a:ln>
        </p:spPr>
      </p:sp>
      <p:pic>
        <p:nvPicPr>
          <p:cNvPr id="10" name="Image 1" descr="preencoded.png">    </p:cNvPr>
          <p:cNvPicPr>
            <a:picLocks noChangeAspect="1"/>
          </p:cNvPicPr>
          <p:nvPr/>
        </p:nvPicPr>
        <p:blipFill>
          <a:blip r:embed="rId2"/>
          <a:stretch>
            <a:fillRect/>
          </a:stretch>
        </p:blipFill>
        <p:spPr>
          <a:xfrm>
            <a:off x="7392353" y="2044779"/>
            <a:ext cx="121920" cy="2810708"/>
          </a:xfrm>
          <a:prstGeom prst="rect">
            <a:avLst/>
          </a:prstGeom>
        </p:spPr>
      </p:pic>
      <p:sp>
        <p:nvSpPr>
          <p:cNvPr id="11" name="Text 7"/>
          <p:cNvSpPr/>
          <p:nvPr/>
        </p:nvSpPr>
        <p:spPr>
          <a:xfrm>
            <a:off x="7760137" y="2290643"/>
            <a:ext cx="3028831" cy="336590"/>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Self-Reported Measures</a:t>
            </a:r>
            <a:endParaRPr lang="en-US" sz="2100" dirty="0"/>
          </a:p>
        </p:txBody>
      </p:sp>
      <p:sp>
        <p:nvSpPr>
          <p:cNvPr id="12" name="Text 8"/>
          <p:cNvSpPr/>
          <p:nvPr/>
        </p:nvSpPr>
        <p:spPr>
          <a:xfrm>
            <a:off x="7760137" y="2756416"/>
            <a:ext cx="5830610"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Limitation:</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Relies on self-reported behavioral intention rather than observed behavior.</a:t>
            </a:r>
            <a:endParaRPr lang="en-US" sz="1650" dirty="0"/>
          </a:p>
        </p:txBody>
      </p:sp>
      <p:sp>
        <p:nvSpPr>
          <p:cNvPr id="13" name="Text 9"/>
          <p:cNvSpPr/>
          <p:nvPr/>
        </p:nvSpPr>
        <p:spPr>
          <a:xfrm>
            <a:off x="7760137" y="3575209"/>
            <a:ext cx="5830610"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Mitigation:</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Standard in adoption research. Strong correlation with actual usage validates predictive validity.</a:t>
            </a:r>
            <a:endParaRPr lang="en-US" sz="1650" dirty="0"/>
          </a:p>
        </p:txBody>
      </p:sp>
      <p:sp>
        <p:nvSpPr>
          <p:cNvPr id="14" name="Shape 10"/>
          <p:cNvSpPr/>
          <p:nvPr/>
        </p:nvSpPr>
        <p:spPr>
          <a:xfrm>
            <a:off x="793790" y="5070872"/>
            <a:ext cx="6413659" cy="2465903"/>
          </a:xfrm>
          <a:prstGeom prst="roundRect">
            <a:avLst>
              <a:gd name="adj" fmla="val 5933"/>
            </a:avLst>
          </a:prstGeom>
          <a:solidFill>
            <a:srgbClr val="FBFCFE"/>
          </a:solidFill>
          <a:ln w="30480">
            <a:solidFill>
              <a:srgbClr val="CFD2D8"/>
            </a:solidFill>
            <a:prstDash val="solid"/>
          </a:ln>
        </p:spPr>
      </p:sp>
      <p:pic>
        <p:nvPicPr>
          <p:cNvPr id="15" name="Image 2" descr="preencoded.png">    </p:cNvPr>
          <p:cNvPicPr>
            <a:picLocks noChangeAspect="1"/>
          </p:cNvPicPr>
          <p:nvPr/>
        </p:nvPicPr>
        <p:blipFill>
          <a:blip r:embed="rId3"/>
          <a:stretch>
            <a:fillRect/>
          </a:stretch>
        </p:blipFill>
        <p:spPr>
          <a:xfrm>
            <a:off x="763310" y="5070872"/>
            <a:ext cx="121920" cy="2465903"/>
          </a:xfrm>
          <a:prstGeom prst="rect">
            <a:avLst/>
          </a:prstGeom>
        </p:spPr>
      </p:pic>
      <p:sp>
        <p:nvSpPr>
          <p:cNvPr id="16" name="Text 11"/>
          <p:cNvSpPr/>
          <p:nvPr/>
        </p:nvSpPr>
        <p:spPr>
          <a:xfrm>
            <a:off x="1131094" y="5316736"/>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Convenience Sample</a:t>
            </a:r>
            <a:endParaRPr lang="en-US" sz="2100" dirty="0"/>
          </a:p>
        </p:txBody>
      </p:sp>
      <p:sp>
        <p:nvSpPr>
          <p:cNvPr id="17" name="Text 12"/>
          <p:cNvSpPr/>
          <p:nvPr/>
        </p:nvSpPr>
        <p:spPr>
          <a:xfrm>
            <a:off x="1131094" y="5782508"/>
            <a:ext cx="5830491"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Limitation:</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Centiment panel sampling, not random population sampling.</a:t>
            </a:r>
            <a:endParaRPr lang="en-US" sz="1650" dirty="0"/>
          </a:p>
        </p:txBody>
      </p:sp>
      <p:sp>
        <p:nvSpPr>
          <p:cNvPr id="18" name="Text 13"/>
          <p:cNvSpPr/>
          <p:nvPr/>
        </p:nvSpPr>
        <p:spPr>
          <a:xfrm>
            <a:off x="1131094" y="6601301"/>
            <a:ext cx="5830491"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Mitigation:</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Diverse demographics achieved. Rigorous quality controls and attention checks applied.</a:t>
            </a:r>
            <a:endParaRPr lang="en-US" sz="1650" dirty="0"/>
          </a:p>
        </p:txBody>
      </p:sp>
      <p:sp>
        <p:nvSpPr>
          <p:cNvPr id="19" name="Shape 14"/>
          <p:cNvSpPr/>
          <p:nvPr/>
        </p:nvSpPr>
        <p:spPr>
          <a:xfrm>
            <a:off x="7422833" y="5070872"/>
            <a:ext cx="6413778" cy="2465903"/>
          </a:xfrm>
          <a:prstGeom prst="roundRect">
            <a:avLst>
              <a:gd name="adj" fmla="val 5933"/>
            </a:avLst>
          </a:prstGeom>
          <a:solidFill>
            <a:srgbClr val="FBFCFE"/>
          </a:solidFill>
          <a:ln w="30480">
            <a:solidFill>
              <a:srgbClr val="CFD2D8"/>
            </a:solidFill>
            <a:prstDash val="solid"/>
          </a:ln>
        </p:spPr>
      </p:sp>
      <p:pic>
        <p:nvPicPr>
          <p:cNvPr id="20" name="Image 3" descr="preencoded.png">    </p:cNvPr>
          <p:cNvPicPr>
            <a:picLocks noChangeAspect="1"/>
          </p:cNvPicPr>
          <p:nvPr/>
        </p:nvPicPr>
        <p:blipFill>
          <a:blip r:embed="rId4"/>
          <a:stretch>
            <a:fillRect/>
          </a:stretch>
        </p:blipFill>
        <p:spPr>
          <a:xfrm>
            <a:off x="7392353" y="5070872"/>
            <a:ext cx="121920" cy="2465903"/>
          </a:xfrm>
          <a:prstGeom prst="rect">
            <a:avLst/>
          </a:prstGeom>
        </p:spPr>
      </p:pic>
      <p:sp>
        <p:nvSpPr>
          <p:cNvPr id="21" name="Text 15"/>
          <p:cNvSpPr/>
          <p:nvPr/>
        </p:nvSpPr>
        <p:spPr>
          <a:xfrm>
            <a:off x="7760137" y="5316736"/>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Geographic Scope</a:t>
            </a:r>
            <a:endParaRPr lang="en-US" sz="2100" dirty="0"/>
          </a:p>
        </p:txBody>
      </p:sp>
      <p:sp>
        <p:nvSpPr>
          <p:cNvPr id="22" name="Text 16"/>
          <p:cNvSpPr/>
          <p:nvPr/>
        </p:nvSpPr>
        <p:spPr>
          <a:xfrm>
            <a:off x="7760137" y="5782508"/>
            <a:ext cx="5830610"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Limitation:</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US-based sample only. Cultural factors may influence adoption drivers.</a:t>
            </a:r>
            <a:endParaRPr lang="en-US" sz="1650" dirty="0"/>
          </a:p>
        </p:txBody>
      </p:sp>
      <p:sp>
        <p:nvSpPr>
          <p:cNvPr id="23" name="Text 17"/>
          <p:cNvSpPr/>
          <p:nvPr/>
        </p:nvSpPr>
        <p:spPr>
          <a:xfrm>
            <a:off x="7760137" y="6601301"/>
            <a:ext cx="5830610" cy="689610"/>
          </a:xfrm>
          <a:prstGeom prst="rect">
            <a:avLst/>
          </a:prstGeom>
          <a:noFill/>
          <a:ln/>
        </p:spPr>
        <p:txBody>
          <a:bodyPr wrap="squar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Mitigation:</a:t>
            </a:r>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 Cross-cultural replication recommended to test measurement invariance globally.</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729496"/>
            <a:ext cx="6857048" cy="538758"/>
          </a:xfrm>
          <a:prstGeom prst="rect">
            <a:avLst/>
          </a:prstGeom>
          <a:noFill/>
          <a:ln/>
        </p:spPr>
        <p:txBody>
          <a:bodyPr wrap="none" lIns="0" tIns="0" rIns="0" bIns="0" rtlCol="0" anchor="t"/>
          <a:lstStyle/>
          <a:p>
            <a:pPr algn="l" indent="0" marL="0">
              <a:lnSpc>
                <a:spcPts val="4200"/>
              </a:lnSpc>
              <a:buNone/>
            </a:pPr>
            <a:r>
              <a:rPr lang="en-US" sz="3350" dirty="0">
                <a:solidFill>
                  <a:srgbClr val="3257B8"/>
                </a:solidFill>
                <a:latin typeface="Roboto Slab" pitchFamily="34" charset="0"/>
                <a:ea typeface="Roboto Slab" pitchFamily="34" charset="-122"/>
                <a:cs typeface="Roboto Slab" pitchFamily="34" charset="-120"/>
              </a:rPr>
              <a:t>Constructs That Failed Validation</a:t>
            </a:r>
            <a:endParaRPr lang="en-US" sz="3350" dirty="0"/>
          </a:p>
        </p:txBody>
      </p:sp>
      <p:sp>
        <p:nvSpPr>
          <p:cNvPr id="3" name="Text 1"/>
          <p:cNvSpPr/>
          <p:nvPr/>
        </p:nvSpPr>
        <p:spPr>
          <a:xfrm>
            <a:off x="793790" y="1354336"/>
            <a:ext cx="5647492" cy="403979"/>
          </a:xfrm>
          <a:prstGeom prst="rect">
            <a:avLst/>
          </a:prstGeom>
          <a:noFill/>
          <a:ln/>
        </p:spPr>
        <p:txBody>
          <a:bodyPr wrap="none" lIns="0" tIns="0" rIns="0" bIns="0" rtlCol="0" anchor="t"/>
          <a:lstStyle/>
          <a:p>
            <a:pPr algn="l" indent="0" marL="0">
              <a:lnSpc>
                <a:spcPts val="3150"/>
              </a:lnSpc>
              <a:buNone/>
            </a:pPr>
            <a:r>
              <a:rPr lang="en-US" sz="2500" dirty="0">
                <a:solidFill>
                  <a:srgbClr val="3257B8"/>
                </a:solidFill>
                <a:latin typeface="Roboto Slab" pitchFamily="34" charset="0"/>
                <a:ea typeface="Roboto Slab" pitchFamily="34" charset="-122"/>
                <a:cs typeface="Roboto Slab" pitchFamily="34" charset="-120"/>
              </a:rPr>
              <a:t>AI-Specific Measurement Challenges</a:t>
            </a:r>
            <a:endParaRPr lang="en-US" sz="2500" dirty="0"/>
          </a:p>
        </p:txBody>
      </p:sp>
      <p:sp>
        <p:nvSpPr>
          <p:cNvPr id="4" name="Shape 2"/>
          <p:cNvSpPr/>
          <p:nvPr/>
        </p:nvSpPr>
        <p:spPr>
          <a:xfrm>
            <a:off x="793790" y="2081451"/>
            <a:ext cx="13042821" cy="4486513"/>
          </a:xfrm>
          <a:prstGeom prst="roundRect">
            <a:avLst>
              <a:gd name="adj" fmla="val 720"/>
            </a:avLst>
          </a:prstGeom>
          <a:noFill/>
          <a:ln w="7620">
            <a:solidFill>
              <a:srgbClr val="000000">
                <a:alpha val="8000"/>
              </a:srgbClr>
            </a:solidFill>
            <a:prstDash val="solid"/>
          </a:ln>
        </p:spPr>
      </p:sp>
      <p:sp>
        <p:nvSpPr>
          <p:cNvPr id="5" name="Shape 3"/>
          <p:cNvSpPr/>
          <p:nvPr/>
        </p:nvSpPr>
        <p:spPr>
          <a:xfrm>
            <a:off x="801410" y="2089071"/>
            <a:ext cx="13027581" cy="618411"/>
          </a:xfrm>
          <a:prstGeom prst="rect">
            <a:avLst/>
          </a:prstGeom>
          <a:solidFill>
            <a:srgbClr val="FFFFFF">
              <a:alpha val="4000"/>
            </a:srgbClr>
          </a:solidFill>
          <a:ln/>
        </p:spPr>
      </p:sp>
      <p:sp>
        <p:nvSpPr>
          <p:cNvPr id="6" name="Text 4"/>
          <p:cNvSpPr/>
          <p:nvPr/>
        </p:nvSpPr>
        <p:spPr>
          <a:xfrm>
            <a:off x="1017032" y="2225873"/>
            <a:ext cx="2822258"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Construct</a:t>
            </a:r>
            <a:endParaRPr lang="en-US" sz="1650" dirty="0"/>
          </a:p>
        </p:txBody>
      </p:sp>
      <p:sp>
        <p:nvSpPr>
          <p:cNvPr id="7" name="Text 5"/>
          <p:cNvSpPr/>
          <p:nvPr/>
        </p:nvSpPr>
        <p:spPr>
          <a:xfrm>
            <a:off x="4277678" y="2225873"/>
            <a:ext cx="1515666"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α</a:t>
            </a:r>
            <a:endParaRPr lang="en-US" sz="1650" dirty="0"/>
          </a:p>
        </p:txBody>
      </p:sp>
      <p:sp>
        <p:nvSpPr>
          <p:cNvPr id="8" name="Text 6"/>
          <p:cNvSpPr/>
          <p:nvPr/>
        </p:nvSpPr>
        <p:spPr>
          <a:xfrm>
            <a:off x="6231731" y="2225873"/>
            <a:ext cx="7381875" cy="344805"/>
          </a:xfrm>
          <a:prstGeom prst="rect">
            <a:avLst/>
          </a:prstGeom>
          <a:noFill/>
          <a:ln/>
        </p:spPr>
        <p:txBody>
          <a:bodyPr wrap="none" lIns="0" tIns="0" rIns="0" bIns="0" rtlCol="0" anchor="t"/>
          <a:lstStyle/>
          <a:p>
            <a:pPr algn="l" indent="0" marL="0">
              <a:lnSpc>
                <a:spcPts val="2700"/>
              </a:lnSpc>
              <a:buNone/>
            </a:pPr>
            <a:r>
              <a:rPr lang="en-US" sz="1650" b="1" dirty="0">
                <a:solidFill>
                  <a:srgbClr val="15213F"/>
                </a:solidFill>
                <a:latin typeface="Roboto" pitchFamily="34" charset="0"/>
                <a:ea typeface="Roboto" pitchFamily="34" charset="-122"/>
                <a:cs typeface="Roboto" pitchFamily="34" charset="-120"/>
              </a:rPr>
              <a:t>Issue &amp; Future Direction</a:t>
            </a:r>
            <a:endParaRPr lang="en-US" sz="1650" dirty="0"/>
          </a:p>
        </p:txBody>
      </p:sp>
      <p:sp>
        <p:nvSpPr>
          <p:cNvPr id="9" name="Shape 7"/>
          <p:cNvSpPr/>
          <p:nvPr/>
        </p:nvSpPr>
        <p:spPr>
          <a:xfrm>
            <a:off x="801410" y="2707481"/>
            <a:ext cx="13027581" cy="963216"/>
          </a:xfrm>
          <a:prstGeom prst="rect">
            <a:avLst/>
          </a:prstGeom>
          <a:solidFill>
            <a:srgbClr val="000000">
              <a:alpha val="4000"/>
            </a:srgbClr>
          </a:solidFill>
          <a:ln/>
        </p:spPr>
      </p:sp>
      <p:sp>
        <p:nvSpPr>
          <p:cNvPr id="10" name="Text 8"/>
          <p:cNvSpPr/>
          <p:nvPr/>
        </p:nvSpPr>
        <p:spPr>
          <a:xfrm>
            <a:off x="1017032" y="2844284"/>
            <a:ext cx="2822258"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Voluntariness</a:t>
            </a:r>
            <a:endParaRPr lang="en-US" sz="1650" dirty="0"/>
          </a:p>
        </p:txBody>
      </p:sp>
      <p:sp>
        <p:nvSpPr>
          <p:cNvPr id="11" name="Text 9"/>
          <p:cNvSpPr/>
          <p:nvPr/>
        </p:nvSpPr>
        <p:spPr>
          <a:xfrm>
            <a:off x="4277678" y="2844284"/>
            <a:ext cx="1515666"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.301</a:t>
            </a:r>
            <a:endParaRPr lang="en-US" sz="1650" dirty="0"/>
          </a:p>
        </p:txBody>
      </p:sp>
      <p:sp>
        <p:nvSpPr>
          <p:cNvPr id="12" name="Text 10"/>
          <p:cNvSpPr/>
          <p:nvPr/>
        </p:nvSpPr>
        <p:spPr>
          <a:xfrm>
            <a:off x="6231731" y="2844284"/>
            <a:ext cx="7381875" cy="689610"/>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Items conceptually conflicted (mandatory vs. choice). Reframe as "perceived pressure" construct.</a:t>
            </a:r>
            <a:endParaRPr lang="en-US" sz="1650" dirty="0"/>
          </a:p>
        </p:txBody>
      </p:sp>
      <p:sp>
        <p:nvSpPr>
          <p:cNvPr id="13" name="Shape 11"/>
          <p:cNvSpPr/>
          <p:nvPr/>
        </p:nvSpPr>
        <p:spPr>
          <a:xfrm>
            <a:off x="801410" y="3670697"/>
            <a:ext cx="13027581" cy="963216"/>
          </a:xfrm>
          <a:prstGeom prst="rect">
            <a:avLst/>
          </a:prstGeom>
          <a:solidFill>
            <a:srgbClr val="FFFFFF">
              <a:alpha val="4000"/>
            </a:srgbClr>
          </a:solidFill>
          <a:ln/>
        </p:spPr>
      </p:sp>
      <p:sp>
        <p:nvSpPr>
          <p:cNvPr id="14" name="Text 12"/>
          <p:cNvSpPr/>
          <p:nvPr/>
        </p:nvSpPr>
        <p:spPr>
          <a:xfrm>
            <a:off x="1017032" y="3807500"/>
            <a:ext cx="2822258"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Explainability</a:t>
            </a:r>
            <a:endParaRPr lang="en-US" sz="1650" dirty="0"/>
          </a:p>
        </p:txBody>
      </p:sp>
      <p:sp>
        <p:nvSpPr>
          <p:cNvPr id="15" name="Text 13"/>
          <p:cNvSpPr/>
          <p:nvPr/>
        </p:nvSpPr>
        <p:spPr>
          <a:xfrm>
            <a:off x="4277678" y="3807500"/>
            <a:ext cx="1515666"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.503</a:t>
            </a:r>
            <a:endParaRPr lang="en-US" sz="1650" dirty="0"/>
          </a:p>
        </p:txBody>
      </p:sp>
      <p:sp>
        <p:nvSpPr>
          <p:cNvPr id="16" name="Text 14"/>
          <p:cNvSpPr/>
          <p:nvPr/>
        </p:nvSpPr>
        <p:spPr>
          <a:xfrm>
            <a:off x="6231731" y="3807500"/>
            <a:ext cx="7381875" cy="689610"/>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AI explanation is multi-dimensional. Decompose into transparency, interpretability, and auditability.</a:t>
            </a:r>
            <a:endParaRPr lang="en-US" sz="1650" dirty="0"/>
          </a:p>
        </p:txBody>
      </p:sp>
      <p:sp>
        <p:nvSpPr>
          <p:cNvPr id="17" name="Shape 15"/>
          <p:cNvSpPr/>
          <p:nvPr/>
        </p:nvSpPr>
        <p:spPr>
          <a:xfrm>
            <a:off x="801410" y="4633913"/>
            <a:ext cx="13027581" cy="963216"/>
          </a:xfrm>
          <a:prstGeom prst="rect">
            <a:avLst/>
          </a:prstGeom>
          <a:solidFill>
            <a:srgbClr val="000000">
              <a:alpha val="4000"/>
            </a:srgbClr>
          </a:solidFill>
          <a:ln/>
        </p:spPr>
      </p:sp>
      <p:sp>
        <p:nvSpPr>
          <p:cNvPr id="18" name="Text 16"/>
          <p:cNvSpPr/>
          <p:nvPr/>
        </p:nvSpPr>
        <p:spPr>
          <a:xfrm>
            <a:off x="1017032" y="4770715"/>
            <a:ext cx="2822258"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Ethical Risk</a:t>
            </a:r>
            <a:endParaRPr lang="en-US" sz="1650" dirty="0"/>
          </a:p>
        </p:txBody>
      </p:sp>
      <p:sp>
        <p:nvSpPr>
          <p:cNvPr id="19" name="Text 17"/>
          <p:cNvSpPr/>
          <p:nvPr/>
        </p:nvSpPr>
        <p:spPr>
          <a:xfrm>
            <a:off x="4277678" y="4770715"/>
            <a:ext cx="1515666"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.582</a:t>
            </a:r>
            <a:endParaRPr lang="en-US" sz="1650" dirty="0"/>
          </a:p>
        </p:txBody>
      </p:sp>
      <p:sp>
        <p:nvSpPr>
          <p:cNvPr id="20" name="Text 18"/>
          <p:cNvSpPr/>
          <p:nvPr/>
        </p:nvSpPr>
        <p:spPr>
          <a:xfrm>
            <a:off x="6231731" y="4770715"/>
            <a:ext cx="7381875" cy="689610"/>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Near threshold. Items conflated personal vs. societal ethics. Separate individual concerns from societal impact.</a:t>
            </a:r>
            <a:endParaRPr lang="en-US" sz="1650" dirty="0"/>
          </a:p>
        </p:txBody>
      </p:sp>
      <p:sp>
        <p:nvSpPr>
          <p:cNvPr id="21" name="Shape 19"/>
          <p:cNvSpPr/>
          <p:nvPr/>
        </p:nvSpPr>
        <p:spPr>
          <a:xfrm>
            <a:off x="801410" y="5597128"/>
            <a:ext cx="13027581" cy="963216"/>
          </a:xfrm>
          <a:prstGeom prst="rect">
            <a:avLst/>
          </a:prstGeom>
          <a:solidFill>
            <a:srgbClr val="FFFFFF">
              <a:alpha val="4000"/>
            </a:srgbClr>
          </a:solidFill>
          <a:ln/>
        </p:spPr>
      </p:sp>
      <p:sp>
        <p:nvSpPr>
          <p:cNvPr id="22" name="Text 20"/>
          <p:cNvSpPr/>
          <p:nvPr/>
        </p:nvSpPr>
        <p:spPr>
          <a:xfrm>
            <a:off x="1017032" y="5733931"/>
            <a:ext cx="2822258"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AI Anxiety</a:t>
            </a:r>
            <a:endParaRPr lang="en-US" sz="1650" dirty="0"/>
          </a:p>
        </p:txBody>
      </p:sp>
      <p:sp>
        <p:nvSpPr>
          <p:cNvPr id="23" name="Text 21"/>
          <p:cNvSpPr/>
          <p:nvPr/>
        </p:nvSpPr>
        <p:spPr>
          <a:xfrm>
            <a:off x="4277678" y="5733931"/>
            <a:ext cx="1515666"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.423</a:t>
            </a:r>
            <a:endParaRPr lang="en-US" sz="1650" dirty="0"/>
          </a:p>
        </p:txBody>
      </p:sp>
      <p:sp>
        <p:nvSpPr>
          <p:cNvPr id="24" name="Text 22"/>
          <p:cNvSpPr/>
          <p:nvPr/>
        </p:nvSpPr>
        <p:spPr>
          <a:xfrm>
            <a:off x="6231731" y="5733931"/>
            <a:ext cx="7381875" cy="689610"/>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Poor discriminant validity with general tech anxiety. Distinguish AI-specific anxiety from general technology discomfort.</a:t>
            </a:r>
            <a:endParaRPr lang="en-US" sz="1650" dirty="0"/>
          </a:p>
        </p:txBody>
      </p:sp>
      <p:sp>
        <p:nvSpPr>
          <p:cNvPr id="25" name="Text 23"/>
          <p:cNvSpPr/>
          <p:nvPr/>
        </p:nvSpPr>
        <p:spPr>
          <a:xfrm>
            <a:off x="793790" y="6810375"/>
            <a:ext cx="13042821" cy="689610"/>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These represent measurement challenges, not theoretical failures. The constructs are theoretically important but require redesigned items and retesting in future research.</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717352"/>
            <a:ext cx="4341495"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Future Research Directions</a:t>
            </a:r>
            <a:endParaRPr lang="en-US" sz="2650" dirty="0"/>
          </a:p>
        </p:txBody>
      </p:sp>
      <p:pic>
        <p:nvPicPr>
          <p:cNvPr id="3" name="Image 0" descr="preencoded.png">    </p:cNvPr>
          <p:cNvPicPr>
            <a:picLocks noChangeAspect="1"/>
          </p:cNvPicPr>
          <p:nvPr/>
        </p:nvPicPr>
        <p:blipFill>
          <a:blip r:embed="rId1"/>
          <a:stretch>
            <a:fillRect/>
          </a:stretch>
        </p:blipFill>
        <p:spPr>
          <a:xfrm>
            <a:off x="793790" y="1482804"/>
            <a:ext cx="850583" cy="1252180"/>
          </a:xfrm>
          <a:prstGeom prst="rect">
            <a:avLst/>
          </a:prstGeom>
        </p:spPr>
      </p:pic>
      <p:sp>
        <p:nvSpPr>
          <p:cNvPr id="4" name="Text 1"/>
          <p:cNvSpPr/>
          <p:nvPr/>
        </p:nvSpPr>
        <p:spPr>
          <a:xfrm>
            <a:off x="1814393" y="1652826"/>
            <a:ext cx="2394704"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Longitudinal Validation</a:t>
            </a:r>
            <a:endParaRPr lang="en-US" sz="1650" dirty="0"/>
          </a:p>
        </p:txBody>
      </p:sp>
      <p:sp>
        <p:nvSpPr>
          <p:cNvPr id="5" name="Text 2"/>
          <p:cNvSpPr/>
          <p:nvPr/>
        </p:nvSpPr>
        <p:spPr>
          <a:xfrm>
            <a:off x="1814393" y="2020610"/>
            <a:ext cx="12022217"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Track actual adoption behavior over time to test intention-behavior relationship and model stability. Does high behavioral intention at Time 1 predict adoption at Time 2?</a:t>
            </a:r>
            <a:endParaRPr lang="en-US" sz="1300" dirty="0"/>
          </a:p>
        </p:txBody>
      </p:sp>
      <p:pic>
        <p:nvPicPr>
          <p:cNvPr id="6" name="Image 1" descr="preencoded.png">    </p:cNvPr>
          <p:cNvPicPr>
            <a:picLocks noChangeAspect="1"/>
          </p:cNvPicPr>
          <p:nvPr/>
        </p:nvPicPr>
        <p:blipFill>
          <a:blip r:embed="rId2"/>
          <a:stretch>
            <a:fillRect/>
          </a:stretch>
        </p:blipFill>
        <p:spPr>
          <a:xfrm>
            <a:off x="793790" y="2734985"/>
            <a:ext cx="850583" cy="1252180"/>
          </a:xfrm>
          <a:prstGeom prst="rect">
            <a:avLst/>
          </a:prstGeom>
        </p:spPr>
      </p:pic>
      <p:sp>
        <p:nvSpPr>
          <p:cNvPr id="7" name="Text 3"/>
          <p:cNvSpPr/>
          <p:nvPr/>
        </p:nvSpPr>
        <p:spPr>
          <a:xfrm>
            <a:off x="1814393" y="2905006"/>
            <a:ext cx="3505795"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AI-Specific Construct Development</a:t>
            </a:r>
            <a:endParaRPr lang="en-US" sz="1650" dirty="0"/>
          </a:p>
        </p:txBody>
      </p:sp>
      <p:sp>
        <p:nvSpPr>
          <p:cNvPr id="8" name="Text 4"/>
          <p:cNvSpPr/>
          <p:nvPr/>
        </p:nvSpPr>
        <p:spPr>
          <a:xfrm>
            <a:off x="1814393" y="3272790"/>
            <a:ext cx="12022217"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Redesign failed constructs (Explainability, Ethical Risk, Voluntariness, AI Anxiety) with improved measurement. Address Venkatesh's (2021) remaining five AI adoption challenges.</a:t>
            </a:r>
            <a:endParaRPr lang="en-US" sz="1300" dirty="0"/>
          </a:p>
        </p:txBody>
      </p:sp>
      <p:pic>
        <p:nvPicPr>
          <p:cNvPr id="9" name="Image 2" descr="preencoded.png">    </p:cNvPr>
          <p:cNvPicPr>
            <a:picLocks noChangeAspect="1"/>
          </p:cNvPicPr>
          <p:nvPr/>
        </p:nvPicPr>
        <p:blipFill>
          <a:blip r:embed="rId3"/>
          <a:stretch>
            <a:fillRect/>
          </a:stretch>
        </p:blipFill>
        <p:spPr>
          <a:xfrm>
            <a:off x="793790" y="3987165"/>
            <a:ext cx="850583" cy="1252180"/>
          </a:xfrm>
          <a:prstGeom prst="rect">
            <a:avLst/>
          </a:prstGeom>
        </p:spPr>
      </p:pic>
      <p:sp>
        <p:nvSpPr>
          <p:cNvPr id="10" name="Text 5"/>
          <p:cNvSpPr/>
          <p:nvPr/>
        </p:nvSpPr>
        <p:spPr>
          <a:xfrm>
            <a:off x="1814393" y="4157186"/>
            <a:ext cx="3449955"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Intervention Effectiveness Testing</a:t>
            </a:r>
            <a:endParaRPr lang="en-US" sz="1650" dirty="0"/>
          </a:p>
        </p:txBody>
      </p:sp>
      <p:sp>
        <p:nvSpPr>
          <p:cNvPr id="11" name="Text 6"/>
          <p:cNvSpPr/>
          <p:nvPr/>
        </p:nvSpPr>
        <p:spPr>
          <a:xfrm>
            <a:off x="1814393" y="4524970"/>
            <a:ext cx="12022217"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Experimental validation of segment-specific strategies. Randomized controlled trials comparing targeted interventions versus generic training programs. Measure ROI of diagnostic assessment.</a:t>
            </a:r>
            <a:endParaRPr lang="en-US" sz="1300" dirty="0"/>
          </a:p>
        </p:txBody>
      </p:sp>
      <p:pic>
        <p:nvPicPr>
          <p:cNvPr id="12" name="Image 3" descr="preencoded.png">    </p:cNvPr>
          <p:cNvPicPr>
            <a:picLocks noChangeAspect="1"/>
          </p:cNvPicPr>
          <p:nvPr/>
        </p:nvPicPr>
        <p:blipFill>
          <a:blip r:embed="rId4"/>
          <a:stretch>
            <a:fillRect/>
          </a:stretch>
        </p:blipFill>
        <p:spPr>
          <a:xfrm>
            <a:off x="793790" y="5239345"/>
            <a:ext cx="850583" cy="1252180"/>
          </a:xfrm>
          <a:prstGeom prst="rect">
            <a:avLst/>
          </a:prstGeom>
        </p:spPr>
      </p:pic>
      <p:sp>
        <p:nvSpPr>
          <p:cNvPr id="13" name="Text 7"/>
          <p:cNvSpPr/>
          <p:nvPr/>
        </p:nvSpPr>
        <p:spPr>
          <a:xfrm>
            <a:off x="1814393" y="5409367"/>
            <a:ext cx="2636282"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Cross-Cultural Replication</a:t>
            </a:r>
            <a:endParaRPr lang="en-US" sz="1650" dirty="0"/>
          </a:p>
        </p:txBody>
      </p:sp>
      <p:sp>
        <p:nvSpPr>
          <p:cNvPr id="14" name="Text 8"/>
          <p:cNvSpPr/>
          <p:nvPr/>
        </p:nvSpPr>
        <p:spPr>
          <a:xfrm>
            <a:off x="1814393" y="5777151"/>
            <a:ext cx="12022217" cy="544354"/>
          </a:xfrm>
          <a:prstGeom prst="rect">
            <a:avLst/>
          </a:prstGeom>
          <a:noFill/>
          <a:ln/>
        </p:spPr>
        <p:txBody>
          <a:bodyPr wrap="squar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Test measurement invariance across cultures. Examine whether cultural dimensions (individualism/collectivism) moderate adoption drivers. Does Price Value dominate globally?</a:t>
            </a:r>
            <a:endParaRPr lang="en-US" sz="1300" dirty="0"/>
          </a:p>
        </p:txBody>
      </p:sp>
      <p:pic>
        <p:nvPicPr>
          <p:cNvPr id="15" name="Image 4" descr="preencoded.png">    </p:cNvPr>
          <p:cNvPicPr>
            <a:picLocks noChangeAspect="1"/>
          </p:cNvPicPr>
          <p:nvPr/>
        </p:nvPicPr>
        <p:blipFill>
          <a:blip r:embed="rId5"/>
          <a:stretch>
            <a:fillRect/>
          </a:stretch>
        </p:blipFill>
        <p:spPr>
          <a:xfrm>
            <a:off x="793790" y="6491526"/>
            <a:ext cx="850583" cy="1020723"/>
          </a:xfrm>
          <a:prstGeom prst="rect">
            <a:avLst/>
          </a:prstGeom>
        </p:spPr>
      </p:pic>
      <p:sp>
        <p:nvSpPr>
          <p:cNvPr id="16" name="Text 9"/>
          <p:cNvSpPr/>
          <p:nvPr/>
        </p:nvSpPr>
        <p:spPr>
          <a:xfrm>
            <a:off x="1814393" y="6661547"/>
            <a:ext cx="2838926" cy="265747"/>
          </a:xfrm>
          <a:prstGeom prst="rect">
            <a:avLst/>
          </a:prstGeom>
          <a:noFill/>
          <a:ln/>
        </p:spPr>
        <p:txBody>
          <a:bodyPr wrap="none" lIns="0" tIns="0" rIns="0" bIns="0" rtlCol="0" anchor="t"/>
          <a:lstStyle/>
          <a:p>
            <a:pPr algn="l" indent="0" marL="0">
              <a:lnSpc>
                <a:spcPts val="2050"/>
              </a:lnSpc>
              <a:buNone/>
            </a:pPr>
            <a:r>
              <a:rPr lang="en-US" sz="1650" dirty="0">
                <a:solidFill>
                  <a:srgbClr val="15213F"/>
                </a:solidFill>
                <a:latin typeface="Roboto Slab" pitchFamily="34" charset="0"/>
                <a:ea typeface="Roboto Slab" pitchFamily="34" charset="-122"/>
                <a:cs typeface="Roboto Slab" pitchFamily="34" charset="-120"/>
              </a:rPr>
              <a:t>Domain-Specific Adaptation</a:t>
            </a:r>
            <a:endParaRPr lang="en-US" sz="1650" dirty="0"/>
          </a:p>
        </p:txBody>
      </p:sp>
      <p:sp>
        <p:nvSpPr>
          <p:cNvPr id="17" name="Text 10"/>
          <p:cNvSpPr/>
          <p:nvPr/>
        </p:nvSpPr>
        <p:spPr>
          <a:xfrm>
            <a:off x="1814393" y="7029331"/>
            <a:ext cx="12022217" cy="272177"/>
          </a:xfrm>
          <a:prstGeom prst="rect">
            <a:avLst/>
          </a:prstGeom>
          <a:noFill/>
          <a:ln/>
        </p:spPr>
        <p:txBody>
          <a:bodyPr wrap="none" lIns="0" tIns="0" rIns="0" bIns="0" rtlCol="0" anchor="t"/>
          <a:lstStyle/>
          <a:p>
            <a:pPr algn="l" indent="0" marL="0">
              <a:lnSpc>
                <a:spcPts val="2100"/>
              </a:lnSpc>
              <a:buNone/>
            </a:pPr>
            <a:r>
              <a:rPr lang="en-US" sz="1300" dirty="0">
                <a:solidFill>
                  <a:srgbClr val="15213F"/>
                </a:solidFill>
                <a:latin typeface="Roboto" pitchFamily="34" charset="0"/>
                <a:ea typeface="Roboto" pitchFamily="34" charset="-122"/>
                <a:cs typeface="Roboto" pitchFamily="34" charset="-120"/>
              </a:rPr>
              <a:t>Adapt AIRS-16 for specific contexts: healthcare AI, financial services, educational technology. Compare regulated versus unregulated AI applications.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663654"/>
            <a:ext cx="568713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Summary of Contributions</a:t>
            </a:r>
            <a:endParaRPr lang="en-US" sz="3550" dirty="0"/>
          </a:p>
        </p:txBody>
      </p:sp>
      <p:sp>
        <p:nvSpPr>
          <p:cNvPr id="3" name="Text 1"/>
          <p:cNvSpPr/>
          <p:nvPr/>
        </p:nvSpPr>
        <p:spPr>
          <a:xfrm>
            <a:off x="793790" y="179760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Theoretical</a:t>
            </a:r>
            <a:endParaRPr lang="en-US" sz="2650" dirty="0"/>
          </a:p>
        </p:txBody>
      </p:sp>
      <p:sp>
        <p:nvSpPr>
          <p:cNvPr id="4" name="Text 2"/>
          <p:cNvSpPr/>
          <p:nvPr/>
        </p:nvSpPr>
        <p:spPr>
          <a:xfrm>
            <a:off x="793790" y="2449711"/>
            <a:ext cx="3933349"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Value-dominant model challenges three decades of technology acceptance research</a:t>
            </a:r>
            <a:endParaRPr lang="en-US" sz="1750" dirty="0"/>
          </a:p>
        </p:txBody>
      </p:sp>
      <p:sp>
        <p:nvSpPr>
          <p:cNvPr id="5" name="Text 3"/>
          <p:cNvSpPr/>
          <p:nvPr/>
        </p:nvSpPr>
        <p:spPr>
          <a:xfrm>
            <a:off x="793790" y="3617714"/>
            <a:ext cx="393334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AI Trust extends UTAUT2 with diagnostic utility</a:t>
            </a:r>
            <a:endParaRPr lang="en-US" sz="1750" dirty="0"/>
          </a:p>
        </p:txBody>
      </p:sp>
      <p:sp>
        <p:nvSpPr>
          <p:cNvPr id="6" name="Text 4"/>
          <p:cNvSpPr/>
          <p:nvPr/>
        </p:nvSpPr>
        <p:spPr>
          <a:xfrm>
            <a:off x="793790" y="4422815"/>
            <a:ext cx="393334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Evidence that traditional drivers fail for AI adoption</a:t>
            </a:r>
            <a:endParaRPr lang="en-US" sz="1750" dirty="0"/>
          </a:p>
        </p:txBody>
      </p:sp>
      <p:sp>
        <p:nvSpPr>
          <p:cNvPr id="7" name="Text 5"/>
          <p:cNvSpPr/>
          <p:nvPr/>
        </p:nvSpPr>
        <p:spPr>
          <a:xfrm>
            <a:off x="793790" y="5227915"/>
            <a:ext cx="393334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85.2% predictive accuracy</a:t>
            </a:r>
            <a:endParaRPr lang="en-US" sz="1750" dirty="0"/>
          </a:p>
        </p:txBody>
      </p:sp>
      <p:sp>
        <p:nvSpPr>
          <p:cNvPr id="8" name="Text 6"/>
          <p:cNvSpPr/>
          <p:nvPr/>
        </p:nvSpPr>
        <p:spPr>
          <a:xfrm>
            <a:off x="5288161" y="179760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Methodological</a:t>
            </a:r>
            <a:endParaRPr lang="en-US" sz="2650" dirty="0"/>
          </a:p>
        </p:txBody>
      </p:sp>
      <p:sp>
        <p:nvSpPr>
          <p:cNvPr id="9" name="Text 7"/>
          <p:cNvSpPr/>
          <p:nvPr/>
        </p:nvSpPr>
        <p:spPr>
          <a:xfrm>
            <a:off x="5288161" y="2449711"/>
            <a:ext cx="393334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AIRS-16: First validated AI adoption readiness instrument</a:t>
            </a:r>
            <a:endParaRPr lang="en-US" sz="1750" dirty="0"/>
          </a:p>
        </p:txBody>
      </p:sp>
      <p:sp>
        <p:nvSpPr>
          <p:cNvPr id="10" name="Text 8"/>
          <p:cNvSpPr/>
          <p:nvPr/>
        </p:nvSpPr>
        <p:spPr>
          <a:xfrm>
            <a:off x="5288161" y="3254812"/>
            <a:ext cx="393334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8-factor structure with excellent psychometrics (CFI = .975)</a:t>
            </a:r>
            <a:endParaRPr lang="en-US" sz="1750" dirty="0"/>
          </a:p>
        </p:txBody>
      </p:sp>
      <p:sp>
        <p:nvSpPr>
          <p:cNvPr id="11" name="Text 9"/>
          <p:cNvSpPr/>
          <p:nvPr/>
        </p:nvSpPr>
        <p:spPr>
          <a:xfrm>
            <a:off x="5288161" y="4059912"/>
            <a:ext cx="393334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Demonstrated measurement invariance across populations</a:t>
            </a:r>
            <a:endParaRPr lang="en-US" sz="1750" dirty="0"/>
          </a:p>
        </p:txBody>
      </p:sp>
      <p:sp>
        <p:nvSpPr>
          <p:cNvPr id="12" name="Text 10"/>
          <p:cNvSpPr/>
          <p:nvPr/>
        </p:nvSpPr>
        <p:spPr>
          <a:xfrm>
            <a:off x="9782532" y="179760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Practical</a:t>
            </a:r>
            <a:endParaRPr lang="en-US" sz="2650" dirty="0"/>
          </a:p>
        </p:txBody>
      </p:sp>
      <p:sp>
        <p:nvSpPr>
          <p:cNvPr id="13" name="Text 11"/>
          <p:cNvSpPr/>
          <p:nvPr/>
        </p:nvSpPr>
        <p:spPr>
          <a:xfrm>
            <a:off x="9782532" y="2449711"/>
            <a:ext cx="406919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Four distinct user segments with targeted strategies</a:t>
            </a:r>
            <a:endParaRPr lang="en-US" sz="1750" dirty="0"/>
          </a:p>
        </p:txBody>
      </p:sp>
      <p:sp>
        <p:nvSpPr>
          <p:cNvPr id="14" name="Text 12"/>
          <p:cNvSpPr/>
          <p:nvPr/>
        </p:nvSpPr>
        <p:spPr>
          <a:xfrm>
            <a:off x="9782532" y="3254812"/>
            <a:ext cx="406919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3-minute diagnostic tool for organizational assessment</a:t>
            </a:r>
            <a:endParaRPr lang="en-US" sz="1750" dirty="0"/>
          </a:p>
        </p:txBody>
      </p:sp>
      <p:sp>
        <p:nvSpPr>
          <p:cNvPr id="15" name="Text 13"/>
          <p:cNvSpPr/>
          <p:nvPr/>
        </p:nvSpPr>
        <p:spPr>
          <a:xfrm>
            <a:off x="9782532" y="4059912"/>
            <a:ext cx="406919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15213F"/>
                </a:solidFill>
                <a:latin typeface="Roboto" pitchFamily="34" charset="0"/>
                <a:ea typeface="Roboto" pitchFamily="34" charset="-122"/>
                <a:cs typeface="Roboto" pitchFamily="34" charset="-120"/>
              </a:rPr>
              <a:t>Evidence-based recommendations for AI implementation</a:t>
            </a:r>
            <a:endParaRPr lang="en-US" sz="1750" dirty="0"/>
          </a:p>
        </p:txBody>
      </p:sp>
      <p:sp>
        <p:nvSpPr>
          <p:cNvPr id="16" name="Shape 14"/>
          <p:cNvSpPr/>
          <p:nvPr/>
        </p:nvSpPr>
        <p:spPr>
          <a:xfrm>
            <a:off x="793790" y="6038645"/>
            <a:ext cx="13042821" cy="35957"/>
          </a:xfrm>
          <a:prstGeom prst="rect">
            <a:avLst/>
          </a:prstGeom>
          <a:solidFill>
            <a:srgbClr val="15213F">
              <a:alpha val="50000"/>
            </a:srgbClr>
          </a:solidFill>
          <a:ln/>
        </p:spPr>
      </p:sp>
      <p:sp>
        <p:nvSpPr>
          <p:cNvPr id="17" name="Text 15"/>
          <p:cNvSpPr/>
          <p:nvPr/>
        </p:nvSpPr>
        <p:spPr>
          <a:xfrm>
            <a:off x="1133951" y="6584871"/>
            <a:ext cx="12702659" cy="725805"/>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The Bottom Line:</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Organizations don't have an AI technology problem—they have an AI adoption problem. This research provides the diagnostic tools to understand and address it.</a:t>
            </a:r>
            <a:endParaRPr lang="en-US" sz="1750" dirty="0"/>
          </a:p>
        </p:txBody>
      </p:sp>
      <p:sp>
        <p:nvSpPr>
          <p:cNvPr id="18" name="Shape 16"/>
          <p:cNvSpPr/>
          <p:nvPr/>
        </p:nvSpPr>
        <p:spPr>
          <a:xfrm>
            <a:off x="793790" y="6329720"/>
            <a:ext cx="30480" cy="1236107"/>
          </a:xfrm>
          <a:prstGeom prst="rect">
            <a:avLst/>
          </a:prstGeom>
          <a:solidFill>
            <a:srgbClr val="3257B8"/>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1379220"/>
            <a:ext cx="5864662"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Key Numbers to Remember</a:t>
            </a:r>
            <a:endParaRPr lang="en-US" sz="3550" dirty="0"/>
          </a:p>
        </p:txBody>
      </p:sp>
      <p:sp>
        <p:nvSpPr>
          <p:cNvPr id="3" name="Text 1"/>
          <p:cNvSpPr/>
          <p:nvPr/>
        </p:nvSpPr>
        <p:spPr>
          <a:xfrm>
            <a:off x="793790" y="2513171"/>
            <a:ext cx="3048000"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523</a:t>
            </a:r>
            <a:endParaRPr lang="en-US" sz="5850" dirty="0"/>
          </a:p>
        </p:txBody>
      </p:sp>
      <p:sp>
        <p:nvSpPr>
          <p:cNvPr id="4" name="Text 2"/>
          <p:cNvSpPr/>
          <p:nvPr/>
        </p:nvSpPr>
        <p:spPr>
          <a:xfrm>
            <a:off x="900113" y="3544967"/>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Participants</a:t>
            </a:r>
            <a:endParaRPr lang="en-US" sz="2200" dirty="0"/>
          </a:p>
        </p:txBody>
      </p:sp>
      <p:sp>
        <p:nvSpPr>
          <p:cNvPr id="5" name="Text 3"/>
          <p:cNvSpPr/>
          <p:nvPr/>
        </p:nvSpPr>
        <p:spPr>
          <a:xfrm>
            <a:off x="793790" y="4035385"/>
            <a:ext cx="3048000"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Diverse sample size</a:t>
            </a:r>
            <a:endParaRPr lang="en-US" sz="1750" dirty="0"/>
          </a:p>
        </p:txBody>
      </p:sp>
      <p:sp>
        <p:nvSpPr>
          <p:cNvPr id="6" name="Text 4"/>
          <p:cNvSpPr/>
          <p:nvPr/>
        </p:nvSpPr>
        <p:spPr>
          <a:xfrm>
            <a:off x="4125278" y="2513171"/>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.505</a:t>
            </a:r>
            <a:endParaRPr lang="en-US" sz="5850" dirty="0"/>
          </a:p>
        </p:txBody>
      </p:sp>
      <p:sp>
        <p:nvSpPr>
          <p:cNvPr id="7" name="Text 5"/>
          <p:cNvSpPr/>
          <p:nvPr/>
        </p:nvSpPr>
        <p:spPr>
          <a:xfrm>
            <a:off x="4231719" y="3544967"/>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Price Value β</a:t>
            </a:r>
            <a:endParaRPr lang="en-US" sz="2200" dirty="0"/>
          </a:p>
        </p:txBody>
      </p:sp>
      <p:sp>
        <p:nvSpPr>
          <p:cNvPr id="8" name="Text 6"/>
          <p:cNvSpPr/>
          <p:nvPr/>
        </p:nvSpPr>
        <p:spPr>
          <a:xfrm>
            <a:off x="4125278" y="4035385"/>
            <a:ext cx="3048119"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Dominant predictor</a:t>
            </a:r>
            <a:endParaRPr lang="en-US" sz="1750" dirty="0"/>
          </a:p>
        </p:txBody>
      </p:sp>
      <p:sp>
        <p:nvSpPr>
          <p:cNvPr id="9" name="Text 7"/>
          <p:cNvSpPr/>
          <p:nvPr/>
        </p:nvSpPr>
        <p:spPr>
          <a:xfrm>
            <a:off x="7456884" y="2513171"/>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85.2%</a:t>
            </a:r>
            <a:endParaRPr lang="en-US" sz="5850" dirty="0"/>
          </a:p>
        </p:txBody>
      </p:sp>
      <p:sp>
        <p:nvSpPr>
          <p:cNvPr id="10" name="Text 8"/>
          <p:cNvSpPr/>
          <p:nvPr/>
        </p:nvSpPr>
        <p:spPr>
          <a:xfrm>
            <a:off x="7563326" y="3544967"/>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Variance Explained</a:t>
            </a:r>
            <a:endParaRPr lang="en-US" sz="2200" dirty="0"/>
          </a:p>
        </p:txBody>
      </p:sp>
      <p:sp>
        <p:nvSpPr>
          <p:cNvPr id="11" name="Text 9"/>
          <p:cNvSpPr/>
          <p:nvPr/>
        </p:nvSpPr>
        <p:spPr>
          <a:xfrm>
            <a:off x="7456884" y="4035385"/>
            <a:ext cx="3048119"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Model R² accuracy</a:t>
            </a:r>
            <a:endParaRPr lang="en-US" sz="1750" dirty="0"/>
          </a:p>
        </p:txBody>
      </p:sp>
      <p:sp>
        <p:nvSpPr>
          <p:cNvPr id="12" name="Text 10"/>
          <p:cNvSpPr/>
          <p:nvPr/>
        </p:nvSpPr>
        <p:spPr>
          <a:xfrm>
            <a:off x="10788491" y="2513171"/>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.975</a:t>
            </a:r>
            <a:endParaRPr lang="en-US" sz="5850" dirty="0"/>
          </a:p>
        </p:txBody>
      </p:sp>
      <p:sp>
        <p:nvSpPr>
          <p:cNvPr id="13" name="Text 11"/>
          <p:cNvSpPr/>
          <p:nvPr/>
        </p:nvSpPr>
        <p:spPr>
          <a:xfrm>
            <a:off x="10894933" y="3544967"/>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CFI</a:t>
            </a:r>
            <a:endParaRPr lang="en-US" sz="2200" dirty="0"/>
          </a:p>
        </p:txBody>
      </p:sp>
      <p:sp>
        <p:nvSpPr>
          <p:cNvPr id="14" name="Text 12"/>
          <p:cNvSpPr/>
          <p:nvPr/>
        </p:nvSpPr>
        <p:spPr>
          <a:xfrm>
            <a:off x="10788491" y="4035385"/>
            <a:ext cx="3048119"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Excellent model fit</a:t>
            </a:r>
            <a:endParaRPr lang="en-US" sz="1750" dirty="0"/>
          </a:p>
        </p:txBody>
      </p:sp>
      <p:sp>
        <p:nvSpPr>
          <p:cNvPr id="15" name="Text 13"/>
          <p:cNvSpPr/>
          <p:nvPr/>
        </p:nvSpPr>
        <p:spPr>
          <a:xfrm>
            <a:off x="793790" y="4965263"/>
            <a:ext cx="3048000"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4</a:t>
            </a:r>
            <a:endParaRPr lang="en-US" sz="5850" dirty="0"/>
          </a:p>
        </p:txBody>
      </p:sp>
      <p:sp>
        <p:nvSpPr>
          <p:cNvPr id="16" name="Text 14"/>
          <p:cNvSpPr/>
          <p:nvPr/>
        </p:nvSpPr>
        <p:spPr>
          <a:xfrm>
            <a:off x="900113" y="5997059"/>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User Segments</a:t>
            </a:r>
            <a:endParaRPr lang="en-US" sz="2200" dirty="0"/>
          </a:p>
        </p:txBody>
      </p:sp>
      <p:sp>
        <p:nvSpPr>
          <p:cNvPr id="17" name="Text 15"/>
          <p:cNvSpPr/>
          <p:nvPr/>
        </p:nvSpPr>
        <p:spPr>
          <a:xfrm>
            <a:off x="793790" y="6487478"/>
            <a:ext cx="3048000"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Distinct typologies</a:t>
            </a:r>
            <a:endParaRPr lang="en-US" sz="1750" dirty="0"/>
          </a:p>
        </p:txBody>
      </p:sp>
      <p:sp>
        <p:nvSpPr>
          <p:cNvPr id="18" name="Text 16"/>
          <p:cNvSpPr/>
          <p:nvPr/>
        </p:nvSpPr>
        <p:spPr>
          <a:xfrm>
            <a:off x="4125278" y="4965263"/>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16</a:t>
            </a:r>
            <a:endParaRPr lang="en-US" sz="5850" dirty="0"/>
          </a:p>
        </p:txBody>
      </p:sp>
      <p:sp>
        <p:nvSpPr>
          <p:cNvPr id="19" name="Text 17"/>
          <p:cNvSpPr/>
          <p:nvPr/>
        </p:nvSpPr>
        <p:spPr>
          <a:xfrm>
            <a:off x="4231719" y="5997059"/>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Items</a:t>
            </a:r>
            <a:endParaRPr lang="en-US" sz="2200" dirty="0"/>
          </a:p>
        </p:txBody>
      </p:sp>
      <p:sp>
        <p:nvSpPr>
          <p:cNvPr id="20" name="Text 18"/>
          <p:cNvSpPr/>
          <p:nvPr/>
        </p:nvSpPr>
        <p:spPr>
          <a:xfrm>
            <a:off x="4125278" y="6487478"/>
            <a:ext cx="3048119"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Final instrument</a:t>
            </a:r>
            <a:endParaRPr lang="en-US" sz="1750" dirty="0"/>
          </a:p>
        </p:txBody>
      </p:sp>
      <p:sp>
        <p:nvSpPr>
          <p:cNvPr id="21" name="Text 19"/>
          <p:cNvSpPr/>
          <p:nvPr/>
        </p:nvSpPr>
        <p:spPr>
          <a:xfrm>
            <a:off x="7456884" y="4965263"/>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8</a:t>
            </a:r>
            <a:endParaRPr lang="en-US" sz="5850" dirty="0"/>
          </a:p>
        </p:txBody>
      </p:sp>
      <p:sp>
        <p:nvSpPr>
          <p:cNvPr id="22" name="Text 20"/>
          <p:cNvSpPr/>
          <p:nvPr/>
        </p:nvSpPr>
        <p:spPr>
          <a:xfrm>
            <a:off x="7563326" y="5997059"/>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Factors</a:t>
            </a:r>
            <a:endParaRPr lang="en-US" sz="2200" dirty="0"/>
          </a:p>
        </p:txBody>
      </p:sp>
      <p:sp>
        <p:nvSpPr>
          <p:cNvPr id="23" name="Text 21"/>
          <p:cNvSpPr/>
          <p:nvPr/>
        </p:nvSpPr>
        <p:spPr>
          <a:xfrm>
            <a:off x="7456884" y="6487478"/>
            <a:ext cx="3048119"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Validated constructs</a:t>
            </a:r>
            <a:endParaRPr lang="en-US" sz="1750" dirty="0"/>
          </a:p>
        </p:txBody>
      </p:sp>
      <p:sp>
        <p:nvSpPr>
          <p:cNvPr id="24" name="Text 22"/>
          <p:cNvSpPr/>
          <p:nvPr/>
        </p:nvSpPr>
        <p:spPr>
          <a:xfrm>
            <a:off x="10788491" y="4965263"/>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15213F"/>
                </a:solidFill>
                <a:latin typeface="Roboto Slab" pitchFamily="34" charset="0"/>
                <a:ea typeface="Roboto Slab" pitchFamily="34" charset="-122"/>
                <a:cs typeface="Roboto Slab" pitchFamily="34" charset="-120"/>
              </a:rPr>
              <a:t>3</a:t>
            </a:r>
            <a:endParaRPr lang="en-US" sz="5850" dirty="0"/>
          </a:p>
        </p:txBody>
      </p:sp>
      <p:sp>
        <p:nvSpPr>
          <p:cNvPr id="25" name="Text 23"/>
          <p:cNvSpPr/>
          <p:nvPr/>
        </p:nvSpPr>
        <p:spPr>
          <a:xfrm>
            <a:off x="10894933" y="5997059"/>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Minutes</a:t>
            </a:r>
            <a:endParaRPr lang="en-US" sz="2200" dirty="0"/>
          </a:p>
        </p:txBody>
      </p:sp>
      <p:sp>
        <p:nvSpPr>
          <p:cNvPr id="26" name="Text 24"/>
          <p:cNvSpPr/>
          <p:nvPr/>
        </p:nvSpPr>
        <p:spPr>
          <a:xfrm>
            <a:off x="10788491" y="6487478"/>
            <a:ext cx="3048119" cy="362903"/>
          </a:xfrm>
          <a:prstGeom prst="rect">
            <a:avLst/>
          </a:prstGeom>
          <a:noFill/>
          <a:ln/>
        </p:spPr>
        <p:txBody>
          <a:bodyPr wrap="none" lIns="0" tIns="0" rIns="0" bIns="0" rtlCol="0" anchor="t"/>
          <a:lstStyle/>
          <a:p>
            <a:pPr algn="ctr" indent="0" marL="0">
              <a:lnSpc>
                <a:spcPts val="2850"/>
              </a:lnSpc>
              <a:buNone/>
            </a:pPr>
            <a:r>
              <a:rPr lang="en-US" sz="1750" dirty="0">
                <a:solidFill>
                  <a:srgbClr val="15213F"/>
                </a:solidFill>
                <a:latin typeface="Roboto" pitchFamily="34" charset="0"/>
                <a:ea typeface="Roboto" pitchFamily="34" charset="-122"/>
                <a:cs typeface="Roboto" pitchFamily="34" charset="-120"/>
              </a:rPr>
              <a:t>Assessment time</a:t>
            </a:r>
            <a:endParaRPr lang="en-US" sz="1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729502"/>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Thank You</a:t>
            </a:r>
            <a:endParaRPr lang="en-US" sz="3550" dirty="0"/>
          </a:p>
        </p:txBody>
      </p:sp>
      <p:sp>
        <p:nvSpPr>
          <p:cNvPr id="4" name="Text 1"/>
          <p:cNvSpPr/>
          <p:nvPr/>
        </p:nvSpPr>
        <p:spPr>
          <a:xfrm>
            <a:off x="6280190" y="2387203"/>
            <a:ext cx="3718917"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Questions &amp; Discussion</a:t>
            </a:r>
            <a:endParaRPr lang="en-US" sz="2650" dirty="0"/>
          </a:p>
        </p:txBody>
      </p:sp>
      <p:sp>
        <p:nvSpPr>
          <p:cNvPr id="5" name="Text 2"/>
          <p:cNvSpPr/>
          <p:nvPr/>
        </p:nvSpPr>
        <p:spPr>
          <a:xfrm>
            <a:off x="6280190" y="3152656"/>
            <a:ext cx="7556421" cy="1088708"/>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Fabio Correa</a:t>
            </a:r>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Doctor of Business Administration Candidate</a:t>
            </a:r>
            <a:endParaRPr lang="en-US" sz="1750" dirty="0"/>
          </a:p>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Touro University Worldwide</a:t>
            </a:r>
            <a:endParaRPr lang="en-US" sz="1750" dirty="0"/>
          </a:p>
        </p:txBody>
      </p:sp>
      <p:sp>
        <p:nvSpPr>
          <p:cNvPr id="6" name="Shape 3"/>
          <p:cNvSpPr/>
          <p:nvPr/>
        </p:nvSpPr>
        <p:spPr>
          <a:xfrm>
            <a:off x="6280190" y="4609895"/>
            <a:ext cx="7556421" cy="35957"/>
          </a:xfrm>
          <a:prstGeom prst="rect">
            <a:avLst/>
          </a:prstGeom>
          <a:solidFill>
            <a:srgbClr val="15213F">
              <a:alpha val="50000"/>
            </a:srgbClr>
          </a:solidFill>
          <a:ln/>
        </p:spPr>
      </p:sp>
      <p:sp>
        <p:nvSpPr>
          <p:cNvPr id="7" name="Text 4"/>
          <p:cNvSpPr/>
          <p:nvPr/>
        </p:nvSpPr>
        <p:spPr>
          <a:xfrm>
            <a:off x="6620351" y="5156121"/>
            <a:ext cx="7216259"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"Organizations don't have an AI technology problem—they have an AI adoption problem. Understanding and diagnosing that adoption problem is the first step to solving it."</a:t>
            </a:r>
            <a:endParaRPr lang="en-US" sz="1750" dirty="0"/>
          </a:p>
        </p:txBody>
      </p:sp>
      <p:sp>
        <p:nvSpPr>
          <p:cNvPr id="8" name="Shape 5"/>
          <p:cNvSpPr/>
          <p:nvPr/>
        </p:nvSpPr>
        <p:spPr>
          <a:xfrm>
            <a:off x="6280190" y="4900970"/>
            <a:ext cx="30480" cy="1599009"/>
          </a:xfrm>
          <a:prstGeom prst="rect">
            <a:avLst/>
          </a:prstGeom>
          <a:solidFill>
            <a:srgbClr val="3257B8"/>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736759"/>
            <a:ext cx="4805243" cy="396835"/>
          </a:xfrm>
          <a:prstGeom prst="rect">
            <a:avLst/>
          </a:prstGeom>
          <a:noFill/>
          <a:ln/>
        </p:spPr>
        <p:txBody>
          <a:bodyPr wrap="none" lIns="0" tIns="0" rIns="0" bIns="0" rtlCol="0" anchor="t"/>
          <a:lstStyle/>
          <a:p>
            <a:pPr algn="l" indent="0" marL="0">
              <a:lnSpc>
                <a:spcPts val="3100"/>
              </a:lnSpc>
              <a:buNone/>
            </a:pPr>
            <a:r>
              <a:rPr lang="en-US" sz="2500" dirty="0">
                <a:solidFill>
                  <a:srgbClr val="3257B8"/>
                </a:solidFill>
                <a:latin typeface="Roboto Slab" pitchFamily="34" charset="0"/>
                <a:ea typeface="Roboto Slab" pitchFamily="34" charset="-122"/>
                <a:cs typeface="Roboto Slab" pitchFamily="34" charset="-120"/>
              </a:rPr>
              <a:t>Backup: Full Hypothesis Results</a:t>
            </a:r>
            <a:endParaRPr lang="en-US" sz="2500" dirty="0"/>
          </a:p>
        </p:txBody>
      </p:sp>
      <p:sp>
        <p:nvSpPr>
          <p:cNvPr id="3" name="Text 1"/>
          <p:cNvSpPr/>
          <p:nvPr/>
        </p:nvSpPr>
        <p:spPr>
          <a:xfrm>
            <a:off x="793790" y="1197054"/>
            <a:ext cx="3416618" cy="297656"/>
          </a:xfrm>
          <a:prstGeom prst="rect">
            <a:avLst/>
          </a:prstGeom>
          <a:noFill/>
          <a:ln/>
        </p:spPr>
        <p:txBody>
          <a:bodyPr wrap="none" lIns="0" tIns="0" rIns="0" bIns="0" rtlCol="0" anchor="t"/>
          <a:lstStyle/>
          <a:p>
            <a:pPr algn="l" indent="0" marL="0">
              <a:lnSpc>
                <a:spcPts val="2300"/>
              </a:lnSpc>
              <a:buNone/>
            </a:pPr>
            <a:r>
              <a:rPr lang="en-US" sz="1850" dirty="0">
                <a:solidFill>
                  <a:srgbClr val="3257B8"/>
                </a:solidFill>
                <a:latin typeface="Roboto Slab" pitchFamily="34" charset="0"/>
                <a:ea typeface="Roboto Slab" pitchFamily="34" charset="-122"/>
                <a:cs typeface="Roboto Slab" pitchFamily="34" charset="-120"/>
              </a:rPr>
              <a:t>Complete Statistical Summary</a:t>
            </a:r>
            <a:endParaRPr lang="en-US" sz="1850" dirty="0"/>
          </a:p>
        </p:txBody>
      </p:sp>
      <p:sp>
        <p:nvSpPr>
          <p:cNvPr id="4" name="Shape 2"/>
          <p:cNvSpPr/>
          <p:nvPr/>
        </p:nvSpPr>
        <p:spPr>
          <a:xfrm>
            <a:off x="793790" y="1732836"/>
            <a:ext cx="13042821" cy="5073253"/>
          </a:xfrm>
          <a:prstGeom prst="roundRect">
            <a:avLst>
              <a:gd name="adj" fmla="val 469"/>
            </a:avLst>
          </a:prstGeom>
          <a:noFill/>
          <a:ln w="7620">
            <a:solidFill>
              <a:srgbClr val="000000">
                <a:alpha val="8000"/>
              </a:srgbClr>
            </a:solidFill>
            <a:prstDash val="solid"/>
          </a:ln>
        </p:spPr>
      </p:sp>
      <p:sp>
        <p:nvSpPr>
          <p:cNvPr id="5" name="Shape 3"/>
          <p:cNvSpPr/>
          <p:nvPr/>
        </p:nvSpPr>
        <p:spPr>
          <a:xfrm>
            <a:off x="801410" y="1740456"/>
            <a:ext cx="13027581" cy="459819"/>
          </a:xfrm>
          <a:prstGeom prst="rect">
            <a:avLst/>
          </a:prstGeom>
          <a:solidFill>
            <a:srgbClr val="FFFFFF">
              <a:alpha val="4000"/>
            </a:srgbClr>
          </a:solidFill>
          <a:ln/>
        </p:spPr>
      </p:sp>
      <p:sp>
        <p:nvSpPr>
          <p:cNvPr id="6" name="Text 4"/>
          <p:cNvSpPr/>
          <p:nvPr/>
        </p:nvSpPr>
        <p:spPr>
          <a:xfrm>
            <a:off x="960477" y="1843326"/>
            <a:ext cx="981432"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H</a:t>
            </a:r>
            <a:endParaRPr lang="en-US" sz="1250" dirty="0"/>
          </a:p>
        </p:txBody>
      </p:sp>
      <p:sp>
        <p:nvSpPr>
          <p:cNvPr id="7" name="Text 5"/>
          <p:cNvSpPr/>
          <p:nvPr/>
        </p:nvSpPr>
        <p:spPr>
          <a:xfrm>
            <a:off x="2266950" y="1843326"/>
            <a:ext cx="3583186"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Path</a:t>
            </a:r>
            <a:endParaRPr lang="en-US" sz="1250" dirty="0"/>
          </a:p>
        </p:txBody>
      </p:sp>
      <p:sp>
        <p:nvSpPr>
          <p:cNvPr id="8" name="Text 6"/>
          <p:cNvSpPr/>
          <p:nvPr/>
        </p:nvSpPr>
        <p:spPr>
          <a:xfrm>
            <a:off x="6175177" y="1843326"/>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β</a:t>
            </a:r>
            <a:endParaRPr lang="en-US" sz="1250" dirty="0"/>
          </a:p>
        </p:txBody>
      </p:sp>
      <p:sp>
        <p:nvSpPr>
          <p:cNvPr id="9" name="Text 7"/>
          <p:cNvSpPr/>
          <p:nvPr/>
        </p:nvSpPr>
        <p:spPr>
          <a:xfrm>
            <a:off x="7738467" y="1843326"/>
            <a:ext cx="1238250"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p</a:t>
            </a:r>
            <a:endParaRPr lang="en-US" sz="1250" dirty="0"/>
          </a:p>
        </p:txBody>
      </p:sp>
      <p:sp>
        <p:nvSpPr>
          <p:cNvPr id="10" name="Text 8"/>
          <p:cNvSpPr/>
          <p:nvPr/>
        </p:nvSpPr>
        <p:spPr>
          <a:xfrm>
            <a:off x="9301758" y="1843326"/>
            <a:ext cx="3062049"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95% CI</a:t>
            </a:r>
            <a:endParaRPr lang="en-US" sz="1250" dirty="0"/>
          </a:p>
        </p:txBody>
      </p:sp>
      <p:sp>
        <p:nvSpPr>
          <p:cNvPr id="11" name="Text 9"/>
          <p:cNvSpPr/>
          <p:nvPr/>
        </p:nvSpPr>
        <p:spPr>
          <a:xfrm>
            <a:off x="12688848" y="1843326"/>
            <a:ext cx="981432" cy="254079"/>
          </a:xfrm>
          <a:prstGeom prst="rect">
            <a:avLst/>
          </a:prstGeom>
          <a:noFill/>
          <a:ln/>
        </p:spPr>
        <p:txBody>
          <a:bodyPr wrap="none" lIns="0" tIns="0" rIns="0" bIns="0" rtlCol="0" anchor="t"/>
          <a:lstStyle/>
          <a:p>
            <a:pPr algn="l" indent="0" marL="0">
              <a:lnSpc>
                <a:spcPts val="2000"/>
              </a:lnSpc>
              <a:buNone/>
            </a:pPr>
            <a:r>
              <a:rPr lang="en-US" sz="1250" b="1" dirty="0">
                <a:solidFill>
                  <a:srgbClr val="15213F"/>
                </a:solidFill>
                <a:latin typeface="Roboto" pitchFamily="34" charset="0"/>
                <a:ea typeface="Roboto" pitchFamily="34" charset="-122"/>
                <a:cs typeface="Roboto" pitchFamily="34" charset="-120"/>
              </a:rPr>
              <a:t>Result</a:t>
            </a:r>
            <a:endParaRPr lang="en-US" sz="1250" dirty="0"/>
          </a:p>
        </p:txBody>
      </p:sp>
      <p:sp>
        <p:nvSpPr>
          <p:cNvPr id="12" name="Shape 10"/>
          <p:cNvSpPr/>
          <p:nvPr/>
        </p:nvSpPr>
        <p:spPr>
          <a:xfrm>
            <a:off x="801410" y="2200275"/>
            <a:ext cx="13027581" cy="459819"/>
          </a:xfrm>
          <a:prstGeom prst="rect">
            <a:avLst/>
          </a:prstGeom>
          <a:solidFill>
            <a:srgbClr val="000000">
              <a:alpha val="4000"/>
            </a:srgbClr>
          </a:solidFill>
          <a:ln/>
        </p:spPr>
      </p:sp>
      <p:sp>
        <p:nvSpPr>
          <p:cNvPr id="13" name="Text 11"/>
          <p:cNvSpPr/>
          <p:nvPr/>
        </p:nvSpPr>
        <p:spPr>
          <a:xfrm>
            <a:off x="960477" y="2303145"/>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H1a</a:t>
            </a:r>
            <a:endParaRPr lang="en-US" sz="1250" dirty="0"/>
          </a:p>
        </p:txBody>
      </p:sp>
      <p:sp>
        <p:nvSpPr>
          <p:cNvPr id="14" name="Text 12"/>
          <p:cNvSpPr/>
          <p:nvPr/>
        </p:nvSpPr>
        <p:spPr>
          <a:xfrm>
            <a:off x="2266950" y="2303145"/>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PE → BI</a:t>
            </a:r>
            <a:endParaRPr lang="en-US" sz="1250" dirty="0"/>
          </a:p>
        </p:txBody>
      </p:sp>
      <p:sp>
        <p:nvSpPr>
          <p:cNvPr id="15" name="Text 13"/>
          <p:cNvSpPr/>
          <p:nvPr/>
        </p:nvSpPr>
        <p:spPr>
          <a:xfrm>
            <a:off x="6175177" y="2303145"/>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−.028</a:t>
            </a:r>
            <a:endParaRPr lang="en-US" sz="1250" dirty="0"/>
          </a:p>
        </p:txBody>
      </p:sp>
      <p:sp>
        <p:nvSpPr>
          <p:cNvPr id="16" name="Text 14"/>
          <p:cNvSpPr/>
          <p:nvPr/>
        </p:nvSpPr>
        <p:spPr>
          <a:xfrm>
            <a:off x="7738467" y="2303145"/>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.791</a:t>
            </a:r>
            <a:endParaRPr lang="en-US" sz="1250" dirty="0"/>
          </a:p>
        </p:txBody>
      </p:sp>
      <p:sp>
        <p:nvSpPr>
          <p:cNvPr id="17" name="Text 15"/>
          <p:cNvSpPr/>
          <p:nvPr/>
        </p:nvSpPr>
        <p:spPr>
          <a:xfrm>
            <a:off x="9301758" y="2303145"/>
            <a:ext cx="3062049"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[−.234, .178]</a:t>
            </a:r>
            <a:endParaRPr lang="en-US" sz="1250" dirty="0"/>
          </a:p>
        </p:txBody>
      </p:sp>
      <p:sp>
        <p:nvSpPr>
          <p:cNvPr id="18" name="Text 16"/>
          <p:cNvSpPr/>
          <p:nvPr/>
        </p:nvSpPr>
        <p:spPr>
          <a:xfrm>
            <a:off x="12688848" y="2303145"/>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19" name="Shape 17"/>
          <p:cNvSpPr/>
          <p:nvPr/>
        </p:nvSpPr>
        <p:spPr>
          <a:xfrm>
            <a:off x="801410" y="2660094"/>
            <a:ext cx="13027581" cy="459819"/>
          </a:xfrm>
          <a:prstGeom prst="rect">
            <a:avLst/>
          </a:prstGeom>
          <a:solidFill>
            <a:srgbClr val="FFFFFF">
              <a:alpha val="4000"/>
            </a:srgbClr>
          </a:solidFill>
          <a:ln/>
        </p:spPr>
      </p:sp>
      <p:sp>
        <p:nvSpPr>
          <p:cNvPr id="20" name="Text 18"/>
          <p:cNvSpPr/>
          <p:nvPr/>
        </p:nvSpPr>
        <p:spPr>
          <a:xfrm>
            <a:off x="960477" y="2762964"/>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H1b</a:t>
            </a:r>
            <a:endParaRPr lang="en-US" sz="1250" dirty="0"/>
          </a:p>
        </p:txBody>
      </p:sp>
      <p:sp>
        <p:nvSpPr>
          <p:cNvPr id="21" name="Text 19"/>
          <p:cNvSpPr/>
          <p:nvPr/>
        </p:nvSpPr>
        <p:spPr>
          <a:xfrm>
            <a:off x="2266950" y="2762964"/>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EE → BI</a:t>
            </a:r>
            <a:endParaRPr lang="en-US" sz="1250" dirty="0"/>
          </a:p>
        </p:txBody>
      </p:sp>
      <p:sp>
        <p:nvSpPr>
          <p:cNvPr id="22" name="Text 20"/>
          <p:cNvSpPr/>
          <p:nvPr/>
        </p:nvSpPr>
        <p:spPr>
          <a:xfrm>
            <a:off x="6175177" y="2762964"/>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−.008</a:t>
            </a:r>
            <a:endParaRPr lang="en-US" sz="1250" dirty="0"/>
          </a:p>
        </p:txBody>
      </p:sp>
      <p:sp>
        <p:nvSpPr>
          <p:cNvPr id="23" name="Text 21"/>
          <p:cNvSpPr/>
          <p:nvPr/>
        </p:nvSpPr>
        <p:spPr>
          <a:xfrm>
            <a:off x="7738467" y="2762964"/>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.875</a:t>
            </a:r>
            <a:endParaRPr lang="en-US" sz="1250" dirty="0"/>
          </a:p>
        </p:txBody>
      </p:sp>
      <p:sp>
        <p:nvSpPr>
          <p:cNvPr id="24" name="Text 22"/>
          <p:cNvSpPr/>
          <p:nvPr/>
        </p:nvSpPr>
        <p:spPr>
          <a:xfrm>
            <a:off x="9301758" y="2762964"/>
            <a:ext cx="3062049"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[−.108, .092]</a:t>
            </a:r>
            <a:endParaRPr lang="en-US" sz="1250" dirty="0"/>
          </a:p>
        </p:txBody>
      </p:sp>
      <p:sp>
        <p:nvSpPr>
          <p:cNvPr id="25" name="Text 23"/>
          <p:cNvSpPr/>
          <p:nvPr/>
        </p:nvSpPr>
        <p:spPr>
          <a:xfrm>
            <a:off x="12688848" y="2762964"/>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26" name="Shape 24"/>
          <p:cNvSpPr/>
          <p:nvPr/>
        </p:nvSpPr>
        <p:spPr>
          <a:xfrm>
            <a:off x="801410" y="3119914"/>
            <a:ext cx="13027581" cy="459819"/>
          </a:xfrm>
          <a:prstGeom prst="rect">
            <a:avLst/>
          </a:prstGeom>
          <a:solidFill>
            <a:srgbClr val="000000">
              <a:alpha val="4000"/>
            </a:srgbClr>
          </a:solidFill>
          <a:ln/>
        </p:spPr>
      </p:sp>
      <p:sp>
        <p:nvSpPr>
          <p:cNvPr id="27" name="Text 25"/>
          <p:cNvSpPr/>
          <p:nvPr/>
        </p:nvSpPr>
        <p:spPr>
          <a:xfrm>
            <a:off x="960477" y="3222784"/>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H1c</a:t>
            </a:r>
            <a:endParaRPr lang="en-US" sz="1250" dirty="0"/>
          </a:p>
        </p:txBody>
      </p:sp>
      <p:sp>
        <p:nvSpPr>
          <p:cNvPr id="28" name="Text 26"/>
          <p:cNvSpPr/>
          <p:nvPr/>
        </p:nvSpPr>
        <p:spPr>
          <a:xfrm>
            <a:off x="2266950" y="3222784"/>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SI → BI</a:t>
            </a:r>
            <a:endParaRPr lang="en-US" sz="1250" dirty="0"/>
          </a:p>
        </p:txBody>
      </p:sp>
      <p:sp>
        <p:nvSpPr>
          <p:cNvPr id="29" name="Text 27"/>
          <p:cNvSpPr/>
          <p:nvPr/>
        </p:nvSpPr>
        <p:spPr>
          <a:xfrm>
            <a:off x="6175177" y="3222784"/>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.136</a:t>
            </a:r>
            <a:endParaRPr lang="en-US" sz="1250" dirty="0"/>
          </a:p>
        </p:txBody>
      </p:sp>
      <p:sp>
        <p:nvSpPr>
          <p:cNvPr id="30" name="Text 28"/>
          <p:cNvSpPr/>
          <p:nvPr/>
        </p:nvSpPr>
        <p:spPr>
          <a:xfrm>
            <a:off x="7738467" y="3222784"/>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.024</a:t>
            </a:r>
            <a:endParaRPr lang="en-US" sz="1250" dirty="0"/>
          </a:p>
        </p:txBody>
      </p:sp>
      <p:sp>
        <p:nvSpPr>
          <p:cNvPr id="31" name="Text 29"/>
          <p:cNvSpPr/>
          <p:nvPr/>
        </p:nvSpPr>
        <p:spPr>
          <a:xfrm>
            <a:off x="9301758" y="3222784"/>
            <a:ext cx="3062049"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[.018, .254]</a:t>
            </a:r>
            <a:endParaRPr lang="en-US" sz="1250" dirty="0"/>
          </a:p>
        </p:txBody>
      </p:sp>
      <p:sp>
        <p:nvSpPr>
          <p:cNvPr id="32" name="Text 30"/>
          <p:cNvSpPr/>
          <p:nvPr/>
        </p:nvSpPr>
        <p:spPr>
          <a:xfrm>
            <a:off x="12688848" y="3222784"/>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33" name="Shape 31"/>
          <p:cNvSpPr/>
          <p:nvPr/>
        </p:nvSpPr>
        <p:spPr>
          <a:xfrm>
            <a:off x="801410" y="3579733"/>
            <a:ext cx="13027581" cy="459819"/>
          </a:xfrm>
          <a:prstGeom prst="rect">
            <a:avLst/>
          </a:prstGeom>
          <a:solidFill>
            <a:srgbClr val="FFFFFF">
              <a:alpha val="4000"/>
            </a:srgbClr>
          </a:solidFill>
          <a:ln/>
        </p:spPr>
      </p:sp>
      <p:sp>
        <p:nvSpPr>
          <p:cNvPr id="34" name="Text 32"/>
          <p:cNvSpPr/>
          <p:nvPr/>
        </p:nvSpPr>
        <p:spPr>
          <a:xfrm>
            <a:off x="960477" y="3682603"/>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H1d</a:t>
            </a:r>
            <a:endParaRPr lang="en-US" sz="1250" dirty="0"/>
          </a:p>
        </p:txBody>
      </p:sp>
      <p:sp>
        <p:nvSpPr>
          <p:cNvPr id="35" name="Text 33"/>
          <p:cNvSpPr/>
          <p:nvPr/>
        </p:nvSpPr>
        <p:spPr>
          <a:xfrm>
            <a:off x="2266950" y="3682603"/>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FC → BI</a:t>
            </a:r>
            <a:endParaRPr lang="en-US" sz="1250" dirty="0"/>
          </a:p>
        </p:txBody>
      </p:sp>
      <p:sp>
        <p:nvSpPr>
          <p:cNvPr id="36" name="Text 34"/>
          <p:cNvSpPr/>
          <p:nvPr/>
        </p:nvSpPr>
        <p:spPr>
          <a:xfrm>
            <a:off x="6175177" y="3682603"/>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.059</a:t>
            </a:r>
            <a:endParaRPr lang="en-US" sz="1250" dirty="0"/>
          </a:p>
        </p:txBody>
      </p:sp>
      <p:sp>
        <p:nvSpPr>
          <p:cNvPr id="37" name="Text 35"/>
          <p:cNvSpPr/>
          <p:nvPr/>
        </p:nvSpPr>
        <p:spPr>
          <a:xfrm>
            <a:off x="7738467" y="3682603"/>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.338</a:t>
            </a:r>
            <a:endParaRPr lang="en-US" sz="1250" dirty="0"/>
          </a:p>
        </p:txBody>
      </p:sp>
      <p:sp>
        <p:nvSpPr>
          <p:cNvPr id="38" name="Text 36"/>
          <p:cNvSpPr/>
          <p:nvPr/>
        </p:nvSpPr>
        <p:spPr>
          <a:xfrm>
            <a:off x="9301758" y="3682603"/>
            <a:ext cx="3062049"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[−.062, .180]</a:t>
            </a:r>
            <a:endParaRPr lang="en-US" sz="1250" dirty="0"/>
          </a:p>
        </p:txBody>
      </p:sp>
      <p:sp>
        <p:nvSpPr>
          <p:cNvPr id="39" name="Text 37"/>
          <p:cNvSpPr/>
          <p:nvPr/>
        </p:nvSpPr>
        <p:spPr>
          <a:xfrm>
            <a:off x="12688848" y="3682603"/>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40" name="Shape 38"/>
          <p:cNvSpPr/>
          <p:nvPr/>
        </p:nvSpPr>
        <p:spPr>
          <a:xfrm>
            <a:off x="801410" y="4039553"/>
            <a:ext cx="13027581" cy="459819"/>
          </a:xfrm>
          <a:prstGeom prst="rect">
            <a:avLst/>
          </a:prstGeom>
          <a:solidFill>
            <a:srgbClr val="000000">
              <a:alpha val="4000"/>
            </a:srgbClr>
          </a:solidFill>
          <a:ln/>
        </p:spPr>
      </p:sp>
      <p:sp>
        <p:nvSpPr>
          <p:cNvPr id="41" name="Text 39"/>
          <p:cNvSpPr/>
          <p:nvPr/>
        </p:nvSpPr>
        <p:spPr>
          <a:xfrm>
            <a:off x="960477" y="4142423"/>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H1e</a:t>
            </a:r>
            <a:endParaRPr lang="en-US" sz="1250" dirty="0"/>
          </a:p>
        </p:txBody>
      </p:sp>
      <p:sp>
        <p:nvSpPr>
          <p:cNvPr id="42" name="Text 40"/>
          <p:cNvSpPr/>
          <p:nvPr/>
        </p:nvSpPr>
        <p:spPr>
          <a:xfrm>
            <a:off x="2266950" y="4142423"/>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HM → BI</a:t>
            </a:r>
            <a:endParaRPr lang="en-US" sz="1250" dirty="0"/>
          </a:p>
        </p:txBody>
      </p:sp>
      <p:sp>
        <p:nvSpPr>
          <p:cNvPr id="43" name="Text 41"/>
          <p:cNvSpPr/>
          <p:nvPr/>
        </p:nvSpPr>
        <p:spPr>
          <a:xfrm>
            <a:off x="6175177" y="4142423"/>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.217</a:t>
            </a:r>
            <a:endParaRPr lang="en-US" sz="1250" dirty="0"/>
          </a:p>
        </p:txBody>
      </p:sp>
      <p:sp>
        <p:nvSpPr>
          <p:cNvPr id="44" name="Text 42"/>
          <p:cNvSpPr/>
          <p:nvPr/>
        </p:nvSpPr>
        <p:spPr>
          <a:xfrm>
            <a:off x="7738467" y="4142423"/>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.014</a:t>
            </a:r>
            <a:endParaRPr lang="en-US" sz="1250" dirty="0"/>
          </a:p>
        </p:txBody>
      </p:sp>
      <p:sp>
        <p:nvSpPr>
          <p:cNvPr id="45" name="Text 43"/>
          <p:cNvSpPr/>
          <p:nvPr/>
        </p:nvSpPr>
        <p:spPr>
          <a:xfrm>
            <a:off x="9301758" y="4142423"/>
            <a:ext cx="3062049"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[.044, .390]</a:t>
            </a:r>
            <a:endParaRPr lang="en-US" sz="1250" dirty="0"/>
          </a:p>
        </p:txBody>
      </p:sp>
      <p:sp>
        <p:nvSpPr>
          <p:cNvPr id="46" name="Text 44"/>
          <p:cNvSpPr/>
          <p:nvPr/>
        </p:nvSpPr>
        <p:spPr>
          <a:xfrm>
            <a:off x="12688848" y="4142423"/>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47" name="Shape 45"/>
          <p:cNvSpPr/>
          <p:nvPr/>
        </p:nvSpPr>
        <p:spPr>
          <a:xfrm>
            <a:off x="801410" y="4499372"/>
            <a:ext cx="13027581" cy="459819"/>
          </a:xfrm>
          <a:prstGeom prst="rect">
            <a:avLst/>
          </a:prstGeom>
          <a:solidFill>
            <a:srgbClr val="FFFFFF">
              <a:alpha val="4000"/>
            </a:srgbClr>
          </a:solidFill>
          <a:ln/>
        </p:spPr>
      </p:sp>
      <p:sp>
        <p:nvSpPr>
          <p:cNvPr id="48" name="Text 46"/>
          <p:cNvSpPr/>
          <p:nvPr/>
        </p:nvSpPr>
        <p:spPr>
          <a:xfrm>
            <a:off x="960477" y="4602242"/>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H1f</a:t>
            </a:r>
            <a:endParaRPr lang="en-US" sz="1250" dirty="0"/>
          </a:p>
        </p:txBody>
      </p:sp>
      <p:sp>
        <p:nvSpPr>
          <p:cNvPr id="49" name="Text 47"/>
          <p:cNvSpPr/>
          <p:nvPr/>
        </p:nvSpPr>
        <p:spPr>
          <a:xfrm>
            <a:off x="2266950" y="4602242"/>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PV → BI</a:t>
            </a:r>
            <a:endParaRPr lang="en-US" sz="1250" dirty="0"/>
          </a:p>
        </p:txBody>
      </p:sp>
      <p:sp>
        <p:nvSpPr>
          <p:cNvPr id="50" name="Text 48"/>
          <p:cNvSpPr/>
          <p:nvPr/>
        </p:nvSpPr>
        <p:spPr>
          <a:xfrm>
            <a:off x="6175177" y="4602242"/>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.505</a:t>
            </a:r>
            <a:endParaRPr lang="en-US" sz="1250" dirty="0"/>
          </a:p>
        </p:txBody>
      </p:sp>
      <p:sp>
        <p:nvSpPr>
          <p:cNvPr id="51" name="Text 49"/>
          <p:cNvSpPr/>
          <p:nvPr/>
        </p:nvSpPr>
        <p:spPr>
          <a:xfrm>
            <a:off x="7738467" y="4602242"/>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&lt;.001</a:t>
            </a:r>
            <a:endParaRPr lang="en-US" sz="1250" dirty="0"/>
          </a:p>
        </p:txBody>
      </p:sp>
      <p:sp>
        <p:nvSpPr>
          <p:cNvPr id="52" name="Text 50"/>
          <p:cNvSpPr/>
          <p:nvPr/>
        </p:nvSpPr>
        <p:spPr>
          <a:xfrm>
            <a:off x="9301758" y="4602242"/>
            <a:ext cx="3062049"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[.352, .658]</a:t>
            </a:r>
            <a:endParaRPr lang="en-US" sz="1250" dirty="0"/>
          </a:p>
        </p:txBody>
      </p:sp>
      <p:sp>
        <p:nvSpPr>
          <p:cNvPr id="53" name="Text 51"/>
          <p:cNvSpPr/>
          <p:nvPr/>
        </p:nvSpPr>
        <p:spPr>
          <a:xfrm>
            <a:off x="12688848" y="4602242"/>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54" name="Shape 52"/>
          <p:cNvSpPr/>
          <p:nvPr/>
        </p:nvSpPr>
        <p:spPr>
          <a:xfrm>
            <a:off x="801410" y="4959191"/>
            <a:ext cx="13027581" cy="459819"/>
          </a:xfrm>
          <a:prstGeom prst="rect">
            <a:avLst/>
          </a:prstGeom>
          <a:solidFill>
            <a:srgbClr val="000000">
              <a:alpha val="4000"/>
            </a:srgbClr>
          </a:solidFill>
          <a:ln/>
        </p:spPr>
      </p:sp>
      <p:sp>
        <p:nvSpPr>
          <p:cNvPr id="55" name="Text 53"/>
          <p:cNvSpPr/>
          <p:nvPr/>
        </p:nvSpPr>
        <p:spPr>
          <a:xfrm>
            <a:off x="960477" y="5062061"/>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H1g</a:t>
            </a:r>
            <a:endParaRPr lang="en-US" sz="1250" dirty="0"/>
          </a:p>
        </p:txBody>
      </p:sp>
      <p:sp>
        <p:nvSpPr>
          <p:cNvPr id="56" name="Text 54"/>
          <p:cNvSpPr/>
          <p:nvPr/>
        </p:nvSpPr>
        <p:spPr>
          <a:xfrm>
            <a:off x="2266950" y="5062061"/>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HB → BI</a:t>
            </a:r>
            <a:endParaRPr lang="en-US" sz="1250" dirty="0"/>
          </a:p>
        </p:txBody>
      </p:sp>
      <p:sp>
        <p:nvSpPr>
          <p:cNvPr id="57" name="Text 55"/>
          <p:cNvSpPr/>
          <p:nvPr/>
        </p:nvSpPr>
        <p:spPr>
          <a:xfrm>
            <a:off x="6175177" y="5062061"/>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.023</a:t>
            </a:r>
            <a:endParaRPr lang="en-US" sz="1250" dirty="0"/>
          </a:p>
        </p:txBody>
      </p:sp>
      <p:sp>
        <p:nvSpPr>
          <p:cNvPr id="58" name="Text 56"/>
          <p:cNvSpPr/>
          <p:nvPr/>
        </p:nvSpPr>
        <p:spPr>
          <a:xfrm>
            <a:off x="7738467" y="5062061"/>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.631</a:t>
            </a:r>
            <a:endParaRPr lang="en-US" sz="1250" dirty="0"/>
          </a:p>
        </p:txBody>
      </p:sp>
      <p:sp>
        <p:nvSpPr>
          <p:cNvPr id="59" name="Text 57"/>
          <p:cNvSpPr/>
          <p:nvPr/>
        </p:nvSpPr>
        <p:spPr>
          <a:xfrm>
            <a:off x="9301758" y="5062061"/>
            <a:ext cx="3062049"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[−.071, .117]</a:t>
            </a:r>
            <a:endParaRPr lang="en-US" sz="1250" dirty="0"/>
          </a:p>
        </p:txBody>
      </p:sp>
      <p:sp>
        <p:nvSpPr>
          <p:cNvPr id="60" name="Text 58"/>
          <p:cNvSpPr/>
          <p:nvPr/>
        </p:nvSpPr>
        <p:spPr>
          <a:xfrm>
            <a:off x="12688848" y="5062061"/>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61" name="Shape 59"/>
          <p:cNvSpPr/>
          <p:nvPr/>
        </p:nvSpPr>
        <p:spPr>
          <a:xfrm>
            <a:off x="801410" y="5419011"/>
            <a:ext cx="13027581" cy="459819"/>
          </a:xfrm>
          <a:prstGeom prst="rect">
            <a:avLst/>
          </a:prstGeom>
          <a:solidFill>
            <a:srgbClr val="FFFFFF">
              <a:alpha val="4000"/>
            </a:srgbClr>
          </a:solidFill>
          <a:ln/>
        </p:spPr>
      </p:sp>
      <p:sp>
        <p:nvSpPr>
          <p:cNvPr id="62" name="Text 60"/>
          <p:cNvSpPr/>
          <p:nvPr/>
        </p:nvSpPr>
        <p:spPr>
          <a:xfrm>
            <a:off x="960477" y="5521881"/>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H2</a:t>
            </a:r>
            <a:endParaRPr lang="en-US" sz="1250" dirty="0"/>
          </a:p>
        </p:txBody>
      </p:sp>
      <p:sp>
        <p:nvSpPr>
          <p:cNvPr id="63" name="Text 61"/>
          <p:cNvSpPr/>
          <p:nvPr/>
        </p:nvSpPr>
        <p:spPr>
          <a:xfrm>
            <a:off x="2266950" y="5521881"/>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TR → BI</a:t>
            </a:r>
            <a:endParaRPr lang="en-US" sz="1250" dirty="0"/>
          </a:p>
        </p:txBody>
      </p:sp>
      <p:sp>
        <p:nvSpPr>
          <p:cNvPr id="64" name="Text 62"/>
          <p:cNvSpPr/>
          <p:nvPr/>
        </p:nvSpPr>
        <p:spPr>
          <a:xfrm>
            <a:off x="6175177" y="5521881"/>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.106</a:t>
            </a:r>
            <a:endParaRPr lang="en-US" sz="1250" dirty="0"/>
          </a:p>
        </p:txBody>
      </p:sp>
      <p:sp>
        <p:nvSpPr>
          <p:cNvPr id="65" name="Text 63"/>
          <p:cNvSpPr/>
          <p:nvPr/>
        </p:nvSpPr>
        <p:spPr>
          <a:xfrm>
            <a:off x="7738467" y="5521881"/>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.064</a:t>
            </a:r>
            <a:endParaRPr lang="en-US" sz="1250" dirty="0"/>
          </a:p>
        </p:txBody>
      </p:sp>
      <p:sp>
        <p:nvSpPr>
          <p:cNvPr id="66" name="Text 64"/>
          <p:cNvSpPr/>
          <p:nvPr/>
        </p:nvSpPr>
        <p:spPr>
          <a:xfrm>
            <a:off x="9301758" y="5521881"/>
            <a:ext cx="3062049"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[−.006, .218]</a:t>
            </a:r>
            <a:endParaRPr lang="en-US" sz="1250" dirty="0"/>
          </a:p>
        </p:txBody>
      </p:sp>
      <p:sp>
        <p:nvSpPr>
          <p:cNvPr id="67" name="Text 65"/>
          <p:cNvSpPr/>
          <p:nvPr/>
        </p:nvSpPr>
        <p:spPr>
          <a:xfrm>
            <a:off x="12688848" y="5521881"/>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68" name="Shape 66"/>
          <p:cNvSpPr/>
          <p:nvPr/>
        </p:nvSpPr>
        <p:spPr>
          <a:xfrm>
            <a:off x="801410" y="5878830"/>
            <a:ext cx="13027581" cy="459819"/>
          </a:xfrm>
          <a:prstGeom prst="rect">
            <a:avLst/>
          </a:prstGeom>
          <a:solidFill>
            <a:srgbClr val="000000">
              <a:alpha val="4000"/>
            </a:srgbClr>
          </a:solidFill>
          <a:ln/>
        </p:spPr>
      </p:sp>
      <p:sp>
        <p:nvSpPr>
          <p:cNvPr id="69" name="Text 67"/>
          <p:cNvSpPr/>
          <p:nvPr/>
        </p:nvSpPr>
        <p:spPr>
          <a:xfrm>
            <a:off x="960477" y="5981700"/>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H3</a:t>
            </a:r>
            <a:endParaRPr lang="en-US" sz="1250" dirty="0"/>
          </a:p>
        </p:txBody>
      </p:sp>
      <p:sp>
        <p:nvSpPr>
          <p:cNvPr id="70" name="Text 68"/>
          <p:cNvSpPr/>
          <p:nvPr/>
        </p:nvSpPr>
        <p:spPr>
          <a:xfrm>
            <a:off x="2266950" y="5981700"/>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Experience mod</a:t>
            </a:r>
            <a:endParaRPr lang="en-US" sz="1250" dirty="0"/>
          </a:p>
        </p:txBody>
      </p:sp>
      <p:sp>
        <p:nvSpPr>
          <p:cNvPr id="71" name="Text 69"/>
          <p:cNvSpPr/>
          <p:nvPr/>
        </p:nvSpPr>
        <p:spPr>
          <a:xfrm>
            <a:off x="6175177" y="5981700"/>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.136</a:t>
            </a:r>
            <a:endParaRPr lang="en-US" sz="1250" dirty="0"/>
          </a:p>
        </p:txBody>
      </p:sp>
      <p:sp>
        <p:nvSpPr>
          <p:cNvPr id="72" name="Text 70"/>
          <p:cNvSpPr/>
          <p:nvPr/>
        </p:nvSpPr>
        <p:spPr>
          <a:xfrm>
            <a:off x="7738467" y="5981700"/>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.009</a:t>
            </a:r>
            <a:endParaRPr lang="en-US" sz="1250" dirty="0"/>
          </a:p>
        </p:txBody>
      </p:sp>
      <p:sp>
        <p:nvSpPr>
          <p:cNvPr id="73" name="Text 71"/>
          <p:cNvSpPr/>
          <p:nvPr/>
        </p:nvSpPr>
        <p:spPr>
          <a:xfrm>
            <a:off x="9301758" y="5981700"/>
            <a:ext cx="3062049"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74" name="Text 72"/>
          <p:cNvSpPr/>
          <p:nvPr/>
        </p:nvSpPr>
        <p:spPr>
          <a:xfrm>
            <a:off x="12688848" y="5981700"/>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75" name="Shape 73"/>
          <p:cNvSpPr/>
          <p:nvPr/>
        </p:nvSpPr>
        <p:spPr>
          <a:xfrm>
            <a:off x="801410" y="6338649"/>
            <a:ext cx="13027581" cy="459819"/>
          </a:xfrm>
          <a:prstGeom prst="rect">
            <a:avLst/>
          </a:prstGeom>
          <a:solidFill>
            <a:srgbClr val="FFFFFF">
              <a:alpha val="4000"/>
            </a:srgbClr>
          </a:solidFill>
          <a:ln/>
        </p:spPr>
      </p:sp>
      <p:sp>
        <p:nvSpPr>
          <p:cNvPr id="76" name="Text 74"/>
          <p:cNvSpPr/>
          <p:nvPr/>
        </p:nvSpPr>
        <p:spPr>
          <a:xfrm>
            <a:off x="960477" y="6441519"/>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H4</a:t>
            </a:r>
            <a:endParaRPr lang="en-US" sz="1250" dirty="0"/>
          </a:p>
        </p:txBody>
      </p:sp>
      <p:sp>
        <p:nvSpPr>
          <p:cNvPr id="77" name="Text 75"/>
          <p:cNvSpPr/>
          <p:nvPr/>
        </p:nvSpPr>
        <p:spPr>
          <a:xfrm>
            <a:off x="2266950" y="6441519"/>
            <a:ext cx="3583186"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Population mod</a:t>
            </a:r>
            <a:endParaRPr lang="en-US" sz="1250" dirty="0"/>
          </a:p>
        </p:txBody>
      </p:sp>
      <p:sp>
        <p:nvSpPr>
          <p:cNvPr id="78" name="Text 76"/>
          <p:cNvSpPr/>
          <p:nvPr/>
        </p:nvSpPr>
        <p:spPr>
          <a:xfrm>
            <a:off x="6175177" y="6441519"/>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−.750</a:t>
            </a:r>
            <a:endParaRPr lang="en-US" sz="1250" dirty="0"/>
          </a:p>
        </p:txBody>
      </p:sp>
      <p:sp>
        <p:nvSpPr>
          <p:cNvPr id="79" name="Text 77"/>
          <p:cNvSpPr/>
          <p:nvPr/>
        </p:nvSpPr>
        <p:spPr>
          <a:xfrm>
            <a:off x="7738467" y="6441519"/>
            <a:ext cx="1238250"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.041</a:t>
            </a:r>
            <a:endParaRPr lang="en-US" sz="1250" dirty="0"/>
          </a:p>
        </p:txBody>
      </p:sp>
      <p:sp>
        <p:nvSpPr>
          <p:cNvPr id="80" name="Text 78"/>
          <p:cNvSpPr/>
          <p:nvPr/>
        </p:nvSpPr>
        <p:spPr>
          <a:xfrm>
            <a:off x="9301758" y="6441519"/>
            <a:ext cx="3062049"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81" name="Text 79"/>
          <p:cNvSpPr/>
          <p:nvPr/>
        </p:nvSpPr>
        <p:spPr>
          <a:xfrm>
            <a:off x="12688848" y="6441519"/>
            <a:ext cx="981432" cy="254079"/>
          </a:xfrm>
          <a:prstGeom prst="rect">
            <a:avLst/>
          </a:prstGeom>
          <a:noFill/>
          <a:ln/>
        </p:spPr>
        <p:txBody>
          <a:bodyPr wrap="non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82" name="Text 80"/>
          <p:cNvSpPr/>
          <p:nvPr/>
        </p:nvSpPr>
        <p:spPr>
          <a:xfrm>
            <a:off x="793790" y="6984683"/>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15213F"/>
                </a:solidFill>
                <a:latin typeface="Roboto" pitchFamily="34" charset="0"/>
                <a:ea typeface="Roboto" pitchFamily="34" charset="-122"/>
                <a:cs typeface="Roboto" pitchFamily="34" charset="-120"/>
              </a:rPr>
              <a:t>Note: Confidence intervals that include zero indicate non-significant effects. The three supported UTAUT2 paths (SI, HM, PV) have CIs that exclude zero, confirming significant relationships.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916424"/>
            <a:ext cx="7882652" cy="566976"/>
          </a:xfrm>
          <a:prstGeom prst="rect">
            <a:avLst/>
          </a:prstGeom>
          <a:noFill/>
          <a:ln/>
        </p:spPr>
        <p:txBody>
          <a:bodyPr wrap="none" lIns="0" tIns="0" rIns="0" bIns="0" rtlCol="0" anchor="t"/>
          <a:lstStyle/>
          <a:p>
            <a:pPr algn="l" indent="0" marL="0">
              <a:lnSpc>
                <a:spcPts val="4450"/>
              </a:lnSpc>
              <a:buNone/>
            </a:pPr>
            <a:r>
              <a:rPr lang="en-US" sz="3550" dirty="0">
                <a:solidFill>
                  <a:srgbClr val="3257B8"/>
                </a:solidFill>
                <a:latin typeface="Roboto Slab" pitchFamily="34" charset="0"/>
                <a:ea typeface="Roboto Slab" pitchFamily="34" charset="-122"/>
                <a:cs typeface="Roboto Slab" pitchFamily="34" charset="-120"/>
              </a:rPr>
              <a:t>Backup: Model Fit Index Comparison</a:t>
            </a:r>
            <a:endParaRPr lang="en-US" sz="3550" dirty="0"/>
          </a:p>
        </p:txBody>
      </p:sp>
      <p:sp>
        <p:nvSpPr>
          <p:cNvPr id="3" name="Text 1"/>
          <p:cNvSpPr/>
          <p:nvPr/>
        </p:nvSpPr>
        <p:spPr>
          <a:xfrm>
            <a:off x="793790" y="1574125"/>
            <a:ext cx="5632966" cy="425291"/>
          </a:xfrm>
          <a:prstGeom prst="rect">
            <a:avLst/>
          </a:prstGeom>
          <a:noFill/>
          <a:ln/>
        </p:spPr>
        <p:txBody>
          <a:bodyPr wrap="none" lIns="0" tIns="0" rIns="0" bIns="0" rtlCol="0" anchor="t"/>
          <a:lstStyle/>
          <a:p>
            <a:pPr algn="l" indent="0" marL="0">
              <a:lnSpc>
                <a:spcPts val="3300"/>
              </a:lnSpc>
              <a:buNone/>
            </a:pPr>
            <a:r>
              <a:rPr lang="en-US" sz="2650" dirty="0">
                <a:solidFill>
                  <a:srgbClr val="3257B8"/>
                </a:solidFill>
                <a:latin typeface="Roboto Slab" pitchFamily="34" charset="0"/>
                <a:ea typeface="Roboto Slab" pitchFamily="34" charset="-122"/>
                <a:cs typeface="Roboto Slab" pitchFamily="34" charset="-120"/>
              </a:rPr>
              <a:t>Detailed Psychometric Assessment</a:t>
            </a:r>
            <a:endParaRPr lang="en-US" sz="2650" dirty="0"/>
          </a:p>
        </p:txBody>
      </p:sp>
      <p:sp>
        <p:nvSpPr>
          <p:cNvPr id="4" name="Shape 2"/>
          <p:cNvSpPr/>
          <p:nvPr/>
        </p:nvSpPr>
        <p:spPr>
          <a:xfrm>
            <a:off x="793790" y="2339578"/>
            <a:ext cx="13042821" cy="3629739"/>
          </a:xfrm>
          <a:prstGeom prst="roundRect">
            <a:avLst>
              <a:gd name="adj" fmla="val 937"/>
            </a:avLst>
          </a:prstGeom>
          <a:noFill/>
          <a:ln w="7620">
            <a:solidFill>
              <a:srgbClr val="000000">
                <a:alpha val="8000"/>
              </a:srgbClr>
            </a:solidFill>
            <a:prstDash val="solid"/>
          </a:ln>
        </p:spPr>
      </p:sp>
      <p:sp>
        <p:nvSpPr>
          <p:cNvPr id="5" name="Shape 3"/>
          <p:cNvSpPr/>
          <p:nvPr/>
        </p:nvSpPr>
        <p:spPr>
          <a:xfrm>
            <a:off x="801410" y="2347198"/>
            <a:ext cx="13027581" cy="1013222"/>
          </a:xfrm>
          <a:prstGeom prst="rect">
            <a:avLst/>
          </a:prstGeom>
          <a:solidFill>
            <a:srgbClr val="FFFFFF">
              <a:alpha val="4000"/>
            </a:srgbClr>
          </a:solidFill>
          <a:ln/>
        </p:spPr>
      </p:sp>
      <p:sp>
        <p:nvSpPr>
          <p:cNvPr id="6" name="Text 4"/>
          <p:cNvSpPr/>
          <p:nvPr/>
        </p:nvSpPr>
        <p:spPr>
          <a:xfrm>
            <a:off x="1028462" y="2490907"/>
            <a:ext cx="3450788"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Index</a:t>
            </a:r>
            <a:endParaRPr lang="en-US" sz="1750" dirty="0"/>
          </a:p>
        </p:txBody>
      </p:sp>
      <p:sp>
        <p:nvSpPr>
          <p:cNvPr id="7" name="Text 5"/>
          <p:cNvSpPr/>
          <p:nvPr/>
        </p:nvSpPr>
        <p:spPr>
          <a:xfrm>
            <a:off x="4940498" y="2490907"/>
            <a:ext cx="2795588"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Obtained Value</a:t>
            </a:r>
            <a:endParaRPr lang="en-US" sz="1750" dirty="0"/>
          </a:p>
        </p:txBody>
      </p:sp>
      <p:sp>
        <p:nvSpPr>
          <p:cNvPr id="8" name="Text 6"/>
          <p:cNvSpPr/>
          <p:nvPr/>
        </p:nvSpPr>
        <p:spPr>
          <a:xfrm>
            <a:off x="8197334" y="2490907"/>
            <a:ext cx="2795588"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Excellent Threshold</a:t>
            </a:r>
            <a:endParaRPr lang="en-US" sz="1750" dirty="0"/>
          </a:p>
        </p:txBody>
      </p:sp>
      <p:sp>
        <p:nvSpPr>
          <p:cNvPr id="9" name="Text 7"/>
          <p:cNvSpPr/>
          <p:nvPr/>
        </p:nvSpPr>
        <p:spPr>
          <a:xfrm>
            <a:off x="11454170" y="2490907"/>
            <a:ext cx="2148007" cy="725805"/>
          </a:xfrm>
          <a:prstGeom prst="rect">
            <a:avLst/>
          </a:prstGeom>
          <a:noFill/>
          <a:ln/>
        </p:spPr>
        <p:txBody>
          <a:bodyPr wrap="squar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Acceptable Threshold</a:t>
            </a:r>
            <a:endParaRPr lang="en-US" sz="1750" dirty="0"/>
          </a:p>
        </p:txBody>
      </p:sp>
      <p:sp>
        <p:nvSpPr>
          <p:cNvPr id="10" name="Shape 8"/>
          <p:cNvSpPr/>
          <p:nvPr/>
        </p:nvSpPr>
        <p:spPr>
          <a:xfrm>
            <a:off x="801410" y="3360420"/>
            <a:ext cx="13027581" cy="650319"/>
          </a:xfrm>
          <a:prstGeom prst="rect">
            <a:avLst/>
          </a:prstGeom>
          <a:solidFill>
            <a:srgbClr val="000000">
              <a:alpha val="4000"/>
            </a:srgbClr>
          </a:solidFill>
          <a:ln/>
        </p:spPr>
      </p:sp>
      <p:sp>
        <p:nvSpPr>
          <p:cNvPr id="11" name="Text 9"/>
          <p:cNvSpPr/>
          <p:nvPr/>
        </p:nvSpPr>
        <p:spPr>
          <a:xfrm>
            <a:off x="1028462" y="3504128"/>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CFI (Comparative Fit Index)</a:t>
            </a:r>
            <a:endParaRPr lang="en-US" sz="1750" dirty="0"/>
          </a:p>
        </p:txBody>
      </p:sp>
      <p:sp>
        <p:nvSpPr>
          <p:cNvPr id="12" name="Text 10"/>
          <p:cNvSpPr/>
          <p:nvPr/>
        </p:nvSpPr>
        <p:spPr>
          <a:xfrm>
            <a:off x="4940498" y="3504128"/>
            <a:ext cx="2795588" cy="362903"/>
          </a:xfrm>
          <a:prstGeom prst="rect">
            <a:avLst/>
          </a:prstGeom>
          <a:noFill/>
          <a:ln/>
        </p:spPr>
        <p:txBody>
          <a:bodyPr wrap="none" lIns="0" tIns="0" rIns="0" bIns="0" rtlCol="0" anchor="t"/>
          <a:lstStyle/>
          <a:p>
            <a:pPr algn="l" indent="0" marL="0">
              <a:lnSpc>
                <a:spcPts val="2850"/>
              </a:lnSpc>
              <a:buNone/>
            </a:pPr>
            <a:r>
              <a:rPr lang="en-US" sz="1750" b="1" dirty="0">
                <a:solidFill>
                  <a:srgbClr val="3257B8"/>
                </a:solidFill>
                <a:latin typeface="Roboto" pitchFamily="34" charset="0"/>
                <a:ea typeface="Roboto" pitchFamily="34" charset="-122"/>
                <a:cs typeface="Roboto" pitchFamily="34" charset="-120"/>
              </a:rPr>
              <a:t>.975</a:t>
            </a:r>
            <a:endParaRPr lang="en-US" sz="1750" dirty="0"/>
          </a:p>
        </p:txBody>
      </p:sp>
      <p:sp>
        <p:nvSpPr>
          <p:cNvPr id="13" name="Text 11"/>
          <p:cNvSpPr/>
          <p:nvPr/>
        </p:nvSpPr>
        <p:spPr>
          <a:xfrm>
            <a:off x="8197334" y="3504128"/>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.95</a:t>
            </a:r>
            <a:endParaRPr lang="en-US" sz="1750" dirty="0"/>
          </a:p>
        </p:txBody>
      </p:sp>
      <p:sp>
        <p:nvSpPr>
          <p:cNvPr id="14" name="Text 12"/>
          <p:cNvSpPr/>
          <p:nvPr/>
        </p:nvSpPr>
        <p:spPr>
          <a:xfrm>
            <a:off x="11454170" y="3504128"/>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.90</a:t>
            </a:r>
            <a:endParaRPr lang="en-US" sz="1750" dirty="0"/>
          </a:p>
        </p:txBody>
      </p:sp>
      <p:sp>
        <p:nvSpPr>
          <p:cNvPr id="15" name="Shape 13"/>
          <p:cNvSpPr/>
          <p:nvPr/>
        </p:nvSpPr>
        <p:spPr>
          <a:xfrm>
            <a:off x="801410" y="4010739"/>
            <a:ext cx="13027581" cy="650319"/>
          </a:xfrm>
          <a:prstGeom prst="rect">
            <a:avLst/>
          </a:prstGeom>
          <a:solidFill>
            <a:srgbClr val="FFFFFF">
              <a:alpha val="4000"/>
            </a:srgbClr>
          </a:solidFill>
          <a:ln/>
        </p:spPr>
      </p:sp>
      <p:sp>
        <p:nvSpPr>
          <p:cNvPr id="16" name="Text 14"/>
          <p:cNvSpPr/>
          <p:nvPr/>
        </p:nvSpPr>
        <p:spPr>
          <a:xfrm>
            <a:off x="1028462" y="4154448"/>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TLI (Tucker-Lewis Index)</a:t>
            </a:r>
            <a:endParaRPr lang="en-US" sz="1750" dirty="0"/>
          </a:p>
        </p:txBody>
      </p:sp>
      <p:sp>
        <p:nvSpPr>
          <p:cNvPr id="17" name="Text 15"/>
          <p:cNvSpPr/>
          <p:nvPr/>
        </p:nvSpPr>
        <p:spPr>
          <a:xfrm>
            <a:off x="4940498" y="4154448"/>
            <a:ext cx="2795588" cy="362903"/>
          </a:xfrm>
          <a:prstGeom prst="rect">
            <a:avLst/>
          </a:prstGeom>
          <a:noFill/>
          <a:ln/>
        </p:spPr>
        <p:txBody>
          <a:bodyPr wrap="none" lIns="0" tIns="0" rIns="0" bIns="0" rtlCol="0" anchor="t"/>
          <a:lstStyle/>
          <a:p>
            <a:pPr algn="l" indent="0" marL="0">
              <a:lnSpc>
                <a:spcPts val="2850"/>
              </a:lnSpc>
              <a:buNone/>
            </a:pPr>
            <a:r>
              <a:rPr lang="en-US" sz="1750" b="1" dirty="0">
                <a:solidFill>
                  <a:srgbClr val="3257B8"/>
                </a:solidFill>
                <a:latin typeface="Roboto" pitchFamily="34" charset="0"/>
                <a:ea typeface="Roboto" pitchFamily="34" charset="-122"/>
                <a:cs typeface="Roboto" pitchFamily="34" charset="-120"/>
              </a:rPr>
              <a:t>.960</a:t>
            </a:r>
            <a:endParaRPr lang="en-US" sz="1750" dirty="0"/>
          </a:p>
        </p:txBody>
      </p:sp>
      <p:sp>
        <p:nvSpPr>
          <p:cNvPr id="18" name="Text 16"/>
          <p:cNvSpPr/>
          <p:nvPr/>
        </p:nvSpPr>
        <p:spPr>
          <a:xfrm>
            <a:off x="8197334" y="4154448"/>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.95</a:t>
            </a:r>
            <a:endParaRPr lang="en-US" sz="1750" dirty="0"/>
          </a:p>
        </p:txBody>
      </p:sp>
      <p:sp>
        <p:nvSpPr>
          <p:cNvPr id="19" name="Text 17"/>
          <p:cNvSpPr/>
          <p:nvPr/>
        </p:nvSpPr>
        <p:spPr>
          <a:xfrm>
            <a:off x="11454170" y="4154448"/>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.90</a:t>
            </a:r>
            <a:endParaRPr lang="en-US" sz="1750" dirty="0"/>
          </a:p>
        </p:txBody>
      </p:sp>
      <p:sp>
        <p:nvSpPr>
          <p:cNvPr id="20" name="Shape 18"/>
          <p:cNvSpPr/>
          <p:nvPr/>
        </p:nvSpPr>
        <p:spPr>
          <a:xfrm>
            <a:off x="801410" y="4661059"/>
            <a:ext cx="13027581" cy="650319"/>
          </a:xfrm>
          <a:prstGeom prst="rect">
            <a:avLst/>
          </a:prstGeom>
          <a:solidFill>
            <a:srgbClr val="000000">
              <a:alpha val="4000"/>
            </a:srgbClr>
          </a:solidFill>
          <a:ln/>
        </p:spPr>
      </p:sp>
      <p:sp>
        <p:nvSpPr>
          <p:cNvPr id="21" name="Text 19"/>
          <p:cNvSpPr/>
          <p:nvPr/>
        </p:nvSpPr>
        <p:spPr>
          <a:xfrm>
            <a:off x="1028462" y="4804767"/>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RMSEA (Root Mean Square Error)</a:t>
            </a:r>
            <a:endParaRPr lang="en-US" sz="1750" dirty="0"/>
          </a:p>
        </p:txBody>
      </p:sp>
      <p:sp>
        <p:nvSpPr>
          <p:cNvPr id="22" name="Text 20"/>
          <p:cNvSpPr/>
          <p:nvPr/>
        </p:nvSpPr>
        <p:spPr>
          <a:xfrm>
            <a:off x="4940498" y="4804767"/>
            <a:ext cx="2795588" cy="362903"/>
          </a:xfrm>
          <a:prstGeom prst="rect">
            <a:avLst/>
          </a:prstGeom>
          <a:noFill/>
          <a:ln/>
        </p:spPr>
        <p:txBody>
          <a:bodyPr wrap="none" lIns="0" tIns="0" rIns="0" bIns="0" rtlCol="0" anchor="t"/>
          <a:lstStyle/>
          <a:p>
            <a:pPr algn="l" indent="0" marL="0">
              <a:lnSpc>
                <a:spcPts val="2850"/>
              </a:lnSpc>
              <a:buNone/>
            </a:pPr>
            <a:r>
              <a:rPr lang="en-US" sz="1750" b="1" dirty="0">
                <a:solidFill>
                  <a:srgbClr val="15213F"/>
                </a:solidFill>
                <a:latin typeface="Roboto" pitchFamily="34" charset="0"/>
                <a:ea typeface="Roboto" pitchFamily="34" charset="-122"/>
                <a:cs typeface="Roboto" pitchFamily="34" charset="-120"/>
              </a:rPr>
              <a:t>.065</a:t>
            </a:r>
            <a:endParaRPr lang="en-US" sz="1750" dirty="0"/>
          </a:p>
        </p:txBody>
      </p:sp>
      <p:sp>
        <p:nvSpPr>
          <p:cNvPr id="23" name="Text 21"/>
          <p:cNvSpPr/>
          <p:nvPr/>
        </p:nvSpPr>
        <p:spPr>
          <a:xfrm>
            <a:off x="8197334" y="4804767"/>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.06</a:t>
            </a:r>
            <a:endParaRPr lang="en-US" sz="1750" dirty="0"/>
          </a:p>
        </p:txBody>
      </p:sp>
      <p:sp>
        <p:nvSpPr>
          <p:cNvPr id="24" name="Text 22"/>
          <p:cNvSpPr/>
          <p:nvPr/>
        </p:nvSpPr>
        <p:spPr>
          <a:xfrm>
            <a:off x="11454170" y="4804767"/>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.08</a:t>
            </a:r>
            <a:endParaRPr lang="en-US" sz="1750" dirty="0"/>
          </a:p>
        </p:txBody>
      </p:sp>
      <p:sp>
        <p:nvSpPr>
          <p:cNvPr id="25" name="Shape 23"/>
          <p:cNvSpPr/>
          <p:nvPr/>
        </p:nvSpPr>
        <p:spPr>
          <a:xfrm>
            <a:off x="801410" y="5311378"/>
            <a:ext cx="13027581" cy="650319"/>
          </a:xfrm>
          <a:prstGeom prst="rect">
            <a:avLst/>
          </a:prstGeom>
          <a:solidFill>
            <a:srgbClr val="FFFFFF">
              <a:alpha val="4000"/>
            </a:srgbClr>
          </a:solidFill>
          <a:ln/>
        </p:spPr>
      </p:sp>
      <p:sp>
        <p:nvSpPr>
          <p:cNvPr id="26" name="Text 24"/>
          <p:cNvSpPr/>
          <p:nvPr/>
        </p:nvSpPr>
        <p:spPr>
          <a:xfrm>
            <a:off x="1028462" y="5455087"/>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SRMR (Standardized RMR)</a:t>
            </a:r>
            <a:endParaRPr lang="en-US" sz="1750" dirty="0"/>
          </a:p>
        </p:txBody>
      </p:sp>
      <p:sp>
        <p:nvSpPr>
          <p:cNvPr id="27" name="Text 25"/>
          <p:cNvSpPr/>
          <p:nvPr/>
        </p:nvSpPr>
        <p:spPr>
          <a:xfrm>
            <a:off x="4940498" y="5455087"/>
            <a:ext cx="2795588" cy="362903"/>
          </a:xfrm>
          <a:prstGeom prst="rect">
            <a:avLst/>
          </a:prstGeom>
          <a:noFill/>
          <a:ln/>
        </p:spPr>
        <p:txBody>
          <a:bodyPr wrap="none" lIns="0" tIns="0" rIns="0" bIns="0" rtlCol="0" anchor="t"/>
          <a:lstStyle/>
          <a:p>
            <a:pPr algn="l" indent="0" marL="0">
              <a:lnSpc>
                <a:spcPts val="2850"/>
              </a:lnSpc>
              <a:buNone/>
            </a:pPr>
            <a:r>
              <a:rPr lang="en-US" sz="1750" b="1" dirty="0">
                <a:solidFill>
                  <a:srgbClr val="3257B8"/>
                </a:solidFill>
                <a:latin typeface="Roboto" pitchFamily="34" charset="0"/>
                <a:ea typeface="Roboto" pitchFamily="34" charset="-122"/>
                <a:cs typeface="Roboto" pitchFamily="34" charset="-120"/>
              </a:rPr>
              <a:t>.044</a:t>
            </a:r>
            <a:endParaRPr lang="en-US" sz="1750" dirty="0"/>
          </a:p>
        </p:txBody>
      </p:sp>
      <p:sp>
        <p:nvSpPr>
          <p:cNvPr id="28" name="Text 26"/>
          <p:cNvSpPr/>
          <p:nvPr/>
        </p:nvSpPr>
        <p:spPr>
          <a:xfrm>
            <a:off x="8197334" y="5455087"/>
            <a:ext cx="2795588"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.08</a:t>
            </a:r>
            <a:endParaRPr lang="en-US" sz="1750" dirty="0"/>
          </a:p>
        </p:txBody>
      </p:sp>
      <p:sp>
        <p:nvSpPr>
          <p:cNvPr id="29" name="Text 27"/>
          <p:cNvSpPr/>
          <p:nvPr/>
        </p:nvSpPr>
        <p:spPr>
          <a:xfrm>
            <a:off x="11454170" y="5455087"/>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 .10</a:t>
            </a:r>
            <a:endParaRPr lang="en-US" sz="1750" dirty="0"/>
          </a:p>
        </p:txBody>
      </p:sp>
      <p:sp>
        <p:nvSpPr>
          <p:cNvPr id="30" name="Text 28"/>
          <p:cNvSpPr/>
          <p:nvPr/>
        </p:nvSpPr>
        <p:spPr>
          <a:xfrm>
            <a:off x="793790" y="6224468"/>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The measurement model demonstrates excellent fit across most indices. CFI and TLI exceed the .95 excellent threshold. RMSEA at .065 falls in the acceptable range, slightly above the .06 excellent cutoff—typical for models with this sample size and complexity. SRMR at .044 indicates excellent fit. Overall, the model fits the data very well.</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2100"/>
          </a:xfrm>
          <a:prstGeom prst="rect">
            <a:avLst/>
          </a:prstGeom>
        </p:spPr>
      </p:pic>
      <p:sp>
        <p:nvSpPr>
          <p:cNvPr id="3" name="Text 0"/>
          <p:cNvSpPr/>
          <p:nvPr/>
        </p:nvSpPr>
        <p:spPr>
          <a:xfrm>
            <a:off x="6190655" y="553283"/>
            <a:ext cx="4373285" cy="326946"/>
          </a:xfrm>
          <a:prstGeom prst="rect">
            <a:avLst/>
          </a:prstGeom>
          <a:noFill/>
          <a:ln/>
        </p:spPr>
        <p:txBody>
          <a:bodyPr wrap="none" lIns="0" tIns="0" rIns="0" bIns="0" rtlCol="0" anchor="t"/>
          <a:lstStyle/>
          <a:p>
            <a:pPr algn="l" indent="0" marL="0">
              <a:lnSpc>
                <a:spcPts val="2550"/>
              </a:lnSpc>
              <a:buNone/>
            </a:pPr>
            <a:r>
              <a:rPr lang="en-US" sz="2050" dirty="0">
                <a:solidFill>
                  <a:srgbClr val="3257B8"/>
                </a:solidFill>
                <a:latin typeface="Roboto Slab" pitchFamily="34" charset="0"/>
                <a:ea typeface="Roboto Slab" pitchFamily="34" charset="-122"/>
                <a:cs typeface="Roboto Slab" pitchFamily="34" charset="-120"/>
              </a:rPr>
              <a:t>Backup: Understanding Price Value</a:t>
            </a:r>
            <a:endParaRPr lang="en-US" sz="2050" dirty="0"/>
          </a:p>
        </p:txBody>
      </p:sp>
      <p:sp>
        <p:nvSpPr>
          <p:cNvPr id="4" name="Text 1"/>
          <p:cNvSpPr/>
          <p:nvPr/>
        </p:nvSpPr>
        <p:spPr>
          <a:xfrm>
            <a:off x="6190655" y="932498"/>
            <a:ext cx="2087642" cy="245269"/>
          </a:xfrm>
          <a:prstGeom prst="rect">
            <a:avLst/>
          </a:prstGeom>
          <a:noFill/>
          <a:ln/>
        </p:spPr>
        <p:txBody>
          <a:bodyPr wrap="none" lIns="0" tIns="0" rIns="0" bIns="0" rtlCol="0" anchor="t"/>
          <a:lstStyle/>
          <a:p>
            <a:pPr algn="l" indent="0" marL="0">
              <a:lnSpc>
                <a:spcPts val="1900"/>
              </a:lnSpc>
              <a:buNone/>
            </a:pPr>
            <a:r>
              <a:rPr lang="en-US" sz="1500" dirty="0">
                <a:solidFill>
                  <a:srgbClr val="3257B8"/>
                </a:solidFill>
                <a:latin typeface="Roboto Slab" pitchFamily="34" charset="0"/>
                <a:ea typeface="Roboto Slab" pitchFamily="34" charset="-122"/>
                <a:cs typeface="Roboto Slab" pitchFamily="34" charset="-120"/>
              </a:rPr>
              <a:t>Beyond Monetary Cost</a:t>
            </a:r>
            <a:endParaRPr lang="en-US" sz="1500" dirty="0"/>
          </a:p>
        </p:txBody>
      </p:sp>
      <p:sp>
        <p:nvSpPr>
          <p:cNvPr id="5" name="Text 2"/>
          <p:cNvSpPr/>
          <p:nvPr/>
        </p:nvSpPr>
        <p:spPr>
          <a:xfrm>
            <a:off x="6190655" y="1373862"/>
            <a:ext cx="7735491" cy="209312"/>
          </a:xfrm>
          <a:prstGeom prst="rect">
            <a:avLst/>
          </a:prstGeom>
          <a:noFill/>
          <a:ln/>
        </p:spPr>
        <p:txBody>
          <a:bodyPr wrap="none" lIns="0" tIns="0" rIns="0" bIns="0" rtlCol="0" anchor="t"/>
          <a:lstStyle/>
          <a:p>
            <a:pPr algn="l" indent="0" marL="0">
              <a:lnSpc>
                <a:spcPts val="1600"/>
              </a:lnSpc>
              <a:buNone/>
            </a:pPr>
            <a:r>
              <a:rPr lang="en-US" sz="1000" b="1" dirty="0">
                <a:solidFill>
                  <a:srgbClr val="15213F"/>
                </a:solidFill>
                <a:latin typeface="Roboto" pitchFamily="34" charset="0"/>
                <a:ea typeface="Roboto" pitchFamily="34" charset="-122"/>
                <a:cs typeface="Roboto" pitchFamily="34" charset="-120"/>
              </a:rPr>
              <a:t>Price Value</a:t>
            </a:r>
            <a:pPr algn="l" indent="0" marL="0">
              <a:lnSpc>
                <a:spcPts val="1600"/>
              </a:lnSpc>
              <a:buNone/>
            </a:pPr>
            <a:r>
              <a:rPr lang="en-US" sz="1000" dirty="0">
                <a:solidFill>
                  <a:srgbClr val="15213F"/>
                </a:solidFill>
                <a:latin typeface="Roboto" pitchFamily="34" charset="0"/>
                <a:ea typeface="Roboto" pitchFamily="34" charset="-122"/>
                <a:cs typeface="Roboto" pitchFamily="34" charset="-120"/>
              </a:rPr>
              <a:t> measures </a:t>
            </a:r>
            <a:pPr algn="l" indent="0" marL="0">
              <a:lnSpc>
                <a:spcPts val="1600"/>
              </a:lnSpc>
              <a:buNone/>
            </a:pPr>
            <a:r>
              <a:rPr lang="en-US" sz="1000" i="1" dirty="0">
                <a:solidFill>
                  <a:srgbClr val="15213F"/>
                </a:solidFill>
                <a:latin typeface="Roboto" pitchFamily="34" charset="0"/>
                <a:ea typeface="Roboto" pitchFamily="34" charset="-122"/>
                <a:cs typeface="Roboto" pitchFamily="34" charset="-120"/>
              </a:rPr>
              <a:t>perceived worth relative to total investment</a:t>
            </a:r>
            <a:pPr algn="l" indent="0" marL="0">
              <a:lnSpc>
                <a:spcPts val="1600"/>
              </a:lnSpc>
              <a:buNone/>
            </a:pPr>
            <a:r>
              <a:rPr lang="en-US" sz="1000" dirty="0">
                <a:solidFill>
                  <a:srgbClr val="15213F"/>
                </a:solidFill>
                <a:latin typeface="Roboto" pitchFamily="34" charset="0"/>
                <a:ea typeface="Roboto" pitchFamily="34" charset="-122"/>
                <a:cs typeface="Roboto" pitchFamily="34" charset="-120"/>
              </a:rPr>
              <a:t>, encompassing multiple cost dimensions:</a:t>
            </a:r>
            <a:endParaRPr lang="en-US" sz="1000" dirty="0"/>
          </a:p>
        </p:txBody>
      </p:sp>
      <p:sp>
        <p:nvSpPr>
          <p:cNvPr id="6" name="Shape 3"/>
          <p:cNvSpPr/>
          <p:nvPr/>
        </p:nvSpPr>
        <p:spPr>
          <a:xfrm>
            <a:off x="6190655" y="1926312"/>
            <a:ext cx="7735491" cy="965002"/>
          </a:xfrm>
          <a:prstGeom prst="roundRect">
            <a:avLst>
              <a:gd name="adj" fmla="val 7581"/>
            </a:avLst>
          </a:prstGeom>
          <a:solidFill>
            <a:srgbClr val="FBFCFE"/>
          </a:solidFill>
          <a:ln/>
        </p:spPr>
      </p:sp>
      <p:pic>
        <p:nvPicPr>
          <p:cNvPr id="7" name="Image 1" descr="preencoded.png">    </p:cNvPr>
          <p:cNvPicPr>
            <a:picLocks noChangeAspect="1"/>
          </p:cNvPicPr>
          <p:nvPr/>
        </p:nvPicPr>
        <p:blipFill>
          <a:blip r:embed="rId2"/>
          <a:stretch>
            <a:fillRect/>
          </a:stretch>
        </p:blipFill>
        <p:spPr>
          <a:xfrm>
            <a:off x="6190655" y="1911072"/>
            <a:ext cx="7735491" cy="60960"/>
          </a:xfrm>
          <a:prstGeom prst="rect">
            <a:avLst/>
          </a:prstGeom>
        </p:spPr>
      </p:pic>
      <p:pic>
        <p:nvPicPr>
          <p:cNvPr id="8" name="Image 2" descr="preencoded.png">    </p:cNvPr>
          <p:cNvPicPr>
            <a:picLocks noChangeAspect="1"/>
          </p:cNvPicPr>
          <p:nvPr/>
        </p:nvPicPr>
        <p:blipFill>
          <a:blip r:embed="rId3"/>
          <a:stretch>
            <a:fillRect/>
          </a:stretch>
        </p:blipFill>
        <p:spPr>
          <a:xfrm>
            <a:off x="9862245" y="1730216"/>
            <a:ext cx="392311" cy="392311"/>
          </a:xfrm>
          <a:prstGeom prst="rect">
            <a:avLst/>
          </a:prstGeom>
        </p:spPr>
      </p:pic>
      <p:sp>
        <p:nvSpPr>
          <p:cNvPr id="9" name="Text 4"/>
          <p:cNvSpPr/>
          <p:nvPr/>
        </p:nvSpPr>
        <p:spPr>
          <a:xfrm>
            <a:off x="9979878" y="1828324"/>
            <a:ext cx="156924" cy="196096"/>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Roboto Slab" pitchFamily="34" charset="0"/>
                <a:ea typeface="Roboto Slab" pitchFamily="34" charset="-122"/>
                <a:cs typeface="Roboto Slab" pitchFamily="34" charset="-120"/>
              </a:rPr>
              <a:t>1</a:t>
            </a:r>
            <a:endParaRPr lang="en-US" sz="1200" dirty="0"/>
          </a:p>
        </p:txBody>
      </p:sp>
      <p:sp>
        <p:nvSpPr>
          <p:cNvPr id="10" name="Text 5"/>
          <p:cNvSpPr/>
          <p:nvPr/>
        </p:nvSpPr>
        <p:spPr>
          <a:xfrm>
            <a:off x="6336625" y="2253258"/>
            <a:ext cx="1688187" cy="204311"/>
          </a:xfrm>
          <a:prstGeom prst="rect">
            <a:avLst/>
          </a:prstGeom>
          <a:noFill/>
          <a:ln/>
        </p:spPr>
        <p:txBody>
          <a:bodyPr wrap="none" lIns="0" tIns="0" rIns="0" bIns="0" rtlCol="0" anchor="t"/>
          <a:lstStyle/>
          <a:p>
            <a:pPr algn="l" indent="0" marL="0">
              <a:lnSpc>
                <a:spcPts val="1600"/>
              </a:lnSpc>
              <a:buNone/>
            </a:pPr>
            <a:r>
              <a:rPr lang="en-US" sz="1250" dirty="0">
                <a:solidFill>
                  <a:srgbClr val="15213F"/>
                </a:solidFill>
                <a:latin typeface="Roboto Slab" pitchFamily="34" charset="0"/>
                <a:ea typeface="Roboto Slab" pitchFamily="34" charset="-122"/>
                <a:cs typeface="Roboto Slab" pitchFamily="34" charset="-120"/>
              </a:rPr>
              <a:t>Direct Financial Costs</a:t>
            </a:r>
            <a:endParaRPr lang="en-US" sz="1250" dirty="0"/>
          </a:p>
        </p:txBody>
      </p:sp>
      <p:sp>
        <p:nvSpPr>
          <p:cNvPr id="11" name="Text 6"/>
          <p:cNvSpPr/>
          <p:nvPr/>
        </p:nvSpPr>
        <p:spPr>
          <a:xfrm>
            <a:off x="6336625" y="2536031"/>
            <a:ext cx="7443549" cy="209312"/>
          </a:xfrm>
          <a:prstGeom prst="rect">
            <a:avLst/>
          </a:prstGeom>
          <a:noFill/>
          <a:ln/>
        </p:spPr>
        <p:txBody>
          <a:bodyPr wrap="none" lIns="0" tIns="0" rIns="0" bIns="0" rtlCol="0" anchor="t"/>
          <a:lstStyle/>
          <a:p>
            <a:pPr algn="l" indent="0" marL="0">
              <a:lnSpc>
                <a:spcPts val="1600"/>
              </a:lnSpc>
              <a:buNone/>
            </a:pPr>
            <a:r>
              <a:rPr lang="en-US" sz="1000" dirty="0">
                <a:solidFill>
                  <a:srgbClr val="15213F"/>
                </a:solidFill>
                <a:latin typeface="Roboto" pitchFamily="34" charset="0"/>
                <a:ea typeface="Roboto" pitchFamily="34" charset="-122"/>
                <a:cs typeface="Roboto" pitchFamily="34" charset="-120"/>
              </a:rPr>
              <a:t>Software licensing fees, subscription costs, infrastructure investments, implementation expenses</a:t>
            </a:r>
            <a:endParaRPr lang="en-US" sz="1000" dirty="0"/>
          </a:p>
        </p:txBody>
      </p:sp>
      <p:sp>
        <p:nvSpPr>
          <p:cNvPr id="12" name="Shape 7"/>
          <p:cNvSpPr/>
          <p:nvPr/>
        </p:nvSpPr>
        <p:spPr>
          <a:xfrm>
            <a:off x="6190655" y="3218140"/>
            <a:ext cx="7735491" cy="965002"/>
          </a:xfrm>
          <a:prstGeom prst="roundRect">
            <a:avLst>
              <a:gd name="adj" fmla="val 7581"/>
            </a:avLst>
          </a:prstGeom>
          <a:solidFill>
            <a:srgbClr val="FBFCFE"/>
          </a:solidFill>
          <a:ln/>
        </p:spPr>
      </p:sp>
      <p:pic>
        <p:nvPicPr>
          <p:cNvPr id="13" name="Image 3" descr="preencoded.png">    </p:cNvPr>
          <p:cNvPicPr>
            <a:picLocks noChangeAspect="1"/>
          </p:cNvPicPr>
          <p:nvPr/>
        </p:nvPicPr>
        <p:blipFill>
          <a:blip r:embed="rId4"/>
          <a:stretch>
            <a:fillRect/>
          </a:stretch>
        </p:blipFill>
        <p:spPr>
          <a:xfrm>
            <a:off x="6190655" y="3202900"/>
            <a:ext cx="7735491" cy="60960"/>
          </a:xfrm>
          <a:prstGeom prst="rect">
            <a:avLst/>
          </a:prstGeom>
        </p:spPr>
      </p:pic>
      <p:pic>
        <p:nvPicPr>
          <p:cNvPr id="14" name="Image 4" descr="preencoded.png">    </p:cNvPr>
          <p:cNvPicPr>
            <a:picLocks noChangeAspect="1"/>
          </p:cNvPicPr>
          <p:nvPr/>
        </p:nvPicPr>
        <p:blipFill>
          <a:blip r:embed="rId5"/>
          <a:stretch>
            <a:fillRect/>
          </a:stretch>
        </p:blipFill>
        <p:spPr>
          <a:xfrm>
            <a:off x="9862245" y="3022044"/>
            <a:ext cx="392311" cy="392311"/>
          </a:xfrm>
          <a:prstGeom prst="rect">
            <a:avLst/>
          </a:prstGeom>
        </p:spPr>
      </p:pic>
      <p:sp>
        <p:nvSpPr>
          <p:cNvPr id="15" name="Text 8"/>
          <p:cNvSpPr/>
          <p:nvPr/>
        </p:nvSpPr>
        <p:spPr>
          <a:xfrm>
            <a:off x="9979878" y="3120152"/>
            <a:ext cx="156924" cy="196096"/>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Roboto Slab" pitchFamily="34" charset="0"/>
                <a:ea typeface="Roboto Slab" pitchFamily="34" charset="-122"/>
                <a:cs typeface="Roboto Slab" pitchFamily="34" charset="-120"/>
              </a:rPr>
              <a:t>2</a:t>
            </a:r>
            <a:endParaRPr lang="en-US" sz="1200" dirty="0"/>
          </a:p>
        </p:txBody>
      </p:sp>
      <p:sp>
        <p:nvSpPr>
          <p:cNvPr id="16" name="Text 9"/>
          <p:cNvSpPr/>
          <p:nvPr/>
        </p:nvSpPr>
        <p:spPr>
          <a:xfrm>
            <a:off x="6336625" y="3545086"/>
            <a:ext cx="1634966" cy="204311"/>
          </a:xfrm>
          <a:prstGeom prst="rect">
            <a:avLst/>
          </a:prstGeom>
          <a:noFill/>
          <a:ln/>
        </p:spPr>
        <p:txBody>
          <a:bodyPr wrap="none" lIns="0" tIns="0" rIns="0" bIns="0" rtlCol="0" anchor="t"/>
          <a:lstStyle/>
          <a:p>
            <a:pPr algn="l" indent="0" marL="0">
              <a:lnSpc>
                <a:spcPts val="1600"/>
              </a:lnSpc>
              <a:buNone/>
            </a:pPr>
            <a:r>
              <a:rPr lang="en-US" sz="1250" dirty="0">
                <a:solidFill>
                  <a:srgbClr val="15213F"/>
                </a:solidFill>
                <a:latin typeface="Roboto Slab" pitchFamily="34" charset="0"/>
                <a:ea typeface="Roboto Slab" pitchFamily="34" charset="-122"/>
                <a:cs typeface="Roboto Slab" pitchFamily="34" charset="-120"/>
              </a:rPr>
              <a:t>Indirect Time Costs</a:t>
            </a:r>
            <a:endParaRPr lang="en-US" sz="1250" dirty="0"/>
          </a:p>
        </p:txBody>
      </p:sp>
      <p:sp>
        <p:nvSpPr>
          <p:cNvPr id="17" name="Text 10"/>
          <p:cNvSpPr/>
          <p:nvPr/>
        </p:nvSpPr>
        <p:spPr>
          <a:xfrm>
            <a:off x="6336625" y="3827859"/>
            <a:ext cx="7443549" cy="209312"/>
          </a:xfrm>
          <a:prstGeom prst="rect">
            <a:avLst/>
          </a:prstGeom>
          <a:noFill/>
          <a:ln/>
        </p:spPr>
        <p:txBody>
          <a:bodyPr wrap="none" lIns="0" tIns="0" rIns="0" bIns="0" rtlCol="0" anchor="t"/>
          <a:lstStyle/>
          <a:p>
            <a:pPr algn="l" indent="0" marL="0">
              <a:lnSpc>
                <a:spcPts val="1600"/>
              </a:lnSpc>
              <a:buNone/>
            </a:pPr>
            <a:r>
              <a:rPr lang="en-US" sz="1000" dirty="0">
                <a:solidFill>
                  <a:srgbClr val="15213F"/>
                </a:solidFill>
                <a:latin typeface="Roboto" pitchFamily="34" charset="0"/>
                <a:ea typeface="Roboto" pitchFamily="34" charset="-122"/>
                <a:cs typeface="Roboto" pitchFamily="34" charset="-120"/>
              </a:rPr>
              <a:t>Learning curve duration, training time required, workflow disruption period, productivity dip during transition</a:t>
            </a:r>
            <a:endParaRPr lang="en-US" sz="1000" dirty="0"/>
          </a:p>
        </p:txBody>
      </p:sp>
      <p:sp>
        <p:nvSpPr>
          <p:cNvPr id="18" name="Shape 11"/>
          <p:cNvSpPr/>
          <p:nvPr/>
        </p:nvSpPr>
        <p:spPr>
          <a:xfrm>
            <a:off x="6190655" y="4509968"/>
            <a:ext cx="7735491" cy="965002"/>
          </a:xfrm>
          <a:prstGeom prst="roundRect">
            <a:avLst>
              <a:gd name="adj" fmla="val 7581"/>
            </a:avLst>
          </a:prstGeom>
          <a:solidFill>
            <a:srgbClr val="FBFCFE"/>
          </a:solidFill>
          <a:ln/>
        </p:spPr>
      </p:sp>
      <p:pic>
        <p:nvPicPr>
          <p:cNvPr id="19" name="Image 5" descr="preencoded.png">    </p:cNvPr>
          <p:cNvPicPr>
            <a:picLocks noChangeAspect="1"/>
          </p:cNvPicPr>
          <p:nvPr/>
        </p:nvPicPr>
        <p:blipFill>
          <a:blip r:embed="rId6"/>
          <a:stretch>
            <a:fillRect/>
          </a:stretch>
        </p:blipFill>
        <p:spPr>
          <a:xfrm>
            <a:off x="6190655" y="4494728"/>
            <a:ext cx="7735491" cy="60960"/>
          </a:xfrm>
          <a:prstGeom prst="rect">
            <a:avLst/>
          </a:prstGeom>
        </p:spPr>
      </p:pic>
      <p:pic>
        <p:nvPicPr>
          <p:cNvPr id="20" name="Image 6" descr="preencoded.png">    </p:cNvPr>
          <p:cNvPicPr>
            <a:picLocks noChangeAspect="1"/>
          </p:cNvPicPr>
          <p:nvPr/>
        </p:nvPicPr>
        <p:blipFill>
          <a:blip r:embed="rId7"/>
          <a:stretch>
            <a:fillRect/>
          </a:stretch>
        </p:blipFill>
        <p:spPr>
          <a:xfrm>
            <a:off x="9862245" y="4313873"/>
            <a:ext cx="392311" cy="392311"/>
          </a:xfrm>
          <a:prstGeom prst="rect">
            <a:avLst/>
          </a:prstGeom>
        </p:spPr>
      </p:pic>
      <p:sp>
        <p:nvSpPr>
          <p:cNvPr id="21" name="Text 12"/>
          <p:cNvSpPr/>
          <p:nvPr/>
        </p:nvSpPr>
        <p:spPr>
          <a:xfrm>
            <a:off x="9979878" y="4411980"/>
            <a:ext cx="156924" cy="196096"/>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Roboto Slab" pitchFamily="34" charset="0"/>
                <a:ea typeface="Roboto Slab" pitchFamily="34" charset="-122"/>
                <a:cs typeface="Roboto Slab" pitchFamily="34" charset="-120"/>
              </a:rPr>
              <a:t>3</a:t>
            </a:r>
            <a:endParaRPr lang="en-US" sz="1200" dirty="0"/>
          </a:p>
        </p:txBody>
      </p:sp>
      <p:sp>
        <p:nvSpPr>
          <p:cNvPr id="22" name="Text 13"/>
          <p:cNvSpPr/>
          <p:nvPr/>
        </p:nvSpPr>
        <p:spPr>
          <a:xfrm>
            <a:off x="6336625" y="4836914"/>
            <a:ext cx="1634966" cy="204311"/>
          </a:xfrm>
          <a:prstGeom prst="rect">
            <a:avLst/>
          </a:prstGeom>
          <a:noFill/>
          <a:ln/>
        </p:spPr>
        <p:txBody>
          <a:bodyPr wrap="none" lIns="0" tIns="0" rIns="0" bIns="0" rtlCol="0" anchor="t"/>
          <a:lstStyle/>
          <a:p>
            <a:pPr algn="l" indent="0" marL="0">
              <a:lnSpc>
                <a:spcPts val="1600"/>
              </a:lnSpc>
              <a:buNone/>
            </a:pPr>
            <a:r>
              <a:rPr lang="en-US" sz="1250" dirty="0">
                <a:solidFill>
                  <a:srgbClr val="15213F"/>
                </a:solidFill>
                <a:latin typeface="Roboto Slab" pitchFamily="34" charset="0"/>
                <a:ea typeface="Roboto Slab" pitchFamily="34" charset="-122"/>
                <a:cs typeface="Roboto Slab" pitchFamily="34" charset="-120"/>
              </a:rPr>
              <a:t>Hidden Risk Costs</a:t>
            </a:r>
            <a:endParaRPr lang="en-US" sz="1250" dirty="0"/>
          </a:p>
        </p:txBody>
      </p:sp>
      <p:sp>
        <p:nvSpPr>
          <p:cNvPr id="23" name="Text 14"/>
          <p:cNvSpPr/>
          <p:nvPr/>
        </p:nvSpPr>
        <p:spPr>
          <a:xfrm>
            <a:off x="6336625" y="5119687"/>
            <a:ext cx="7443549" cy="209312"/>
          </a:xfrm>
          <a:prstGeom prst="rect">
            <a:avLst/>
          </a:prstGeom>
          <a:noFill/>
          <a:ln/>
        </p:spPr>
        <p:txBody>
          <a:bodyPr wrap="none" lIns="0" tIns="0" rIns="0" bIns="0" rtlCol="0" anchor="t"/>
          <a:lstStyle/>
          <a:p>
            <a:pPr algn="l" indent="0" marL="0">
              <a:lnSpc>
                <a:spcPts val="1600"/>
              </a:lnSpc>
              <a:buNone/>
            </a:pPr>
            <a:r>
              <a:rPr lang="en-US" sz="1000" dirty="0">
                <a:solidFill>
                  <a:srgbClr val="15213F"/>
                </a:solidFill>
                <a:latin typeface="Roboto" pitchFamily="34" charset="0"/>
                <a:ea typeface="Roboto" pitchFamily="34" charset="-122"/>
                <a:cs typeface="Roboto" pitchFamily="34" charset="-120"/>
              </a:rPr>
              <a:t>Data privacy concerns, vendor lock-in potential, system dependencies, integration complexity</a:t>
            </a:r>
            <a:endParaRPr lang="en-US" sz="1000" dirty="0"/>
          </a:p>
        </p:txBody>
      </p:sp>
      <p:sp>
        <p:nvSpPr>
          <p:cNvPr id="24" name="Shape 15"/>
          <p:cNvSpPr/>
          <p:nvPr/>
        </p:nvSpPr>
        <p:spPr>
          <a:xfrm>
            <a:off x="6190655" y="5801797"/>
            <a:ext cx="7735491" cy="965002"/>
          </a:xfrm>
          <a:prstGeom prst="roundRect">
            <a:avLst>
              <a:gd name="adj" fmla="val 7581"/>
            </a:avLst>
          </a:prstGeom>
          <a:solidFill>
            <a:srgbClr val="FBFCFE"/>
          </a:solidFill>
          <a:ln/>
        </p:spPr>
      </p:sp>
      <p:pic>
        <p:nvPicPr>
          <p:cNvPr id="25" name="Image 7" descr="preencoded.png">    </p:cNvPr>
          <p:cNvPicPr>
            <a:picLocks noChangeAspect="1"/>
          </p:cNvPicPr>
          <p:nvPr/>
        </p:nvPicPr>
        <p:blipFill>
          <a:blip r:embed="rId8"/>
          <a:stretch>
            <a:fillRect/>
          </a:stretch>
        </p:blipFill>
        <p:spPr>
          <a:xfrm>
            <a:off x="6190655" y="5786557"/>
            <a:ext cx="7735491" cy="60960"/>
          </a:xfrm>
          <a:prstGeom prst="rect">
            <a:avLst/>
          </a:prstGeom>
        </p:spPr>
      </p:pic>
      <p:pic>
        <p:nvPicPr>
          <p:cNvPr id="26" name="Image 8" descr="preencoded.png">    </p:cNvPr>
          <p:cNvPicPr>
            <a:picLocks noChangeAspect="1"/>
          </p:cNvPicPr>
          <p:nvPr/>
        </p:nvPicPr>
        <p:blipFill>
          <a:blip r:embed="rId9"/>
          <a:stretch>
            <a:fillRect/>
          </a:stretch>
        </p:blipFill>
        <p:spPr>
          <a:xfrm>
            <a:off x="9862245" y="5605701"/>
            <a:ext cx="392311" cy="392311"/>
          </a:xfrm>
          <a:prstGeom prst="rect">
            <a:avLst/>
          </a:prstGeom>
        </p:spPr>
      </p:pic>
      <p:sp>
        <p:nvSpPr>
          <p:cNvPr id="27" name="Text 16"/>
          <p:cNvSpPr/>
          <p:nvPr/>
        </p:nvSpPr>
        <p:spPr>
          <a:xfrm>
            <a:off x="9979878" y="5703808"/>
            <a:ext cx="156924" cy="196096"/>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Roboto Slab" pitchFamily="34" charset="0"/>
                <a:ea typeface="Roboto Slab" pitchFamily="34" charset="-122"/>
                <a:cs typeface="Roboto Slab" pitchFamily="34" charset="-120"/>
              </a:rPr>
              <a:t>4</a:t>
            </a:r>
            <a:endParaRPr lang="en-US" sz="1200" dirty="0"/>
          </a:p>
        </p:txBody>
      </p:sp>
      <p:sp>
        <p:nvSpPr>
          <p:cNvPr id="28" name="Text 17"/>
          <p:cNvSpPr/>
          <p:nvPr/>
        </p:nvSpPr>
        <p:spPr>
          <a:xfrm>
            <a:off x="6336625" y="6128742"/>
            <a:ext cx="1634966" cy="204311"/>
          </a:xfrm>
          <a:prstGeom prst="rect">
            <a:avLst/>
          </a:prstGeom>
          <a:noFill/>
          <a:ln/>
        </p:spPr>
        <p:txBody>
          <a:bodyPr wrap="none" lIns="0" tIns="0" rIns="0" bIns="0" rtlCol="0" anchor="t"/>
          <a:lstStyle/>
          <a:p>
            <a:pPr algn="l" indent="0" marL="0">
              <a:lnSpc>
                <a:spcPts val="1600"/>
              </a:lnSpc>
              <a:buNone/>
            </a:pPr>
            <a:r>
              <a:rPr lang="en-US" sz="1250" dirty="0">
                <a:solidFill>
                  <a:srgbClr val="15213F"/>
                </a:solidFill>
                <a:latin typeface="Roboto Slab" pitchFamily="34" charset="0"/>
                <a:ea typeface="Roboto Slab" pitchFamily="34" charset="-122"/>
                <a:cs typeface="Roboto Slab" pitchFamily="34" charset="-120"/>
              </a:rPr>
              <a:t>Opportunity Costs</a:t>
            </a:r>
            <a:endParaRPr lang="en-US" sz="1250" dirty="0"/>
          </a:p>
        </p:txBody>
      </p:sp>
      <p:sp>
        <p:nvSpPr>
          <p:cNvPr id="29" name="Text 18"/>
          <p:cNvSpPr/>
          <p:nvPr/>
        </p:nvSpPr>
        <p:spPr>
          <a:xfrm>
            <a:off x="6336625" y="6411516"/>
            <a:ext cx="7443549" cy="209312"/>
          </a:xfrm>
          <a:prstGeom prst="rect">
            <a:avLst/>
          </a:prstGeom>
          <a:noFill/>
          <a:ln/>
        </p:spPr>
        <p:txBody>
          <a:bodyPr wrap="none" lIns="0" tIns="0" rIns="0" bIns="0" rtlCol="0" anchor="t"/>
          <a:lstStyle/>
          <a:p>
            <a:pPr algn="l" indent="0" marL="0">
              <a:lnSpc>
                <a:spcPts val="1600"/>
              </a:lnSpc>
              <a:buNone/>
            </a:pPr>
            <a:r>
              <a:rPr lang="en-US" sz="1000" dirty="0">
                <a:solidFill>
                  <a:srgbClr val="15213F"/>
                </a:solidFill>
                <a:latin typeface="Roboto" pitchFamily="34" charset="0"/>
                <a:ea typeface="Roboto" pitchFamily="34" charset="-122"/>
                <a:cs typeface="Roboto" pitchFamily="34" charset="-120"/>
              </a:rPr>
              <a:t>Time spent learning AI instead of performing current productive work, alternative technology options foregone</a:t>
            </a:r>
            <a:endParaRPr lang="en-US" sz="1000" dirty="0"/>
          </a:p>
        </p:txBody>
      </p:sp>
      <p:sp>
        <p:nvSpPr>
          <p:cNvPr id="30" name="Shape 19"/>
          <p:cNvSpPr/>
          <p:nvPr/>
        </p:nvSpPr>
        <p:spPr>
          <a:xfrm>
            <a:off x="6190655" y="6913840"/>
            <a:ext cx="7735491" cy="764977"/>
          </a:xfrm>
          <a:prstGeom prst="roundRect">
            <a:avLst>
              <a:gd name="adj" fmla="val 2565"/>
            </a:avLst>
          </a:prstGeom>
          <a:solidFill>
            <a:srgbClr val="C3CFEF"/>
          </a:solidFill>
          <a:ln/>
        </p:spPr>
      </p:sp>
      <p:pic>
        <p:nvPicPr>
          <p:cNvPr id="31" name="Image 9" descr="preencoded.png">    </p:cNvPr>
          <p:cNvPicPr>
            <a:picLocks noChangeAspect="1"/>
          </p:cNvPicPr>
          <p:nvPr/>
        </p:nvPicPr>
        <p:blipFill>
          <a:blip r:embed="rId10"/>
          <a:stretch>
            <a:fillRect/>
          </a:stretch>
        </p:blipFill>
        <p:spPr>
          <a:xfrm>
            <a:off x="6321385" y="7107555"/>
            <a:ext cx="163473" cy="130731"/>
          </a:xfrm>
          <a:prstGeom prst="rect">
            <a:avLst/>
          </a:prstGeom>
        </p:spPr>
      </p:pic>
      <p:sp>
        <p:nvSpPr>
          <p:cNvPr id="32" name="Text 20"/>
          <p:cNvSpPr/>
          <p:nvPr/>
        </p:nvSpPr>
        <p:spPr>
          <a:xfrm>
            <a:off x="6615589" y="7077194"/>
            <a:ext cx="7179826" cy="418624"/>
          </a:xfrm>
          <a:prstGeom prst="rect">
            <a:avLst/>
          </a:prstGeom>
          <a:noFill/>
          <a:ln/>
        </p:spPr>
        <p:txBody>
          <a:bodyPr wrap="square" lIns="0" tIns="0" rIns="0" bIns="0" rtlCol="0" anchor="t"/>
          <a:lstStyle/>
          <a:p>
            <a:pPr algn="l" indent="0" marL="0">
              <a:lnSpc>
                <a:spcPts val="1600"/>
              </a:lnSpc>
              <a:buNone/>
            </a:pPr>
            <a:r>
              <a:rPr lang="en-US" sz="1000" dirty="0">
                <a:solidFill>
                  <a:srgbClr val="000000"/>
                </a:solidFill>
                <a:latin typeface="Roboto" pitchFamily="34" charset="0"/>
                <a:ea typeface="Roboto" pitchFamily="34" charset="-122"/>
                <a:cs typeface="Roboto" pitchFamily="34" charset="-120"/>
              </a:rPr>
              <a:t>When evaluating Price Value, users ask: </a:t>
            </a:r>
            <a:pPr algn="l" indent="0" marL="0">
              <a:lnSpc>
                <a:spcPts val="1600"/>
              </a:lnSpc>
              <a:buNone/>
            </a:pPr>
            <a:r>
              <a:rPr lang="en-US" sz="1000" b="1" dirty="0">
                <a:solidFill>
                  <a:srgbClr val="000000"/>
                </a:solidFill>
                <a:latin typeface="Roboto" pitchFamily="34" charset="0"/>
                <a:ea typeface="Roboto" pitchFamily="34" charset="-122"/>
                <a:cs typeface="Roboto" pitchFamily="34" charset="-120"/>
              </a:rPr>
              <a:t>"Is the total value I'll receive worth the total investment I must make?"</a:t>
            </a:r>
            <a:pPr algn="l" indent="0" marL="0">
              <a:lnSpc>
                <a:spcPts val="1600"/>
              </a:lnSpc>
              <a:buNone/>
            </a:pPr>
            <a:r>
              <a:rPr lang="en-US" sz="1000" dirty="0">
                <a:solidFill>
                  <a:srgbClr val="000000"/>
                </a:solidFill>
                <a:latin typeface="Roboto" pitchFamily="34" charset="0"/>
                <a:ea typeface="Roboto" pitchFamily="34" charset="-122"/>
                <a:cs typeface="Roboto" pitchFamily="34" charset="-120"/>
              </a:rPr>
              <a:t> This is fundamentally different from simply asking "Is this software expensive?"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676632"/>
            <a:ext cx="6194346" cy="453628"/>
          </a:xfrm>
          <a:prstGeom prst="rect">
            <a:avLst/>
          </a:prstGeom>
          <a:noFill/>
          <a:ln/>
        </p:spPr>
        <p:txBody>
          <a:bodyPr wrap="none" lIns="0" tIns="0" rIns="0" bIns="0" rtlCol="0" anchor="t"/>
          <a:lstStyle/>
          <a:p>
            <a:pPr algn="l" indent="0" marL="0">
              <a:lnSpc>
                <a:spcPts val="3550"/>
              </a:lnSpc>
              <a:buNone/>
            </a:pPr>
            <a:r>
              <a:rPr lang="en-US" sz="2850" dirty="0">
                <a:solidFill>
                  <a:srgbClr val="3257B8"/>
                </a:solidFill>
                <a:latin typeface="Roboto Slab" pitchFamily="34" charset="0"/>
                <a:ea typeface="Roboto Slab" pitchFamily="34" charset="-122"/>
                <a:cs typeface="Roboto Slab" pitchFamily="34" charset="-120"/>
              </a:rPr>
              <a:t>Backup: Why Four Constructs Failed</a:t>
            </a:r>
            <a:endParaRPr lang="en-US" sz="2850" dirty="0"/>
          </a:p>
        </p:txBody>
      </p:sp>
      <p:sp>
        <p:nvSpPr>
          <p:cNvPr id="3" name="Text 1"/>
          <p:cNvSpPr/>
          <p:nvPr/>
        </p:nvSpPr>
        <p:spPr>
          <a:xfrm>
            <a:off x="793790" y="1202769"/>
            <a:ext cx="5795248" cy="340162"/>
          </a:xfrm>
          <a:prstGeom prst="rect">
            <a:avLst/>
          </a:prstGeom>
          <a:noFill/>
          <a:ln/>
        </p:spPr>
        <p:txBody>
          <a:bodyPr wrap="none" lIns="0" tIns="0" rIns="0" bIns="0" rtlCol="0" anchor="t"/>
          <a:lstStyle/>
          <a:p>
            <a:pPr algn="l" indent="0" marL="0">
              <a:lnSpc>
                <a:spcPts val="2650"/>
              </a:lnSpc>
              <a:buNone/>
            </a:pPr>
            <a:r>
              <a:rPr lang="en-US" sz="2100" dirty="0">
                <a:solidFill>
                  <a:srgbClr val="3257B8"/>
                </a:solidFill>
                <a:latin typeface="Roboto Slab" pitchFamily="34" charset="0"/>
                <a:ea typeface="Roboto Slab" pitchFamily="34" charset="-122"/>
                <a:cs typeface="Roboto Slab" pitchFamily="34" charset="-120"/>
              </a:rPr>
              <a:t>Measurement Challenges &amp; Future Directions</a:t>
            </a:r>
            <a:endParaRPr lang="en-US" sz="2100" dirty="0"/>
          </a:p>
        </p:txBody>
      </p:sp>
      <p:sp>
        <p:nvSpPr>
          <p:cNvPr id="4" name="Shape 2"/>
          <p:cNvSpPr/>
          <p:nvPr/>
        </p:nvSpPr>
        <p:spPr>
          <a:xfrm>
            <a:off x="793790" y="1815108"/>
            <a:ext cx="13042821" cy="4953238"/>
          </a:xfrm>
          <a:prstGeom prst="roundRect">
            <a:avLst>
              <a:gd name="adj" fmla="val 550"/>
            </a:avLst>
          </a:prstGeom>
          <a:noFill/>
          <a:ln w="7620">
            <a:solidFill>
              <a:srgbClr val="000000">
                <a:alpha val="8000"/>
              </a:srgbClr>
            </a:solidFill>
            <a:prstDash val="solid"/>
          </a:ln>
        </p:spPr>
      </p:sp>
      <p:sp>
        <p:nvSpPr>
          <p:cNvPr id="5" name="Shape 3"/>
          <p:cNvSpPr/>
          <p:nvPr/>
        </p:nvSpPr>
        <p:spPr>
          <a:xfrm>
            <a:off x="801410" y="1822728"/>
            <a:ext cx="13027581" cy="523161"/>
          </a:xfrm>
          <a:prstGeom prst="rect">
            <a:avLst/>
          </a:prstGeom>
          <a:solidFill>
            <a:srgbClr val="FFFFFF">
              <a:alpha val="4000"/>
            </a:srgbClr>
          </a:solidFill>
          <a:ln/>
        </p:spPr>
      </p:sp>
      <p:sp>
        <p:nvSpPr>
          <p:cNvPr id="6" name="Text 4"/>
          <p:cNvSpPr/>
          <p:nvPr/>
        </p:nvSpPr>
        <p:spPr>
          <a:xfrm>
            <a:off x="983099" y="1939171"/>
            <a:ext cx="2238732"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Construct</a:t>
            </a:r>
            <a:endParaRPr lang="en-US" sz="1400" dirty="0"/>
          </a:p>
        </p:txBody>
      </p:sp>
      <p:sp>
        <p:nvSpPr>
          <p:cNvPr id="7" name="Text 5"/>
          <p:cNvSpPr/>
          <p:nvPr/>
        </p:nvSpPr>
        <p:spPr>
          <a:xfrm>
            <a:off x="3592354" y="1939171"/>
            <a:ext cx="1583531"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α</a:t>
            </a:r>
            <a:endParaRPr lang="en-US" sz="1400" dirty="0"/>
          </a:p>
        </p:txBody>
      </p:sp>
      <p:sp>
        <p:nvSpPr>
          <p:cNvPr id="8" name="Text 6"/>
          <p:cNvSpPr/>
          <p:nvPr/>
        </p:nvSpPr>
        <p:spPr>
          <a:xfrm>
            <a:off x="5546408" y="1939171"/>
            <a:ext cx="4189095"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What Went Wrong</a:t>
            </a:r>
            <a:endParaRPr lang="en-US" sz="1400" dirty="0"/>
          </a:p>
        </p:txBody>
      </p:sp>
      <p:sp>
        <p:nvSpPr>
          <p:cNvPr id="9" name="Text 7"/>
          <p:cNvSpPr/>
          <p:nvPr/>
        </p:nvSpPr>
        <p:spPr>
          <a:xfrm>
            <a:off x="10106025" y="1939171"/>
            <a:ext cx="3541514" cy="290274"/>
          </a:xfrm>
          <a:prstGeom prst="rect">
            <a:avLst/>
          </a:prstGeom>
          <a:noFill/>
          <a:ln/>
        </p:spPr>
        <p:txBody>
          <a:bodyPr wrap="none" lIns="0" tIns="0" rIns="0" bIns="0" rtlCol="0" anchor="t"/>
          <a:lstStyle/>
          <a:p>
            <a:pPr algn="l" indent="0" marL="0">
              <a:lnSpc>
                <a:spcPts val="2250"/>
              </a:lnSpc>
              <a:buNone/>
            </a:pPr>
            <a:r>
              <a:rPr lang="en-US" sz="1400" b="1" dirty="0">
                <a:solidFill>
                  <a:srgbClr val="15213F"/>
                </a:solidFill>
                <a:latin typeface="Roboto" pitchFamily="34" charset="0"/>
                <a:ea typeface="Roboto" pitchFamily="34" charset="-122"/>
                <a:cs typeface="Roboto" pitchFamily="34" charset="-120"/>
              </a:rPr>
              <a:t>Future Direction</a:t>
            </a:r>
            <a:endParaRPr lang="en-US" sz="1400" dirty="0"/>
          </a:p>
        </p:txBody>
      </p:sp>
      <p:sp>
        <p:nvSpPr>
          <p:cNvPr id="10" name="Shape 8"/>
          <p:cNvSpPr/>
          <p:nvPr/>
        </p:nvSpPr>
        <p:spPr>
          <a:xfrm>
            <a:off x="801410" y="2345888"/>
            <a:ext cx="13027581" cy="1103709"/>
          </a:xfrm>
          <a:prstGeom prst="rect">
            <a:avLst/>
          </a:prstGeom>
          <a:solidFill>
            <a:srgbClr val="000000">
              <a:alpha val="4000"/>
            </a:srgbClr>
          </a:solidFill>
          <a:ln/>
        </p:spPr>
      </p:sp>
      <p:sp>
        <p:nvSpPr>
          <p:cNvPr id="11" name="Text 9"/>
          <p:cNvSpPr/>
          <p:nvPr/>
        </p:nvSpPr>
        <p:spPr>
          <a:xfrm>
            <a:off x="983099" y="2462332"/>
            <a:ext cx="223873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Voluntariness</a:t>
            </a:r>
            <a:endParaRPr lang="en-US" sz="1400" dirty="0"/>
          </a:p>
        </p:txBody>
      </p:sp>
      <p:sp>
        <p:nvSpPr>
          <p:cNvPr id="12" name="Text 10"/>
          <p:cNvSpPr/>
          <p:nvPr/>
        </p:nvSpPr>
        <p:spPr>
          <a:xfrm>
            <a:off x="3592354" y="2462332"/>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.301</a:t>
            </a:r>
            <a:endParaRPr lang="en-US" sz="1400" dirty="0"/>
          </a:p>
        </p:txBody>
      </p:sp>
      <p:sp>
        <p:nvSpPr>
          <p:cNvPr id="13" name="Text 11"/>
          <p:cNvSpPr/>
          <p:nvPr/>
        </p:nvSpPr>
        <p:spPr>
          <a:xfrm>
            <a:off x="5546408" y="2462332"/>
            <a:ext cx="4189095" cy="870823"/>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Items conceptually conflicted: "Organization requires AI" vs. "I choose voluntarily" interpreted inconsistently</a:t>
            </a:r>
            <a:endParaRPr lang="en-US" sz="1400" dirty="0"/>
          </a:p>
        </p:txBody>
      </p:sp>
      <p:sp>
        <p:nvSpPr>
          <p:cNvPr id="14" name="Text 12"/>
          <p:cNvSpPr/>
          <p:nvPr/>
        </p:nvSpPr>
        <p:spPr>
          <a:xfrm>
            <a:off x="10106025" y="2462332"/>
            <a:ext cx="3541514" cy="870823"/>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Reframe as unidimensional "perceived pressure" construct rather than bipolar scale</a:t>
            </a:r>
            <a:endParaRPr lang="en-US" sz="1400" dirty="0"/>
          </a:p>
        </p:txBody>
      </p:sp>
      <p:sp>
        <p:nvSpPr>
          <p:cNvPr id="15" name="Shape 13"/>
          <p:cNvSpPr/>
          <p:nvPr/>
        </p:nvSpPr>
        <p:spPr>
          <a:xfrm>
            <a:off x="801410" y="3449598"/>
            <a:ext cx="13027581" cy="1103709"/>
          </a:xfrm>
          <a:prstGeom prst="rect">
            <a:avLst/>
          </a:prstGeom>
          <a:solidFill>
            <a:srgbClr val="FFFFFF">
              <a:alpha val="4000"/>
            </a:srgbClr>
          </a:solidFill>
          <a:ln/>
        </p:spPr>
      </p:sp>
      <p:sp>
        <p:nvSpPr>
          <p:cNvPr id="16" name="Text 14"/>
          <p:cNvSpPr/>
          <p:nvPr/>
        </p:nvSpPr>
        <p:spPr>
          <a:xfrm>
            <a:off x="983099" y="3566041"/>
            <a:ext cx="223873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Explainability</a:t>
            </a:r>
            <a:endParaRPr lang="en-US" sz="1400" dirty="0"/>
          </a:p>
        </p:txBody>
      </p:sp>
      <p:sp>
        <p:nvSpPr>
          <p:cNvPr id="17" name="Text 15"/>
          <p:cNvSpPr/>
          <p:nvPr/>
        </p:nvSpPr>
        <p:spPr>
          <a:xfrm>
            <a:off x="3592354" y="3566041"/>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.503</a:t>
            </a:r>
            <a:endParaRPr lang="en-US" sz="1400" dirty="0"/>
          </a:p>
        </p:txBody>
      </p:sp>
      <p:sp>
        <p:nvSpPr>
          <p:cNvPr id="18" name="Text 16"/>
          <p:cNvSpPr/>
          <p:nvPr/>
        </p:nvSpPr>
        <p:spPr>
          <a:xfrm>
            <a:off x="5546408" y="3566041"/>
            <a:ext cx="4189095" cy="870823"/>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AI explanation is multi-dimensional. Items too broad: how model works, why decisions made, auditability are distinct</a:t>
            </a:r>
            <a:endParaRPr lang="en-US" sz="1400" dirty="0"/>
          </a:p>
        </p:txBody>
      </p:sp>
      <p:sp>
        <p:nvSpPr>
          <p:cNvPr id="19" name="Text 17"/>
          <p:cNvSpPr/>
          <p:nvPr/>
        </p:nvSpPr>
        <p:spPr>
          <a:xfrm>
            <a:off x="10106025" y="3566041"/>
            <a:ext cx="3541514" cy="870823"/>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Decompose into separate factors: transparency, interpretability, auditability with specific items for each</a:t>
            </a:r>
            <a:endParaRPr lang="en-US" sz="1400" dirty="0"/>
          </a:p>
        </p:txBody>
      </p:sp>
      <p:sp>
        <p:nvSpPr>
          <p:cNvPr id="20" name="Shape 18"/>
          <p:cNvSpPr/>
          <p:nvPr/>
        </p:nvSpPr>
        <p:spPr>
          <a:xfrm>
            <a:off x="801410" y="4553307"/>
            <a:ext cx="13027581" cy="1103709"/>
          </a:xfrm>
          <a:prstGeom prst="rect">
            <a:avLst/>
          </a:prstGeom>
          <a:solidFill>
            <a:srgbClr val="000000">
              <a:alpha val="4000"/>
            </a:srgbClr>
          </a:solidFill>
          <a:ln/>
        </p:spPr>
      </p:sp>
      <p:sp>
        <p:nvSpPr>
          <p:cNvPr id="21" name="Text 19"/>
          <p:cNvSpPr/>
          <p:nvPr/>
        </p:nvSpPr>
        <p:spPr>
          <a:xfrm>
            <a:off x="983099" y="4669750"/>
            <a:ext cx="223873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Ethical Risk</a:t>
            </a:r>
            <a:endParaRPr lang="en-US" sz="1400" dirty="0"/>
          </a:p>
        </p:txBody>
      </p:sp>
      <p:sp>
        <p:nvSpPr>
          <p:cNvPr id="22" name="Text 20"/>
          <p:cNvSpPr/>
          <p:nvPr/>
        </p:nvSpPr>
        <p:spPr>
          <a:xfrm>
            <a:off x="3592354" y="4669750"/>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.582</a:t>
            </a:r>
            <a:endParaRPr lang="en-US" sz="1400" dirty="0"/>
          </a:p>
        </p:txBody>
      </p:sp>
      <p:sp>
        <p:nvSpPr>
          <p:cNvPr id="23" name="Text 21"/>
          <p:cNvSpPr/>
          <p:nvPr/>
        </p:nvSpPr>
        <p:spPr>
          <a:xfrm>
            <a:off x="5546408" y="4669750"/>
            <a:ext cx="4189095" cy="870823"/>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Just below threshold. Items conflated personal ethical concerns ("biased decisions about me") with societal impact</a:t>
            </a:r>
            <a:endParaRPr lang="en-US" sz="1400" dirty="0"/>
          </a:p>
        </p:txBody>
      </p:sp>
      <p:sp>
        <p:nvSpPr>
          <p:cNvPr id="24" name="Text 22"/>
          <p:cNvSpPr/>
          <p:nvPr/>
        </p:nvSpPr>
        <p:spPr>
          <a:xfrm>
            <a:off x="10106025" y="4669750"/>
            <a:ext cx="3541514"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Separate individual ethical concerns from broader societal ethical implications</a:t>
            </a:r>
            <a:endParaRPr lang="en-US" sz="1400" dirty="0"/>
          </a:p>
        </p:txBody>
      </p:sp>
      <p:sp>
        <p:nvSpPr>
          <p:cNvPr id="25" name="Shape 23"/>
          <p:cNvSpPr/>
          <p:nvPr/>
        </p:nvSpPr>
        <p:spPr>
          <a:xfrm>
            <a:off x="801410" y="5657017"/>
            <a:ext cx="13027581" cy="1103709"/>
          </a:xfrm>
          <a:prstGeom prst="rect">
            <a:avLst/>
          </a:prstGeom>
          <a:solidFill>
            <a:srgbClr val="FFFFFF">
              <a:alpha val="4000"/>
            </a:srgbClr>
          </a:solidFill>
          <a:ln/>
        </p:spPr>
      </p:sp>
      <p:sp>
        <p:nvSpPr>
          <p:cNvPr id="26" name="Text 24"/>
          <p:cNvSpPr/>
          <p:nvPr/>
        </p:nvSpPr>
        <p:spPr>
          <a:xfrm>
            <a:off x="983099" y="5773460"/>
            <a:ext cx="2238732"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AI Anxiety</a:t>
            </a:r>
            <a:endParaRPr lang="en-US" sz="1400" dirty="0"/>
          </a:p>
        </p:txBody>
      </p:sp>
      <p:sp>
        <p:nvSpPr>
          <p:cNvPr id="27" name="Text 25"/>
          <p:cNvSpPr/>
          <p:nvPr/>
        </p:nvSpPr>
        <p:spPr>
          <a:xfrm>
            <a:off x="3592354" y="5773460"/>
            <a:ext cx="1583531" cy="290274"/>
          </a:xfrm>
          <a:prstGeom prst="rect">
            <a:avLst/>
          </a:prstGeom>
          <a:noFill/>
          <a:ln/>
        </p:spPr>
        <p:txBody>
          <a:bodyPr wrap="non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.423</a:t>
            </a:r>
            <a:endParaRPr lang="en-US" sz="1400" dirty="0"/>
          </a:p>
        </p:txBody>
      </p:sp>
      <p:sp>
        <p:nvSpPr>
          <p:cNvPr id="28" name="Text 26"/>
          <p:cNvSpPr/>
          <p:nvPr/>
        </p:nvSpPr>
        <p:spPr>
          <a:xfrm>
            <a:off x="5546408" y="5773460"/>
            <a:ext cx="4189095"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Poor discriminant validity: overlapped too much with general technology anxiety and discomfort</a:t>
            </a:r>
            <a:endParaRPr lang="en-US" sz="1400" dirty="0"/>
          </a:p>
        </p:txBody>
      </p:sp>
      <p:sp>
        <p:nvSpPr>
          <p:cNvPr id="29" name="Text 27"/>
          <p:cNvSpPr/>
          <p:nvPr/>
        </p:nvSpPr>
        <p:spPr>
          <a:xfrm>
            <a:off x="10106025" y="5773460"/>
            <a:ext cx="3541514" cy="870823"/>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Develop items distinguishing AI-specific anxiety from general technology discomfort or resistance</a:t>
            </a:r>
            <a:endParaRPr lang="en-US" sz="1400" dirty="0"/>
          </a:p>
        </p:txBody>
      </p:sp>
      <p:sp>
        <p:nvSpPr>
          <p:cNvPr id="30" name="Text 28"/>
          <p:cNvSpPr/>
          <p:nvPr/>
        </p:nvSpPr>
        <p:spPr>
          <a:xfrm>
            <a:off x="793790" y="6972419"/>
            <a:ext cx="13042821" cy="580549"/>
          </a:xfrm>
          <a:prstGeom prst="rect">
            <a:avLst/>
          </a:prstGeom>
          <a:noFill/>
          <a:ln/>
        </p:spPr>
        <p:txBody>
          <a:bodyPr wrap="square" lIns="0" tIns="0" rIns="0" bIns="0" rtlCol="0" anchor="t"/>
          <a:lstStyle/>
          <a:p>
            <a:pPr algn="l" indent="0" marL="0">
              <a:lnSpc>
                <a:spcPts val="2250"/>
              </a:lnSpc>
              <a:buNone/>
            </a:pPr>
            <a:r>
              <a:rPr lang="en-US" sz="1400" dirty="0">
                <a:solidFill>
                  <a:srgbClr val="15213F"/>
                </a:solidFill>
                <a:latin typeface="Roboto" pitchFamily="34" charset="0"/>
                <a:ea typeface="Roboto" pitchFamily="34" charset="-122"/>
                <a:cs typeface="Roboto" pitchFamily="34" charset="-120"/>
              </a:rPr>
              <a:t>These are not theoretical failures—the constructs remain theoretically important for understanding AI adoption. They represent measurement challenges requiring better item development and psychometric refinement in future research.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2025-12-29T23:37:00Z</dcterms:created>
  <dcterms:modified xsi:type="dcterms:W3CDTF">2025-12-29T23:37:00Z</dcterms:modified>
</cp:coreProperties>
</file>