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4630400" cy="8229600"/>
  <p:notesSz cx="8229600" cy="14630400"/>
  <p:embeddedFontLst>
    <p:embeddedFont>
      <p:font typeface="Roboto Slab"/>
      <p:regular r:id="rId38"/>
    </p:embeddedFont>
    <p:embeddedFont>
      <p:font typeface="Roboto Slab"/>
      <p:regular r:id="rId39"/>
    </p:embeddedFont>
    <p:embeddedFont>
      <p:font typeface="Roboto"/>
      <p:regular r:id="rId40"/>
    </p:embeddedFont>
    <p:embeddedFont>
      <p:font typeface="Roboto"/>
      <p:regular r:id="rId41"/>
    </p:embeddedFont>
    <p:embeddedFont>
      <p:font typeface="Roboto"/>
      <p:regular r:id="rId42"/>
    </p:embeddedFont>
    <p:embeddedFont>
      <p:font typeface="Roboto"/>
      <p:regular r:id="rId4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font" Target="fonts/font1.fntdata"/><Relationship Id="rId39" Type="http://schemas.openxmlformats.org/officeDocument/2006/relationships/font" Target="fonts/font2.fntdata"/><Relationship Id="rId40" Type="http://schemas.openxmlformats.org/officeDocument/2006/relationships/font" Target="fonts/font3.fntdata"/><Relationship Id="rId41" Type="http://schemas.openxmlformats.org/officeDocument/2006/relationships/font" Target="fonts/font4.fntdata"/><Relationship Id="rId42" Type="http://schemas.openxmlformats.org/officeDocument/2006/relationships/font" Target="fonts/font5.fntdata"/><Relationship Id="rId43"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8.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9.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9.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0.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image" Target="../media/image-22-3.png"/><Relationship Id="rId4" Type="http://schemas.openxmlformats.org/officeDocument/2006/relationships/image" Target="../media/image-22-4.svg"/><Relationship Id="rId5" Type="http://schemas.openxmlformats.org/officeDocument/2006/relationships/image" Target="../media/image-22-5.png"/><Relationship Id="rId6" Type="http://schemas.openxmlformats.org/officeDocument/2006/relationships/image" Target="../media/image-22-6.svg"/><Relationship Id="rId7" Type="http://schemas.openxmlformats.org/officeDocument/2006/relationships/slideLayout" Target="../slideLayouts/slideLayout23.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26.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slideLayout" Target="../slideLayouts/slideLayout30.xml"/><Relationship Id="rId11"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1589961"/>
            <a:ext cx="9033153"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Dissertation Defense Presentation</a:t>
            </a:r>
            <a:endParaRPr lang="en-US" sz="4450" dirty="0"/>
          </a:p>
        </p:txBody>
      </p:sp>
      <p:sp>
        <p:nvSpPr>
          <p:cNvPr id="3" name="Text 1"/>
          <p:cNvSpPr/>
          <p:nvPr/>
        </p:nvSpPr>
        <p:spPr>
          <a:xfrm>
            <a:off x="793790" y="2638901"/>
            <a:ext cx="13042821" cy="2934653"/>
          </a:xfrm>
          <a:prstGeom prst="rect">
            <a:avLst/>
          </a:prstGeom>
          <a:noFill/>
          <a:ln/>
        </p:spPr>
        <p:txBody>
          <a:bodyPr wrap="square" lIns="0" tIns="0" rIns="0" bIns="0" rtlCol="0" anchor="t"/>
          <a:lstStyle/>
          <a:p>
            <a:pPr algn="l" indent="0" marL="0">
              <a:lnSpc>
                <a:spcPts val="7700"/>
              </a:lnSpc>
              <a:buNone/>
            </a:pPr>
            <a:r>
              <a:rPr lang="en-US" sz="6150" dirty="0">
                <a:solidFill>
                  <a:srgbClr val="3257B8"/>
                </a:solidFill>
                <a:latin typeface="Roboto Slab" pitchFamily="34" charset="0"/>
                <a:ea typeface="Roboto Slab" pitchFamily="34" charset="-122"/>
                <a:cs typeface="Roboto Slab" pitchFamily="34" charset="-120"/>
              </a:rPr>
              <a:t>Artificial Intelligence Readiness Scale: Extending UTAUT2 for Enterprise AI Adoption</a:t>
            </a:r>
            <a:endParaRPr lang="en-US" sz="6150" dirty="0"/>
          </a:p>
        </p:txBody>
      </p:sp>
      <p:sp>
        <p:nvSpPr>
          <p:cNvPr id="4" name="Text 2"/>
          <p:cNvSpPr/>
          <p:nvPr/>
        </p:nvSpPr>
        <p:spPr>
          <a:xfrm>
            <a:off x="793790" y="5913715"/>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Fabio Correa | Doctor of Business Administration</a:t>
            </a:r>
            <a:endParaRPr lang="en-US" sz="1750" dirty="0"/>
          </a:p>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Touro University Worldwide | December 2025</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389584"/>
            <a:ext cx="6319004"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Dissertation Committee</a:t>
            </a:r>
            <a:endParaRPr lang="en-US" sz="4450" dirty="0"/>
          </a:p>
        </p:txBody>
      </p:sp>
      <p:sp>
        <p:nvSpPr>
          <p:cNvPr id="3" name="Shape 1"/>
          <p:cNvSpPr/>
          <p:nvPr/>
        </p:nvSpPr>
        <p:spPr>
          <a:xfrm>
            <a:off x="793790" y="3551992"/>
            <a:ext cx="4196358" cy="1306949"/>
          </a:xfrm>
          <a:prstGeom prst="roundRect">
            <a:avLst>
              <a:gd name="adj" fmla="val 2603"/>
            </a:avLst>
          </a:prstGeom>
          <a:solidFill>
            <a:srgbClr val="E9ECF2"/>
          </a:solidFill>
          <a:ln/>
        </p:spPr>
      </p:sp>
      <p:sp>
        <p:nvSpPr>
          <p:cNvPr id="4" name="Text 2"/>
          <p:cNvSpPr/>
          <p:nvPr/>
        </p:nvSpPr>
        <p:spPr>
          <a:xfrm>
            <a:off x="1020604" y="3778806"/>
            <a:ext cx="2850713"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Dr. Karina Kasztelnik</a:t>
            </a:r>
            <a:endParaRPr lang="en-US" sz="2200" dirty="0"/>
          </a:p>
        </p:txBody>
      </p:sp>
      <p:sp>
        <p:nvSpPr>
          <p:cNvPr id="5" name="Text 3"/>
          <p:cNvSpPr/>
          <p:nvPr/>
        </p:nvSpPr>
        <p:spPr>
          <a:xfrm>
            <a:off x="1020604" y="4269224"/>
            <a:ext cx="3742730"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Committee Chair</a:t>
            </a:r>
            <a:endParaRPr lang="en-US" sz="1750" dirty="0"/>
          </a:p>
        </p:txBody>
      </p:sp>
      <p:sp>
        <p:nvSpPr>
          <p:cNvPr id="6" name="Shape 4"/>
          <p:cNvSpPr/>
          <p:nvPr/>
        </p:nvSpPr>
        <p:spPr>
          <a:xfrm>
            <a:off x="5216962" y="3551992"/>
            <a:ext cx="4196358" cy="1306949"/>
          </a:xfrm>
          <a:prstGeom prst="roundRect">
            <a:avLst>
              <a:gd name="adj" fmla="val 2603"/>
            </a:avLst>
          </a:prstGeom>
          <a:solidFill>
            <a:srgbClr val="E9ECF2"/>
          </a:solidFill>
          <a:ln/>
        </p:spPr>
      </p:sp>
      <p:sp>
        <p:nvSpPr>
          <p:cNvPr id="7" name="Text 5"/>
          <p:cNvSpPr/>
          <p:nvPr/>
        </p:nvSpPr>
        <p:spPr>
          <a:xfrm>
            <a:off x="5443776" y="377880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Dr. Jerome Jones</a:t>
            </a:r>
            <a:endParaRPr lang="en-US" sz="2200" dirty="0"/>
          </a:p>
        </p:txBody>
      </p:sp>
      <p:sp>
        <p:nvSpPr>
          <p:cNvPr id="8" name="Text 6"/>
          <p:cNvSpPr/>
          <p:nvPr/>
        </p:nvSpPr>
        <p:spPr>
          <a:xfrm>
            <a:off x="5443776" y="4269224"/>
            <a:ext cx="3742730"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Committee Member</a:t>
            </a:r>
            <a:endParaRPr lang="en-US" sz="1750" dirty="0"/>
          </a:p>
        </p:txBody>
      </p:sp>
      <p:sp>
        <p:nvSpPr>
          <p:cNvPr id="9" name="Shape 7"/>
          <p:cNvSpPr/>
          <p:nvPr/>
        </p:nvSpPr>
        <p:spPr>
          <a:xfrm>
            <a:off x="9640133" y="3551992"/>
            <a:ext cx="4196358" cy="1306949"/>
          </a:xfrm>
          <a:prstGeom prst="roundRect">
            <a:avLst>
              <a:gd name="adj" fmla="val 2603"/>
            </a:avLst>
          </a:prstGeom>
          <a:solidFill>
            <a:srgbClr val="E9ECF2"/>
          </a:solidFill>
          <a:ln/>
        </p:spPr>
      </p:sp>
      <p:sp>
        <p:nvSpPr>
          <p:cNvPr id="10" name="Text 8"/>
          <p:cNvSpPr/>
          <p:nvPr/>
        </p:nvSpPr>
        <p:spPr>
          <a:xfrm>
            <a:off x="9866948" y="377880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Dr. Donna Day</a:t>
            </a:r>
            <a:endParaRPr lang="en-US" sz="2200" dirty="0"/>
          </a:p>
        </p:txBody>
      </p:sp>
      <p:sp>
        <p:nvSpPr>
          <p:cNvPr id="11" name="Text 9"/>
          <p:cNvSpPr/>
          <p:nvPr/>
        </p:nvSpPr>
        <p:spPr>
          <a:xfrm>
            <a:off x="9866948" y="4269224"/>
            <a:ext cx="3742730"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Committee Member</a:t>
            </a:r>
            <a:endParaRPr lang="en-US" sz="1750" dirty="0"/>
          </a:p>
        </p:txBody>
      </p:sp>
      <p:sp>
        <p:nvSpPr>
          <p:cNvPr id="12" name="Text 10"/>
          <p:cNvSpPr/>
          <p:nvPr/>
        </p:nvSpPr>
        <p:spPr>
          <a:xfrm>
            <a:off x="793790" y="5114092"/>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Thank you for the opportunity to present this research examining why individuals adopt or resist artificial intelligence tools in professional and academic contexts.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866662"/>
            <a:ext cx="6732627"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The AI Adoption Paradox</a:t>
            </a:r>
            <a:endParaRPr lang="en-US" sz="4450" dirty="0"/>
          </a:p>
        </p:txBody>
      </p:sp>
      <p:sp>
        <p:nvSpPr>
          <p:cNvPr id="3" name="Text 1"/>
          <p:cNvSpPr/>
          <p:nvPr/>
        </p:nvSpPr>
        <p:spPr>
          <a:xfrm>
            <a:off x="793790" y="3142417"/>
            <a:ext cx="4158615"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88%</a:t>
            </a:r>
            <a:endParaRPr lang="en-US" sz="5850" dirty="0"/>
          </a:p>
        </p:txBody>
      </p:sp>
      <p:sp>
        <p:nvSpPr>
          <p:cNvPr id="4" name="Text 2"/>
          <p:cNvSpPr/>
          <p:nvPr/>
        </p:nvSpPr>
        <p:spPr>
          <a:xfrm>
            <a:off x="793790" y="4174212"/>
            <a:ext cx="4158615" cy="708660"/>
          </a:xfrm>
          <a:prstGeom prst="rect">
            <a:avLst/>
          </a:prstGeom>
          <a:noFill/>
          <a:ln/>
        </p:spPr>
        <p:txBody>
          <a:bodyPr wrap="squar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Organizations Report AI Adoption</a:t>
            </a:r>
            <a:endParaRPr lang="en-US" sz="2200" dirty="0"/>
          </a:p>
        </p:txBody>
      </p:sp>
      <p:sp>
        <p:nvSpPr>
          <p:cNvPr id="5" name="Text 3"/>
          <p:cNvSpPr/>
          <p:nvPr/>
        </p:nvSpPr>
        <p:spPr>
          <a:xfrm>
            <a:off x="793790" y="5018961"/>
            <a:ext cx="4158615" cy="362903"/>
          </a:xfrm>
          <a:prstGeom prst="rect">
            <a:avLst/>
          </a:prstGeom>
          <a:noFill/>
          <a:ln/>
        </p:spPr>
        <p:txBody>
          <a:bodyPr wrap="non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McKinsey State of AI Report, 2025</a:t>
            </a:r>
            <a:endParaRPr lang="en-US" sz="1750" dirty="0"/>
          </a:p>
        </p:txBody>
      </p:sp>
      <p:sp>
        <p:nvSpPr>
          <p:cNvPr id="6" name="Text 4"/>
          <p:cNvSpPr/>
          <p:nvPr/>
        </p:nvSpPr>
        <p:spPr>
          <a:xfrm>
            <a:off x="5235893" y="3142417"/>
            <a:ext cx="4158615"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6%</a:t>
            </a:r>
            <a:endParaRPr lang="en-US" sz="5850" dirty="0"/>
          </a:p>
        </p:txBody>
      </p:sp>
      <p:sp>
        <p:nvSpPr>
          <p:cNvPr id="7" name="Text 5"/>
          <p:cNvSpPr/>
          <p:nvPr/>
        </p:nvSpPr>
        <p:spPr>
          <a:xfrm>
            <a:off x="5235893" y="4174212"/>
            <a:ext cx="4158615" cy="708660"/>
          </a:xfrm>
          <a:prstGeom prst="rect">
            <a:avLst/>
          </a:prstGeom>
          <a:noFill/>
          <a:ln/>
        </p:spPr>
        <p:txBody>
          <a:bodyPr wrap="squar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Achieve Meaningful Business Value</a:t>
            </a:r>
            <a:endParaRPr lang="en-US" sz="2200" dirty="0"/>
          </a:p>
        </p:txBody>
      </p:sp>
      <p:sp>
        <p:nvSpPr>
          <p:cNvPr id="8" name="Text 6"/>
          <p:cNvSpPr/>
          <p:nvPr/>
        </p:nvSpPr>
        <p:spPr>
          <a:xfrm>
            <a:off x="5235893" y="5018961"/>
            <a:ext cx="4158615" cy="362903"/>
          </a:xfrm>
          <a:prstGeom prst="rect">
            <a:avLst/>
          </a:prstGeom>
          <a:noFill/>
          <a:ln/>
        </p:spPr>
        <p:txBody>
          <a:bodyPr wrap="non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Despite significant investment</a:t>
            </a:r>
            <a:endParaRPr lang="en-US" sz="1750" dirty="0"/>
          </a:p>
        </p:txBody>
      </p:sp>
      <p:sp>
        <p:nvSpPr>
          <p:cNvPr id="9" name="Text 7"/>
          <p:cNvSpPr/>
          <p:nvPr/>
        </p:nvSpPr>
        <p:spPr>
          <a:xfrm>
            <a:off x="9677995" y="3142417"/>
            <a:ext cx="4158615"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90-95%</a:t>
            </a:r>
            <a:endParaRPr lang="en-US" sz="5850" dirty="0"/>
          </a:p>
        </p:txBody>
      </p:sp>
      <p:sp>
        <p:nvSpPr>
          <p:cNvPr id="10" name="Text 8"/>
          <p:cNvSpPr/>
          <p:nvPr/>
        </p:nvSpPr>
        <p:spPr>
          <a:xfrm>
            <a:off x="10339626" y="4174212"/>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AI Pilots Fail to Scale</a:t>
            </a:r>
            <a:endParaRPr lang="en-US" sz="2200" dirty="0"/>
          </a:p>
        </p:txBody>
      </p:sp>
      <p:sp>
        <p:nvSpPr>
          <p:cNvPr id="11" name="Text 9"/>
          <p:cNvSpPr/>
          <p:nvPr/>
        </p:nvSpPr>
        <p:spPr>
          <a:xfrm>
            <a:off x="9677995" y="4664631"/>
            <a:ext cx="4158615" cy="362903"/>
          </a:xfrm>
          <a:prstGeom prst="rect">
            <a:avLst/>
          </a:prstGeom>
          <a:noFill/>
          <a:ln/>
        </p:spPr>
        <p:txBody>
          <a:bodyPr wrap="non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MIT Media Lab research findings</a:t>
            </a:r>
            <a:endParaRPr lang="en-US" sz="1750" dirty="0"/>
          </a:p>
        </p:txBody>
      </p:sp>
      <p:sp>
        <p:nvSpPr>
          <p:cNvPr id="12" name="Text 10"/>
          <p:cNvSpPr/>
          <p:nvPr/>
        </p:nvSpPr>
        <p:spPr>
          <a:xfrm>
            <a:off x="793790" y="5637014"/>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highlight>
                  <a:srgbClr val="3257B8"/>
                </a:highlight>
                <a:latin typeface="Roboto" pitchFamily="34" charset="0"/>
                <a:ea typeface="Roboto" pitchFamily="34" charset="-122"/>
                <a:cs typeface="Roboto" pitchFamily="34" charset="-120"/>
              </a:rPr>
              <a:t>The critical gap:</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Organizations invest heavily in AI technology deployment but lack diagnostic tools to understand why individuals actually adopt or resist these systems. This research addresses that fundamental challenge.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487091"/>
            <a:ext cx="9834324"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Three Interconnected Research Gaps</a:t>
            </a:r>
            <a:endParaRPr lang="en-US" sz="4450" dirty="0"/>
          </a:p>
        </p:txBody>
      </p:sp>
      <p:sp>
        <p:nvSpPr>
          <p:cNvPr id="3" name="Text 1"/>
          <p:cNvSpPr/>
          <p:nvPr/>
        </p:nvSpPr>
        <p:spPr>
          <a:xfrm>
            <a:off x="793790" y="2649498"/>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01</a:t>
            </a:r>
            <a:endParaRPr lang="en-US" sz="1750" dirty="0"/>
          </a:p>
        </p:txBody>
      </p:sp>
      <p:pic>
        <p:nvPicPr>
          <p:cNvPr id="4" name="Image 0" descr="preencoded.png">    </p:cNvPr>
          <p:cNvPicPr>
            <a:picLocks noChangeAspect="1"/>
          </p:cNvPicPr>
          <p:nvPr/>
        </p:nvPicPr>
        <p:blipFill>
          <a:blip r:embed="rId1"/>
          <a:stretch>
            <a:fillRect/>
          </a:stretch>
        </p:blipFill>
        <p:spPr>
          <a:xfrm>
            <a:off x="793790" y="3004542"/>
            <a:ext cx="4196358" cy="30480"/>
          </a:xfrm>
          <a:prstGeom prst="rect">
            <a:avLst/>
          </a:prstGeom>
        </p:spPr>
      </p:pic>
      <p:sp>
        <p:nvSpPr>
          <p:cNvPr id="5" name="Text 2"/>
          <p:cNvSpPr/>
          <p:nvPr/>
        </p:nvSpPr>
        <p:spPr>
          <a:xfrm>
            <a:off x="793790" y="317885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Theoretical Gap</a:t>
            </a:r>
            <a:endParaRPr lang="en-US" sz="2200" dirty="0"/>
          </a:p>
        </p:txBody>
      </p:sp>
      <p:sp>
        <p:nvSpPr>
          <p:cNvPr id="6" name="Text 3"/>
          <p:cNvSpPr/>
          <p:nvPr/>
        </p:nvSpPr>
        <p:spPr>
          <a:xfrm>
            <a:off x="793790" y="3669268"/>
            <a:ext cx="4196358" cy="2903220"/>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UTAUT2 was validated on mobile apps and consumer technologies, not AI systems. Venkatesh (2021) identified nine unique AI adoption challenges that existing frameworks don't address—including trust in opaque systems, ethical concerns, and algorithmic decision-making.</a:t>
            </a:r>
            <a:endParaRPr lang="en-US" sz="1750" dirty="0"/>
          </a:p>
        </p:txBody>
      </p:sp>
      <p:sp>
        <p:nvSpPr>
          <p:cNvPr id="7" name="Text 4"/>
          <p:cNvSpPr/>
          <p:nvPr/>
        </p:nvSpPr>
        <p:spPr>
          <a:xfrm>
            <a:off x="5216962" y="2649498"/>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02</a:t>
            </a:r>
            <a:endParaRPr lang="en-US" sz="1750" dirty="0"/>
          </a:p>
        </p:txBody>
      </p:sp>
      <p:pic>
        <p:nvPicPr>
          <p:cNvPr id="8" name="Image 1" descr="preencoded.png">    </p:cNvPr>
          <p:cNvPicPr>
            <a:picLocks noChangeAspect="1"/>
          </p:cNvPicPr>
          <p:nvPr/>
        </p:nvPicPr>
        <p:blipFill>
          <a:blip r:embed="rId2"/>
          <a:stretch>
            <a:fillRect/>
          </a:stretch>
        </p:blipFill>
        <p:spPr>
          <a:xfrm>
            <a:off x="5216962" y="3027164"/>
            <a:ext cx="4196358" cy="30480"/>
          </a:xfrm>
          <a:prstGeom prst="rect">
            <a:avLst/>
          </a:prstGeom>
        </p:spPr>
      </p:pic>
      <p:sp>
        <p:nvSpPr>
          <p:cNvPr id="9" name="Text 5"/>
          <p:cNvSpPr/>
          <p:nvPr/>
        </p:nvSpPr>
        <p:spPr>
          <a:xfrm>
            <a:off x="5216962" y="317885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Measurement Gap</a:t>
            </a:r>
            <a:endParaRPr lang="en-US" sz="2200" dirty="0"/>
          </a:p>
        </p:txBody>
      </p:sp>
      <p:sp>
        <p:nvSpPr>
          <p:cNvPr id="10" name="Text 6"/>
          <p:cNvSpPr/>
          <p:nvPr/>
        </p:nvSpPr>
        <p:spPr>
          <a:xfrm>
            <a:off x="5216962" y="3669268"/>
            <a:ext cx="4196358" cy="1814513"/>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No psychometrically validated instrument exists to measure AI adoption readiness. Organizations rely on ad hoc surveys, general technology readiness scales, or no formal assessment at all.</a:t>
            </a:r>
            <a:endParaRPr lang="en-US" sz="1750" dirty="0"/>
          </a:p>
        </p:txBody>
      </p:sp>
      <p:sp>
        <p:nvSpPr>
          <p:cNvPr id="11" name="Text 7"/>
          <p:cNvSpPr/>
          <p:nvPr/>
        </p:nvSpPr>
        <p:spPr>
          <a:xfrm>
            <a:off x="9640133" y="2649498"/>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03</a:t>
            </a:r>
            <a:endParaRPr lang="en-US" sz="1750" dirty="0"/>
          </a:p>
        </p:txBody>
      </p:sp>
      <p:pic>
        <p:nvPicPr>
          <p:cNvPr id="12" name="Image 2" descr="preencoded.png">    </p:cNvPr>
          <p:cNvPicPr>
            <a:picLocks noChangeAspect="1"/>
          </p:cNvPicPr>
          <p:nvPr/>
        </p:nvPicPr>
        <p:blipFill>
          <a:blip r:embed="rId3"/>
          <a:stretch>
            <a:fillRect/>
          </a:stretch>
        </p:blipFill>
        <p:spPr>
          <a:xfrm>
            <a:off x="9640133" y="3027164"/>
            <a:ext cx="4196358" cy="30480"/>
          </a:xfrm>
          <a:prstGeom prst="rect">
            <a:avLst/>
          </a:prstGeom>
        </p:spPr>
      </p:pic>
      <p:sp>
        <p:nvSpPr>
          <p:cNvPr id="13" name="Text 8"/>
          <p:cNvSpPr/>
          <p:nvPr/>
        </p:nvSpPr>
        <p:spPr>
          <a:xfrm>
            <a:off x="9640133" y="317885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Practice Gap</a:t>
            </a:r>
            <a:endParaRPr lang="en-US" sz="2200" dirty="0"/>
          </a:p>
        </p:txBody>
      </p:sp>
      <p:sp>
        <p:nvSpPr>
          <p:cNvPr id="14" name="Text 9"/>
          <p:cNvSpPr/>
          <p:nvPr/>
        </p:nvSpPr>
        <p:spPr>
          <a:xfrm>
            <a:off x="9640133" y="3669268"/>
            <a:ext cx="4196358" cy="217741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Without valid measurement tools, organizations cannot diagnose specific adoption barriers. They cannot identify which employees will adopt, which will resist, and why—contributing directly to the 90-95% pilot failure rate.</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46760" y="587216"/>
            <a:ext cx="3467576" cy="433388"/>
          </a:xfrm>
          <a:prstGeom prst="rect">
            <a:avLst/>
          </a:prstGeom>
          <a:noFill/>
          <a:ln/>
        </p:spPr>
        <p:txBody>
          <a:bodyPr wrap="none" lIns="0" tIns="0" rIns="0" bIns="0" rtlCol="0" anchor="t"/>
          <a:lstStyle/>
          <a:p>
            <a:pPr algn="l" indent="0" marL="0">
              <a:lnSpc>
                <a:spcPts val="3400"/>
              </a:lnSpc>
              <a:buNone/>
            </a:pPr>
            <a:r>
              <a:rPr lang="en-US" sz="2700" dirty="0">
                <a:solidFill>
                  <a:srgbClr val="3257B8"/>
                </a:solidFill>
                <a:latin typeface="Roboto Slab" pitchFamily="34" charset="0"/>
                <a:ea typeface="Roboto Slab" pitchFamily="34" charset="-122"/>
                <a:cs typeface="Roboto Slab" pitchFamily="34" charset="-120"/>
              </a:rPr>
              <a:t>Research Questions</a:t>
            </a:r>
            <a:endParaRPr lang="en-US" sz="2700" dirty="0"/>
          </a:p>
        </p:txBody>
      </p:sp>
      <p:sp>
        <p:nvSpPr>
          <p:cNvPr id="3" name="Text 1"/>
          <p:cNvSpPr/>
          <p:nvPr/>
        </p:nvSpPr>
        <p:spPr>
          <a:xfrm>
            <a:off x="746760" y="1075968"/>
            <a:ext cx="3580567" cy="346710"/>
          </a:xfrm>
          <a:prstGeom prst="rect">
            <a:avLst/>
          </a:prstGeom>
          <a:noFill/>
          <a:ln/>
        </p:spPr>
        <p:txBody>
          <a:bodyPr wrap="none" lIns="0" tIns="0" rIns="0" bIns="0" rtlCol="0" anchor="t"/>
          <a:lstStyle/>
          <a:p>
            <a:pPr algn="l" indent="0" marL="0">
              <a:lnSpc>
                <a:spcPts val="2700"/>
              </a:lnSpc>
              <a:buNone/>
            </a:pPr>
            <a:r>
              <a:rPr lang="en-US" sz="2150" dirty="0">
                <a:solidFill>
                  <a:srgbClr val="3257B8"/>
                </a:solidFill>
                <a:latin typeface="Roboto Slab" pitchFamily="34" charset="0"/>
                <a:ea typeface="Roboto Slab" pitchFamily="34" charset="-122"/>
                <a:cs typeface="Roboto Slab" pitchFamily="34" charset="-120"/>
              </a:rPr>
              <a:t>Primary Research Question</a:t>
            </a:r>
            <a:endParaRPr lang="en-US" sz="2150" dirty="0"/>
          </a:p>
        </p:txBody>
      </p:sp>
      <p:sp>
        <p:nvSpPr>
          <p:cNvPr id="4" name="Text 2"/>
          <p:cNvSpPr/>
          <p:nvPr/>
        </p:nvSpPr>
        <p:spPr>
          <a:xfrm>
            <a:off x="954762" y="1786652"/>
            <a:ext cx="12928878" cy="221933"/>
          </a:xfrm>
          <a:prstGeom prst="rect">
            <a:avLst/>
          </a:prstGeom>
          <a:noFill/>
          <a:ln/>
        </p:spPr>
        <p:txBody>
          <a:bodyPr wrap="none" lIns="0" tIns="0" rIns="0" bIns="0" rtlCol="0" anchor="t"/>
          <a:lstStyle/>
          <a:p>
            <a:pPr algn="l" indent="0" marL="0">
              <a:lnSpc>
                <a:spcPts val="1700"/>
              </a:lnSpc>
              <a:buNone/>
            </a:pPr>
            <a:r>
              <a:rPr lang="en-US" sz="1050" dirty="0">
                <a:solidFill>
                  <a:srgbClr val="15213F"/>
                </a:solidFill>
                <a:latin typeface="Roboto" pitchFamily="34" charset="0"/>
                <a:ea typeface="Roboto" pitchFamily="34" charset="-122"/>
                <a:cs typeface="Roboto" pitchFamily="34" charset="-120"/>
              </a:rPr>
              <a:t>How can UTAUT2 be extended with AI-specific constructs to better predict behavioral intention to adopt AI tools in professional and academic contexts?</a:t>
            </a:r>
            <a:endParaRPr lang="en-US" sz="1050" dirty="0"/>
          </a:p>
        </p:txBody>
      </p:sp>
      <p:sp>
        <p:nvSpPr>
          <p:cNvPr id="5" name="Shape 3"/>
          <p:cNvSpPr/>
          <p:nvPr/>
        </p:nvSpPr>
        <p:spPr>
          <a:xfrm>
            <a:off x="746760" y="1630680"/>
            <a:ext cx="15240" cy="533876"/>
          </a:xfrm>
          <a:prstGeom prst="rect">
            <a:avLst/>
          </a:prstGeom>
          <a:solidFill>
            <a:srgbClr val="3257B8"/>
          </a:solidFill>
          <a:ln/>
        </p:spPr>
      </p:sp>
      <p:sp>
        <p:nvSpPr>
          <p:cNvPr id="6" name="Text 4"/>
          <p:cNvSpPr/>
          <p:nvPr/>
        </p:nvSpPr>
        <p:spPr>
          <a:xfrm>
            <a:off x="746760" y="2372558"/>
            <a:ext cx="5510927" cy="346710"/>
          </a:xfrm>
          <a:prstGeom prst="rect">
            <a:avLst/>
          </a:prstGeom>
          <a:noFill/>
          <a:ln/>
        </p:spPr>
        <p:txBody>
          <a:bodyPr wrap="none" lIns="0" tIns="0" rIns="0" bIns="0" rtlCol="0" anchor="t"/>
          <a:lstStyle/>
          <a:p>
            <a:pPr algn="l" indent="0" marL="0">
              <a:lnSpc>
                <a:spcPts val="2700"/>
              </a:lnSpc>
              <a:buNone/>
            </a:pPr>
            <a:r>
              <a:rPr lang="en-US" sz="2150" dirty="0">
                <a:solidFill>
                  <a:srgbClr val="3257B8"/>
                </a:solidFill>
                <a:latin typeface="Roboto Slab" pitchFamily="34" charset="0"/>
                <a:ea typeface="Roboto Slab" pitchFamily="34" charset="-122"/>
                <a:cs typeface="Roboto Slab" pitchFamily="34" charset="-120"/>
              </a:rPr>
              <a:t>Secondary Research Questions &amp; Answers</a:t>
            </a:r>
            <a:endParaRPr lang="en-US" sz="2150" dirty="0"/>
          </a:p>
        </p:txBody>
      </p:sp>
      <p:sp>
        <p:nvSpPr>
          <p:cNvPr id="7" name="Shape 5"/>
          <p:cNvSpPr/>
          <p:nvPr/>
        </p:nvSpPr>
        <p:spPr>
          <a:xfrm>
            <a:off x="746760" y="2927271"/>
            <a:ext cx="13136880" cy="832128"/>
          </a:xfrm>
          <a:prstGeom prst="roundRect">
            <a:avLst>
              <a:gd name="adj" fmla="val 2500"/>
            </a:avLst>
          </a:prstGeom>
          <a:solidFill>
            <a:srgbClr val="FBFCFE"/>
          </a:solidFill>
          <a:ln w="15240">
            <a:solidFill>
              <a:srgbClr val="CFD2D8"/>
            </a:solidFill>
            <a:prstDash val="solid"/>
          </a:ln>
        </p:spPr>
      </p:sp>
      <p:sp>
        <p:nvSpPr>
          <p:cNvPr id="8" name="Shape 6"/>
          <p:cNvSpPr/>
          <p:nvPr/>
        </p:nvSpPr>
        <p:spPr>
          <a:xfrm>
            <a:off x="762000" y="2942511"/>
            <a:ext cx="554712" cy="801648"/>
          </a:xfrm>
          <a:prstGeom prst="roundRect">
            <a:avLst>
              <a:gd name="adj" fmla="val 454"/>
            </a:avLst>
          </a:prstGeom>
          <a:solidFill>
            <a:srgbClr val="E9ECF2"/>
          </a:solidFill>
          <a:ln/>
        </p:spPr>
      </p:sp>
      <p:sp>
        <p:nvSpPr>
          <p:cNvPr id="9" name="Text 7"/>
          <p:cNvSpPr/>
          <p:nvPr/>
        </p:nvSpPr>
        <p:spPr>
          <a:xfrm>
            <a:off x="935355" y="3213259"/>
            <a:ext cx="208002" cy="260033"/>
          </a:xfrm>
          <a:prstGeom prst="rect">
            <a:avLst/>
          </a:prstGeom>
          <a:noFill/>
          <a:ln/>
        </p:spPr>
        <p:txBody>
          <a:bodyPr wrap="none" lIns="0" tIns="0" rIns="0" bIns="0" rtlCol="0" anchor="t"/>
          <a:lstStyle/>
          <a:p>
            <a:pPr algn="l" indent="0" marL="0">
              <a:lnSpc>
                <a:spcPts val="1600"/>
              </a:lnSpc>
              <a:buNone/>
            </a:pPr>
            <a:r>
              <a:rPr lang="en-US" sz="1600" dirty="0">
                <a:solidFill>
                  <a:srgbClr val="15213F"/>
                </a:solidFill>
                <a:latin typeface="Roboto Slab" pitchFamily="34" charset="0"/>
                <a:ea typeface="Roboto Slab" pitchFamily="34" charset="-122"/>
                <a:cs typeface="Roboto Slab" pitchFamily="34" charset="-120"/>
              </a:rPr>
              <a:t>1</a:t>
            </a:r>
            <a:endParaRPr lang="en-US" sz="1600" dirty="0"/>
          </a:p>
        </p:txBody>
      </p:sp>
      <p:sp>
        <p:nvSpPr>
          <p:cNvPr id="10" name="Text 8"/>
          <p:cNvSpPr/>
          <p:nvPr/>
        </p:nvSpPr>
        <p:spPr>
          <a:xfrm>
            <a:off x="1455301" y="3081099"/>
            <a:ext cx="1733788" cy="216694"/>
          </a:xfrm>
          <a:prstGeom prst="rect">
            <a:avLst/>
          </a:prstGeom>
          <a:noFill/>
          <a:ln/>
        </p:spPr>
        <p:txBody>
          <a:bodyPr wrap="none" lIns="0" tIns="0" rIns="0" bIns="0" rtlCol="0" anchor="t"/>
          <a:lstStyle/>
          <a:p>
            <a:pPr algn="l" indent="0" marL="0">
              <a:lnSpc>
                <a:spcPts val="1700"/>
              </a:lnSpc>
              <a:buNone/>
            </a:pPr>
            <a:r>
              <a:rPr lang="en-US" sz="1350" dirty="0">
                <a:solidFill>
                  <a:srgbClr val="15213F"/>
                </a:solidFill>
                <a:latin typeface="Roboto Slab" pitchFamily="34" charset="0"/>
                <a:ea typeface="Roboto Slab" pitchFamily="34" charset="-122"/>
                <a:cs typeface="Roboto Slab" pitchFamily="34" charset="-120"/>
              </a:rPr>
              <a:t>Factor Structure</a:t>
            </a:r>
            <a:endParaRPr lang="en-US" sz="1350" dirty="0"/>
          </a:p>
        </p:txBody>
      </p:sp>
      <p:sp>
        <p:nvSpPr>
          <p:cNvPr id="11" name="Text 9"/>
          <p:cNvSpPr/>
          <p:nvPr/>
        </p:nvSpPr>
        <p:spPr>
          <a:xfrm>
            <a:off x="1455301" y="3380899"/>
            <a:ext cx="12274510" cy="221933"/>
          </a:xfrm>
          <a:prstGeom prst="rect">
            <a:avLst/>
          </a:prstGeom>
          <a:noFill/>
          <a:ln/>
        </p:spPr>
        <p:txBody>
          <a:bodyPr wrap="none" lIns="0" tIns="0" rIns="0" bIns="0" rtlCol="0" anchor="t"/>
          <a:lstStyle/>
          <a:p>
            <a:pPr algn="l" indent="0" marL="0">
              <a:lnSpc>
                <a:spcPts val="1700"/>
              </a:lnSpc>
              <a:buNone/>
            </a:pPr>
            <a:r>
              <a:rPr lang="en-US" sz="1050" dirty="0">
                <a:solidFill>
                  <a:srgbClr val="15213F"/>
                </a:solidFill>
                <a:latin typeface="Roboto" pitchFamily="34" charset="0"/>
                <a:ea typeface="Roboto" pitchFamily="34" charset="-122"/>
                <a:cs typeface="Roboto" pitchFamily="34" charset="-120"/>
              </a:rPr>
              <a:t>Eight factors with 16 items identified and validated</a:t>
            </a:r>
            <a:endParaRPr lang="en-US" sz="1050" dirty="0"/>
          </a:p>
        </p:txBody>
      </p:sp>
      <p:sp>
        <p:nvSpPr>
          <p:cNvPr id="12" name="Shape 10"/>
          <p:cNvSpPr/>
          <p:nvPr/>
        </p:nvSpPr>
        <p:spPr>
          <a:xfrm>
            <a:off x="746760" y="3897987"/>
            <a:ext cx="13136880" cy="832128"/>
          </a:xfrm>
          <a:prstGeom prst="roundRect">
            <a:avLst>
              <a:gd name="adj" fmla="val 2500"/>
            </a:avLst>
          </a:prstGeom>
          <a:solidFill>
            <a:srgbClr val="FBFCFE"/>
          </a:solidFill>
          <a:ln w="15240">
            <a:solidFill>
              <a:srgbClr val="CFD2D8"/>
            </a:solidFill>
            <a:prstDash val="solid"/>
          </a:ln>
        </p:spPr>
      </p:sp>
      <p:sp>
        <p:nvSpPr>
          <p:cNvPr id="13" name="Shape 11"/>
          <p:cNvSpPr/>
          <p:nvPr/>
        </p:nvSpPr>
        <p:spPr>
          <a:xfrm>
            <a:off x="762000" y="3913227"/>
            <a:ext cx="554712" cy="801648"/>
          </a:xfrm>
          <a:prstGeom prst="roundRect">
            <a:avLst>
              <a:gd name="adj" fmla="val 454"/>
            </a:avLst>
          </a:prstGeom>
          <a:solidFill>
            <a:srgbClr val="E9ECF2"/>
          </a:solidFill>
          <a:ln/>
        </p:spPr>
      </p:sp>
      <p:sp>
        <p:nvSpPr>
          <p:cNvPr id="14" name="Text 12"/>
          <p:cNvSpPr/>
          <p:nvPr/>
        </p:nvSpPr>
        <p:spPr>
          <a:xfrm>
            <a:off x="935355" y="4183975"/>
            <a:ext cx="208002" cy="260033"/>
          </a:xfrm>
          <a:prstGeom prst="rect">
            <a:avLst/>
          </a:prstGeom>
          <a:noFill/>
          <a:ln/>
        </p:spPr>
        <p:txBody>
          <a:bodyPr wrap="none" lIns="0" tIns="0" rIns="0" bIns="0" rtlCol="0" anchor="t"/>
          <a:lstStyle/>
          <a:p>
            <a:pPr algn="l" indent="0" marL="0">
              <a:lnSpc>
                <a:spcPts val="1600"/>
              </a:lnSpc>
              <a:buNone/>
            </a:pPr>
            <a:r>
              <a:rPr lang="en-US" sz="1600" dirty="0">
                <a:solidFill>
                  <a:srgbClr val="15213F"/>
                </a:solidFill>
                <a:latin typeface="Roboto Slab" pitchFamily="34" charset="0"/>
                <a:ea typeface="Roboto Slab" pitchFamily="34" charset="-122"/>
                <a:cs typeface="Roboto Slab" pitchFamily="34" charset="-120"/>
              </a:rPr>
              <a:t>2</a:t>
            </a:r>
            <a:endParaRPr lang="en-US" sz="1600" dirty="0"/>
          </a:p>
        </p:txBody>
      </p:sp>
      <p:sp>
        <p:nvSpPr>
          <p:cNvPr id="15" name="Text 13"/>
          <p:cNvSpPr/>
          <p:nvPr/>
        </p:nvSpPr>
        <p:spPr>
          <a:xfrm>
            <a:off x="1455301" y="4051816"/>
            <a:ext cx="2053471" cy="216694"/>
          </a:xfrm>
          <a:prstGeom prst="rect">
            <a:avLst/>
          </a:prstGeom>
          <a:noFill/>
          <a:ln/>
        </p:spPr>
        <p:txBody>
          <a:bodyPr wrap="none" lIns="0" tIns="0" rIns="0" bIns="0" rtlCol="0" anchor="t"/>
          <a:lstStyle/>
          <a:p>
            <a:pPr algn="l" indent="0" marL="0">
              <a:lnSpc>
                <a:spcPts val="1700"/>
              </a:lnSpc>
              <a:buNone/>
            </a:pPr>
            <a:r>
              <a:rPr lang="en-US" sz="1350" dirty="0">
                <a:solidFill>
                  <a:srgbClr val="15213F"/>
                </a:solidFill>
                <a:latin typeface="Roboto Slab" pitchFamily="34" charset="0"/>
                <a:ea typeface="Roboto Slab" pitchFamily="34" charset="-122"/>
                <a:cs typeface="Roboto Slab" pitchFamily="34" charset="-120"/>
              </a:rPr>
              <a:t>Measurement Invariance</a:t>
            </a:r>
            <a:endParaRPr lang="en-US" sz="1350" dirty="0"/>
          </a:p>
        </p:txBody>
      </p:sp>
      <p:sp>
        <p:nvSpPr>
          <p:cNvPr id="16" name="Text 14"/>
          <p:cNvSpPr/>
          <p:nvPr/>
        </p:nvSpPr>
        <p:spPr>
          <a:xfrm>
            <a:off x="1455301" y="4351615"/>
            <a:ext cx="12274510" cy="221933"/>
          </a:xfrm>
          <a:prstGeom prst="rect">
            <a:avLst/>
          </a:prstGeom>
          <a:noFill/>
          <a:ln/>
        </p:spPr>
        <p:txBody>
          <a:bodyPr wrap="none" lIns="0" tIns="0" rIns="0" bIns="0" rtlCol="0" anchor="t"/>
          <a:lstStyle/>
          <a:p>
            <a:pPr algn="l" indent="0" marL="0">
              <a:lnSpc>
                <a:spcPts val="1700"/>
              </a:lnSpc>
              <a:buNone/>
            </a:pPr>
            <a:r>
              <a:rPr lang="en-US" sz="1050" dirty="0">
                <a:solidFill>
                  <a:srgbClr val="15213F"/>
                </a:solidFill>
                <a:latin typeface="Roboto" pitchFamily="34" charset="0"/>
                <a:ea typeface="Roboto" pitchFamily="34" charset="-122"/>
                <a:cs typeface="Roboto" pitchFamily="34" charset="-120"/>
              </a:rPr>
              <a:t>Configural invariance achieved across populations</a:t>
            </a:r>
            <a:endParaRPr lang="en-US" sz="1050" dirty="0"/>
          </a:p>
        </p:txBody>
      </p:sp>
      <p:sp>
        <p:nvSpPr>
          <p:cNvPr id="17" name="Shape 15"/>
          <p:cNvSpPr/>
          <p:nvPr/>
        </p:nvSpPr>
        <p:spPr>
          <a:xfrm>
            <a:off x="746760" y="4868704"/>
            <a:ext cx="13136880" cy="832128"/>
          </a:xfrm>
          <a:prstGeom prst="roundRect">
            <a:avLst>
              <a:gd name="adj" fmla="val 2500"/>
            </a:avLst>
          </a:prstGeom>
          <a:solidFill>
            <a:srgbClr val="FBFCFE"/>
          </a:solidFill>
          <a:ln w="15240">
            <a:solidFill>
              <a:srgbClr val="CFD2D8"/>
            </a:solidFill>
            <a:prstDash val="solid"/>
          </a:ln>
        </p:spPr>
      </p:sp>
      <p:sp>
        <p:nvSpPr>
          <p:cNvPr id="18" name="Shape 16"/>
          <p:cNvSpPr/>
          <p:nvPr/>
        </p:nvSpPr>
        <p:spPr>
          <a:xfrm>
            <a:off x="762000" y="4883944"/>
            <a:ext cx="554712" cy="801648"/>
          </a:xfrm>
          <a:prstGeom prst="roundRect">
            <a:avLst>
              <a:gd name="adj" fmla="val 454"/>
            </a:avLst>
          </a:prstGeom>
          <a:solidFill>
            <a:srgbClr val="E9ECF2"/>
          </a:solidFill>
          <a:ln/>
        </p:spPr>
      </p:sp>
      <p:sp>
        <p:nvSpPr>
          <p:cNvPr id="19" name="Text 17"/>
          <p:cNvSpPr/>
          <p:nvPr/>
        </p:nvSpPr>
        <p:spPr>
          <a:xfrm>
            <a:off x="935355" y="5154692"/>
            <a:ext cx="208002" cy="260033"/>
          </a:xfrm>
          <a:prstGeom prst="rect">
            <a:avLst/>
          </a:prstGeom>
          <a:noFill/>
          <a:ln/>
        </p:spPr>
        <p:txBody>
          <a:bodyPr wrap="none" lIns="0" tIns="0" rIns="0" bIns="0" rtlCol="0" anchor="t"/>
          <a:lstStyle/>
          <a:p>
            <a:pPr algn="l" indent="0" marL="0">
              <a:lnSpc>
                <a:spcPts val="1600"/>
              </a:lnSpc>
              <a:buNone/>
            </a:pPr>
            <a:r>
              <a:rPr lang="en-US" sz="1600" dirty="0">
                <a:solidFill>
                  <a:srgbClr val="15213F"/>
                </a:solidFill>
                <a:latin typeface="Roboto Slab" pitchFamily="34" charset="0"/>
                <a:ea typeface="Roboto Slab" pitchFamily="34" charset="-122"/>
                <a:cs typeface="Roboto Slab" pitchFamily="34" charset="-120"/>
              </a:rPr>
              <a:t>3</a:t>
            </a:r>
            <a:endParaRPr lang="en-US" sz="1600" dirty="0"/>
          </a:p>
        </p:txBody>
      </p:sp>
      <p:sp>
        <p:nvSpPr>
          <p:cNvPr id="20" name="Text 18"/>
          <p:cNvSpPr/>
          <p:nvPr/>
        </p:nvSpPr>
        <p:spPr>
          <a:xfrm>
            <a:off x="1455301" y="5022533"/>
            <a:ext cx="1733788" cy="216694"/>
          </a:xfrm>
          <a:prstGeom prst="rect">
            <a:avLst/>
          </a:prstGeom>
          <a:noFill/>
          <a:ln/>
        </p:spPr>
        <p:txBody>
          <a:bodyPr wrap="none" lIns="0" tIns="0" rIns="0" bIns="0" rtlCol="0" anchor="t"/>
          <a:lstStyle/>
          <a:p>
            <a:pPr algn="l" indent="0" marL="0">
              <a:lnSpc>
                <a:spcPts val="1700"/>
              </a:lnSpc>
              <a:buNone/>
            </a:pPr>
            <a:r>
              <a:rPr lang="en-US" sz="1350" dirty="0">
                <a:solidFill>
                  <a:srgbClr val="15213F"/>
                </a:solidFill>
                <a:latin typeface="Roboto Slab" pitchFamily="34" charset="0"/>
                <a:ea typeface="Roboto Slab" pitchFamily="34" charset="-122"/>
                <a:cs typeface="Roboto Slab" pitchFamily="34" charset="-120"/>
              </a:rPr>
              <a:t>Strongest Predictors</a:t>
            </a:r>
            <a:endParaRPr lang="en-US" sz="1350" dirty="0"/>
          </a:p>
        </p:txBody>
      </p:sp>
      <p:sp>
        <p:nvSpPr>
          <p:cNvPr id="21" name="Text 19"/>
          <p:cNvSpPr/>
          <p:nvPr/>
        </p:nvSpPr>
        <p:spPr>
          <a:xfrm>
            <a:off x="1455301" y="5322332"/>
            <a:ext cx="12274510" cy="221933"/>
          </a:xfrm>
          <a:prstGeom prst="rect">
            <a:avLst/>
          </a:prstGeom>
          <a:noFill/>
          <a:ln/>
        </p:spPr>
        <p:txBody>
          <a:bodyPr wrap="none" lIns="0" tIns="0" rIns="0" bIns="0" rtlCol="0" anchor="t"/>
          <a:lstStyle/>
          <a:p>
            <a:pPr algn="l" indent="0" marL="0">
              <a:lnSpc>
                <a:spcPts val="1700"/>
              </a:lnSpc>
              <a:buNone/>
            </a:pPr>
            <a:r>
              <a:rPr lang="en-US" sz="1050" dirty="0">
                <a:solidFill>
                  <a:srgbClr val="15213F"/>
                </a:solidFill>
                <a:latin typeface="Roboto" pitchFamily="34" charset="0"/>
                <a:ea typeface="Roboto" pitchFamily="34" charset="-122"/>
                <a:cs typeface="Roboto" pitchFamily="34" charset="-120"/>
              </a:rPr>
              <a:t>Price Value &gt; Hedonic Motivation &gt; Social Influence</a:t>
            </a:r>
            <a:endParaRPr lang="en-US" sz="1050" dirty="0"/>
          </a:p>
        </p:txBody>
      </p:sp>
      <p:sp>
        <p:nvSpPr>
          <p:cNvPr id="22" name="Shape 20"/>
          <p:cNvSpPr/>
          <p:nvPr/>
        </p:nvSpPr>
        <p:spPr>
          <a:xfrm>
            <a:off x="746760" y="5839420"/>
            <a:ext cx="13136880" cy="832128"/>
          </a:xfrm>
          <a:prstGeom prst="roundRect">
            <a:avLst>
              <a:gd name="adj" fmla="val 2500"/>
            </a:avLst>
          </a:prstGeom>
          <a:solidFill>
            <a:srgbClr val="FBFCFE"/>
          </a:solidFill>
          <a:ln w="15240">
            <a:solidFill>
              <a:srgbClr val="CFD2D8"/>
            </a:solidFill>
            <a:prstDash val="solid"/>
          </a:ln>
        </p:spPr>
      </p:sp>
      <p:sp>
        <p:nvSpPr>
          <p:cNvPr id="23" name="Shape 21"/>
          <p:cNvSpPr/>
          <p:nvPr/>
        </p:nvSpPr>
        <p:spPr>
          <a:xfrm>
            <a:off x="762000" y="5854660"/>
            <a:ext cx="554712" cy="801648"/>
          </a:xfrm>
          <a:prstGeom prst="roundRect">
            <a:avLst>
              <a:gd name="adj" fmla="val 454"/>
            </a:avLst>
          </a:prstGeom>
          <a:solidFill>
            <a:srgbClr val="E9ECF2"/>
          </a:solidFill>
          <a:ln/>
        </p:spPr>
      </p:sp>
      <p:sp>
        <p:nvSpPr>
          <p:cNvPr id="24" name="Text 22"/>
          <p:cNvSpPr/>
          <p:nvPr/>
        </p:nvSpPr>
        <p:spPr>
          <a:xfrm>
            <a:off x="935355" y="6125408"/>
            <a:ext cx="208002" cy="260033"/>
          </a:xfrm>
          <a:prstGeom prst="rect">
            <a:avLst/>
          </a:prstGeom>
          <a:noFill/>
          <a:ln/>
        </p:spPr>
        <p:txBody>
          <a:bodyPr wrap="none" lIns="0" tIns="0" rIns="0" bIns="0" rtlCol="0" anchor="t"/>
          <a:lstStyle/>
          <a:p>
            <a:pPr algn="l" indent="0" marL="0">
              <a:lnSpc>
                <a:spcPts val="1600"/>
              </a:lnSpc>
              <a:buNone/>
            </a:pPr>
            <a:r>
              <a:rPr lang="en-US" sz="1600" dirty="0">
                <a:solidFill>
                  <a:srgbClr val="15213F"/>
                </a:solidFill>
                <a:latin typeface="Roboto Slab" pitchFamily="34" charset="0"/>
                <a:ea typeface="Roboto Slab" pitchFamily="34" charset="-122"/>
                <a:cs typeface="Roboto Slab" pitchFamily="34" charset="-120"/>
              </a:rPr>
              <a:t>4</a:t>
            </a:r>
            <a:endParaRPr lang="en-US" sz="1600" dirty="0"/>
          </a:p>
        </p:txBody>
      </p:sp>
      <p:sp>
        <p:nvSpPr>
          <p:cNvPr id="25" name="Text 23"/>
          <p:cNvSpPr/>
          <p:nvPr/>
        </p:nvSpPr>
        <p:spPr>
          <a:xfrm>
            <a:off x="1455301" y="5993249"/>
            <a:ext cx="1733788" cy="216694"/>
          </a:xfrm>
          <a:prstGeom prst="rect">
            <a:avLst/>
          </a:prstGeom>
          <a:noFill/>
          <a:ln/>
        </p:spPr>
        <p:txBody>
          <a:bodyPr wrap="none" lIns="0" tIns="0" rIns="0" bIns="0" rtlCol="0" anchor="t"/>
          <a:lstStyle/>
          <a:p>
            <a:pPr algn="l" indent="0" marL="0">
              <a:lnSpc>
                <a:spcPts val="1700"/>
              </a:lnSpc>
              <a:buNone/>
            </a:pPr>
            <a:r>
              <a:rPr lang="en-US" sz="1350" dirty="0">
                <a:solidFill>
                  <a:srgbClr val="15213F"/>
                </a:solidFill>
                <a:latin typeface="Roboto Slab" pitchFamily="34" charset="0"/>
                <a:ea typeface="Roboto Slab" pitchFamily="34" charset="-122"/>
                <a:cs typeface="Roboto Slab" pitchFamily="34" charset="-120"/>
              </a:rPr>
              <a:t>AI Trust Extension</a:t>
            </a:r>
            <a:endParaRPr lang="en-US" sz="1350" dirty="0"/>
          </a:p>
        </p:txBody>
      </p:sp>
      <p:sp>
        <p:nvSpPr>
          <p:cNvPr id="26" name="Text 24"/>
          <p:cNvSpPr/>
          <p:nvPr/>
        </p:nvSpPr>
        <p:spPr>
          <a:xfrm>
            <a:off x="1455301" y="6293048"/>
            <a:ext cx="12274510" cy="221933"/>
          </a:xfrm>
          <a:prstGeom prst="rect">
            <a:avLst/>
          </a:prstGeom>
          <a:noFill/>
          <a:ln/>
        </p:spPr>
        <p:txBody>
          <a:bodyPr wrap="none" lIns="0" tIns="0" rIns="0" bIns="0" rtlCol="0" anchor="t"/>
          <a:lstStyle/>
          <a:p>
            <a:pPr algn="l" indent="0" marL="0">
              <a:lnSpc>
                <a:spcPts val="1700"/>
              </a:lnSpc>
              <a:buNone/>
            </a:pPr>
            <a:r>
              <a:rPr lang="en-US" sz="1050" dirty="0">
                <a:solidFill>
                  <a:srgbClr val="15213F"/>
                </a:solidFill>
                <a:latin typeface="Roboto" pitchFamily="34" charset="0"/>
                <a:ea typeface="Roboto" pitchFamily="34" charset="-122"/>
                <a:cs typeface="Roboto" pitchFamily="34" charset="-120"/>
              </a:rPr>
              <a:t>Marginal predictive effect (p = .064) but diagnostic value</a:t>
            </a:r>
            <a:endParaRPr lang="en-US" sz="1050" dirty="0"/>
          </a:p>
        </p:txBody>
      </p:sp>
      <p:sp>
        <p:nvSpPr>
          <p:cNvPr id="27" name="Shape 25"/>
          <p:cNvSpPr/>
          <p:nvPr/>
        </p:nvSpPr>
        <p:spPr>
          <a:xfrm>
            <a:off x="746760" y="6810137"/>
            <a:ext cx="13136880" cy="832128"/>
          </a:xfrm>
          <a:prstGeom prst="roundRect">
            <a:avLst>
              <a:gd name="adj" fmla="val 2500"/>
            </a:avLst>
          </a:prstGeom>
          <a:solidFill>
            <a:srgbClr val="FBFCFE"/>
          </a:solidFill>
          <a:ln w="15240">
            <a:solidFill>
              <a:srgbClr val="CFD2D8"/>
            </a:solidFill>
            <a:prstDash val="solid"/>
          </a:ln>
        </p:spPr>
      </p:sp>
      <p:sp>
        <p:nvSpPr>
          <p:cNvPr id="28" name="Shape 26"/>
          <p:cNvSpPr/>
          <p:nvPr/>
        </p:nvSpPr>
        <p:spPr>
          <a:xfrm>
            <a:off x="762000" y="6825377"/>
            <a:ext cx="554712" cy="801648"/>
          </a:xfrm>
          <a:prstGeom prst="roundRect">
            <a:avLst>
              <a:gd name="adj" fmla="val 454"/>
            </a:avLst>
          </a:prstGeom>
          <a:solidFill>
            <a:srgbClr val="E9ECF2"/>
          </a:solidFill>
          <a:ln/>
        </p:spPr>
      </p:sp>
      <p:sp>
        <p:nvSpPr>
          <p:cNvPr id="29" name="Text 27"/>
          <p:cNvSpPr/>
          <p:nvPr/>
        </p:nvSpPr>
        <p:spPr>
          <a:xfrm>
            <a:off x="935355" y="7096125"/>
            <a:ext cx="208002" cy="260033"/>
          </a:xfrm>
          <a:prstGeom prst="rect">
            <a:avLst/>
          </a:prstGeom>
          <a:noFill/>
          <a:ln/>
        </p:spPr>
        <p:txBody>
          <a:bodyPr wrap="none" lIns="0" tIns="0" rIns="0" bIns="0" rtlCol="0" anchor="t"/>
          <a:lstStyle/>
          <a:p>
            <a:pPr algn="l" indent="0" marL="0">
              <a:lnSpc>
                <a:spcPts val="1600"/>
              </a:lnSpc>
              <a:buNone/>
            </a:pPr>
            <a:r>
              <a:rPr lang="en-US" sz="1600" dirty="0">
                <a:solidFill>
                  <a:srgbClr val="15213F"/>
                </a:solidFill>
                <a:latin typeface="Roboto Slab" pitchFamily="34" charset="0"/>
                <a:ea typeface="Roboto Slab" pitchFamily="34" charset="-122"/>
                <a:cs typeface="Roboto Slab" pitchFamily="34" charset="-120"/>
              </a:rPr>
              <a:t>5</a:t>
            </a:r>
            <a:endParaRPr lang="en-US" sz="1600" dirty="0"/>
          </a:p>
        </p:txBody>
      </p:sp>
      <p:sp>
        <p:nvSpPr>
          <p:cNvPr id="30" name="Text 28"/>
          <p:cNvSpPr/>
          <p:nvPr/>
        </p:nvSpPr>
        <p:spPr>
          <a:xfrm>
            <a:off x="1455301" y="6963966"/>
            <a:ext cx="1733788" cy="216694"/>
          </a:xfrm>
          <a:prstGeom prst="rect">
            <a:avLst/>
          </a:prstGeom>
          <a:noFill/>
          <a:ln/>
        </p:spPr>
        <p:txBody>
          <a:bodyPr wrap="none" lIns="0" tIns="0" rIns="0" bIns="0" rtlCol="0" anchor="t"/>
          <a:lstStyle/>
          <a:p>
            <a:pPr algn="l" indent="0" marL="0">
              <a:lnSpc>
                <a:spcPts val="1700"/>
              </a:lnSpc>
              <a:buNone/>
            </a:pPr>
            <a:r>
              <a:rPr lang="en-US" sz="1350" dirty="0">
                <a:solidFill>
                  <a:srgbClr val="15213F"/>
                </a:solidFill>
                <a:latin typeface="Roboto Slab" pitchFamily="34" charset="0"/>
                <a:ea typeface="Roboto Slab" pitchFamily="34" charset="-122"/>
                <a:cs typeface="Roboto Slab" pitchFamily="34" charset="-120"/>
              </a:rPr>
              <a:t>Moderating Effects</a:t>
            </a:r>
            <a:endParaRPr lang="en-US" sz="1350" dirty="0"/>
          </a:p>
        </p:txBody>
      </p:sp>
      <p:sp>
        <p:nvSpPr>
          <p:cNvPr id="31" name="Text 29"/>
          <p:cNvSpPr/>
          <p:nvPr/>
        </p:nvSpPr>
        <p:spPr>
          <a:xfrm>
            <a:off x="1455301" y="7263765"/>
            <a:ext cx="12274510" cy="221933"/>
          </a:xfrm>
          <a:prstGeom prst="rect">
            <a:avLst/>
          </a:prstGeom>
          <a:noFill/>
          <a:ln/>
        </p:spPr>
        <p:txBody>
          <a:bodyPr wrap="none" lIns="0" tIns="0" rIns="0" bIns="0" rtlCol="0" anchor="t"/>
          <a:lstStyle/>
          <a:p>
            <a:pPr algn="l" indent="0" marL="0">
              <a:lnSpc>
                <a:spcPts val="1700"/>
              </a:lnSpc>
              <a:buNone/>
            </a:pPr>
            <a:r>
              <a:rPr lang="en-US" sz="1050" dirty="0">
                <a:solidFill>
                  <a:srgbClr val="15213F"/>
                </a:solidFill>
                <a:latin typeface="Roboto" pitchFamily="34" charset="0"/>
                <a:ea typeface="Roboto" pitchFamily="34" charset="-122"/>
                <a:cs typeface="Roboto" pitchFamily="34" charset="-120"/>
              </a:rPr>
              <a:t>Experience and population moderate Hedonic Motivation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313855"/>
            <a:ext cx="11649670"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Theoretical Framework: UTAUT2 + AI Trust</a:t>
            </a:r>
            <a:endParaRPr lang="en-US" sz="4450" dirty="0"/>
          </a:p>
        </p:txBody>
      </p:sp>
      <p:sp>
        <p:nvSpPr>
          <p:cNvPr id="3" name="Text 1"/>
          <p:cNvSpPr/>
          <p:nvPr/>
        </p:nvSpPr>
        <p:spPr>
          <a:xfrm>
            <a:off x="793790" y="2589609"/>
            <a:ext cx="4722495"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Why UTAUT2 as Foundation?</a:t>
            </a:r>
            <a:endParaRPr lang="en-US" sz="2650" dirty="0"/>
          </a:p>
        </p:txBody>
      </p:sp>
      <p:sp>
        <p:nvSpPr>
          <p:cNvPr id="4" name="Text 2"/>
          <p:cNvSpPr/>
          <p:nvPr/>
        </p:nvSpPr>
        <p:spPr>
          <a:xfrm>
            <a:off x="793790" y="3241715"/>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Superior explanatory power:</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Up to 74% variance explained vs. TAM's ~40%</a:t>
            </a:r>
            <a:endParaRPr lang="en-US" sz="1750" dirty="0"/>
          </a:p>
        </p:txBody>
      </p:sp>
      <p:sp>
        <p:nvSpPr>
          <p:cNvPr id="5" name="Text 3"/>
          <p:cNvSpPr/>
          <p:nvPr/>
        </p:nvSpPr>
        <p:spPr>
          <a:xfrm>
            <a:off x="793790" y="4046815"/>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Theoretical integration:</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Synthesizes 8 prior models (TRA, TPB, TAM, Motivational Model, and others)</a:t>
            </a:r>
            <a:endParaRPr lang="en-US" sz="1750" dirty="0"/>
          </a:p>
        </p:txBody>
      </p:sp>
      <p:sp>
        <p:nvSpPr>
          <p:cNvPr id="6" name="Text 4"/>
          <p:cNvSpPr/>
          <p:nvPr/>
        </p:nvSpPr>
        <p:spPr>
          <a:xfrm>
            <a:off x="793790" y="4851916"/>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Consumer-relevant constructs:</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Includes Hedonic Motivation, Price Value, and Habit</a:t>
            </a:r>
            <a:endParaRPr lang="en-US" sz="1750" dirty="0"/>
          </a:p>
        </p:txBody>
      </p:sp>
      <p:sp>
        <p:nvSpPr>
          <p:cNvPr id="7" name="Text 5"/>
          <p:cNvSpPr/>
          <p:nvPr/>
        </p:nvSpPr>
        <p:spPr>
          <a:xfrm>
            <a:off x="793790" y="5657017"/>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Current gold standard:</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Most comprehensive technology acceptance framework</a:t>
            </a:r>
            <a:endParaRPr lang="en-US" sz="1750" dirty="0"/>
          </a:p>
        </p:txBody>
      </p:sp>
      <p:sp>
        <p:nvSpPr>
          <p:cNvPr id="8" name="Text 6"/>
          <p:cNvSpPr/>
          <p:nvPr/>
        </p:nvSpPr>
        <p:spPr>
          <a:xfrm>
            <a:off x="7599521" y="2589609"/>
            <a:ext cx="4501396"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AI-Specific Extension: Trust</a:t>
            </a:r>
            <a:endParaRPr lang="en-US" sz="2650" dirty="0"/>
          </a:p>
        </p:txBody>
      </p:sp>
      <p:sp>
        <p:nvSpPr>
          <p:cNvPr id="9" name="Text 7"/>
          <p:cNvSpPr/>
          <p:nvPr/>
        </p:nvSpPr>
        <p:spPr>
          <a:xfrm>
            <a:off x="7599521" y="3241715"/>
            <a:ext cx="6244709"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AI trust differs fundamentally from general technology trust due to three unique characteristics:</a:t>
            </a:r>
            <a:endParaRPr lang="en-US" sz="1750" dirty="0"/>
          </a:p>
        </p:txBody>
      </p:sp>
      <p:sp>
        <p:nvSpPr>
          <p:cNvPr id="10" name="Text 8"/>
          <p:cNvSpPr/>
          <p:nvPr/>
        </p:nvSpPr>
        <p:spPr>
          <a:xfrm>
            <a:off x="7599521" y="4171593"/>
            <a:ext cx="6244709"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1"/>
            </a:pPr>
            <a:r>
              <a:rPr lang="en-US" sz="1750" b="1" dirty="0">
                <a:solidFill>
                  <a:srgbClr val="15213F"/>
                </a:solidFill>
                <a:latin typeface="Roboto" pitchFamily="34" charset="0"/>
                <a:ea typeface="Roboto" pitchFamily="34" charset="-122"/>
                <a:cs typeface="Roboto" pitchFamily="34" charset="-120"/>
              </a:rPr>
              <a:t>Opacity:</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Black-box decision processes</a:t>
            </a:r>
            <a:endParaRPr lang="en-US" sz="1750" dirty="0"/>
          </a:p>
        </p:txBody>
      </p:sp>
      <p:sp>
        <p:nvSpPr>
          <p:cNvPr id="11" name="Text 9"/>
          <p:cNvSpPr/>
          <p:nvPr/>
        </p:nvSpPr>
        <p:spPr>
          <a:xfrm>
            <a:off x="7599521" y="4613791"/>
            <a:ext cx="6244709"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2"/>
            </a:pPr>
            <a:r>
              <a:rPr lang="en-US" sz="1750" b="1" dirty="0">
                <a:solidFill>
                  <a:srgbClr val="15213F"/>
                </a:solidFill>
                <a:latin typeface="Roboto" pitchFamily="34" charset="0"/>
                <a:ea typeface="Roboto" pitchFamily="34" charset="-122"/>
                <a:cs typeface="Roboto" pitchFamily="34" charset="-120"/>
              </a:rPr>
              <a:t>Probabilistic reasoning:</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Non-deterministic outputs</a:t>
            </a:r>
            <a:endParaRPr lang="en-US" sz="1750" dirty="0"/>
          </a:p>
        </p:txBody>
      </p:sp>
      <p:sp>
        <p:nvSpPr>
          <p:cNvPr id="12" name="Text 10"/>
          <p:cNvSpPr/>
          <p:nvPr/>
        </p:nvSpPr>
        <p:spPr>
          <a:xfrm>
            <a:off x="7599521" y="5055989"/>
            <a:ext cx="6244709"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3"/>
            </a:pPr>
            <a:r>
              <a:rPr lang="en-US" sz="1750" b="1" dirty="0">
                <a:solidFill>
                  <a:srgbClr val="15213F"/>
                </a:solidFill>
                <a:latin typeface="Roboto" pitchFamily="34" charset="0"/>
                <a:ea typeface="Roboto" pitchFamily="34" charset="-122"/>
                <a:cs typeface="Roboto" pitchFamily="34" charset="-120"/>
              </a:rPr>
              <a:t>Autonomous behavior:</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Independent decision-making</a:t>
            </a:r>
            <a:endParaRPr lang="en-US" sz="1750" dirty="0"/>
          </a:p>
        </p:txBody>
      </p:sp>
      <p:sp>
        <p:nvSpPr>
          <p:cNvPr id="13" name="Text 11"/>
          <p:cNvSpPr/>
          <p:nvPr/>
        </p:nvSpPr>
        <p:spPr>
          <a:xfrm>
            <a:off x="7599521" y="5622965"/>
            <a:ext cx="6244709"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Glikson &amp; Woolley (2020) established that trusting an AI system requires different cognitive processes than trusting traditional software.</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2008942"/>
            <a:ext cx="7033855" cy="460772"/>
          </a:xfrm>
          <a:prstGeom prst="rect">
            <a:avLst/>
          </a:prstGeom>
          <a:noFill/>
          <a:ln/>
        </p:spPr>
        <p:txBody>
          <a:bodyPr wrap="none" lIns="0" tIns="0" rIns="0" bIns="0" rtlCol="0" anchor="t"/>
          <a:lstStyle/>
          <a:p>
            <a:pPr algn="l" indent="0" marL="0">
              <a:lnSpc>
                <a:spcPts val="3600"/>
              </a:lnSpc>
              <a:buNone/>
            </a:pPr>
            <a:r>
              <a:rPr lang="en-US" sz="2900" dirty="0">
                <a:solidFill>
                  <a:srgbClr val="3257B8"/>
                </a:solidFill>
                <a:latin typeface="Roboto Slab" pitchFamily="34" charset="0"/>
                <a:ea typeface="Roboto Slab" pitchFamily="34" charset="-122"/>
                <a:cs typeface="Roboto Slab" pitchFamily="34" charset="-120"/>
              </a:rPr>
              <a:t>Core Hypotheses: UTAUT2 Relationships</a:t>
            </a:r>
            <a:endParaRPr lang="en-US" sz="2900" dirty="0"/>
          </a:p>
        </p:txBody>
      </p:sp>
      <p:sp>
        <p:nvSpPr>
          <p:cNvPr id="3" name="Text 1"/>
          <p:cNvSpPr/>
          <p:nvPr/>
        </p:nvSpPr>
        <p:spPr>
          <a:xfrm>
            <a:off x="793790" y="2764512"/>
            <a:ext cx="13042821"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Seven hypotheses test whether established UTAUT2 constructs predict behavioral intention to adopt AI tools in professional and academic contexts.</a:t>
            </a:r>
            <a:endParaRPr lang="en-US" sz="1150" dirty="0"/>
          </a:p>
        </p:txBody>
      </p:sp>
      <p:sp>
        <p:nvSpPr>
          <p:cNvPr id="4" name="Shape 2"/>
          <p:cNvSpPr/>
          <p:nvPr/>
        </p:nvSpPr>
        <p:spPr>
          <a:xfrm>
            <a:off x="793790" y="4693325"/>
            <a:ext cx="13042821" cy="15240"/>
          </a:xfrm>
          <a:prstGeom prst="roundRect">
            <a:avLst>
              <a:gd name="adj" fmla="val 145116"/>
            </a:avLst>
          </a:prstGeom>
          <a:solidFill>
            <a:srgbClr val="CFD2D8"/>
          </a:solidFill>
          <a:ln/>
        </p:spPr>
      </p:sp>
      <p:sp>
        <p:nvSpPr>
          <p:cNvPr id="5" name="Shape 3"/>
          <p:cNvSpPr/>
          <p:nvPr/>
        </p:nvSpPr>
        <p:spPr>
          <a:xfrm>
            <a:off x="2347436" y="4251127"/>
            <a:ext cx="15240" cy="442198"/>
          </a:xfrm>
          <a:prstGeom prst="roundRect">
            <a:avLst>
              <a:gd name="adj" fmla="val 145116"/>
            </a:avLst>
          </a:prstGeom>
          <a:solidFill>
            <a:srgbClr val="CFD2D8"/>
          </a:solidFill>
          <a:ln/>
        </p:spPr>
      </p:sp>
      <p:pic>
        <p:nvPicPr>
          <p:cNvPr id="6" name="Image 0" descr="preencoded.png">    </p:cNvPr>
          <p:cNvPicPr>
            <a:picLocks noChangeAspect="1"/>
          </p:cNvPicPr>
          <p:nvPr/>
        </p:nvPicPr>
        <p:blipFill>
          <a:blip r:embed="rId1"/>
          <a:stretch>
            <a:fillRect/>
          </a:stretch>
        </p:blipFill>
        <p:spPr>
          <a:xfrm>
            <a:off x="2299811" y="4638080"/>
            <a:ext cx="110490" cy="110490"/>
          </a:xfrm>
          <a:prstGeom prst="rect">
            <a:avLst/>
          </a:prstGeom>
        </p:spPr>
      </p:pic>
      <p:sp>
        <p:nvSpPr>
          <p:cNvPr id="7" name="Shape 4"/>
          <p:cNvSpPr/>
          <p:nvPr/>
        </p:nvSpPr>
        <p:spPr>
          <a:xfrm>
            <a:off x="793790" y="3166110"/>
            <a:ext cx="3122533" cy="1085017"/>
          </a:xfrm>
          <a:prstGeom prst="roundRect">
            <a:avLst>
              <a:gd name="adj" fmla="val 2038"/>
            </a:avLst>
          </a:prstGeom>
          <a:solidFill>
            <a:srgbClr val="E9ECF2"/>
          </a:solidFill>
          <a:ln/>
        </p:spPr>
      </p:sp>
      <p:sp>
        <p:nvSpPr>
          <p:cNvPr id="8" name="Text 5"/>
          <p:cNvSpPr/>
          <p:nvPr/>
        </p:nvSpPr>
        <p:spPr>
          <a:xfrm>
            <a:off x="1031200" y="3313509"/>
            <a:ext cx="2647712"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Performance Expectancy → BI</a:t>
            </a:r>
            <a:endParaRPr lang="en-US" sz="1450" dirty="0"/>
          </a:p>
        </p:txBody>
      </p:sp>
      <p:sp>
        <p:nvSpPr>
          <p:cNvPr id="9" name="Text 6"/>
          <p:cNvSpPr/>
          <p:nvPr/>
        </p:nvSpPr>
        <p:spPr>
          <a:xfrm>
            <a:off x="941189" y="3632240"/>
            <a:ext cx="2827734" cy="471488"/>
          </a:xfrm>
          <a:prstGeom prst="rect">
            <a:avLst/>
          </a:prstGeom>
          <a:noFill/>
          <a:ln/>
        </p:spPr>
        <p:txBody>
          <a:bodyPr wrap="squar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Will AI improve my job performance and productivity?</a:t>
            </a:r>
            <a:endParaRPr lang="en-US" sz="1150" dirty="0"/>
          </a:p>
        </p:txBody>
      </p:sp>
      <p:sp>
        <p:nvSpPr>
          <p:cNvPr id="10" name="Shape 7"/>
          <p:cNvSpPr/>
          <p:nvPr/>
        </p:nvSpPr>
        <p:spPr>
          <a:xfrm>
            <a:off x="4000738" y="4693325"/>
            <a:ext cx="15240" cy="442198"/>
          </a:xfrm>
          <a:prstGeom prst="roundRect">
            <a:avLst>
              <a:gd name="adj" fmla="val 145116"/>
            </a:avLst>
          </a:prstGeom>
          <a:solidFill>
            <a:srgbClr val="CFD2D8"/>
          </a:solidFill>
          <a:ln/>
        </p:spPr>
      </p:sp>
      <p:pic>
        <p:nvPicPr>
          <p:cNvPr id="11" name="Image 1" descr="preencoded.png">    </p:cNvPr>
          <p:cNvPicPr>
            <a:picLocks noChangeAspect="1"/>
          </p:cNvPicPr>
          <p:nvPr/>
        </p:nvPicPr>
        <p:blipFill>
          <a:blip r:embed="rId2"/>
          <a:stretch>
            <a:fillRect/>
          </a:stretch>
        </p:blipFill>
        <p:spPr>
          <a:xfrm>
            <a:off x="3953113" y="4638080"/>
            <a:ext cx="110490" cy="110490"/>
          </a:xfrm>
          <a:prstGeom prst="rect">
            <a:avLst/>
          </a:prstGeom>
        </p:spPr>
      </p:pic>
      <p:sp>
        <p:nvSpPr>
          <p:cNvPr id="12" name="Shape 8"/>
          <p:cNvSpPr/>
          <p:nvPr/>
        </p:nvSpPr>
        <p:spPr>
          <a:xfrm>
            <a:off x="2447092" y="5135523"/>
            <a:ext cx="3122533" cy="849273"/>
          </a:xfrm>
          <a:prstGeom prst="roundRect">
            <a:avLst>
              <a:gd name="adj" fmla="val 2604"/>
            </a:avLst>
          </a:prstGeom>
          <a:solidFill>
            <a:srgbClr val="E9ECF2"/>
          </a:solidFill>
          <a:ln/>
        </p:spPr>
      </p:sp>
      <p:sp>
        <p:nvSpPr>
          <p:cNvPr id="13" name="Text 9"/>
          <p:cNvSpPr/>
          <p:nvPr/>
        </p:nvSpPr>
        <p:spPr>
          <a:xfrm>
            <a:off x="3000256" y="5282922"/>
            <a:ext cx="2016085"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Effort Expectancy → BI</a:t>
            </a:r>
            <a:endParaRPr lang="en-US" sz="1450" dirty="0"/>
          </a:p>
        </p:txBody>
      </p:sp>
      <p:sp>
        <p:nvSpPr>
          <p:cNvPr id="14" name="Text 10"/>
          <p:cNvSpPr/>
          <p:nvPr/>
        </p:nvSpPr>
        <p:spPr>
          <a:xfrm>
            <a:off x="2594491" y="5601653"/>
            <a:ext cx="2827734" cy="235744"/>
          </a:xfrm>
          <a:prstGeom prst="rect">
            <a:avLst/>
          </a:prstGeom>
          <a:noFill/>
          <a:ln/>
        </p:spPr>
        <p:txBody>
          <a:bodyPr wrap="non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Is the AI system easy to learn and use?</a:t>
            </a:r>
            <a:endParaRPr lang="en-US" sz="1150" dirty="0"/>
          </a:p>
        </p:txBody>
      </p:sp>
      <p:sp>
        <p:nvSpPr>
          <p:cNvPr id="15" name="Shape 11"/>
          <p:cNvSpPr/>
          <p:nvPr/>
        </p:nvSpPr>
        <p:spPr>
          <a:xfrm>
            <a:off x="5654159" y="4251127"/>
            <a:ext cx="15240" cy="442198"/>
          </a:xfrm>
          <a:prstGeom prst="roundRect">
            <a:avLst>
              <a:gd name="adj" fmla="val 145116"/>
            </a:avLst>
          </a:prstGeom>
          <a:solidFill>
            <a:srgbClr val="CFD2D8"/>
          </a:solidFill>
          <a:ln/>
        </p:spPr>
      </p:sp>
      <p:pic>
        <p:nvPicPr>
          <p:cNvPr id="16" name="Image 2" descr="preencoded.png">    </p:cNvPr>
          <p:cNvPicPr>
            <a:picLocks noChangeAspect="1"/>
          </p:cNvPicPr>
          <p:nvPr/>
        </p:nvPicPr>
        <p:blipFill>
          <a:blip r:embed="rId3"/>
          <a:stretch>
            <a:fillRect/>
          </a:stretch>
        </p:blipFill>
        <p:spPr>
          <a:xfrm>
            <a:off x="5606534" y="4638080"/>
            <a:ext cx="110490" cy="110490"/>
          </a:xfrm>
          <a:prstGeom prst="rect">
            <a:avLst/>
          </a:prstGeom>
        </p:spPr>
      </p:pic>
      <p:sp>
        <p:nvSpPr>
          <p:cNvPr id="17" name="Shape 12"/>
          <p:cNvSpPr/>
          <p:nvPr/>
        </p:nvSpPr>
        <p:spPr>
          <a:xfrm>
            <a:off x="4100513" y="3166110"/>
            <a:ext cx="3122533" cy="849273"/>
          </a:xfrm>
          <a:prstGeom prst="roundRect">
            <a:avLst>
              <a:gd name="adj" fmla="val 2604"/>
            </a:avLst>
          </a:prstGeom>
          <a:solidFill>
            <a:srgbClr val="E9ECF2"/>
          </a:solidFill>
          <a:ln/>
        </p:spPr>
      </p:sp>
      <p:sp>
        <p:nvSpPr>
          <p:cNvPr id="18" name="Text 13"/>
          <p:cNvSpPr/>
          <p:nvPr/>
        </p:nvSpPr>
        <p:spPr>
          <a:xfrm>
            <a:off x="4733330" y="3313509"/>
            <a:ext cx="1856780"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Social Influence → BI</a:t>
            </a:r>
            <a:endParaRPr lang="en-US" sz="1450" dirty="0"/>
          </a:p>
        </p:txBody>
      </p:sp>
      <p:sp>
        <p:nvSpPr>
          <p:cNvPr id="19" name="Text 14"/>
          <p:cNvSpPr/>
          <p:nvPr/>
        </p:nvSpPr>
        <p:spPr>
          <a:xfrm>
            <a:off x="4247912" y="3632240"/>
            <a:ext cx="2827734" cy="235744"/>
          </a:xfrm>
          <a:prstGeom prst="rect">
            <a:avLst/>
          </a:prstGeom>
          <a:noFill/>
          <a:ln/>
        </p:spPr>
        <p:txBody>
          <a:bodyPr wrap="non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Do important people think I should use AI?</a:t>
            </a:r>
            <a:endParaRPr lang="en-US" sz="1150" dirty="0"/>
          </a:p>
        </p:txBody>
      </p:sp>
      <p:sp>
        <p:nvSpPr>
          <p:cNvPr id="20" name="Shape 15"/>
          <p:cNvSpPr/>
          <p:nvPr/>
        </p:nvSpPr>
        <p:spPr>
          <a:xfrm>
            <a:off x="7307461" y="4693325"/>
            <a:ext cx="15240" cy="442198"/>
          </a:xfrm>
          <a:prstGeom prst="roundRect">
            <a:avLst>
              <a:gd name="adj" fmla="val 145116"/>
            </a:avLst>
          </a:prstGeom>
          <a:solidFill>
            <a:srgbClr val="CFD2D8"/>
          </a:solidFill>
          <a:ln/>
        </p:spPr>
      </p:sp>
      <p:pic>
        <p:nvPicPr>
          <p:cNvPr id="21" name="Image 3" descr="preencoded.png">    </p:cNvPr>
          <p:cNvPicPr>
            <a:picLocks noChangeAspect="1"/>
          </p:cNvPicPr>
          <p:nvPr/>
        </p:nvPicPr>
        <p:blipFill>
          <a:blip r:embed="rId4"/>
          <a:stretch>
            <a:fillRect/>
          </a:stretch>
        </p:blipFill>
        <p:spPr>
          <a:xfrm>
            <a:off x="7259836" y="4638080"/>
            <a:ext cx="110490" cy="110490"/>
          </a:xfrm>
          <a:prstGeom prst="rect">
            <a:avLst/>
          </a:prstGeom>
        </p:spPr>
      </p:pic>
      <p:sp>
        <p:nvSpPr>
          <p:cNvPr id="22" name="Shape 16"/>
          <p:cNvSpPr/>
          <p:nvPr/>
        </p:nvSpPr>
        <p:spPr>
          <a:xfrm>
            <a:off x="5753814" y="5135523"/>
            <a:ext cx="3122652" cy="1085017"/>
          </a:xfrm>
          <a:prstGeom prst="roundRect">
            <a:avLst>
              <a:gd name="adj" fmla="val 2038"/>
            </a:avLst>
          </a:prstGeom>
          <a:solidFill>
            <a:srgbClr val="E9ECF2"/>
          </a:solidFill>
          <a:ln/>
        </p:spPr>
      </p:sp>
      <p:sp>
        <p:nvSpPr>
          <p:cNvPr id="23" name="Text 17"/>
          <p:cNvSpPr/>
          <p:nvPr/>
        </p:nvSpPr>
        <p:spPr>
          <a:xfrm>
            <a:off x="6092785" y="5282922"/>
            <a:ext cx="2444710"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Facilitating Conditions → BI</a:t>
            </a:r>
            <a:endParaRPr lang="en-US" sz="1450" dirty="0"/>
          </a:p>
        </p:txBody>
      </p:sp>
      <p:sp>
        <p:nvSpPr>
          <p:cNvPr id="24" name="Text 18"/>
          <p:cNvSpPr/>
          <p:nvPr/>
        </p:nvSpPr>
        <p:spPr>
          <a:xfrm>
            <a:off x="5901214" y="5601653"/>
            <a:ext cx="2827853" cy="471488"/>
          </a:xfrm>
          <a:prstGeom prst="rect">
            <a:avLst/>
          </a:prstGeom>
          <a:noFill/>
          <a:ln/>
        </p:spPr>
        <p:txBody>
          <a:bodyPr wrap="squar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Do I have the resources and support needed?</a:t>
            </a:r>
            <a:endParaRPr lang="en-US" sz="1150" dirty="0"/>
          </a:p>
        </p:txBody>
      </p:sp>
      <p:sp>
        <p:nvSpPr>
          <p:cNvPr id="25" name="Shape 19"/>
          <p:cNvSpPr/>
          <p:nvPr/>
        </p:nvSpPr>
        <p:spPr>
          <a:xfrm>
            <a:off x="8960882" y="4251127"/>
            <a:ext cx="15240" cy="442198"/>
          </a:xfrm>
          <a:prstGeom prst="roundRect">
            <a:avLst>
              <a:gd name="adj" fmla="val 145116"/>
            </a:avLst>
          </a:prstGeom>
          <a:solidFill>
            <a:srgbClr val="CFD2D8"/>
          </a:solidFill>
          <a:ln/>
        </p:spPr>
      </p:sp>
      <p:pic>
        <p:nvPicPr>
          <p:cNvPr id="26" name="Image 4" descr="preencoded.png">    </p:cNvPr>
          <p:cNvPicPr>
            <a:picLocks noChangeAspect="1"/>
          </p:cNvPicPr>
          <p:nvPr/>
        </p:nvPicPr>
        <p:blipFill>
          <a:blip r:embed="rId5"/>
          <a:stretch>
            <a:fillRect/>
          </a:stretch>
        </p:blipFill>
        <p:spPr>
          <a:xfrm>
            <a:off x="8913257" y="4638080"/>
            <a:ext cx="110490" cy="110490"/>
          </a:xfrm>
          <a:prstGeom prst="rect">
            <a:avLst/>
          </a:prstGeom>
        </p:spPr>
      </p:pic>
      <p:sp>
        <p:nvSpPr>
          <p:cNvPr id="27" name="Shape 20"/>
          <p:cNvSpPr/>
          <p:nvPr/>
        </p:nvSpPr>
        <p:spPr>
          <a:xfrm>
            <a:off x="7407235" y="3166110"/>
            <a:ext cx="3122533" cy="849273"/>
          </a:xfrm>
          <a:prstGeom prst="roundRect">
            <a:avLst>
              <a:gd name="adj" fmla="val 2604"/>
            </a:avLst>
          </a:prstGeom>
          <a:solidFill>
            <a:srgbClr val="E9ECF2"/>
          </a:solidFill>
          <a:ln/>
        </p:spPr>
      </p:sp>
      <p:sp>
        <p:nvSpPr>
          <p:cNvPr id="28" name="Text 21"/>
          <p:cNvSpPr/>
          <p:nvPr/>
        </p:nvSpPr>
        <p:spPr>
          <a:xfrm>
            <a:off x="7874913" y="3313509"/>
            <a:ext cx="2187178"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Hedonic Motivation → BI</a:t>
            </a:r>
            <a:endParaRPr lang="en-US" sz="1450" dirty="0"/>
          </a:p>
        </p:txBody>
      </p:sp>
      <p:sp>
        <p:nvSpPr>
          <p:cNvPr id="29" name="Text 22"/>
          <p:cNvSpPr/>
          <p:nvPr/>
        </p:nvSpPr>
        <p:spPr>
          <a:xfrm>
            <a:off x="7554635" y="3632240"/>
            <a:ext cx="2827734" cy="235744"/>
          </a:xfrm>
          <a:prstGeom prst="rect">
            <a:avLst/>
          </a:prstGeom>
          <a:noFill/>
          <a:ln/>
        </p:spPr>
        <p:txBody>
          <a:bodyPr wrap="non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Is using AI enjoyable and engaging?</a:t>
            </a:r>
            <a:endParaRPr lang="en-US" sz="1150" dirty="0"/>
          </a:p>
        </p:txBody>
      </p:sp>
      <p:sp>
        <p:nvSpPr>
          <p:cNvPr id="30" name="Shape 23"/>
          <p:cNvSpPr/>
          <p:nvPr/>
        </p:nvSpPr>
        <p:spPr>
          <a:xfrm>
            <a:off x="10614303" y="4693325"/>
            <a:ext cx="15240" cy="442198"/>
          </a:xfrm>
          <a:prstGeom prst="roundRect">
            <a:avLst>
              <a:gd name="adj" fmla="val 145116"/>
            </a:avLst>
          </a:prstGeom>
          <a:solidFill>
            <a:srgbClr val="CFD2D8"/>
          </a:solidFill>
          <a:ln/>
        </p:spPr>
      </p:sp>
      <p:pic>
        <p:nvPicPr>
          <p:cNvPr id="31" name="Image 5" descr="preencoded.png">    </p:cNvPr>
          <p:cNvPicPr>
            <a:picLocks noChangeAspect="1"/>
          </p:cNvPicPr>
          <p:nvPr/>
        </p:nvPicPr>
        <p:blipFill>
          <a:blip r:embed="rId6"/>
          <a:stretch>
            <a:fillRect/>
          </a:stretch>
        </p:blipFill>
        <p:spPr>
          <a:xfrm>
            <a:off x="10566678" y="4638080"/>
            <a:ext cx="110490" cy="110490"/>
          </a:xfrm>
          <a:prstGeom prst="rect">
            <a:avLst/>
          </a:prstGeom>
        </p:spPr>
      </p:pic>
      <p:sp>
        <p:nvSpPr>
          <p:cNvPr id="32" name="Shape 24"/>
          <p:cNvSpPr/>
          <p:nvPr/>
        </p:nvSpPr>
        <p:spPr>
          <a:xfrm>
            <a:off x="9060656" y="5135523"/>
            <a:ext cx="3122533" cy="849273"/>
          </a:xfrm>
          <a:prstGeom prst="roundRect">
            <a:avLst>
              <a:gd name="adj" fmla="val 2604"/>
            </a:avLst>
          </a:prstGeom>
          <a:solidFill>
            <a:srgbClr val="E9ECF2"/>
          </a:solidFill>
          <a:ln/>
        </p:spPr>
      </p:sp>
      <p:sp>
        <p:nvSpPr>
          <p:cNvPr id="33" name="Text 25"/>
          <p:cNvSpPr/>
          <p:nvPr/>
        </p:nvSpPr>
        <p:spPr>
          <a:xfrm>
            <a:off x="9700379" y="5282922"/>
            <a:ext cx="1842968"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Price Value → BI</a:t>
            </a:r>
            <a:endParaRPr lang="en-US" sz="1450" dirty="0"/>
          </a:p>
        </p:txBody>
      </p:sp>
      <p:sp>
        <p:nvSpPr>
          <p:cNvPr id="34" name="Text 26"/>
          <p:cNvSpPr/>
          <p:nvPr/>
        </p:nvSpPr>
        <p:spPr>
          <a:xfrm>
            <a:off x="9208056" y="5601653"/>
            <a:ext cx="2827734" cy="235744"/>
          </a:xfrm>
          <a:prstGeom prst="rect">
            <a:avLst/>
          </a:prstGeom>
          <a:noFill/>
          <a:ln/>
        </p:spPr>
        <p:txBody>
          <a:bodyPr wrap="non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Is the value worth my total investment?</a:t>
            </a:r>
            <a:endParaRPr lang="en-US" sz="1150" dirty="0"/>
          </a:p>
        </p:txBody>
      </p:sp>
      <p:sp>
        <p:nvSpPr>
          <p:cNvPr id="35" name="Shape 27"/>
          <p:cNvSpPr/>
          <p:nvPr/>
        </p:nvSpPr>
        <p:spPr>
          <a:xfrm>
            <a:off x="12267605" y="4251127"/>
            <a:ext cx="15240" cy="442198"/>
          </a:xfrm>
          <a:prstGeom prst="roundRect">
            <a:avLst>
              <a:gd name="adj" fmla="val 145116"/>
            </a:avLst>
          </a:prstGeom>
          <a:solidFill>
            <a:srgbClr val="CFD2D8"/>
          </a:solidFill>
          <a:ln/>
        </p:spPr>
      </p:sp>
      <p:pic>
        <p:nvPicPr>
          <p:cNvPr id="36" name="Image 6" descr="preencoded.png">    </p:cNvPr>
          <p:cNvPicPr>
            <a:picLocks noChangeAspect="1"/>
          </p:cNvPicPr>
          <p:nvPr/>
        </p:nvPicPr>
        <p:blipFill>
          <a:blip r:embed="rId7"/>
          <a:stretch>
            <a:fillRect/>
          </a:stretch>
        </p:blipFill>
        <p:spPr>
          <a:xfrm>
            <a:off x="12219980" y="4638080"/>
            <a:ext cx="110490" cy="110490"/>
          </a:xfrm>
          <a:prstGeom prst="rect">
            <a:avLst/>
          </a:prstGeom>
        </p:spPr>
      </p:pic>
      <p:sp>
        <p:nvSpPr>
          <p:cNvPr id="37" name="Shape 28"/>
          <p:cNvSpPr/>
          <p:nvPr/>
        </p:nvSpPr>
        <p:spPr>
          <a:xfrm>
            <a:off x="10713958" y="3166110"/>
            <a:ext cx="3122652" cy="849273"/>
          </a:xfrm>
          <a:prstGeom prst="roundRect">
            <a:avLst>
              <a:gd name="adj" fmla="val 2604"/>
            </a:avLst>
          </a:prstGeom>
          <a:solidFill>
            <a:srgbClr val="E9ECF2"/>
          </a:solidFill>
          <a:ln/>
        </p:spPr>
      </p:sp>
      <p:sp>
        <p:nvSpPr>
          <p:cNvPr id="38" name="Text 29"/>
          <p:cNvSpPr/>
          <p:nvPr/>
        </p:nvSpPr>
        <p:spPr>
          <a:xfrm>
            <a:off x="11353800" y="3313509"/>
            <a:ext cx="1842968"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Habit → BI</a:t>
            </a:r>
            <a:endParaRPr lang="en-US" sz="1450" dirty="0"/>
          </a:p>
        </p:txBody>
      </p:sp>
      <p:sp>
        <p:nvSpPr>
          <p:cNvPr id="39" name="Text 30"/>
          <p:cNvSpPr/>
          <p:nvPr/>
        </p:nvSpPr>
        <p:spPr>
          <a:xfrm>
            <a:off x="10861358" y="3632240"/>
            <a:ext cx="2827853" cy="235744"/>
          </a:xfrm>
          <a:prstGeom prst="rect">
            <a:avLst/>
          </a:prstGeom>
          <a:noFill/>
          <a:ln/>
        </p:spPr>
        <p:txBody>
          <a:bodyPr wrap="non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Has AI use become automatic for me?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258848"/>
            <a:ext cx="12532995"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Novel Hypotheses: AI Extensions &amp; Moderators</a:t>
            </a:r>
            <a:endParaRPr lang="en-US" sz="4450" dirty="0"/>
          </a:p>
        </p:txBody>
      </p:sp>
      <p:sp>
        <p:nvSpPr>
          <p:cNvPr id="3" name="Shape 1"/>
          <p:cNvSpPr/>
          <p:nvPr/>
        </p:nvSpPr>
        <p:spPr>
          <a:xfrm>
            <a:off x="793790" y="2761417"/>
            <a:ext cx="4196358" cy="4209336"/>
          </a:xfrm>
          <a:prstGeom prst="roundRect">
            <a:avLst>
              <a:gd name="adj" fmla="val 3486"/>
            </a:avLst>
          </a:prstGeom>
          <a:solidFill>
            <a:srgbClr val="FBFCFE"/>
          </a:solidFill>
          <a:ln/>
        </p:spPr>
      </p:sp>
      <p:pic>
        <p:nvPicPr>
          <p:cNvPr id="4" name="Image 0" descr="preencoded.png">    </p:cNvPr>
          <p:cNvPicPr>
            <a:picLocks noChangeAspect="1"/>
          </p:cNvPicPr>
          <p:nvPr/>
        </p:nvPicPr>
        <p:blipFill>
          <a:blip r:embed="rId1"/>
          <a:stretch>
            <a:fillRect/>
          </a:stretch>
        </p:blipFill>
        <p:spPr>
          <a:xfrm>
            <a:off x="793790" y="2730937"/>
            <a:ext cx="4196358" cy="121920"/>
          </a:xfrm>
          <a:prstGeom prst="rect">
            <a:avLst/>
          </a:prstGeom>
        </p:spPr>
      </p:pic>
      <p:pic>
        <p:nvPicPr>
          <p:cNvPr id="5" name="Image 1" descr="preencoded.png">    </p:cNvPr>
          <p:cNvPicPr>
            <a:picLocks noChangeAspect="1"/>
          </p:cNvPicPr>
          <p:nvPr/>
        </p:nvPicPr>
        <p:blipFill>
          <a:blip r:embed="rId2"/>
          <a:stretch>
            <a:fillRect/>
          </a:stretch>
        </p:blipFill>
        <p:spPr>
          <a:xfrm>
            <a:off x="2551688" y="2421255"/>
            <a:ext cx="680442" cy="680442"/>
          </a:xfrm>
          <a:prstGeom prst="rect">
            <a:avLst/>
          </a:prstGeom>
        </p:spPr>
      </p:pic>
      <p:sp>
        <p:nvSpPr>
          <p:cNvPr id="6" name="Text 2"/>
          <p:cNvSpPr/>
          <p:nvPr/>
        </p:nvSpPr>
        <p:spPr>
          <a:xfrm>
            <a:off x="2755761" y="2591395"/>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FFFFFF"/>
                </a:solidFill>
                <a:latin typeface="Roboto Slab" pitchFamily="34" charset="0"/>
                <a:ea typeface="Roboto Slab" pitchFamily="34" charset="-122"/>
                <a:cs typeface="Roboto Slab" pitchFamily="34" charset="-120"/>
              </a:rPr>
              <a:t>1</a:t>
            </a:r>
            <a:endParaRPr lang="en-US" sz="2100" dirty="0"/>
          </a:p>
        </p:txBody>
      </p:sp>
      <p:sp>
        <p:nvSpPr>
          <p:cNvPr id="7" name="Text 3"/>
          <p:cNvSpPr/>
          <p:nvPr/>
        </p:nvSpPr>
        <p:spPr>
          <a:xfrm>
            <a:off x="1051084" y="3328392"/>
            <a:ext cx="356044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AI Trust Predicts Adoption</a:t>
            </a:r>
            <a:endParaRPr lang="en-US" sz="2200" dirty="0"/>
          </a:p>
        </p:txBody>
      </p:sp>
      <p:sp>
        <p:nvSpPr>
          <p:cNvPr id="8" name="Text 4"/>
          <p:cNvSpPr/>
          <p:nvPr/>
        </p:nvSpPr>
        <p:spPr>
          <a:xfrm>
            <a:off x="1051084" y="3818811"/>
            <a:ext cx="3681770" cy="254031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H2 tests whether AI Trust—measuring confidence in AI system reliability, transparency, and ethical behavior—predicts behavioral intention beyond what the seven core UTAUT2 constructs already explain.</a:t>
            </a:r>
            <a:endParaRPr lang="en-US" sz="1750" dirty="0"/>
          </a:p>
        </p:txBody>
      </p:sp>
      <p:sp>
        <p:nvSpPr>
          <p:cNvPr id="9" name="Shape 5"/>
          <p:cNvSpPr/>
          <p:nvPr/>
        </p:nvSpPr>
        <p:spPr>
          <a:xfrm>
            <a:off x="5216962" y="2761417"/>
            <a:ext cx="4196358" cy="4209336"/>
          </a:xfrm>
          <a:prstGeom prst="roundRect">
            <a:avLst>
              <a:gd name="adj" fmla="val 3486"/>
            </a:avLst>
          </a:prstGeom>
          <a:solidFill>
            <a:srgbClr val="FBFCFE"/>
          </a:solidFill>
          <a:ln/>
        </p:spPr>
      </p:sp>
      <p:pic>
        <p:nvPicPr>
          <p:cNvPr id="10" name="Image 2" descr="preencoded.png">    </p:cNvPr>
          <p:cNvPicPr>
            <a:picLocks noChangeAspect="1"/>
          </p:cNvPicPr>
          <p:nvPr/>
        </p:nvPicPr>
        <p:blipFill>
          <a:blip r:embed="rId3"/>
          <a:stretch>
            <a:fillRect/>
          </a:stretch>
        </p:blipFill>
        <p:spPr>
          <a:xfrm>
            <a:off x="5216962" y="2730937"/>
            <a:ext cx="4196358" cy="121920"/>
          </a:xfrm>
          <a:prstGeom prst="rect">
            <a:avLst/>
          </a:prstGeom>
        </p:spPr>
      </p:pic>
      <p:pic>
        <p:nvPicPr>
          <p:cNvPr id="11" name="Image 3" descr="preencoded.png">    </p:cNvPr>
          <p:cNvPicPr>
            <a:picLocks noChangeAspect="1"/>
          </p:cNvPicPr>
          <p:nvPr/>
        </p:nvPicPr>
        <p:blipFill>
          <a:blip r:embed="rId4"/>
          <a:stretch>
            <a:fillRect/>
          </a:stretch>
        </p:blipFill>
        <p:spPr>
          <a:xfrm>
            <a:off x="6974860" y="2421255"/>
            <a:ext cx="680442" cy="680442"/>
          </a:xfrm>
          <a:prstGeom prst="rect">
            <a:avLst/>
          </a:prstGeom>
        </p:spPr>
      </p:pic>
      <p:sp>
        <p:nvSpPr>
          <p:cNvPr id="12" name="Text 6"/>
          <p:cNvSpPr/>
          <p:nvPr/>
        </p:nvSpPr>
        <p:spPr>
          <a:xfrm>
            <a:off x="7178933" y="2591395"/>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FFFFFF"/>
                </a:solidFill>
                <a:latin typeface="Roboto Slab" pitchFamily="34" charset="0"/>
                <a:ea typeface="Roboto Slab" pitchFamily="34" charset="-122"/>
                <a:cs typeface="Roboto Slab" pitchFamily="34" charset="-120"/>
              </a:rPr>
              <a:t>2</a:t>
            </a:r>
            <a:endParaRPr lang="en-US" sz="2100" dirty="0"/>
          </a:p>
        </p:txBody>
      </p:sp>
      <p:sp>
        <p:nvSpPr>
          <p:cNvPr id="13" name="Text 7"/>
          <p:cNvSpPr/>
          <p:nvPr/>
        </p:nvSpPr>
        <p:spPr>
          <a:xfrm>
            <a:off x="5474256" y="3328392"/>
            <a:ext cx="3681770" cy="708660"/>
          </a:xfrm>
          <a:prstGeom prst="rect">
            <a:avLst/>
          </a:prstGeom>
          <a:noFill/>
          <a:ln/>
        </p:spPr>
        <p:txBody>
          <a:bodyPr wrap="squar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Experience Moderates Relationships</a:t>
            </a:r>
            <a:endParaRPr lang="en-US" sz="2200" dirty="0"/>
          </a:p>
        </p:txBody>
      </p:sp>
      <p:sp>
        <p:nvSpPr>
          <p:cNvPr id="14" name="Text 8"/>
          <p:cNvSpPr/>
          <p:nvPr/>
        </p:nvSpPr>
        <p:spPr>
          <a:xfrm>
            <a:off x="5474256" y="4173141"/>
            <a:ext cx="3681770" cy="254031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H3 examines whether work experience level changes the strength of relationships between UTAUT2 constructs and adoption intention. Does a professional with 10+ years view AI differently than someone with less than one year?</a:t>
            </a:r>
            <a:endParaRPr lang="en-US" sz="1750" dirty="0"/>
          </a:p>
        </p:txBody>
      </p:sp>
      <p:sp>
        <p:nvSpPr>
          <p:cNvPr id="15" name="Shape 9"/>
          <p:cNvSpPr/>
          <p:nvPr/>
        </p:nvSpPr>
        <p:spPr>
          <a:xfrm>
            <a:off x="9640133" y="2761417"/>
            <a:ext cx="4196358" cy="4209336"/>
          </a:xfrm>
          <a:prstGeom prst="roundRect">
            <a:avLst>
              <a:gd name="adj" fmla="val 3486"/>
            </a:avLst>
          </a:prstGeom>
          <a:solidFill>
            <a:srgbClr val="FBFCFE"/>
          </a:solidFill>
          <a:ln/>
        </p:spPr>
      </p:sp>
      <p:pic>
        <p:nvPicPr>
          <p:cNvPr id="16" name="Image 4" descr="preencoded.png">    </p:cNvPr>
          <p:cNvPicPr>
            <a:picLocks noChangeAspect="1"/>
          </p:cNvPicPr>
          <p:nvPr/>
        </p:nvPicPr>
        <p:blipFill>
          <a:blip r:embed="rId5"/>
          <a:stretch>
            <a:fillRect/>
          </a:stretch>
        </p:blipFill>
        <p:spPr>
          <a:xfrm>
            <a:off x="9640133" y="2730937"/>
            <a:ext cx="4196358" cy="121920"/>
          </a:xfrm>
          <a:prstGeom prst="rect">
            <a:avLst/>
          </a:prstGeom>
        </p:spPr>
      </p:pic>
      <p:pic>
        <p:nvPicPr>
          <p:cNvPr id="17" name="Image 5" descr="preencoded.png">    </p:cNvPr>
          <p:cNvPicPr>
            <a:picLocks noChangeAspect="1"/>
          </p:cNvPicPr>
          <p:nvPr/>
        </p:nvPicPr>
        <p:blipFill>
          <a:blip r:embed="rId6"/>
          <a:stretch>
            <a:fillRect/>
          </a:stretch>
        </p:blipFill>
        <p:spPr>
          <a:xfrm>
            <a:off x="11398032" y="2421255"/>
            <a:ext cx="680442" cy="680442"/>
          </a:xfrm>
          <a:prstGeom prst="rect">
            <a:avLst/>
          </a:prstGeom>
        </p:spPr>
      </p:pic>
      <p:sp>
        <p:nvSpPr>
          <p:cNvPr id="18" name="Text 10"/>
          <p:cNvSpPr/>
          <p:nvPr/>
        </p:nvSpPr>
        <p:spPr>
          <a:xfrm>
            <a:off x="11602105" y="2591395"/>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FFFFFF"/>
                </a:solidFill>
                <a:latin typeface="Roboto Slab" pitchFamily="34" charset="0"/>
                <a:ea typeface="Roboto Slab" pitchFamily="34" charset="-122"/>
                <a:cs typeface="Roboto Slab" pitchFamily="34" charset="-120"/>
              </a:rPr>
              <a:t>3</a:t>
            </a:r>
            <a:endParaRPr lang="en-US" sz="2100" dirty="0"/>
          </a:p>
        </p:txBody>
      </p:sp>
      <p:sp>
        <p:nvSpPr>
          <p:cNvPr id="19" name="Text 11"/>
          <p:cNvSpPr/>
          <p:nvPr/>
        </p:nvSpPr>
        <p:spPr>
          <a:xfrm>
            <a:off x="9897427" y="3328392"/>
            <a:ext cx="3293983"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Population Type Matters</a:t>
            </a:r>
            <a:endParaRPr lang="en-US" sz="2200" dirty="0"/>
          </a:p>
        </p:txBody>
      </p:sp>
      <p:sp>
        <p:nvSpPr>
          <p:cNvPr id="20" name="Text 12"/>
          <p:cNvSpPr/>
          <p:nvPr/>
        </p:nvSpPr>
        <p:spPr>
          <a:xfrm>
            <a:off x="9897427" y="3818811"/>
            <a:ext cx="3681770" cy="254031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H4 tests whether the adoption model differs between academic contexts (students) and professional contexts (working adults). Different organizational cultures may produce different adoption dynamics.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228249"/>
            <a:ext cx="7117437"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Research Design Overview</a:t>
            </a:r>
            <a:endParaRPr lang="en-US" sz="4450" dirty="0"/>
          </a:p>
        </p:txBody>
      </p:sp>
      <p:sp>
        <p:nvSpPr>
          <p:cNvPr id="3" name="Shape 1"/>
          <p:cNvSpPr/>
          <p:nvPr/>
        </p:nvSpPr>
        <p:spPr>
          <a:xfrm>
            <a:off x="793790" y="2390656"/>
            <a:ext cx="13042821" cy="3266837"/>
          </a:xfrm>
          <a:prstGeom prst="roundRect">
            <a:avLst>
              <a:gd name="adj" fmla="val 1042"/>
            </a:avLst>
          </a:prstGeom>
          <a:noFill/>
          <a:ln w="7620">
            <a:solidFill>
              <a:srgbClr val="000000">
                <a:alpha val="8000"/>
              </a:srgbClr>
            </a:solidFill>
            <a:prstDash val="solid"/>
          </a:ln>
        </p:spPr>
      </p:sp>
      <p:sp>
        <p:nvSpPr>
          <p:cNvPr id="4" name="Shape 2"/>
          <p:cNvSpPr/>
          <p:nvPr/>
        </p:nvSpPr>
        <p:spPr>
          <a:xfrm>
            <a:off x="801410" y="2398276"/>
            <a:ext cx="13027581" cy="650319"/>
          </a:xfrm>
          <a:prstGeom prst="rect">
            <a:avLst/>
          </a:prstGeom>
          <a:solidFill>
            <a:srgbClr val="FFFFFF">
              <a:alpha val="4000"/>
            </a:srgbClr>
          </a:solidFill>
          <a:ln/>
        </p:spPr>
      </p:sp>
      <p:sp>
        <p:nvSpPr>
          <p:cNvPr id="5" name="Text 3"/>
          <p:cNvSpPr/>
          <p:nvPr/>
        </p:nvSpPr>
        <p:spPr>
          <a:xfrm>
            <a:off x="1028224" y="2541984"/>
            <a:ext cx="6056352"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Design Approach</a:t>
            </a:r>
            <a:endParaRPr lang="en-US" sz="1750" dirty="0"/>
          </a:p>
        </p:txBody>
      </p:sp>
      <p:sp>
        <p:nvSpPr>
          <p:cNvPr id="6" name="Text 4"/>
          <p:cNvSpPr/>
          <p:nvPr/>
        </p:nvSpPr>
        <p:spPr>
          <a:xfrm>
            <a:off x="7545824" y="2541984"/>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Cross-sectional, quantitative study</a:t>
            </a:r>
            <a:endParaRPr lang="en-US" sz="1750" dirty="0"/>
          </a:p>
        </p:txBody>
      </p:sp>
      <p:sp>
        <p:nvSpPr>
          <p:cNvPr id="7" name="Shape 5"/>
          <p:cNvSpPr/>
          <p:nvPr/>
        </p:nvSpPr>
        <p:spPr>
          <a:xfrm>
            <a:off x="801410" y="3048595"/>
            <a:ext cx="13027581" cy="650319"/>
          </a:xfrm>
          <a:prstGeom prst="rect">
            <a:avLst/>
          </a:prstGeom>
          <a:solidFill>
            <a:srgbClr val="000000">
              <a:alpha val="4000"/>
            </a:srgbClr>
          </a:solidFill>
          <a:ln/>
        </p:spPr>
      </p:sp>
      <p:sp>
        <p:nvSpPr>
          <p:cNvPr id="8" name="Text 6"/>
          <p:cNvSpPr/>
          <p:nvPr/>
        </p:nvSpPr>
        <p:spPr>
          <a:xfrm>
            <a:off x="1028224" y="3192304"/>
            <a:ext cx="6056352"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Sample Size</a:t>
            </a:r>
            <a:endParaRPr lang="en-US" sz="1750" dirty="0"/>
          </a:p>
        </p:txBody>
      </p:sp>
      <p:sp>
        <p:nvSpPr>
          <p:cNvPr id="9" name="Text 7"/>
          <p:cNvSpPr/>
          <p:nvPr/>
        </p:nvSpPr>
        <p:spPr>
          <a:xfrm>
            <a:off x="7545824" y="3192304"/>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N = 523 participants (students + professionals)</a:t>
            </a:r>
            <a:endParaRPr lang="en-US" sz="1750" dirty="0"/>
          </a:p>
        </p:txBody>
      </p:sp>
      <p:sp>
        <p:nvSpPr>
          <p:cNvPr id="10" name="Shape 8"/>
          <p:cNvSpPr/>
          <p:nvPr/>
        </p:nvSpPr>
        <p:spPr>
          <a:xfrm>
            <a:off x="801410" y="3698915"/>
            <a:ext cx="13027581" cy="650319"/>
          </a:xfrm>
          <a:prstGeom prst="rect">
            <a:avLst/>
          </a:prstGeom>
          <a:solidFill>
            <a:srgbClr val="FFFFFF">
              <a:alpha val="4000"/>
            </a:srgbClr>
          </a:solidFill>
          <a:ln/>
        </p:spPr>
      </p:sp>
      <p:sp>
        <p:nvSpPr>
          <p:cNvPr id="11" name="Text 9"/>
          <p:cNvSpPr/>
          <p:nvPr/>
        </p:nvSpPr>
        <p:spPr>
          <a:xfrm>
            <a:off x="1028224" y="3842623"/>
            <a:ext cx="6056352"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Instrument Development</a:t>
            </a:r>
            <a:endParaRPr lang="en-US" sz="1750" dirty="0"/>
          </a:p>
        </p:txBody>
      </p:sp>
      <p:sp>
        <p:nvSpPr>
          <p:cNvPr id="12" name="Text 10"/>
          <p:cNvSpPr/>
          <p:nvPr/>
        </p:nvSpPr>
        <p:spPr>
          <a:xfrm>
            <a:off x="7545824" y="3842623"/>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28 initial items refined to 16 validated items</a:t>
            </a:r>
            <a:endParaRPr lang="en-US" sz="1750" dirty="0"/>
          </a:p>
        </p:txBody>
      </p:sp>
      <p:sp>
        <p:nvSpPr>
          <p:cNvPr id="13" name="Shape 11"/>
          <p:cNvSpPr/>
          <p:nvPr/>
        </p:nvSpPr>
        <p:spPr>
          <a:xfrm>
            <a:off x="801410" y="4349234"/>
            <a:ext cx="13027581" cy="650319"/>
          </a:xfrm>
          <a:prstGeom prst="rect">
            <a:avLst/>
          </a:prstGeom>
          <a:solidFill>
            <a:srgbClr val="000000">
              <a:alpha val="4000"/>
            </a:srgbClr>
          </a:solidFill>
          <a:ln/>
        </p:spPr>
      </p:sp>
      <p:sp>
        <p:nvSpPr>
          <p:cNvPr id="14" name="Text 12"/>
          <p:cNvSpPr/>
          <p:nvPr/>
        </p:nvSpPr>
        <p:spPr>
          <a:xfrm>
            <a:off x="1028224" y="4492942"/>
            <a:ext cx="6056352"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Analysis Strategy</a:t>
            </a:r>
            <a:endParaRPr lang="en-US" sz="1750" dirty="0"/>
          </a:p>
        </p:txBody>
      </p:sp>
      <p:sp>
        <p:nvSpPr>
          <p:cNvPr id="15" name="Text 13"/>
          <p:cNvSpPr/>
          <p:nvPr/>
        </p:nvSpPr>
        <p:spPr>
          <a:xfrm>
            <a:off x="7545824" y="4492942"/>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EFA → CFA → SEM progression</a:t>
            </a:r>
            <a:endParaRPr lang="en-US" sz="1750" dirty="0"/>
          </a:p>
        </p:txBody>
      </p:sp>
      <p:sp>
        <p:nvSpPr>
          <p:cNvPr id="16" name="Shape 14"/>
          <p:cNvSpPr/>
          <p:nvPr/>
        </p:nvSpPr>
        <p:spPr>
          <a:xfrm>
            <a:off x="801410" y="4999553"/>
            <a:ext cx="13027581" cy="650319"/>
          </a:xfrm>
          <a:prstGeom prst="rect">
            <a:avLst/>
          </a:prstGeom>
          <a:solidFill>
            <a:srgbClr val="FFFFFF">
              <a:alpha val="4000"/>
            </a:srgbClr>
          </a:solidFill>
          <a:ln/>
        </p:spPr>
      </p:sp>
      <p:sp>
        <p:nvSpPr>
          <p:cNvPr id="17" name="Text 15"/>
          <p:cNvSpPr/>
          <p:nvPr/>
        </p:nvSpPr>
        <p:spPr>
          <a:xfrm>
            <a:off x="1028224" y="5143262"/>
            <a:ext cx="6056352"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Validation Approach</a:t>
            </a:r>
            <a:endParaRPr lang="en-US" sz="1750" dirty="0"/>
          </a:p>
        </p:txBody>
      </p:sp>
      <p:sp>
        <p:nvSpPr>
          <p:cNvPr id="18" name="Text 16"/>
          <p:cNvSpPr/>
          <p:nvPr/>
        </p:nvSpPr>
        <p:spPr>
          <a:xfrm>
            <a:off x="7545824" y="5143262"/>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Multi-group analysis across populations</a:t>
            </a:r>
            <a:endParaRPr lang="en-US" sz="1750" dirty="0"/>
          </a:p>
        </p:txBody>
      </p:sp>
      <p:sp>
        <p:nvSpPr>
          <p:cNvPr id="19" name="Text 17"/>
          <p:cNvSpPr/>
          <p:nvPr/>
        </p:nvSpPr>
        <p:spPr>
          <a:xfrm>
            <a:off x="793790" y="5912644"/>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The methodology followed best practices for instrument development and validation: Exploratory Factor Analysis to discover the underlying structure, Confirmatory Factor Analysis to validate that structure, and Structural Equation Modeling to test theoretical relationships and hypotheses.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885230"/>
            <a:ext cx="8724781"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Psychometric Validation Results</a:t>
            </a:r>
            <a:endParaRPr lang="en-US" sz="4450" dirty="0"/>
          </a:p>
        </p:txBody>
      </p:sp>
      <p:sp>
        <p:nvSpPr>
          <p:cNvPr id="3" name="Text 1"/>
          <p:cNvSpPr/>
          <p:nvPr/>
        </p:nvSpPr>
        <p:spPr>
          <a:xfrm>
            <a:off x="793790" y="2160984"/>
            <a:ext cx="4703802"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Excellent Model Fit Achieved</a:t>
            </a:r>
            <a:endParaRPr lang="en-US" sz="2650" dirty="0"/>
          </a:p>
        </p:txBody>
      </p:sp>
      <p:sp>
        <p:nvSpPr>
          <p:cNvPr id="4" name="Shape 2"/>
          <p:cNvSpPr/>
          <p:nvPr/>
        </p:nvSpPr>
        <p:spPr>
          <a:xfrm>
            <a:off x="793790" y="2841427"/>
            <a:ext cx="7604284" cy="3266837"/>
          </a:xfrm>
          <a:prstGeom prst="roundRect">
            <a:avLst>
              <a:gd name="adj" fmla="val 1042"/>
            </a:avLst>
          </a:prstGeom>
          <a:noFill/>
          <a:ln w="7620">
            <a:solidFill>
              <a:srgbClr val="000000">
                <a:alpha val="8000"/>
              </a:srgbClr>
            </a:solidFill>
            <a:prstDash val="solid"/>
          </a:ln>
        </p:spPr>
      </p:sp>
      <p:sp>
        <p:nvSpPr>
          <p:cNvPr id="5" name="Shape 3"/>
          <p:cNvSpPr/>
          <p:nvPr/>
        </p:nvSpPr>
        <p:spPr>
          <a:xfrm>
            <a:off x="801410" y="2849047"/>
            <a:ext cx="7589044" cy="650319"/>
          </a:xfrm>
          <a:prstGeom prst="rect">
            <a:avLst/>
          </a:prstGeom>
          <a:solidFill>
            <a:srgbClr val="FFFFFF">
              <a:alpha val="4000"/>
            </a:srgbClr>
          </a:solidFill>
          <a:ln/>
        </p:spPr>
      </p:sp>
      <p:sp>
        <p:nvSpPr>
          <p:cNvPr id="6" name="Text 4"/>
          <p:cNvSpPr/>
          <p:nvPr/>
        </p:nvSpPr>
        <p:spPr>
          <a:xfrm>
            <a:off x="1028224" y="2992755"/>
            <a:ext cx="1439823"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Metric</a:t>
            </a:r>
            <a:endParaRPr lang="en-US" sz="1750" dirty="0"/>
          </a:p>
        </p:txBody>
      </p:sp>
      <p:sp>
        <p:nvSpPr>
          <p:cNvPr id="7" name="Text 5"/>
          <p:cNvSpPr/>
          <p:nvPr/>
        </p:nvSpPr>
        <p:spPr>
          <a:xfrm>
            <a:off x="2929295" y="2992755"/>
            <a:ext cx="1436013"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Result</a:t>
            </a:r>
            <a:endParaRPr lang="en-US" sz="1750" dirty="0"/>
          </a:p>
        </p:txBody>
      </p:sp>
      <p:sp>
        <p:nvSpPr>
          <p:cNvPr id="8" name="Text 6"/>
          <p:cNvSpPr/>
          <p:nvPr/>
        </p:nvSpPr>
        <p:spPr>
          <a:xfrm>
            <a:off x="4826556" y="2992755"/>
            <a:ext cx="1436013"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Threshold</a:t>
            </a:r>
            <a:endParaRPr lang="en-US" sz="1750" dirty="0"/>
          </a:p>
        </p:txBody>
      </p:sp>
      <p:sp>
        <p:nvSpPr>
          <p:cNvPr id="9" name="Text 7"/>
          <p:cNvSpPr/>
          <p:nvPr/>
        </p:nvSpPr>
        <p:spPr>
          <a:xfrm>
            <a:off x="6723817" y="2992755"/>
            <a:ext cx="1439823"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Status</a:t>
            </a:r>
            <a:endParaRPr lang="en-US" sz="1750" dirty="0"/>
          </a:p>
        </p:txBody>
      </p:sp>
      <p:sp>
        <p:nvSpPr>
          <p:cNvPr id="10" name="Shape 8"/>
          <p:cNvSpPr/>
          <p:nvPr/>
        </p:nvSpPr>
        <p:spPr>
          <a:xfrm>
            <a:off x="801410" y="3499366"/>
            <a:ext cx="7589044" cy="650319"/>
          </a:xfrm>
          <a:prstGeom prst="rect">
            <a:avLst/>
          </a:prstGeom>
          <a:solidFill>
            <a:srgbClr val="000000">
              <a:alpha val="4000"/>
            </a:srgbClr>
          </a:solidFill>
          <a:ln/>
        </p:spPr>
      </p:sp>
      <p:sp>
        <p:nvSpPr>
          <p:cNvPr id="11" name="Text 9"/>
          <p:cNvSpPr/>
          <p:nvPr/>
        </p:nvSpPr>
        <p:spPr>
          <a:xfrm>
            <a:off x="1028224" y="3643074"/>
            <a:ext cx="143982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CFI</a:t>
            </a:r>
            <a:endParaRPr lang="en-US" sz="1750" dirty="0"/>
          </a:p>
        </p:txBody>
      </p:sp>
      <p:sp>
        <p:nvSpPr>
          <p:cNvPr id="12" name="Text 10"/>
          <p:cNvSpPr/>
          <p:nvPr/>
        </p:nvSpPr>
        <p:spPr>
          <a:xfrm>
            <a:off x="2929295" y="3643074"/>
            <a:ext cx="143601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.975</a:t>
            </a:r>
            <a:endParaRPr lang="en-US" sz="1750" dirty="0"/>
          </a:p>
        </p:txBody>
      </p:sp>
      <p:sp>
        <p:nvSpPr>
          <p:cNvPr id="13" name="Text 11"/>
          <p:cNvSpPr/>
          <p:nvPr/>
        </p:nvSpPr>
        <p:spPr>
          <a:xfrm>
            <a:off x="4826556" y="3643074"/>
            <a:ext cx="143601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&gt; .95</a:t>
            </a:r>
            <a:endParaRPr lang="en-US" sz="1750" dirty="0"/>
          </a:p>
        </p:txBody>
      </p:sp>
      <p:sp>
        <p:nvSpPr>
          <p:cNvPr id="14" name="Text 12"/>
          <p:cNvSpPr/>
          <p:nvPr/>
        </p:nvSpPr>
        <p:spPr>
          <a:xfrm>
            <a:off x="6723817" y="3643074"/>
            <a:ext cx="143982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Excellent</a:t>
            </a:r>
            <a:endParaRPr lang="en-US" sz="1750" dirty="0"/>
          </a:p>
        </p:txBody>
      </p:sp>
      <p:sp>
        <p:nvSpPr>
          <p:cNvPr id="15" name="Shape 13"/>
          <p:cNvSpPr/>
          <p:nvPr/>
        </p:nvSpPr>
        <p:spPr>
          <a:xfrm>
            <a:off x="801410" y="4149685"/>
            <a:ext cx="7589044" cy="650319"/>
          </a:xfrm>
          <a:prstGeom prst="rect">
            <a:avLst/>
          </a:prstGeom>
          <a:solidFill>
            <a:srgbClr val="FFFFFF">
              <a:alpha val="4000"/>
            </a:srgbClr>
          </a:solidFill>
          <a:ln/>
        </p:spPr>
      </p:sp>
      <p:sp>
        <p:nvSpPr>
          <p:cNvPr id="16" name="Text 14"/>
          <p:cNvSpPr/>
          <p:nvPr/>
        </p:nvSpPr>
        <p:spPr>
          <a:xfrm>
            <a:off x="1028224" y="4293394"/>
            <a:ext cx="143982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TLI</a:t>
            </a:r>
            <a:endParaRPr lang="en-US" sz="1750" dirty="0"/>
          </a:p>
        </p:txBody>
      </p:sp>
      <p:sp>
        <p:nvSpPr>
          <p:cNvPr id="17" name="Text 15"/>
          <p:cNvSpPr/>
          <p:nvPr/>
        </p:nvSpPr>
        <p:spPr>
          <a:xfrm>
            <a:off x="2929295" y="4293394"/>
            <a:ext cx="143601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.960</a:t>
            </a:r>
            <a:endParaRPr lang="en-US" sz="1750" dirty="0"/>
          </a:p>
        </p:txBody>
      </p:sp>
      <p:sp>
        <p:nvSpPr>
          <p:cNvPr id="18" name="Text 16"/>
          <p:cNvSpPr/>
          <p:nvPr/>
        </p:nvSpPr>
        <p:spPr>
          <a:xfrm>
            <a:off x="4826556" y="4293394"/>
            <a:ext cx="143601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&gt; .95</a:t>
            </a:r>
            <a:endParaRPr lang="en-US" sz="1750" dirty="0"/>
          </a:p>
        </p:txBody>
      </p:sp>
      <p:sp>
        <p:nvSpPr>
          <p:cNvPr id="19" name="Text 17"/>
          <p:cNvSpPr/>
          <p:nvPr/>
        </p:nvSpPr>
        <p:spPr>
          <a:xfrm>
            <a:off x="6723817" y="4293394"/>
            <a:ext cx="143982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Excellent</a:t>
            </a:r>
            <a:endParaRPr lang="en-US" sz="1750" dirty="0"/>
          </a:p>
        </p:txBody>
      </p:sp>
      <p:sp>
        <p:nvSpPr>
          <p:cNvPr id="20" name="Shape 18"/>
          <p:cNvSpPr/>
          <p:nvPr/>
        </p:nvSpPr>
        <p:spPr>
          <a:xfrm>
            <a:off x="801410" y="4800005"/>
            <a:ext cx="7589044" cy="650319"/>
          </a:xfrm>
          <a:prstGeom prst="rect">
            <a:avLst/>
          </a:prstGeom>
          <a:solidFill>
            <a:srgbClr val="000000">
              <a:alpha val="4000"/>
            </a:srgbClr>
          </a:solidFill>
          <a:ln/>
        </p:spPr>
      </p:sp>
      <p:sp>
        <p:nvSpPr>
          <p:cNvPr id="21" name="Text 19"/>
          <p:cNvSpPr/>
          <p:nvPr/>
        </p:nvSpPr>
        <p:spPr>
          <a:xfrm>
            <a:off x="1028224" y="4943713"/>
            <a:ext cx="143982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RMSEA</a:t>
            </a:r>
            <a:endParaRPr lang="en-US" sz="1750" dirty="0"/>
          </a:p>
        </p:txBody>
      </p:sp>
      <p:sp>
        <p:nvSpPr>
          <p:cNvPr id="22" name="Text 20"/>
          <p:cNvSpPr/>
          <p:nvPr/>
        </p:nvSpPr>
        <p:spPr>
          <a:xfrm>
            <a:off x="2929295" y="4943713"/>
            <a:ext cx="143601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.065</a:t>
            </a:r>
            <a:endParaRPr lang="en-US" sz="1750" dirty="0"/>
          </a:p>
        </p:txBody>
      </p:sp>
      <p:sp>
        <p:nvSpPr>
          <p:cNvPr id="23" name="Text 21"/>
          <p:cNvSpPr/>
          <p:nvPr/>
        </p:nvSpPr>
        <p:spPr>
          <a:xfrm>
            <a:off x="4826556" y="4943713"/>
            <a:ext cx="143601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&lt; .08</a:t>
            </a:r>
            <a:endParaRPr lang="en-US" sz="1750" dirty="0"/>
          </a:p>
        </p:txBody>
      </p:sp>
      <p:sp>
        <p:nvSpPr>
          <p:cNvPr id="24" name="Text 22"/>
          <p:cNvSpPr/>
          <p:nvPr/>
        </p:nvSpPr>
        <p:spPr>
          <a:xfrm>
            <a:off x="6723817" y="4943713"/>
            <a:ext cx="143982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Acceptable</a:t>
            </a:r>
            <a:endParaRPr lang="en-US" sz="1750" dirty="0"/>
          </a:p>
        </p:txBody>
      </p:sp>
      <p:sp>
        <p:nvSpPr>
          <p:cNvPr id="25" name="Shape 23"/>
          <p:cNvSpPr/>
          <p:nvPr/>
        </p:nvSpPr>
        <p:spPr>
          <a:xfrm>
            <a:off x="801410" y="5450324"/>
            <a:ext cx="7589044" cy="650319"/>
          </a:xfrm>
          <a:prstGeom prst="rect">
            <a:avLst/>
          </a:prstGeom>
          <a:solidFill>
            <a:srgbClr val="FFFFFF">
              <a:alpha val="4000"/>
            </a:srgbClr>
          </a:solidFill>
          <a:ln/>
        </p:spPr>
      </p:sp>
      <p:sp>
        <p:nvSpPr>
          <p:cNvPr id="26" name="Text 24"/>
          <p:cNvSpPr/>
          <p:nvPr/>
        </p:nvSpPr>
        <p:spPr>
          <a:xfrm>
            <a:off x="1028224" y="5594033"/>
            <a:ext cx="143982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SRMR</a:t>
            </a:r>
            <a:endParaRPr lang="en-US" sz="1750" dirty="0"/>
          </a:p>
        </p:txBody>
      </p:sp>
      <p:sp>
        <p:nvSpPr>
          <p:cNvPr id="27" name="Text 25"/>
          <p:cNvSpPr/>
          <p:nvPr/>
        </p:nvSpPr>
        <p:spPr>
          <a:xfrm>
            <a:off x="2929295" y="5594033"/>
            <a:ext cx="143601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.044</a:t>
            </a:r>
            <a:endParaRPr lang="en-US" sz="1750" dirty="0"/>
          </a:p>
        </p:txBody>
      </p:sp>
      <p:sp>
        <p:nvSpPr>
          <p:cNvPr id="28" name="Text 26"/>
          <p:cNvSpPr/>
          <p:nvPr/>
        </p:nvSpPr>
        <p:spPr>
          <a:xfrm>
            <a:off x="4826556" y="5594033"/>
            <a:ext cx="143601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&lt; .08</a:t>
            </a:r>
            <a:endParaRPr lang="en-US" sz="1750" dirty="0"/>
          </a:p>
        </p:txBody>
      </p:sp>
      <p:sp>
        <p:nvSpPr>
          <p:cNvPr id="29" name="Text 27"/>
          <p:cNvSpPr/>
          <p:nvPr/>
        </p:nvSpPr>
        <p:spPr>
          <a:xfrm>
            <a:off x="6723817" y="5594033"/>
            <a:ext cx="1439823"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Excellent</a:t>
            </a:r>
            <a:endParaRPr lang="en-US" sz="1750" dirty="0"/>
          </a:p>
        </p:txBody>
      </p:sp>
      <p:sp>
        <p:nvSpPr>
          <p:cNvPr id="30" name="Text 28"/>
          <p:cNvSpPr/>
          <p:nvPr/>
        </p:nvSpPr>
        <p:spPr>
          <a:xfrm>
            <a:off x="8959096" y="2160984"/>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Strong Reliability</a:t>
            </a:r>
            <a:endParaRPr lang="en-US" sz="2650" dirty="0"/>
          </a:p>
        </p:txBody>
      </p:sp>
      <p:sp>
        <p:nvSpPr>
          <p:cNvPr id="31" name="Text 29"/>
          <p:cNvSpPr/>
          <p:nvPr/>
        </p:nvSpPr>
        <p:spPr>
          <a:xfrm>
            <a:off x="8959096" y="2813090"/>
            <a:ext cx="4885015" cy="1088708"/>
          </a:xfrm>
          <a:prstGeom prst="rect">
            <a:avLst/>
          </a:prstGeom>
          <a:noFill/>
          <a:ln/>
        </p:spPr>
        <p:txBody>
          <a:bodyPr wrap="squar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All Cronbach's alpha coefficients exceed .74</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surpassing the .70 threshold for acceptable internal consistency.</a:t>
            </a:r>
            <a:endParaRPr lang="en-US" sz="1750" dirty="0"/>
          </a:p>
        </p:txBody>
      </p:sp>
      <p:sp>
        <p:nvSpPr>
          <p:cNvPr id="32" name="Text 30"/>
          <p:cNvSpPr/>
          <p:nvPr/>
        </p:nvSpPr>
        <p:spPr>
          <a:xfrm>
            <a:off x="8959096" y="4105870"/>
            <a:ext cx="4885015" cy="1451610"/>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Construct reliability ranges from .74 (Facilitating Conditions) to .91 (Habit), demonstrating that items within each factor consistently measure the same underlying construct.</a:t>
            </a:r>
            <a:endParaRPr lang="en-US" sz="1750" dirty="0"/>
          </a:p>
        </p:txBody>
      </p:sp>
      <p:sp>
        <p:nvSpPr>
          <p:cNvPr id="33" name="Text 31"/>
          <p:cNvSpPr/>
          <p:nvPr/>
        </p:nvSpPr>
        <p:spPr>
          <a:xfrm>
            <a:off x="793790" y="6618565"/>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These psychometric indicators confirm that AIRS-16 is a valid, reliable instrument suitable for diagnosing AI adoption readiness across diverse populations.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823436"/>
            <a:ext cx="8445222"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Sample Demographics (N = 523)</a:t>
            </a:r>
            <a:endParaRPr lang="en-US" sz="4450" dirty="0"/>
          </a:p>
        </p:txBody>
      </p:sp>
      <p:sp>
        <p:nvSpPr>
          <p:cNvPr id="3" name="Text 1"/>
          <p:cNvSpPr/>
          <p:nvPr/>
        </p:nvSpPr>
        <p:spPr>
          <a:xfrm>
            <a:off x="793790" y="2099191"/>
            <a:ext cx="3111937" cy="354330"/>
          </a:xfrm>
          <a:prstGeom prst="rect">
            <a:avLst/>
          </a:prstGeom>
          <a:noFill/>
          <a:ln/>
        </p:spPr>
        <p:txBody>
          <a:bodyPr wrap="none" lIns="0" tIns="0" rIns="0" bIns="0" rtlCol="0" anchor="t"/>
          <a:lstStyle/>
          <a:p>
            <a:pPr algn="l" indent="0" marL="0">
              <a:lnSpc>
                <a:spcPts val="2750"/>
              </a:lnSpc>
              <a:buNone/>
            </a:pPr>
            <a:r>
              <a:rPr lang="en-US" sz="2200" dirty="0">
                <a:solidFill>
                  <a:srgbClr val="3257B8"/>
                </a:solidFill>
                <a:latin typeface="Roboto Slab" pitchFamily="34" charset="0"/>
                <a:ea typeface="Roboto Slab" pitchFamily="34" charset="-122"/>
                <a:cs typeface="Roboto Slab" pitchFamily="34" charset="-120"/>
              </a:rPr>
              <a:t>Population Distribution</a:t>
            </a:r>
            <a:endParaRPr lang="en-US" sz="2200" dirty="0"/>
          </a:p>
        </p:txBody>
      </p:sp>
      <p:sp>
        <p:nvSpPr>
          <p:cNvPr id="4" name="Text 2"/>
          <p:cNvSpPr/>
          <p:nvPr/>
        </p:nvSpPr>
        <p:spPr>
          <a:xfrm>
            <a:off x="793790" y="2680335"/>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41% Academic contexts (students)</a:t>
            </a:r>
            <a:endParaRPr lang="en-US" sz="1750" dirty="0"/>
          </a:p>
        </p:txBody>
      </p:sp>
      <p:sp>
        <p:nvSpPr>
          <p:cNvPr id="5" name="Text 3"/>
          <p:cNvSpPr/>
          <p:nvPr/>
        </p:nvSpPr>
        <p:spPr>
          <a:xfrm>
            <a:off x="793790" y="3122533"/>
            <a:ext cx="3978116"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59% Professional contexts (working adults)</a:t>
            </a:r>
            <a:endParaRPr lang="en-US" sz="1750" dirty="0"/>
          </a:p>
        </p:txBody>
      </p:sp>
      <p:sp>
        <p:nvSpPr>
          <p:cNvPr id="6" name="Text 4"/>
          <p:cNvSpPr/>
          <p:nvPr/>
        </p:nvSpPr>
        <p:spPr>
          <a:xfrm>
            <a:off x="793790" y="4075152"/>
            <a:ext cx="3294578" cy="354330"/>
          </a:xfrm>
          <a:prstGeom prst="rect">
            <a:avLst/>
          </a:prstGeom>
          <a:noFill/>
          <a:ln/>
        </p:spPr>
        <p:txBody>
          <a:bodyPr wrap="none" lIns="0" tIns="0" rIns="0" bIns="0" rtlCol="0" anchor="t"/>
          <a:lstStyle/>
          <a:p>
            <a:pPr algn="l" indent="0" marL="0">
              <a:lnSpc>
                <a:spcPts val="2750"/>
              </a:lnSpc>
              <a:buNone/>
            </a:pPr>
            <a:r>
              <a:rPr lang="en-US" sz="2200" dirty="0">
                <a:solidFill>
                  <a:srgbClr val="3257B8"/>
                </a:solidFill>
                <a:latin typeface="Roboto Slab" pitchFamily="34" charset="0"/>
                <a:ea typeface="Roboto Slab" pitchFamily="34" charset="-122"/>
                <a:cs typeface="Roboto Slab" pitchFamily="34" charset="-120"/>
              </a:rPr>
              <a:t>Educational Background</a:t>
            </a:r>
            <a:endParaRPr lang="en-US" sz="2200" dirty="0"/>
          </a:p>
        </p:txBody>
      </p:sp>
      <p:sp>
        <p:nvSpPr>
          <p:cNvPr id="7" name="Text 5"/>
          <p:cNvSpPr/>
          <p:nvPr/>
        </p:nvSpPr>
        <p:spPr>
          <a:xfrm>
            <a:off x="793790" y="4656296"/>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34% Some college</a:t>
            </a:r>
            <a:endParaRPr lang="en-US" sz="1750" dirty="0"/>
          </a:p>
        </p:txBody>
      </p:sp>
      <p:sp>
        <p:nvSpPr>
          <p:cNvPr id="8" name="Text 6"/>
          <p:cNvSpPr/>
          <p:nvPr/>
        </p:nvSpPr>
        <p:spPr>
          <a:xfrm>
            <a:off x="793790" y="5098494"/>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28% Bachelor's degree</a:t>
            </a:r>
            <a:endParaRPr lang="en-US" sz="1750" dirty="0"/>
          </a:p>
        </p:txBody>
      </p:sp>
      <p:sp>
        <p:nvSpPr>
          <p:cNvPr id="9" name="Text 7"/>
          <p:cNvSpPr/>
          <p:nvPr/>
        </p:nvSpPr>
        <p:spPr>
          <a:xfrm>
            <a:off x="793790" y="5540693"/>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18% Master's degree</a:t>
            </a:r>
            <a:endParaRPr lang="en-US" sz="1750" dirty="0"/>
          </a:p>
        </p:txBody>
      </p:sp>
      <p:sp>
        <p:nvSpPr>
          <p:cNvPr id="10" name="Text 8"/>
          <p:cNvSpPr/>
          <p:nvPr/>
        </p:nvSpPr>
        <p:spPr>
          <a:xfrm>
            <a:off x="793790" y="5982891"/>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20% Other levels</a:t>
            </a:r>
            <a:endParaRPr lang="en-US" sz="1750" dirty="0"/>
          </a:p>
        </p:txBody>
      </p:sp>
      <p:sp>
        <p:nvSpPr>
          <p:cNvPr id="11" name="Text 9"/>
          <p:cNvSpPr/>
          <p:nvPr/>
        </p:nvSpPr>
        <p:spPr>
          <a:xfrm>
            <a:off x="5332928" y="209919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257B8"/>
                </a:solidFill>
                <a:latin typeface="Roboto Slab" pitchFamily="34" charset="0"/>
                <a:ea typeface="Roboto Slab" pitchFamily="34" charset="-122"/>
                <a:cs typeface="Roboto Slab" pitchFamily="34" charset="-120"/>
              </a:rPr>
              <a:t>Work Experience</a:t>
            </a:r>
            <a:endParaRPr lang="en-US" sz="2200" dirty="0"/>
          </a:p>
        </p:txBody>
      </p:sp>
      <p:sp>
        <p:nvSpPr>
          <p:cNvPr id="12" name="Text 10"/>
          <p:cNvSpPr/>
          <p:nvPr/>
        </p:nvSpPr>
        <p:spPr>
          <a:xfrm>
            <a:off x="5332928" y="2680335"/>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37% — 11+ years</a:t>
            </a:r>
            <a:endParaRPr lang="en-US" sz="1750" dirty="0"/>
          </a:p>
        </p:txBody>
      </p:sp>
      <p:sp>
        <p:nvSpPr>
          <p:cNvPr id="13" name="Text 11"/>
          <p:cNvSpPr/>
          <p:nvPr/>
        </p:nvSpPr>
        <p:spPr>
          <a:xfrm>
            <a:off x="5332928" y="3122533"/>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19% — Less than 1 year</a:t>
            </a:r>
            <a:endParaRPr lang="en-US" sz="1750" dirty="0"/>
          </a:p>
        </p:txBody>
      </p:sp>
      <p:sp>
        <p:nvSpPr>
          <p:cNvPr id="14" name="Text 12"/>
          <p:cNvSpPr/>
          <p:nvPr/>
        </p:nvSpPr>
        <p:spPr>
          <a:xfrm>
            <a:off x="5332928" y="3564731"/>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18% — 1–3 years</a:t>
            </a:r>
            <a:endParaRPr lang="en-US" sz="1750" dirty="0"/>
          </a:p>
        </p:txBody>
      </p:sp>
      <p:sp>
        <p:nvSpPr>
          <p:cNvPr id="15" name="Text 13"/>
          <p:cNvSpPr/>
          <p:nvPr/>
        </p:nvSpPr>
        <p:spPr>
          <a:xfrm>
            <a:off x="5332928" y="4006929"/>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26% — 4–10 years</a:t>
            </a:r>
            <a:endParaRPr lang="en-US" sz="1750" dirty="0"/>
          </a:p>
        </p:txBody>
      </p:sp>
      <p:sp>
        <p:nvSpPr>
          <p:cNvPr id="16" name="Text 14"/>
          <p:cNvSpPr/>
          <p:nvPr/>
        </p:nvSpPr>
        <p:spPr>
          <a:xfrm>
            <a:off x="5332928" y="459664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257B8"/>
                </a:solidFill>
                <a:latin typeface="Roboto Slab" pitchFamily="34" charset="0"/>
                <a:ea typeface="Roboto Slab" pitchFamily="34" charset="-122"/>
                <a:cs typeface="Roboto Slab" pitchFamily="34" charset="-120"/>
              </a:rPr>
              <a:t>Leadership Roles</a:t>
            </a:r>
            <a:endParaRPr lang="en-US" sz="2200" dirty="0"/>
          </a:p>
        </p:txBody>
      </p:sp>
      <p:sp>
        <p:nvSpPr>
          <p:cNvPr id="17" name="Text 15"/>
          <p:cNvSpPr/>
          <p:nvPr/>
        </p:nvSpPr>
        <p:spPr>
          <a:xfrm>
            <a:off x="5332928" y="5177790"/>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24% hold supervisory positions</a:t>
            </a:r>
            <a:endParaRPr lang="en-US" sz="1750" dirty="0"/>
          </a:p>
        </p:txBody>
      </p:sp>
      <p:sp>
        <p:nvSpPr>
          <p:cNvPr id="18" name="Text 16"/>
          <p:cNvSpPr/>
          <p:nvPr/>
        </p:nvSpPr>
        <p:spPr>
          <a:xfrm>
            <a:off x="5332928" y="5619988"/>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Managers and executives included</a:t>
            </a:r>
            <a:endParaRPr lang="en-US" sz="1750" dirty="0"/>
          </a:p>
        </p:txBody>
      </p:sp>
      <p:sp>
        <p:nvSpPr>
          <p:cNvPr id="19" name="Text 17"/>
          <p:cNvSpPr/>
          <p:nvPr/>
        </p:nvSpPr>
        <p:spPr>
          <a:xfrm>
            <a:off x="9872067" y="209919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257B8"/>
                </a:solidFill>
                <a:latin typeface="Roboto Slab" pitchFamily="34" charset="0"/>
                <a:ea typeface="Roboto Slab" pitchFamily="34" charset="-122"/>
                <a:cs typeface="Roboto Slab" pitchFamily="34" charset="-120"/>
              </a:rPr>
              <a:t>Accessibility</a:t>
            </a:r>
            <a:endParaRPr lang="en-US" sz="2200" dirty="0"/>
          </a:p>
        </p:txBody>
      </p:sp>
      <p:sp>
        <p:nvSpPr>
          <p:cNvPr id="20" name="Text 18"/>
          <p:cNvSpPr/>
          <p:nvPr/>
        </p:nvSpPr>
        <p:spPr>
          <a:xfrm>
            <a:off x="9872067" y="2680335"/>
            <a:ext cx="3978116"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13% identify as having a disability</a:t>
            </a:r>
            <a:endParaRPr lang="en-US" sz="1750" dirty="0"/>
          </a:p>
        </p:txBody>
      </p:sp>
      <p:sp>
        <p:nvSpPr>
          <p:cNvPr id="21" name="Text 19"/>
          <p:cNvSpPr/>
          <p:nvPr/>
        </p:nvSpPr>
        <p:spPr>
          <a:xfrm>
            <a:off x="9872067" y="327005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257B8"/>
                </a:solidFill>
                <a:latin typeface="Roboto Slab" pitchFamily="34" charset="0"/>
                <a:ea typeface="Roboto Slab" pitchFamily="34" charset="-122"/>
                <a:cs typeface="Roboto Slab" pitchFamily="34" charset="-120"/>
              </a:rPr>
              <a:t>Recruitment Quality</a:t>
            </a:r>
            <a:endParaRPr lang="en-US" sz="2200" dirty="0"/>
          </a:p>
        </p:txBody>
      </p:sp>
      <p:sp>
        <p:nvSpPr>
          <p:cNvPr id="22" name="Text 20"/>
          <p:cNvSpPr/>
          <p:nvPr/>
        </p:nvSpPr>
        <p:spPr>
          <a:xfrm>
            <a:off x="9872067" y="3851196"/>
            <a:ext cx="3978116" cy="1814513"/>
          </a:xfrm>
          <a:prstGeom prst="rect">
            <a:avLst/>
          </a:prstGeom>
          <a:noFill/>
          <a:ln/>
        </p:spPr>
        <p:txBody>
          <a:bodyPr wrap="squar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Centiment professional research panel</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with blinded recruitment (topic not disclosed until consent) and rigorous attention checks embedded throughout the survey.</a:t>
            </a:r>
            <a:endParaRPr lang="en-US" sz="1750" dirty="0"/>
          </a:p>
        </p:txBody>
      </p:sp>
      <p:sp>
        <p:nvSpPr>
          <p:cNvPr id="23" name="Text 21"/>
          <p:cNvSpPr/>
          <p:nvPr/>
        </p:nvSpPr>
        <p:spPr>
          <a:xfrm>
            <a:off x="793790" y="6680240"/>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This diverse, carefully screened sample enables robust testing of measurement invariance and moderating effects across different demographic segments.</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670679"/>
            <a:ext cx="7782758" cy="496133"/>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Roboto Slab" pitchFamily="34" charset="0"/>
                <a:ea typeface="Roboto Slab" pitchFamily="34" charset="-122"/>
                <a:cs typeface="Roboto Slab" pitchFamily="34" charset="-120"/>
              </a:rPr>
              <a:t>Key Finding #1: The Value Paradigm Shift</a:t>
            </a:r>
            <a:endParaRPr lang="en-US" sz="3100" dirty="0"/>
          </a:p>
        </p:txBody>
      </p:sp>
      <p:sp>
        <p:nvSpPr>
          <p:cNvPr id="3" name="Text 1"/>
          <p:cNvSpPr/>
          <p:nvPr/>
        </p:nvSpPr>
        <p:spPr>
          <a:xfrm>
            <a:off x="793790" y="1230273"/>
            <a:ext cx="5074444" cy="396835"/>
          </a:xfrm>
          <a:prstGeom prst="rect">
            <a:avLst/>
          </a:prstGeom>
          <a:noFill/>
          <a:ln/>
        </p:spPr>
        <p:txBody>
          <a:bodyPr wrap="none" lIns="0" tIns="0" rIns="0" bIns="0" rtlCol="0" anchor="t"/>
          <a:lstStyle/>
          <a:p>
            <a:pPr algn="l" indent="0" marL="0">
              <a:lnSpc>
                <a:spcPts val="3100"/>
              </a:lnSpc>
              <a:buNone/>
            </a:pPr>
            <a:r>
              <a:rPr lang="en-US" sz="2500" dirty="0">
                <a:solidFill>
                  <a:srgbClr val="3257B8"/>
                </a:solidFill>
                <a:latin typeface="Roboto Slab" pitchFamily="34" charset="0"/>
                <a:ea typeface="Roboto Slab" pitchFamily="34" charset="-122"/>
                <a:cs typeface="Roboto Slab" pitchFamily="34" charset="-120"/>
              </a:rPr>
              <a:t>What Actually Drives AI Adoption</a:t>
            </a:r>
            <a:endParaRPr lang="en-US" sz="2500" dirty="0"/>
          </a:p>
        </p:txBody>
      </p:sp>
      <p:sp>
        <p:nvSpPr>
          <p:cNvPr id="4" name="Shape 2"/>
          <p:cNvSpPr/>
          <p:nvPr/>
        </p:nvSpPr>
        <p:spPr>
          <a:xfrm>
            <a:off x="793790" y="1865233"/>
            <a:ext cx="13042821" cy="4153614"/>
          </a:xfrm>
          <a:prstGeom prst="roundRect">
            <a:avLst>
              <a:gd name="adj" fmla="val 573"/>
            </a:avLst>
          </a:prstGeom>
          <a:noFill/>
          <a:ln w="7620">
            <a:solidFill>
              <a:srgbClr val="000000">
                <a:alpha val="8000"/>
              </a:srgbClr>
            </a:solidFill>
            <a:prstDash val="solid"/>
          </a:ln>
        </p:spPr>
      </p:sp>
      <p:sp>
        <p:nvSpPr>
          <p:cNvPr id="5" name="Shape 3"/>
          <p:cNvSpPr/>
          <p:nvPr/>
        </p:nvSpPr>
        <p:spPr>
          <a:xfrm>
            <a:off x="801410" y="1872853"/>
            <a:ext cx="13027581" cy="459819"/>
          </a:xfrm>
          <a:prstGeom prst="rect">
            <a:avLst/>
          </a:prstGeom>
          <a:solidFill>
            <a:srgbClr val="FFFFFF">
              <a:alpha val="4000"/>
            </a:srgbClr>
          </a:solidFill>
          <a:ln/>
        </p:spPr>
      </p:sp>
      <p:sp>
        <p:nvSpPr>
          <p:cNvPr id="6" name="Text 4"/>
          <p:cNvSpPr/>
          <p:nvPr/>
        </p:nvSpPr>
        <p:spPr>
          <a:xfrm>
            <a:off x="960358" y="1975723"/>
            <a:ext cx="2935605"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Predictor</a:t>
            </a:r>
            <a:endParaRPr lang="en-US" sz="1250" dirty="0"/>
          </a:p>
        </p:txBody>
      </p:sp>
      <p:sp>
        <p:nvSpPr>
          <p:cNvPr id="7" name="Text 5"/>
          <p:cNvSpPr/>
          <p:nvPr/>
        </p:nvSpPr>
        <p:spPr>
          <a:xfrm>
            <a:off x="4221004" y="1975723"/>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β</a:t>
            </a:r>
            <a:endParaRPr lang="en-US" sz="1250" dirty="0"/>
          </a:p>
        </p:txBody>
      </p:sp>
      <p:sp>
        <p:nvSpPr>
          <p:cNvPr id="8" name="Text 6"/>
          <p:cNvSpPr/>
          <p:nvPr/>
        </p:nvSpPr>
        <p:spPr>
          <a:xfrm>
            <a:off x="7477839" y="1975723"/>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p</a:t>
            </a:r>
            <a:endParaRPr lang="en-US" sz="1250" dirty="0"/>
          </a:p>
        </p:txBody>
      </p:sp>
      <p:sp>
        <p:nvSpPr>
          <p:cNvPr id="9" name="Text 7"/>
          <p:cNvSpPr/>
          <p:nvPr/>
        </p:nvSpPr>
        <p:spPr>
          <a:xfrm>
            <a:off x="10734675" y="1975723"/>
            <a:ext cx="2935605"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Result</a:t>
            </a:r>
            <a:endParaRPr lang="en-US" sz="1250" dirty="0"/>
          </a:p>
        </p:txBody>
      </p:sp>
      <p:sp>
        <p:nvSpPr>
          <p:cNvPr id="10" name="Shape 8"/>
          <p:cNvSpPr/>
          <p:nvPr/>
        </p:nvSpPr>
        <p:spPr>
          <a:xfrm>
            <a:off x="801410" y="2332673"/>
            <a:ext cx="13027581" cy="459819"/>
          </a:xfrm>
          <a:prstGeom prst="rect">
            <a:avLst/>
          </a:prstGeom>
          <a:solidFill>
            <a:srgbClr val="000000">
              <a:alpha val="4000"/>
            </a:srgbClr>
          </a:solidFill>
          <a:ln/>
        </p:spPr>
      </p:sp>
      <p:sp>
        <p:nvSpPr>
          <p:cNvPr id="11" name="Text 9"/>
          <p:cNvSpPr/>
          <p:nvPr/>
        </p:nvSpPr>
        <p:spPr>
          <a:xfrm>
            <a:off x="960358" y="2435543"/>
            <a:ext cx="293560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Price Value</a:t>
            </a:r>
            <a:endParaRPr lang="en-US" sz="1250" dirty="0"/>
          </a:p>
        </p:txBody>
      </p:sp>
      <p:sp>
        <p:nvSpPr>
          <p:cNvPr id="12" name="Text 10"/>
          <p:cNvSpPr/>
          <p:nvPr/>
        </p:nvSpPr>
        <p:spPr>
          <a:xfrm>
            <a:off x="4221004" y="2435543"/>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.505</a:t>
            </a:r>
            <a:endParaRPr lang="en-US" sz="1250" dirty="0"/>
          </a:p>
        </p:txBody>
      </p:sp>
      <p:sp>
        <p:nvSpPr>
          <p:cNvPr id="13" name="Text 11"/>
          <p:cNvSpPr/>
          <p:nvPr/>
        </p:nvSpPr>
        <p:spPr>
          <a:xfrm>
            <a:off x="7477839" y="2435543"/>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&lt;.001</a:t>
            </a:r>
            <a:endParaRPr lang="en-US" sz="1250" dirty="0"/>
          </a:p>
        </p:txBody>
      </p:sp>
      <p:sp>
        <p:nvSpPr>
          <p:cNvPr id="14" name="Text 12"/>
          <p:cNvSpPr/>
          <p:nvPr/>
        </p:nvSpPr>
        <p:spPr>
          <a:xfrm>
            <a:off x="10734675" y="2435543"/>
            <a:ext cx="293560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 Strongest Predictor</a:t>
            </a:r>
            <a:endParaRPr lang="en-US" sz="1250" dirty="0"/>
          </a:p>
        </p:txBody>
      </p:sp>
      <p:sp>
        <p:nvSpPr>
          <p:cNvPr id="15" name="Shape 13"/>
          <p:cNvSpPr/>
          <p:nvPr/>
        </p:nvSpPr>
        <p:spPr>
          <a:xfrm>
            <a:off x="801410" y="2792492"/>
            <a:ext cx="13027581" cy="459819"/>
          </a:xfrm>
          <a:prstGeom prst="rect">
            <a:avLst/>
          </a:prstGeom>
          <a:solidFill>
            <a:srgbClr val="FFFFFF">
              <a:alpha val="4000"/>
            </a:srgbClr>
          </a:solidFill>
          <a:ln/>
        </p:spPr>
      </p:sp>
      <p:sp>
        <p:nvSpPr>
          <p:cNvPr id="16" name="Text 14"/>
          <p:cNvSpPr/>
          <p:nvPr/>
        </p:nvSpPr>
        <p:spPr>
          <a:xfrm>
            <a:off x="960358" y="2895362"/>
            <a:ext cx="293560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Hedonic Motivation</a:t>
            </a:r>
            <a:endParaRPr lang="en-US" sz="1250" dirty="0"/>
          </a:p>
        </p:txBody>
      </p:sp>
      <p:sp>
        <p:nvSpPr>
          <p:cNvPr id="17" name="Text 15"/>
          <p:cNvSpPr/>
          <p:nvPr/>
        </p:nvSpPr>
        <p:spPr>
          <a:xfrm>
            <a:off x="4221004" y="2895362"/>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.217</a:t>
            </a:r>
            <a:endParaRPr lang="en-US" sz="1250" dirty="0"/>
          </a:p>
        </p:txBody>
      </p:sp>
      <p:sp>
        <p:nvSpPr>
          <p:cNvPr id="18" name="Text 16"/>
          <p:cNvSpPr/>
          <p:nvPr/>
        </p:nvSpPr>
        <p:spPr>
          <a:xfrm>
            <a:off x="7477839" y="2895362"/>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.014</a:t>
            </a:r>
            <a:endParaRPr lang="en-US" sz="1250" dirty="0"/>
          </a:p>
        </p:txBody>
      </p:sp>
      <p:sp>
        <p:nvSpPr>
          <p:cNvPr id="19" name="Text 17"/>
          <p:cNvSpPr/>
          <p:nvPr/>
        </p:nvSpPr>
        <p:spPr>
          <a:xfrm>
            <a:off x="10734675" y="2895362"/>
            <a:ext cx="293560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 Supported</a:t>
            </a:r>
            <a:endParaRPr lang="en-US" sz="1250" dirty="0"/>
          </a:p>
        </p:txBody>
      </p:sp>
      <p:sp>
        <p:nvSpPr>
          <p:cNvPr id="20" name="Shape 18"/>
          <p:cNvSpPr/>
          <p:nvPr/>
        </p:nvSpPr>
        <p:spPr>
          <a:xfrm>
            <a:off x="801410" y="3252311"/>
            <a:ext cx="13027581" cy="459819"/>
          </a:xfrm>
          <a:prstGeom prst="rect">
            <a:avLst/>
          </a:prstGeom>
          <a:solidFill>
            <a:srgbClr val="000000">
              <a:alpha val="4000"/>
            </a:srgbClr>
          </a:solidFill>
          <a:ln/>
        </p:spPr>
      </p:sp>
      <p:sp>
        <p:nvSpPr>
          <p:cNvPr id="21" name="Text 19"/>
          <p:cNvSpPr/>
          <p:nvPr/>
        </p:nvSpPr>
        <p:spPr>
          <a:xfrm>
            <a:off x="960358" y="3355181"/>
            <a:ext cx="293560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Social Influence</a:t>
            </a:r>
            <a:endParaRPr lang="en-US" sz="1250" dirty="0"/>
          </a:p>
        </p:txBody>
      </p:sp>
      <p:sp>
        <p:nvSpPr>
          <p:cNvPr id="22" name="Text 20"/>
          <p:cNvSpPr/>
          <p:nvPr/>
        </p:nvSpPr>
        <p:spPr>
          <a:xfrm>
            <a:off x="4221004" y="3355181"/>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.136</a:t>
            </a:r>
            <a:endParaRPr lang="en-US" sz="1250" dirty="0"/>
          </a:p>
        </p:txBody>
      </p:sp>
      <p:sp>
        <p:nvSpPr>
          <p:cNvPr id="23" name="Text 21"/>
          <p:cNvSpPr/>
          <p:nvPr/>
        </p:nvSpPr>
        <p:spPr>
          <a:xfrm>
            <a:off x="7477839" y="3355181"/>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.024</a:t>
            </a:r>
            <a:endParaRPr lang="en-US" sz="1250" dirty="0"/>
          </a:p>
        </p:txBody>
      </p:sp>
      <p:sp>
        <p:nvSpPr>
          <p:cNvPr id="24" name="Text 22"/>
          <p:cNvSpPr/>
          <p:nvPr/>
        </p:nvSpPr>
        <p:spPr>
          <a:xfrm>
            <a:off x="10734675" y="3355181"/>
            <a:ext cx="293560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 Supported</a:t>
            </a:r>
            <a:endParaRPr lang="en-US" sz="1250" dirty="0"/>
          </a:p>
        </p:txBody>
      </p:sp>
      <p:sp>
        <p:nvSpPr>
          <p:cNvPr id="25" name="Shape 23"/>
          <p:cNvSpPr/>
          <p:nvPr/>
        </p:nvSpPr>
        <p:spPr>
          <a:xfrm>
            <a:off x="801410" y="3712131"/>
            <a:ext cx="13027581" cy="459819"/>
          </a:xfrm>
          <a:prstGeom prst="rect">
            <a:avLst/>
          </a:prstGeom>
          <a:solidFill>
            <a:srgbClr val="FFFFFF">
              <a:alpha val="4000"/>
            </a:srgbClr>
          </a:solidFill>
          <a:ln/>
        </p:spPr>
      </p:sp>
      <p:sp>
        <p:nvSpPr>
          <p:cNvPr id="26" name="Text 24"/>
          <p:cNvSpPr/>
          <p:nvPr/>
        </p:nvSpPr>
        <p:spPr>
          <a:xfrm>
            <a:off x="960358" y="3815001"/>
            <a:ext cx="293560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AI Trust</a:t>
            </a:r>
            <a:endParaRPr lang="en-US" sz="1250" dirty="0"/>
          </a:p>
        </p:txBody>
      </p:sp>
      <p:sp>
        <p:nvSpPr>
          <p:cNvPr id="27" name="Text 25"/>
          <p:cNvSpPr/>
          <p:nvPr/>
        </p:nvSpPr>
        <p:spPr>
          <a:xfrm>
            <a:off x="4221004" y="3815001"/>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.106</a:t>
            </a:r>
            <a:endParaRPr lang="en-US" sz="1250" dirty="0"/>
          </a:p>
        </p:txBody>
      </p:sp>
      <p:sp>
        <p:nvSpPr>
          <p:cNvPr id="28" name="Text 26"/>
          <p:cNvSpPr/>
          <p:nvPr/>
        </p:nvSpPr>
        <p:spPr>
          <a:xfrm>
            <a:off x="7477839" y="3815001"/>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.064</a:t>
            </a:r>
            <a:endParaRPr lang="en-US" sz="1250" dirty="0"/>
          </a:p>
        </p:txBody>
      </p:sp>
      <p:sp>
        <p:nvSpPr>
          <p:cNvPr id="29" name="Text 27"/>
          <p:cNvSpPr/>
          <p:nvPr/>
        </p:nvSpPr>
        <p:spPr>
          <a:xfrm>
            <a:off x="10734675" y="3815001"/>
            <a:ext cx="293560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Marginal Effect</a:t>
            </a:r>
            <a:endParaRPr lang="en-US" sz="1250" dirty="0"/>
          </a:p>
        </p:txBody>
      </p:sp>
      <p:sp>
        <p:nvSpPr>
          <p:cNvPr id="30" name="Shape 28"/>
          <p:cNvSpPr/>
          <p:nvPr/>
        </p:nvSpPr>
        <p:spPr>
          <a:xfrm>
            <a:off x="801410" y="4171950"/>
            <a:ext cx="13027581" cy="459819"/>
          </a:xfrm>
          <a:prstGeom prst="rect">
            <a:avLst/>
          </a:prstGeom>
          <a:solidFill>
            <a:srgbClr val="000000">
              <a:alpha val="4000"/>
            </a:srgbClr>
          </a:solidFill>
          <a:ln/>
        </p:spPr>
      </p:sp>
      <p:sp>
        <p:nvSpPr>
          <p:cNvPr id="31" name="Text 29"/>
          <p:cNvSpPr/>
          <p:nvPr/>
        </p:nvSpPr>
        <p:spPr>
          <a:xfrm>
            <a:off x="960358" y="4274820"/>
            <a:ext cx="293560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Performance Expectancy</a:t>
            </a:r>
            <a:endParaRPr lang="en-US" sz="1250" dirty="0"/>
          </a:p>
        </p:txBody>
      </p:sp>
      <p:sp>
        <p:nvSpPr>
          <p:cNvPr id="32" name="Text 30"/>
          <p:cNvSpPr/>
          <p:nvPr/>
        </p:nvSpPr>
        <p:spPr>
          <a:xfrm>
            <a:off x="4221004" y="4274820"/>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−.028</a:t>
            </a:r>
            <a:endParaRPr lang="en-US" sz="1250" dirty="0"/>
          </a:p>
        </p:txBody>
      </p:sp>
      <p:sp>
        <p:nvSpPr>
          <p:cNvPr id="33" name="Text 31"/>
          <p:cNvSpPr/>
          <p:nvPr/>
        </p:nvSpPr>
        <p:spPr>
          <a:xfrm>
            <a:off x="7477839" y="4274820"/>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.791</a:t>
            </a:r>
            <a:endParaRPr lang="en-US" sz="1250" dirty="0"/>
          </a:p>
        </p:txBody>
      </p:sp>
      <p:sp>
        <p:nvSpPr>
          <p:cNvPr id="34" name="Text 32"/>
          <p:cNvSpPr/>
          <p:nvPr/>
        </p:nvSpPr>
        <p:spPr>
          <a:xfrm>
            <a:off x="10734675" y="4274820"/>
            <a:ext cx="293560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Not Significant</a:t>
            </a:r>
            <a:endParaRPr lang="en-US" sz="1250" dirty="0"/>
          </a:p>
        </p:txBody>
      </p:sp>
      <p:sp>
        <p:nvSpPr>
          <p:cNvPr id="35" name="Shape 33"/>
          <p:cNvSpPr/>
          <p:nvPr/>
        </p:nvSpPr>
        <p:spPr>
          <a:xfrm>
            <a:off x="801410" y="4631769"/>
            <a:ext cx="13027581" cy="459819"/>
          </a:xfrm>
          <a:prstGeom prst="rect">
            <a:avLst/>
          </a:prstGeom>
          <a:solidFill>
            <a:srgbClr val="FFFFFF">
              <a:alpha val="4000"/>
            </a:srgbClr>
          </a:solidFill>
          <a:ln/>
        </p:spPr>
      </p:sp>
      <p:sp>
        <p:nvSpPr>
          <p:cNvPr id="36" name="Text 34"/>
          <p:cNvSpPr/>
          <p:nvPr/>
        </p:nvSpPr>
        <p:spPr>
          <a:xfrm>
            <a:off x="960358" y="4734639"/>
            <a:ext cx="293560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Effort Expectancy</a:t>
            </a:r>
            <a:endParaRPr lang="en-US" sz="1250" dirty="0"/>
          </a:p>
        </p:txBody>
      </p:sp>
      <p:sp>
        <p:nvSpPr>
          <p:cNvPr id="37" name="Text 35"/>
          <p:cNvSpPr/>
          <p:nvPr/>
        </p:nvSpPr>
        <p:spPr>
          <a:xfrm>
            <a:off x="4221004" y="4734639"/>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−.008</a:t>
            </a:r>
            <a:endParaRPr lang="en-US" sz="1250" dirty="0"/>
          </a:p>
        </p:txBody>
      </p:sp>
      <p:sp>
        <p:nvSpPr>
          <p:cNvPr id="38" name="Text 36"/>
          <p:cNvSpPr/>
          <p:nvPr/>
        </p:nvSpPr>
        <p:spPr>
          <a:xfrm>
            <a:off x="7477839" y="4734639"/>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.875</a:t>
            </a:r>
            <a:endParaRPr lang="en-US" sz="1250" dirty="0"/>
          </a:p>
        </p:txBody>
      </p:sp>
      <p:sp>
        <p:nvSpPr>
          <p:cNvPr id="39" name="Text 37"/>
          <p:cNvSpPr/>
          <p:nvPr/>
        </p:nvSpPr>
        <p:spPr>
          <a:xfrm>
            <a:off x="10734675" y="4734639"/>
            <a:ext cx="293560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Not Significant</a:t>
            </a:r>
            <a:endParaRPr lang="en-US" sz="1250" dirty="0"/>
          </a:p>
        </p:txBody>
      </p:sp>
      <p:sp>
        <p:nvSpPr>
          <p:cNvPr id="40" name="Shape 38"/>
          <p:cNvSpPr/>
          <p:nvPr/>
        </p:nvSpPr>
        <p:spPr>
          <a:xfrm>
            <a:off x="801410" y="5091589"/>
            <a:ext cx="13027581" cy="459819"/>
          </a:xfrm>
          <a:prstGeom prst="rect">
            <a:avLst/>
          </a:prstGeom>
          <a:solidFill>
            <a:srgbClr val="000000">
              <a:alpha val="4000"/>
            </a:srgbClr>
          </a:solidFill>
          <a:ln/>
        </p:spPr>
      </p:sp>
      <p:sp>
        <p:nvSpPr>
          <p:cNvPr id="41" name="Text 39"/>
          <p:cNvSpPr/>
          <p:nvPr/>
        </p:nvSpPr>
        <p:spPr>
          <a:xfrm>
            <a:off x="960358" y="5194459"/>
            <a:ext cx="293560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Facilitating Conditions</a:t>
            </a:r>
            <a:endParaRPr lang="en-US" sz="1250" dirty="0"/>
          </a:p>
        </p:txBody>
      </p:sp>
      <p:sp>
        <p:nvSpPr>
          <p:cNvPr id="42" name="Text 40"/>
          <p:cNvSpPr/>
          <p:nvPr/>
        </p:nvSpPr>
        <p:spPr>
          <a:xfrm>
            <a:off x="4221004" y="5194459"/>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.059</a:t>
            </a:r>
            <a:endParaRPr lang="en-US" sz="1250" dirty="0"/>
          </a:p>
        </p:txBody>
      </p:sp>
      <p:sp>
        <p:nvSpPr>
          <p:cNvPr id="43" name="Text 41"/>
          <p:cNvSpPr/>
          <p:nvPr/>
        </p:nvSpPr>
        <p:spPr>
          <a:xfrm>
            <a:off x="7477839" y="5194459"/>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.338</a:t>
            </a:r>
            <a:endParaRPr lang="en-US" sz="1250" dirty="0"/>
          </a:p>
        </p:txBody>
      </p:sp>
      <p:sp>
        <p:nvSpPr>
          <p:cNvPr id="44" name="Text 42"/>
          <p:cNvSpPr/>
          <p:nvPr/>
        </p:nvSpPr>
        <p:spPr>
          <a:xfrm>
            <a:off x="10734675" y="5194459"/>
            <a:ext cx="293560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Not Significant</a:t>
            </a:r>
            <a:endParaRPr lang="en-US" sz="1250" dirty="0"/>
          </a:p>
        </p:txBody>
      </p:sp>
      <p:sp>
        <p:nvSpPr>
          <p:cNvPr id="45" name="Shape 43"/>
          <p:cNvSpPr/>
          <p:nvPr/>
        </p:nvSpPr>
        <p:spPr>
          <a:xfrm>
            <a:off x="801410" y="5551408"/>
            <a:ext cx="13027581" cy="459819"/>
          </a:xfrm>
          <a:prstGeom prst="rect">
            <a:avLst/>
          </a:prstGeom>
          <a:solidFill>
            <a:srgbClr val="FFFFFF">
              <a:alpha val="4000"/>
            </a:srgbClr>
          </a:solidFill>
          <a:ln/>
        </p:spPr>
      </p:sp>
      <p:sp>
        <p:nvSpPr>
          <p:cNvPr id="46" name="Text 44"/>
          <p:cNvSpPr/>
          <p:nvPr/>
        </p:nvSpPr>
        <p:spPr>
          <a:xfrm>
            <a:off x="960358" y="5654278"/>
            <a:ext cx="293560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Habit</a:t>
            </a:r>
            <a:endParaRPr lang="en-US" sz="1250" dirty="0"/>
          </a:p>
        </p:txBody>
      </p:sp>
      <p:sp>
        <p:nvSpPr>
          <p:cNvPr id="47" name="Text 45"/>
          <p:cNvSpPr/>
          <p:nvPr/>
        </p:nvSpPr>
        <p:spPr>
          <a:xfrm>
            <a:off x="4221004" y="5654278"/>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.023</a:t>
            </a:r>
            <a:endParaRPr lang="en-US" sz="1250" dirty="0"/>
          </a:p>
        </p:txBody>
      </p:sp>
      <p:sp>
        <p:nvSpPr>
          <p:cNvPr id="48" name="Text 46"/>
          <p:cNvSpPr/>
          <p:nvPr/>
        </p:nvSpPr>
        <p:spPr>
          <a:xfrm>
            <a:off x="7477839" y="5654278"/>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.631</a:t>
            </a:r>
            <a:endParaRPr lang="en-US" sz="1250" dirty="0"/>
          </a:p>
        </p:txBody>
      </p:sp>
      <p:sp>
        <p:nvSpPr>
          <p:cNvPr id="49" name="Text 47"/>
          <p:cNvSpPr/>
          <p:nvPr/>
        </p:nvSpPr>
        <p:spPr>
          <a:xfrm>
            <a:off x="10734675" y="5654278"/>
            <a:ext cx="293560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Not Significant</a:t>
            </a:r>
            <a:endParaRPr lang="en-US" sz="1250" dirty="0"/>
          </a:p>
        </p:txBody>
      </p:sp>
      <p:sp>
        <p:nvSpPr>
          <p:cNvPr id="50" name="Shape 48"/>
          <p:cNvSpPr/>
          <p:nvPr/>
        </p:nvSpPr>
        <p:spPr>
          <a:xfrm>
            <a:off x="793790" y="6197441"/>
            <a:ext cx="13042821" cy="674608"/>
          </a:xfrm>
          <a:prstGeom prst="roundRect">
            <a:avLst>
              <a:gd name="adj" fmla="val 3530"/>
            </a:avLst>
          </a:prstGeom>
          <a:solidFill>
            <a:srgbClr val="C3CFEF"/>
          </a:solidFill>
          <a:ln/>
        </p:spPr>
      </p:sp>
      <p:pic>
        <p:nvPicPr>
          <p:cNvPr id="51" name="Image 0" descr="preencoded.png">    </p:cNvPr>
          <p:cNvPicPr>
            <a:picLocks noChangeAspect="1"/>
          </p:cNvPicPr>
          <p:nvPr/>
        </p:nvPicPr>
        <p:blipFill>
          <a:blip r:embed="rId1"/>
          <a:stretch>
            <a:fillRect/>
          </a:stretch>
        </p:blipFill>
        <p:spPr>
          <a:xfrm>
            <a:off x="952500" y="6432113"/>
            <a:ext cx="198358" cy="158710"/>
          </a:xfrm>
          <a:prstGeom prst="rect">
            <a:avLst/>
          </a:prstGeom>
        </p:spPr>
      </p:pic>
      <p:sp>
        <p:nvSpPr>
          <p:cNvPr id="52" name="Text 49"/>
          <p:cNvSpPr/>
          <p:nvPr/>
        </p:nvSpPr>
        <p:spPr>
          <a:xfrm>
            <a:off x="1309568" y="6395799"/>
            <a:ext cx="12368332" cy="254079"/>
          </a:xfrm>
          <a:prstGeom prst="rect">
            <a:avLst/>
          </a:prstGeom>
          <a:noFill/>
          <a:ln/>
        </p:spPr>
        <p:txBody>
          <a:bodyPr wrap="none" lIns="0" tIns="0" rIns="0" bIns="0" rtlCol="0" anchor="t"/>
          <a:lstStyle/>
          <a:p>
            <a:pPr algn="l" indent="0" marL="0">
              <a:lnSpc>
                <a:spcPts val="2000"/>
              </a:lnSpc>
              <a:buNone/>
            </a:pPr>
            <a:r>
              <a:rPr lang="en-US" sz="1250" b="1" dirty="0">
                <a:solidFill>
                  <a:srgbClr val="000000"/>
                </a:solidFill>
                <a:latin typeface="Roboto" pitchFamily="34" charset="0"/>
                <a:ea typeface="Roboto" pitchFamily="34" charset="-122"/>
                <a:cs typeface="Roboto" pitchFamily="34" charset="-120"/>
              </a:rPr>
              <a:t>Model R² = .852</a:t>
            </a:r>
            <a:pPr algn="l" indent="0" marL="0">
              <a:lnSpc>
                <a:spcPts val="2000"/>
              </a:lnSpc>
              <a:buNone/>
            </a:pPr>
            <a:r>
              <a:rPr lang="en-US" sz="1250" dirty="0">
                <a:solidFill>
                  <a:srgbClr val="000000"/>
                </a:solidFill>
                <a:latin typeface="Roboto" pitchFamily="34" charset="0"/>
                <a:ea typeface="Roboto" pitchFamily="34" charset="-122"/>
                <a:cs typeface="Roboto" pitchFamily="34" charset="-120"/>
              </a:rPr>
              <a:t> — The model explains 85.2% of variance in behavioral intention, demonstrating exceptional predictive accuracy.</a:t>
            </a:r>
            <a:endParaRPr lang="en-US" sz="1250" dirty="0"/>
          </a:p>
        </p:txBody>
      </p:sp>
      <p:sp>
        <p:nvSpPr>
          <p:cNvPr id="53" name="Text 50"/>
          <p:cNvSpPr/>
          <p:nvPr/>
        </p:nvSpPr>
        <p:spPr>
          <a:xfrm>
            <a:off x="793790" y="7050643"/>
            <a:ext cx="13042821" cy="508159"/>
          </a:xfrm>
          <a:prstGeom prst="rect">
            <a:avLst/>
          </a:prstGeom>
          <a:noFill/>
          <a:ln/>
        </p:spPr>
        <p:txBody>
          <a:bodyPr wrap="square" lIns="0" tIns="0" rIns="0" bIns="0" rtlCol="0" anchor="t"/>
          <a:lstStyle/>
          <a:p>
            <a:pPr algn="l" indent="0" marL="0">
              <a:lnSpc>
                <a:spcPts val="2000"/>
              </a:lnSpc>
              <a:buNone/>
            </a:pPr>
            <a:r>
              <a:rPr lang="en-US" sz="1250" dirty="0">
                <a:solidFill>
                  <a:srgbClr val="FFFFFF"/>
                </a:solidFill>
                <a:highlight>
                  <a:srgbClr val="3257B8"/>
                </a:highlight>
                <a:latin typeface="Roboto" pitchFamily="34" charset="0"/>
                <a:ea typeface="Roboto" pitchFamily="34" charset="-122"/>
                <a:cs typeface="Roboto" pitchFamily="34" charset="-120"/>
              </a:rPr>
              <a:t>Price Value dominates with a standardized coefficient more than twice as strong as the second-place factor.</a:t>
            </a:r>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This represents a fundamental departure from 30 years of technology acceptance research.</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825937"/>
            <a:ext cx="7913013" cy="460772"/>
          </a:xfrm>
          <a:prstGeom prst="rect">
            <a:avLst/>
          </a:prstGeom>
          <a:noFill/>
          <a:ln/>
        </p:spPr>
        <p:txBody>
          <a:bodyPr wrap="none" lIns="0" tIns="0" rIns="0" bIns="0" rtlCol="0" anchor="t"/>
          <a:lstStyle/>
          <a:p>
            <a:pPr algn="l" indent="0" marL="0">
              <a:lnSpc>
                <a:spcPts val="3600"/>
              </a:lnSpc>
              <a:buNone/>
            </a:pPr>
            <a:r>
              <a:rPr lang="en-US" sz="2900" dirty="0">
                <a:solidFill>
                  <a:srgbClr val="3257B8"/>
                </a:solidFill>
                <a:latin typeface="Roboto Slab" pitchFamily="34" charset="0"/>
                <a:ea typeface="Roboto Slab" pitchFamily="34" charset="-122"/>
                <a:cs typeface="Roboto Slab" pitchFamily="34" charset="-120"/>
              </a:rPr>
              <a:t>Key Finding #2: Traditional Drivers Fail for AI</a:t>
            </a:r>
            <a:endParaRPr lang="en-US" sz="2900" dirty="0"/>
          </a:p>
        </p:txBody>
      </p:sp>
      <p:sp>
        <p:nvSpPr>
          <p:cNvPr id="3" name="Text 1"/>
          <p:cNvSpPr/>
          <p:nvPr/>
        </p:nvSpPr>
        <p:spPr>
          <a:xfrm>
            <a:off x="793790" y="1655207"/>
            <a:ext cx="3491151" cy="276344"/>
          </a:xfrm>
          <a:prstGeom prst="rect">
            <a:avLst/>
          </a:prstGeom>
          <a:noFill/>
          <a:ln/>
        </p:spPr>
        <p:txBody>
          <a:bodyPr wrap="none" lIns="0" tIns="0" rIns="0" bIns="0" rtlCol="0" anchor="t"/>
          <a:lstStyle/>
          <a:p>
            <a:pPr algn="l" indent="0" marL="0">
              <a:lnSpc>
                <a:spcPts val="2150"/>
              </a:lnSpc>
              <a:buNone/>
            </a:pPr>
            <a:r>
              <a:rPr lang="en-US" sz="1700" dirty="0">
                <a:solidFill>
                  <a:srgbClr val="3257B8"/>
                </a:solidFill>
                <a:latin typeface="Roboto Slab" pitchFamily="34" charset="0"/>
                <a:ea typeface="Roboto Slab" pitchFamily="34" charset="-122"/>
                <a:cs typeface="Roboto Slab" pitchFamily="34" charset="-120"/>
              </a:rPr>
              <a:t>What Doesn't Predict AI Adoption</a:t>
            </a:r>
            <a:endParaRPr lang="en-US" sz="1700" dirty="0"/>
          </a:p>
        </p:txBody>
      </p:sp>
      <p:sp>
        <p:nvSpPr>
          <p:cNvPr id="4" name="Shape 2"/>
          <p:cNvSpPr/>
          <p:nvPr/>
        </p:nvSpPr>
        <p:spPr>
          <a:xfrm>
            <a:off x="793790" y="2097405"/>
            <a:ext cx="6341626" cy="1174552"/>
          </a:xfrm>
          <a:prstGeom prst="roundRect">
            <a:avLst>
              <a:gd name="adj" fmla="val 1883"/>
            </a:avLst>
          </a:prstGeom>
          <a:solidFill>
            <a:srgbClr val="FBFCFE"/>
          </a:solidFill>
          <a:ln w="15240">
            <a:solidFill>
              <a:srgbClr val="CFD2D8"/>
            </a:solidFill>
            <a:prstDash val="solid"/>
          </a:ln>
        </p:spPr>
      </p:sp>
      <p:sp>
        <p:nvSpPr>
          <p:cNvPr id="5" name="Text 3"/>
          <p:cNvSpPr/>
          <p:nvPr/>
        </p:nvSpPr>
        <p:spPr>
          <a:xfrm>
            <a:off x="956429" y="2260044"/>
            <a:ext cx="2191464"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Performance Expectancy</a:t>
            </a:r>
            <a:endParaRPr lang="en-US" sz="1450" dirty="0"/>
          </a:p>
        </p:txBody>
      </p:sp>
      <p:sp>
        <p:nvSpPr>
          <p:cNvPr id="6" name="Text 4"/>
          <p:cNvSpPr/>
          <p:nvPr/>
        </p:nvSpPr>
        <p:spPr>
          <a:xfrm>
            <a:off x="956429" y="2637830"/>
            <a:ext cx="6016347" cy="471488"/>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Productivity gains and efficiency improvements—the traditional strongest predictor—shows no relationship to AI adoption intention.</a:t>
            </a:r>
            <a:endParaRPr lang="en-US" sz="1150" dirty="0"/>
          </a:p>
        </p:txBody>
      </p:sp>
      <p:sp>
        <p:nvSpPr>
          <p:cNvPr id="7" name="Shape 5"/>
          <p:cNvSpPr/>
          <p:nvPr/>
        </p:nvSpPr>
        <p:spPr>
          <a:xfrm>
            <a:off x="793790" y="3419356"/>
            <a:ext cx="6341626" cy="1174552"/>
          </a:xfrm>
          <a:prstGeom prst="roundRect">
            <a:avLst>
              <a:gd name="adj" fmla="val 1883"/>
            </a:avLst>
          </a:prstGeom>
          <a:solidFill>
            <a:srgbClr val="FBFCFE"/>
          </a:solidFill>
          <a:ln w="15240">
            <a:solidFill>
              <a:srgbClr val="CFD2D8"/>
            </a:solidFill>
            <a:prstDash val="solid"/>
          </a:ln>
        </p:spPr>
      </p:sp>
      <p:sp>
        <p:nvSpPr>
          <p:cNvPr id="8" name="Text 6"/>
          <p:cNvSpPr/>
          <p:nvPr/>
        </p:nvSpPr>
        <p:spPr>
          <a:xfrm>
            <a:off x="956429" y="3581995"/>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Effort Expectancy</a:t>
            </a:r>
            <a:endParaRPr lang="en-US" sz="1450" dirty="0"/>
          </a:p>
        </p:txBody>
      </p:sp>
      <p:sp>
        <p:nvSpPr>
          <p:cNvPr id="9" name="Text 7"/>
          <p:cNvSpPr/>
          <p:nvPr/>
        </p:nvSpPr>
        <p:spPr>
          <a:xfrm>
            <a:off x="956429" y="3959781"/>
            <a:ext cx="6016347" cy="471488"/>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Ease of use and learning curve simplicity—a cornerstone of TAM—demonstrates no predictive power for AI tools.</a:t>
            </a:r>
            <a:endParaRPr lang="en-US" sz="1150" dirty="0"/>
          </a:p>
        </p:txBody>
      </p:sp>
      <p:sp>
        <p:nvSpPr>
          <p:cNvPr id="10" name="Shape 8"/>
          <p:cNvSpPr/>
          <p:nvPr/>
        </p:nvSpPr>
        <p:spPr>
          <a:xfrm>
            <a:off x="793790" y="4741307"/>
            <a:ext cx="6341626" cy="1174552"/>
          </a:xfrm>
          <a:prstGeom prst="roundRect">
            <a:avLst>
              <a:gd name="adj" fmla="val 1883"/>
            </a:avLst>
          </a:prstGeom>
          <a:solidFill>
            <a:srgbClr val="FBFCFE"/>
          </a:solidFill>
          <a:ln w="15240">
            <a:solidFill>
              <a:srgbClr val="CFD2D8"/>
            </a:solidFill>
            <a:prstDash val="solid"/>
          </a:ln>
        </p:spPr>
      </p:sp>
      <p:sp>
        <p:nvSpPr>
          <p:cNvPr id="11" name="Text 9"/>
          <p:cNvSpPr/>
          <p:nvPr/>
        </p:nvSpPr>
        <p:spPr>
          <a:xfrm>
            <a:off x="956429" y="4903946"/>
            <a:ext cx="1988463"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Facilitating Conditions</a:t>
            </a:r>
            <a:endParaRPr lang="en-US" sz="1450" dirty="0"/>
          </a:p>
        </p:txBody>
      </p:sp>
      <p:sp>
        <p:nvSpPr>
          <p:cNvPr id="12" name="Text 10"/>
          <p:cNvSpPr/>
          <p:nvPr/>
        </p:nvSpPr>
        <p:spPr>
          <a:xfrm>
            <a:off x="956429" y="5281732"/>
            <a:ext cx="6016347" cy="471488"/>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Organizational support, training, and resources available—typically essential—fail to influence adoption decisions.</a:t>
            </a:r>
            <a:endParaRPr lang="en-US" sz="1150" dirty="0"/>
          </a:p>
        </p:txBody>
      </p:sp>
      <p:sp>
        <p:nvSpPr>
          <p:cNvPr id="13" name="Shape 11"/>
          <p:cNvSpPr/>
          <p:nvPr/>
        </p:nvSpPr>
        <p:spPr>
          <a:xfrm>
            <a:off x="793790" y="6063258"/>
            <a:ext cx="6341626" cy="1174552"/>
          </a:xfrm>
          <a:prstGeom prst="roundRect">
            <a:avLst>
              <a:gd name="adj" fmla="val 1883"/>
            </a:avLst>
          </a:prstGeom>
          <a:solidFill>
            <a:srgbClr val="FBFCFE"/>
          </a:solidFill>
          <a:ln w="15240">
            <a:solidFill>
              <a:srgbClr val="CFD2D8"/>
            </a:solidFill>
            <a:prstDash val="solid"/>
          </a:ln>
        </p:spPr>
      </p:sp>
      <p:sp>
        <p:nvSpPr>
          <p:cNvPr id="14" name="Text 12"/>
          <p:cNvSpPr/>
          <p:nvPr/>
        </p:nvSpPr>
        <p:spPr>
          <a:xfrm>
            <a:off x="956429" y="6225897"/>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Habit</a:t>
            </a:r>
            <a:endParaRPr lang="en-US" sz="1450" dirty="0"/>
          </a:p>
        </p:txBody>
      </p:sp>
      <p:sp>
        <p:nvSpPr>
          <p:cNvPr id="15" name="Text 13"/>
          <p:cNvSpPr/>
          <p:nvPr/>
        </p:nvSpPr>
        <p:spPr>
          <a:xfrm>
            <a:off x="956429" y="6603683"/>
            <a:ext cx="6016347" cy="471488"/>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Prior experience and behavioral patterns—usually strong for established technologies—show no effect for emerging AI systems.</a:t>
            </a:r>
            <a:endParaRPr lang="en-US" sz="1150" dirty="0"/>
          </a:p>
        </p:txBody>
      </p:sp>
      <p:sp>
        <p:nvSpPr>
          <p:cNvPr id="16" name="Text 14"/>
          <p:cNvSpPr/>
          <p:nvPr/>
        </p:nvSpPr>
        <p:spPr>
          <a:xfrm>
            <a:off x="7502604" y="1655207"/>
            <a:ext cx="2211467" cy="276344"/>
          </a:xfrm>
          <a:prstGeom prst="rect">
            <a:avLst/>
          </a:prstGeom>
          <a:noFill/>
          <a:ln/>
        </p:spPr>
        <p:txBody>
          <a:bodyPr wrap="none" lIns="0" tIns="0" rIns="0" bIns="0" rtlCol="0" anchor="t"/>
          <a:lstStyle/>
          <a:p>
            <a:pPr algn="l" indent="0" marL="0">
              <a:lnSpc>
                <a:spcPts val="2150"/>
              </a:lnSpc>
              <a:buNone/>
            </a:pPr>
            <a:r>
              <a:rPr lang="en-US" sz="1700" dirty="0">
                <a:solidFill>
                  <a:srgbClr val="3257B8"/>
                </a:solidFill>
                <a:latin typeface="Roboto Slab" pitchFamily="34" charset="0"/>
                <a:ea typeface="Roboto Slab" pitchFamily="34" charset="-122"/>
                <a:cs typeface="Roboto Slab" pitchFamily="34" charset="-120"/>
              </a:rPr>
              <a:t>The Paradigm Shift</a:t>
            </a:r>
            <a:endParaRPr lang="en-US" sz="1700" dirty="0"/>
          </a:p>
        </p:txBody>
      </p:sp>
      <p:sp>
        <p:nvSpPr>
          <p:cNvPr id="17" name="Shape 15"/>
          <p:cNvSpPr/>
          <p:nvPr/>
        </p:nvSpPr>
        <p:spPr>
          <a:xfrm>
            <a:off x="7502604" y="2097405"/>
            <a:ext cx="6341626" cy="2153603"/>
          </a:xfrm>
          <a:prstGeom prst="roundRect">
            <a:avLst>
              <a:gd name="adj" fmla="val 1027"/>
            </a:avLst>
          </a:prstGeom>
          <a:noFill/>
          <a:ln w="7620">
            <a:solidFill>
              <a:srgbClr val="000000">
                <a:alpha val="8000"/>
              </a:srgbClr>
            </a:solidFill>
            <a:prstDash val="solid"/>
          </a:ln>
        </p:spPr>
      </p:sp>
      <p:sp>
        <p:nvSpPr>
          <p:cNvPr id="18" name="Shape 16"/>
          <p:cNvSpPr/>
          <p:nvPr/>
        </p:nvSpPr>
        <p:spPr>
          <a:xfrm>
            <a:off x="7510224" y="2105025"/>
            <a:ext cx="6326386" cy="427673"/>
          </a:xfrm>
          <a:prstGeom prst="rect">
            <a:avLst/>
          </a:prstGeom>
          <a:solidFill>
            <a:srgbClr val="FFFFFF">
              <a:alpha val="4000"/>
            </a:srgbClr>
          </a:solidFill>
          <a:ln/>
        </p:spPr>
      </p:sp>
      <p:sp>
        <p:nvSpPr>
          <p:cNvPr id="19" name="Text 17"/>
          <p:cNvSpPr/>
          <p:nvPr/>
        </p:nvSpPr>
        <p:spPr>
          <a:xfrm>
            <a:off x="7657743" y="2200989"/>
            <a:ext cx="2864525"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Traditional Tech</a:t>
            </a:r>
            <a:endParaRPr lang="en-US" sz="1150" dirty="0"/>
          </a:p>
        </p:txBody>
      </p:sp>
      <p:sp>
        <p:nvSpPr>
          <p:cNvPr id="20" name="Text 18"/>
          <p:cNvSpPr/>
          <p:nvPr/>
        </p:nvSpPr>
        <p:spPr>
          <a:xfrm>
            <a:off x="10824686" y="2200989"/>
            <a:ext cx="2864525"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AI Adoption</a:t>
            </a:r>
            <a:endParaRPr lang="en-US" sz="1150" dirty="0"/>
          </a:p>
        </p:txBody>
      </p:sp>
      <p:sp>
        <p:nvSpPr>
          <p:cNvPr id="21" name="Shape 19"/>
          <p:cNvSpPr/>
          <p:nvPr/>
        </p:nvSpPr>
        <p:spPr>
          <a:xfrm>
            <a:off x="7510224" y="2532698"/>
            <a:ext cx="6326386" cy="427673"/>
          </a:xfrm>
          <a:prstGeom prst="rect">
            <a:avLst/>
          </a:prstGeom>
          <a:solidFill>
            <a:srgbClr val="000000">
              <a:alpha val="4000"/>
            </a:srgbClr>
          </a:solidFill>
          <a:ln/>
        </p:spPr>
      </p:sp>
      <p:sp>
        <p:nvSpPr>
          <p:cNvPr id="22" name="Text 20"/>
          <p:cNvSpPr/>
          <p:nvPr/>
        </p:nvSpPr>
        <p:spPr>
          <a:xfrm>
            <a:off x="7657743" y="2628662"/>
            <a:ext cx="28645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"Will this make me productive?"</a:t>
            </a:r>
            <a:endParaRPr lang="en-US" sz="1150" dirty="0"/>
          </a:p>
        </p:txBody>
      </p:sp>
      <p:sp>
        <p:nvSpPr>
          <p:cNvPr id="23" name="Text 21"/>
          <p:cNvSpPr/>
          <p:nvPr/>
        </p:nvSpPr>
        <p:spPr>
          <a:xfrm>
            <a:off x="10824686" y="2628662"/>
            <a:ext cx="28645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"Is this worth my total investment?"</a:t>
            </a:r>
            <a:endParaRPr lang="en-US" sz="1150" dirty="0"/>
          </a:p>
        </p:txBody>
      </p:sp>
      <p:sp>
        <p:nvSpPr>
          <p:cNvPr id="24" name="Shape 22"/>
          <p:cNvSpPr/>
          <p:nvPr/>
        </p:nvSpPr>
        <p:spPr>
          <a:xfrm>
            <a:off x="7510224" y="2960370"/>
            <a:ext cx="6326386" cy="427673"/>
          </a:xfrm>
          <a:prstGeom prst="rect">
            <a:avLst/>
          </a:prstGeom>
          <a:solidFill>
            <a:srgbClr val="FFFFFF">
              <a:alpha val="4000"/>
            </a:srgbClr>
          </a:solidFill>
          <a:ln/>
        </p:spPr>
      </p:sp>
      <p:sp>
        <p:nvSpPr>
          <p:cNvPr id="25" name="Text 23"/>
          <p:cNvSpPr/>
          <p:nvPr/>
        </p:nvSpPr>
        <p:spPr>
          <a:xfrm>
            <a:off x="7657743" y="3056334"/>
            <a:ext cx="28645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Feature-focused evaluation</a:t>
            </a:r>
            <a:endParaRPr lang="en-US" sz="1150" dirty="0"/>
          </a:p>
        </p:txBody>
      </p:sp>
      <p:sp>
        <p:nvSpPr>
          <p:cNvPr id="26" name="Text 24"/>
          <p:cNvSpPr/>
          <p:nvPr/>
        </p:nvSpPr>
        <p:spPr>
          <a:xfrm>
            <a:off x="10824686" y="3056334"/>
            <a:ext cx="28645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Value-focused evaluation</a:t>
            </a:r>
            <a:endParaRPr lang="en-US" sz="1150" dirty="0"/>
          </a:p>
        </p:txBody>
      </p:sp>
      <p:sp>
        <p:nvSpPr>
          <p:cNvPr id="27" name="Shape 25"/>
          <p:cNvSpPr/>
          <p:nvPr/>
        </p:nvSpPr>
        <p:spPr>
          <a:xfrm>
            <a:off x="7510224" y="3388043"/>
            <a:ext cx="6326386" cy="427673"/>
          </a:xfrm>
          <a:prstGeom prst="rect">
            <a:avLst/>
          </a:prstGeom>
          <a:solidFill>
            <a:srgbClr val="000000">
              <a:alpha val="4000"/>
            </a:srgbClr>
          </a:solidFill>
          <a:ln/>
        </p:spPr>
      </p:sp>
      <p:sp>
        <p:nvSpPr>
          <p:cNvPr id="28" name="Text 26"/>
          <p:cNvSpPr/>
          <p:nvPr/>
        </p:nvSpPr>
        <p:spPr>
          <a:xfrm>
            <a:off x="7657743" y="3484007"/>
            <a:ext cx="28645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Training solves adoption problems</a:t>
            </a:r>
            <a:endParaRPr lang="en-US" sz="1150" dirty="0"/>
          </a:p>
        </p:txBody>
      </p:sp>
      <p:sp>
        <p:nvSpPr>
          <p:cNvPr id="29" name="Text 27"/>
          <p:cNvSpPr/>
          <p:nvPr/>
        </p:nvSpPr>
        <p:spPr>
          <a:xfrm>
            <a:off x="10824686" y="3484007"/>
            <a:ext cx="28645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Trust enables adoption readiness</a:t>
            </a:r>
            <a:endParaRPr lang="en-US" sz="1150" dirty="0"/>
          </a:p>
        </p:txBody>
      </p:sp>
      <p:sp>
        <p:nvSpPr>
          <p:cNvPr id="30" name="Shape 28"/>
          <p:cNvSpPr/>
          <p:nvPr/>
        </p:nvSpPr>
        <p:spPr>
          <a:xfrm>
            <a:off x="7510224" y="3815715"/>
            <a:ext cx="6326386" cy="427673"/>
          </a:xfrm>
          <a:prstGeom prst="rect">
            <a:avLst/>
          </a:prstGeom>
          <a:solidFill>
            <a:srgbClr val="FFFFFF">
              <a:alpha val="4000"/>
            </a:srgbClr>
          </a:solidFill>
          <a:ln/>
        </p:spPr>
      </p:sp>
      <p:sp>
        <p:nvSpPr>
          <p:cNvPr id="31" name="Text 29"/>
          <p:cNvSpPr/>
          <p:nvPr/>
        </p:nvSpPr>
        <p:spPr>
          <a:xfrm>
            <a:off x="7657743" y="3911679"/>
            <a:ext cx="28645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Ease of use drives behavior</a:t>
            </a:r>
            <a:endParaRPr lang="en-US" sz="1150" dirty="0"/>
          </a:p>
        </p:txBody>
      </p:sp>
      <p:sp>
        <p:nvSpPr>
          <p:cNvPr id="32" name="Text 30"/>
          <p:cNvSpPr/>
          <p:nvPr/>
        </p:nvSpPr>
        <p:spPr>
          <a:xfrm>
            <a:off x="10824686" y="3911679"/>
            <a:ext cx="28645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Perceived worth drives behavior</a:t>
            </a:r>
            <a:endParaRPr lang="en-US" sz="1150" dirty="0"/>
          </a:p>
        </p:txBody>
      </p:sp>
      <p:sp>
        <p:nvSpPr>
          <p:cNvPr id="33" name="Text 31"/>
          <p:cNvSpPr/>
          <p:nvPr/>
        </p:nvSpPr>
        <p:spPr>
          <a:xfrm>
            <a:off x="7723703" y="4416862"/>
            <a:ext cx="6120527" cy="707231"/>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Users evaluate AI through a fundamentally different cognitive lens than previous technologies—assessing total cost including time investment, workflow disruption, learning curve, privacy risks, and opportunity costs.</a:t>
            </a:r>
            <a:endParaRPr lang="en-US" sz="1150" dirty="0"/>
          </a:p>
        </p:txBody>
      </p:sp>
      <p:sp>
        <p:nvSpPr>
          <p:cNvPr id="34" name="Shape 32"/>
          <p:cNvSpPr/>
          <p:nvPr/>
        </p:nvSpPr>
        <p:spPr>
          <a:xfrm>
            <a:off x="7502604" y="4416862"/>
            <a:ext cx="15240" cy="707231"/>
          </a:xfrm>
          <a:prstGeom prst="rect">
            <a:avLst/>
          </a:prstGeom>
          <a:solidFill>
            <a:srgbClr val="3257B8"/>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2011918"/>
            <a:ext cx="7737277" cy="460772"/>
          </a:xfrm>
          <a:prstGeom prst="rect">
            <a:avLst/>
          </a:prstGeom>
          <a:noFill/>
          <a:ln/>
        </p:spPr>
        <p:txBody>
          <a:bodyPr wrap="none" lIns="0" tIns="0" rIns="0" bIns="0" rtlCol="0" anchor="t"/>
          <a:lstStyle/>
          <a:p>
            <a:pPr algn="l" indent="0" marL="0">
              <a:lnSpc>
                <a:spcPts val="3600"/>
              </a:lnSpc>
              <a:buNone/>
            </a:pPr>
            <a:r>
              <a:rPr lang="en-US" sz="2900" dirty="0">
                <a:solidFill>
                  <a:srgbClr val="3257B8"/>
                </a:solidFill>
                <a:latin typeface="Roboto Slab" pitchFamily="34" charset="0"/>
                <a:ea typeface="Roboto Slab" pitchFamily="34" charset="-122"/>
                <a:cs typeface="Roboto Slab" pitchFamily="34" charset="-120"/>
              </a:rPr>
              <a:t>Key Finding #3: Four Distinct User Segments</a:t>
            </a:r>
            <a:endParaRPr lang="en-US" sz="2900" dirty="0"/>
          </a:p>
        </p:txBody>
      </p:sp>
      <p:sp>
        <p:nvSpPr>
          <p:cNvPr id="3" name="Shape 1"/>
          <p:cNvSpPr/>
          <p:nvPr/>
        </p:nvSpPr>
        <p:spPr>
          <a:xfrm>
            <a:off x="793790" y="2933343"/>
            <a:ext cx="13042821" cy="15240"/>
          </a:xfrm>
          <a:prstGeom prst="roundRect">
            <a:avLst>
              <a:gd name="adj" fmla="val 145116"/>
            </a:avLst>
          </a:prstGeom>
          <a:solidFill>
            <a:srgbClr val="CFD2D8"/>
          </a:solidFill>
          <a:ln/>
        </p:spPr>
      </p:sp>
      <p:sp>
        <p:nvSpPr>
          <p:cNvPr id="4" name="Shape 2"/>
          <p:cNvSpPr/>
          <p:nvPr/>
        </p:nvSpPr>
        <p:spPr>
          <a:xfrm>
            <a:off x="2347436" y="2933343"/>
            <a:ext cx="15240" cy="442198"/>
          </a:xfrm>
          <a:prstGeom prst="roundRect">
            <a:avLst>
              <a:gd name="adj" fmla="val 145116"/>
            </a:avLst>
          </a:prstGeom>
          <a:solidFill>
            <a:srgbClr val="CFD2D8"/>
          </a:solidFill>
          <a:ln/>
        </p:spPr>
      </p:sp>
      <p:sp>
        <p:nvSpPr>
          <p:cNvPr id="5" name="Shape 3"/>
          <p:cNvSpPr/>
          <p:nvPr/>
        </p:nvSpPr>
        <p:spPr>
          <a:xfrm>
            <a:off x="2189202" y="2767489"/>
            <a:ext cx="331708" cy="331708"/>
          </a:xfrm>
          <a:prstGeom prst="roundRect">
            <a:avLst>
              <a:gd name="adj" fmla="val 6667"/>
            </a:avLst>
          </a:prstGeom>
          <a:solidFill>
            <a:srgbClr val="E9ECF2"/>
          </a:solidFill>
          <a:ln/>
        </p:spPr>
      </p:sp>
      <p:sp>
        <p:nvSpPr>
          <p:cNvPr id="6" name="Text 4"/>
          <p:cNvSpPr/>
          <p:nvPr/>
        </p:nvSpPr>
        <p:spPr>
          <a:xfrm>
            <a:off x="2244507" y="2795171"/>
            <a:ext cx="221099" cy="276344"/>
          </a:xfrm>
          <a:prstGeom prst="rect">
            <a:avLst/>
          </a:prstGeom>
          <a:noFill/>
          <a:ln/>
        </p:spPr>
        <p:txBody>
          <a:bodyPr wrap="none" lIns="0" tIns="0" rIns="0" bIns="0" rtlCol="0" anchor="t"/>
          <a:lstStyle/>
          <a:p>
            <a:pPr algn="ctr" indent="0" marL="0">
              <a:lnSpc>
                <a:spcPts val="1700"/>
              </a:lnSpc>
              <a:buNone/>
            </a:pPr>
            <a:r>
              <a:rPr lang="en-US" sz="1700" dirty="0">
                <a:solidFill>
                  <a:srgbClr val="15213F"/>
                </a:solidFill>
                <a:latin typeface="Roboto Slab" pitchFamily="34" charset="0"/>
                <a:ea typeface="Roboto Slab" pitchFamily="34" charset="-122"/>
                <a:cs typeface="Roboto Slab" pitchFamily="34" charset="-120"/>
              </a:rPr>
              <a:t>1</a:t>
            </a:r>
            <a:endParaRPr lang="en-US" sz="1700" dirty="0"/>
          </a:p>
        </p:txBody>
      </p:sp>
      <p:sp>
        <p:nvSpPr>
          <p:cNvPr id="7" name="Text 5"/>
          <p:cNvSpPr/>
          <p:nvPr/>
        </p:nvSpPr>
        <p:spPr>
          <a:xfrm>
            <a:off x="1433513" y="3523059"/>
            <a:ext cx="1842968"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AI Enthusiasts (16%)</a:t>
            </a:r>
            <a:endParaRPr lang="en-US" sz="1450" dirty="0"/>
          </a:p>
        </p:txBody>
      </p:sp>
      <p:sp>
        <p:nvSpPr>
          <p:cNvPr id="8" name="Text 6"/>
          <p:cNvSpPr/>
          <p:nvPr/>
        </p:nvSpPr>
        <p:spPr>
          <a:xfrm>
            <a:off x="941189" y="3841790"/>
            <a:ext cx="2827734" cy="471488"/>
          </a:xfrm>
          <a:prstGeom prst="rect">
            <a:avLst/>
          </a:prstGeom>
          <a:noFill/>
          <a:ln/>
        </p:spPr>
        <p:txBody>
          <a:bodyPr wrap="square" lIns="0" tIns="0" rIns="0" bIns="0" rtlCol="0" anchor="t"/>
          <a:lstStyle/>
          <a:p>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Trust:</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+1.37σ | </a:t>
            </a:r>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Anxiety:</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−0.86σ | </a:t>
            </a:r>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Intent:</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+1.32σ</a:t>
            </a:r>
            <a:endParaRPr lang="en-US" sz="1150" dirty="0"/>
          </a:p>
        </p:txBody>
      </p:sp>
      <p:sp>
        <p:nvSpPr>
          <p:cNvPr id="9" name="Text 7"/>
          <p:cNvSpPr/>
          <p:nvPr/>
        </p:nvSpPr>
        <p:spPr>
          <a:xfrm>
            <a:off x="941189" y="4401622"/>
            <a:ext cx="2827734" cy="1414463"/>
          </a:xfrm>
          <a:prstGeom prst="rect">
            <a:avLst/>
          </a:prstGeom>
          <a:noFill/>
          <a:ln/>
        </p:spPr>
        <p:txBody>
          <a:bodyPr wrap="squar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High trust, low anxiety, strong adoption intent. These individuals are your champions and early adopters. Strategy: Give them early access to new AI tools and empower them to evangelize within the organization.</a:t>
            </a:r>
            <a:endParaRPr lang="en-US" sz="1150" dirty="0"/>
          </a:p>
        </p:txBody>
      </p:sp>
      <p:sp>
        <p:nvSpPr>
          <p:cNvPr id="10" name="Shape 8"/>
          <p:cNvSpPr/>
          <p:nvPr/>
        </p:nvSpPr>
        <p:spPr>
          <a:xfrm>
            <a:off x="5654159" y="2933343"/>
            <a:ext cx="15240" cy="442198"/>
          </a:xfrm>
          <a:prstGeom prst="roundRect">
            <a:avLst>
              <a:gd name="adj" fmla="val 145116"/>
            </a:avLst>
          </a:prstGeom>
          <a:solidFill>
            <a:srgbClr val="CFD2D8"/>
          </a:solidFill>
          <a:ln/>
        </p:spPr>
      </p:sp>
      <p:sp>
        <p:nvSpPr>
          <p:cNvPr id="11" name="Shape 9"/>
          <p:cNvSpPr/>
          <p:nvPr/>
        </p:nvSpPr>
        <p:spPr>
          <a:xfrm>
            <a:off x="5495925" y="2767489"/>
            <a:ext cx="331708" cy="331708"/>
          </a:xfrm>
          <a:prstGeom prst="roundRect">
            <a:avLst>
              <a:gd name="adj" fmla="val 6667"/>
            </a:avLst>
          </a:prstGeom>
          <a:solidFill>
            <a:srgbClr val="E9ECF2"/>
          </a:solidFill>
          <a:ln/>
        </p:spPr>
      </p:sp>
      <p:sp>
        <p:nvSpPr>
          <p:cNvPr id="12" name="Text 10"/>
          <p:cNvSpPr/>
          <p:nvPr/>
        </p:nvSpPr>
        <p:spPr>
          <a:xfrm>
            <a:off x="5551230" y="2795171"/>
            <a:ext cx="221099" cy="276344"/>
          </a:xfrm>
          <a:prstGeom prst="rect">
            <a:avLst/>
          </a:prstGeom>
          <a:noFill/>
          <a:ln/>
        </p:spPr>
        <p:txBody>
          <a:bodyPr wrap="none" lIns="0" tIns="0" rIns="0" bIns="0" rtlCol="0" anchor="t"/>
          <a:lstStyle/>
          <a:p>
            <a:pPr algn="ctr" indent="0" marL="0">
              <a:lnSpc>
                <a:spcPts val="1700"/>
              </a:lnSpc>
              <a:buNone/>
            </a:pPr>
            <a:r>
              <a:rPr lang="en-US" sz="1700" dirty="0">
                <a:solidFill>
                  <a:srgbClr val="15213F"/>
                </a:solidFill>
                <a:latin typeface="Roboto Slab" pitchFamily="34" charset="0"/>
                <a:ea typeface="Roboto Slab" pitchFamily="34" charset="-122"/>
                <a:cs typeface="Roboto Slab" pitchFamily="34" charset="-120"/>
              </a:rPr>
              <a:t>2</a:t>
            </a:r>
            <a:endParaRPr lang="en-US" sz="1700" dirty="0"/>
          </a:p>
        </p:txBody>
      </p:sp>
      <p:sp>
        <p:nvSpPr>
          <p:cNvPr id="13" name="Text 11"/>
          <p:cNvSpPr/>
          <p:nvPr/>
        </p:nvSpPr>
        <p:spPr>
          <a:xfrm>
            <a:off x="4618911" y="3523059"/>
            <a:ext cx="2085737"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Cautious Adopters (30%)</a:t>
            </a:r>
            <a:endParaRPr lang="en-US" sz="1450" dirty="0"/>
          </a:p>
        </p:txBody>
      </p:sp>
      <p:sp>
        <p:nvSpPr>
          <p:cNvPr id="14" name="Text 12"/>
          <p:cNvSpPr/>
          <p:nvPr/>
        </p:nvSpPr>
        <p:spPr>
          <a:xfrm>
            <a:off x="4247912" y="3841790"/>
            <a:ext cx="2827734" cy="471488"/>
          </a:xfrm>
          <a:prstGeom prst="rect">
            <a:avLst/>
          </a:prstGeom>
          <a:noFill/>
          <a:ln/>
        </p:spPr>
        <p:txBody>
          <a:bodyPr wrap="square" lIns="0" tIns="0" rIns="0" bIns="0" rtlCol="0" anchor="t"/>
          <a:lstStyle/>
          <a:p>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Trust:</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+0.86σ | </a:t>
            </a:r>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Anxiety:</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+0.84σ | </a:t>
            </a:r>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Intent:</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+0.88σ</a:t>
            </a:r>
            <a:endParaRPr lang="en-US" sz="1150" dirty="0"/>
          </a:p>
        </p:txBody>
      </p:sp>
      <p:sp>
        <p:nvSpPr>
          <p:cNvPr id="15" name="Text 13"/>
          <p:cNvSpPr/>
          <p:nvPr/>
        </p:nvSpPr>
        <p:spPr>
          <a:xfrm>
            <a:off x="4247912" y="4401622"/>
            <a:ext cx="2827734" cy="1178719"/>
          </a:xfrm>
          <a:prstGeom prst="rect">
            <a:avLst/>
          </a:prstGeom>
          <a:noFill/>
          <a:ln/>
        </p:spPr>
        <p:txBody>
          <a:bodyPr wrap="squar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High interest combined with elevated anxiety—they see AI's potential but need concrete evidence. Strategy: Provide proof points, case studies, ROI calculators, and low-commitment pilot programs.</a:t>
            </a:r>
            <a:endParaRPr lang="en-US" sz="1150" dirty="0"/>
          </a:p>
        </p:txBody>
      </p:sp>
      <p:sp>
        <p:nvSpPr>
          <p:cNvPr id="16" name="Shape 14"/>
          <p:cNvSpPr/>
          <p:nvPr/>
        </p:nvSpPr>
        <p:spPr>
          <a:xfrm>
            <a:off x="8960882" y="2933343"/>
            <a:ext cx="15240" cy="442198"/>
          </a:xfrm>
          <a:prstGeom prst="roundRect">
            <a:avLst>
              <a:gd name="adj" fmla="val 145116"/>
            </a:avLst>
          </a:prstGeom>
          <a:solidFill>
            <a:srgbClr val="CFD2D8"/>
          </a:solidFill>
          <a:ln/>
        </p:spPr>
      </p:sp>
      <p:sp>
        <p:nvSpPr>
          <p:cNvPr id="17" name="Shape 15"/>
          <p:cNvSpPr/>
          <p:nvPr/>
        </p:nvSpPr>
        <p:spPr>
          <a:xfrm>
            <a:off x="8802648" y="2767489"/>
            <a:ext cx="331708" cy="331708"/>
          </a:xfrm>
          <a:prstGeom prst="roundRect">
            <a:avLst>
              <a:gd name="adj" fmla="val 6667"/>
            </a:avLst>
          </a:prstGeom>
          <a:solidFill>
            <a:srgbClr val="E9ECF2"/>
          </a:solidFill>
          <a:ln/>
        </p:spPr>
      </p:sp>
      <p:sp>
        <p:nvSpPr>
          <p:cNvPr id="18" name="Text 16"/>
          <p:cNvSpPr/>
          <p:nvPr/>
        </p:nvSpPr>
        <p:spPr>
          <a:xfrm>
            <a:off x="8857952" y="2795171"/>
            <a:ext cx="221099" cy="276344"/>
          </a:xfrm>
          <a:prstGeom prst="rect">
            <a:avLst/>
          </a:prstGeom>
          <a:noFill/>
          <a:ln/>
        </p:spPr>
        <p:txBody>
          <a:bodyPr wrap="none" lIns="0" tIns="0" rIns="0" bIns="0" rtlCol="0" anchor="t"/>
          <a:lstStyle/>
          <a:p>
            <a:pPr algn="ctr" indent="0" marL="0">
              <a:lnSpc>
                <a:spcPts val="1700"/>
              </a:lnSpc>
              <a:buNone/>
            </a:pPr>
            <a:r>
              <a:rPr lang="en-US" sz="1700" dirty="0">
                <a:solidFill>
                  <a:srgbClr val="15213F"/>
                </a:solidFill>
                <a:latin typeface="Roboto Slab" pitchFamily="34" charset="0"/>
                <a:ea typeface="Roboto Slab" pitchFamily="34" charset="-122"/>
                <a:cs typeface="Roboto Slab" pitchFamily="34" charset="-120"/>
              </a:rPr>
              <a:t>3</a:t>
            </a:r>
            <a:endParaRPr lang="en-US" sz="1700" dirty="0"/>
          </a:p>
        </p:txBody>
      </p:sp>
      <p:sp>
        <p:nvSpPr>
          <p:cNvPr id="19" name="Text 17"/>
          <p:cNvSpPr/>
          <p:nvPr/>
        </p:nvSpPr>
        <p:spPr>
          <a:xfrm>
            <a:off x="8038743" y="3523059"/>
            <a:ext cx="1859518"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Moderate Users (37%)</a:t>
            </a:r>
            <a:endParaRPr lang="en-US" sz="1450" dirty="0"/>
          </a:p>
        </p:txBody>
      </p:sp>
      <p:sp>
        <p:nvSpPr>
          <p:cNvPr id="20" name="Text 18"/>
          <p:cNvSpPr/>
          <p:nvPr/>
        </p:nvSpPr>
        <p:spPr>
          <a:xfrm>
            <a:off x="7554635" y="3841790"/>
            <a:ext cx="2827734" cy="471488"/>
          </a:xfrm>
          <a:prstGeom prst="rect">
            <a:avLst/>
          </a:prstGeom>
          <a:noFill/>
          <a:ln/>
        </p:spPr>
        <p:txBody>
          <a:bodyPr wrap="square" lIns="0" tIns="0" rIns="0" bIns="0" rtlCol="0" anchor="t"/>
          <a:lstStyle/>
          <a:p>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Trust:</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+0.01σ | </a:t>
            </a:r>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Anxiety:</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+0.42σ | </a:t>
            </a:r>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Intent:</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−0.07σ</a:t>
            </a:r>
            <a:endParaRPr lang="en-US" sz="1150" dirty="0"/>
          </a:p>
        </p:txBody>
      </p:sp>
      <p:sp>
        <p:nvSpPr>
          <p:cNvPr id="21" name="Text 19"/>
          <p:cNvSpPr/>
          <p:nvPr/>
        </p:nvSpPr>
        <p:spPr>
          <a:xfrm>
            <a:off x="7554635" y="4401622"/>
            <a:ext cx="2827734" cy="1178719"/>
          </a:xfrm>
          <a:prstGeom prst="rect">
            <a:avLst/>
          </a:prstGeom>
          <a:noFill/>
          <a:ln/>
        </p:spPr>
        <p:txBody>
          <a:bodyPr wrap="squar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The largest segment—neutral on most dimensions and fence-sitting. They'll follow the crowd. Strategy: Reduce friction, demonstrate that peers are adopting, and leverage social influence mechanisms.</a:t>
            </a:r>
            <a:endParaRPr lang="en-US" sz="1150" dirty="0"/>
          </a:p>
        </p:txBody>
      </p:sp>
      <p:sp>
        <p:nvSpPr>
          <p:cNvPr id="22" name="Shape 20"/>
          <p:cNvSpPr/>
          <p:nvPr/>
        </p:nvSpPr>
        <p:spPr>
          <a:xfrm>
            <a:off x="12267605" y="2933343"/>
            <a:ext cx="15240" cy="442198"/>
          </a:xfrm>
          <a:prstGeom prst="roundRect">
            <a:avLst>
              <a:gd name="adj" fmla="val 145116"/>
            </a:avLst>
          </a:prstGeom>
          <a:solidFill>
            <a:srgbClr val="CFD2D8"/>
          </a:solidFill>
          <a:ln/>
        </p:spPr>
      </p:sp>
      <p:sp>
        <p:nvSpPr>
          <p:cNvPr id="23" name="Shape 21"/>
          <p:cNvSpPr/>
          <p:nvPr/>
        </p:nvSpPr>
        <p:spPr>
          <a:xfrm>
            <a:off x="12109371" y="2767489"/>
            <a:ext cx="331708" cy="331708"/>
          </a:xfrm>
          <a:prstGeom prst="roundRect">
            <a:avLst>
              <a:gd name="adj" fmla="val 6667"/>
            </a:avLst>
          </a:prstGeom>
          <a:solidFill>
            <a:srgbClr val="E9ECF2"/>
          </a:solidFill>
          <a:ln/>
        </p:spPr>
      </p:sp>
      <p:sp>
        <p:nvSpPr>
          <p:cNvPr id="24" name="Text 22"/>
          <p:cNvSpPr/>
          <p:nvPr/>
        </p:nvSpPr>
        <p:spPr>
          <a:xfrm>
            <a:off x="12164675" y="2795171"/>
            <a:ext cx="221099" cy="276344"/>
          </a:xfrm>
          <a:prstGeom prst="rect">
            <a:avLst/>
          </a:prstGeom>
          <a:noFill/>
          <a:ln/>
        </p:spPr>
        <p:txBody>
          <a:bodyPr wrap="none" lIns="0" tIns="0" rIns="0" bIns="0" rtlCol="0" anchor="t"/>
          <a:lstStyle/>
          <a:p>
            <a:pPr algn="ctr" indent="0" marL="0">
              <a:lnSpc>
                <a:spcPts val="1700"/>
              </a:lnSpc>
              <a:buNone/>
            </a:pPr>
            <a:r>
              <a:rPr lang="en-US" sz="1700" dirty="0">
                <a:solidFill>
                  <a:srgbClr val="15213F"/>
                </a:solidFill>
                <a:latin typeface="Roboto Slab" pitchFamily="34" charset="0"/>
                <a:ea typeface="Roboto Slab" pitchFamily="34" charset="-122"/>
                <a:cs typeface="Roboto Slab" pitchFamily="34" charset="-120"/>
              </a:rPr>
              <a:t>4</a:t>
            </a:r>
            <a:endParaRPr lang="en-US" sz="1700" dirty="0"/>
          </a:p>
        </p:txBody>
      </p:sp>
      <p:sp>
        <p:nvSpPr>
          <p:cNvPr id="25" name="Text 23"/>
          <p:cNvSpPr/>
          <p:nvPr/>
        </p:nvSpPr>
        <p:spPr>
          <a:xfrm>
            <a:off x="11268551" y="3523059"/>
            <a:ext cx="2013347"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Anxious Avoiders (17%)</a:t>
            </a:r>
            <a:endParaRPr lang="en-US" sz="1450" dirty="0"/>
          </a:p>
        </p:txBody>
      </p:sp>
      <p:sp>
        <p:nvSpPr>
          <p:cNvPr id="26" name="Text 24"/>
          <p:cNvSpPr/>
          <p:nvPr/>
        </p:nvSpPr>
        <p:spPr>
          <a:xfrm>
            <a:off x="10861358" y="3841790"/>
            <a:ext cx="2827853" cy="471488"/>
          </a:xfrm>
          <a:prstGeom prst="rect">
            <a:avLst/>
          </a:prstGeom>
          <a:noFill/>
          <a:ln/>
        </p:spPr>
        <p:txBody>
          <a:bodyPr wrap="square" lIns="0" tIns="0" rIns="0" bIns="0" rtlCol="0" anchor="t"/>
          <a:lstStyle/>
          <a:p>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Trust:</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−1.49σ | </a:t>
            </a:r>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Anxiety:</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+0.76σ | </a:t>
            </a:r>
            <a:pPr algn="ctr" indent="0" marL="0">
              <a:lnSpc>
                <a:spcPts val="1850"/>
              </a:lnSpc>
              <a:buNone/>
            </a:pPr>
            <a:r>
              <a:rPr lang="en-US" sz="1150" b="1" dirty="0">
                <a:solidFill>
                  <a:srgbClr val="15213F"/>
                </a:solidFill>
                <a:latin typeface="Roboto" pitchFamily="34" charset="0"/>
                <a:ea typeface="Roboto" pitchFamily="34" charset="-122"/>
                <a:cs typeface="Roboto" pitchFamily="34" charset="-120"/>
              </a:rPr>
              <a:t>Intent:</a:t>
            </a:r>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 −1.53σ</a:t>
            </a:r>
            <a:endParaRPr lang="en-US" sz="1150" dirty="0"/>
          </a:p>
        </p:txBody>
      </p:sp>
      <p:sp>
        <p:nvSpPr>
          <p:cNvPr id="27" name="Text 25"/>
          <p:cNvSpPr/>
          <p:nvPr/>
        </p:nvSpPr>
        <p:spPr>
          <a:xfrm>
            <a:off x="10861358" y="4401622"/>
            <a:ext cx="2827853" cy="1178719"/>
          </a:xfrm>
          <a:prstGeom prst="rect">
            <a:avLst/>
          </a:prstGeom>
          <a:noFill/>
          <a:ln/>
        </p:spPr>
        <p:txBody>
          <a:bodyPr wrap="squar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Low trust, high anxiety, strong resistance—nearly 1 in 5 people. Strategy: Don't push features or capabilities; address underlying anxiety and trust deficits first through relationship-building and transparency.</a:t>
            </a:r>
            <a:endParaRPr lang="en-US" sz="1150" dirty="0"/>
          </a:p>
        </p:txBody>
      </p:sp>
      <p:sp>
        <p:nvSpPr>
          <p:cNvPr id="28" name="Text 26"/>
          <p:cNvSpPr/>
          <p:nvPr/>
        </p:nvSpPr>
        <p:spPr>
          <a:xfrm>
            <a:off x="793790" y="5981938"/>
            <a:ext cx="13042821"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Practical Application:</a:t>
            </a:r>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Organizations can use AIRS-16 scores to identify which segment individuals fall into and design targeted interventions instead of generic, one-size-fits-all training programs.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815459"/>
            <a:ext cx="11254026"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Moderator Analysis #1: Experience Effects</a:t>
            </a:r>
            <a:endParaRPr lang="en-US" sz="4450" dirty="0"/>
          </a:p>
        </p:txBody>
      </p:sp>
      <p:sp>
        <p:nvSpPr>
          <p:cNvPr id="3" name="Text 1"/>
          <p:cNvSpPr/>
          <p:nvPr/>
        </p:nvSpPr>
        <p:spPr>
          <a:xfrm>
            <a:off x="793790" y="1614964"/>
            <a:ext cx="9148167"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Roboto Slab" pitchFamily="34" charset="0"/>
                <a:ea typeface="Roboto Slab" pitchFamily="34" charset="-122"/>
                <a:cs typeface="Roboto Slab" pitchFamily="34" charset="-120"/>
              </a:rPr>
              <a:t>Experience Moderates Hedonic Motivation</a:t>
            </a:r>
            <a:endParaRPr lang="en-US" sz="3550" dirty="0"/>
          </a:p>
        </p:txBody>
      </p:sp>
      <p:sp>
        <p:nvSpPr>
          <p:cNvPr id="4" name="Shape 2"/>
          <p:cNvSpPr/>
          <p:nvPr/>
        </p:nvSpPr>
        <p:spPr>
          <a:xfrm>
            <a:off x="793790" y="2522101"/>
            <a:ext cx="13042821" cy="1966198"/>
          </a:xfrm>
          <a:prstGeom prst="roundRect">
            <a:avLst>
              <a:gd name="adj" fmla="val 1730"/>
            </a:avLst>
          </a:prstGeom>
          <a:noFill/>
          <a:ln w="7620">
            <a:solidFill>
              <a:srgbClr val="000000">
                <a:alpha val="8000"/>
              </a:srgbClr>
            </a:solidFill>
            <a:prstDash val="solid"/>
          </a:ln>
        </p:spPr>
      </p:sp>
      <p:sp>
        <p:nvSpPr>
          <p:cNvPr id="5" name="Shape 3"/>
          <p:cNvSpPr/>
          <p:nvPr/>
        </p:nvSpPr>
        <p:spPr>
          <a:xfrm>
            <a:off x="801410" y="2529721"/>
            <a:ext cx="13027581" cy="650319"/>
          </a:xfrm>
          <a:prstGeom prst="rect">
            <a:avLst/>
          </a:prstGeom>
          <a:solidFill>
            <a:srgbClr val="FFFFFF">
              <a:alpha val="4000"/>
            </a:srgbClr>
          </a:solidFill>
          <a:ln/>
        </p:spPr>
      </p:sp>
      <p:sp>
        <p:nvSpPr>
          <p:cNvPr id="6" name="Text 4"/>
          <p:cNvSpPr/>
          <p:nvPr/>
        </p:nvSpPr>
        <p:spPr>
          <a:xfrm>
            <a:off x="1028462" y="2673429"/>
            <a:ext cx="4753570"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Interaction Term</a:t>
            </a:r>
            <a:endParaRPr lang="en-US" sz="1750" dirty="0"/>
          </a:p>
        </p:txBody>
      </p:sp>
      <p:sp>
        <p:nvSpPr>
          <p:cNvPr id="7" name="Text 5"/>
          <p:cNvSpPr/>
          <p:nvPr/>
        </p:nvSpPr>
        <p:spPr>
          <a:xfrm>
            <a:off x="6243280" y="2673429"/>
            <a:ext cx="2144197"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β</a:t>
            </a:r>
            <a:endParaRPr lang="en-US" sz="1750" dirty="0"/>
          </a:p>
        </p:txBody>
      </p:sp>
      <p:sp>
        <p:nvSpPr>
          <p:cNvPr id="8" name="Text 6"/>
          <p:cNvSpPr/>
          <p:nvPr/>
        </p:nvSpPr>
        <p:spPr>
          <a:xfrm>
            <a:off x="8848725" y="2673429"/>
            <a:ext cx="2144197"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p</a:t>
            </a:r>
            <a:endParaRPr lang="en-US" sz="1750" dirty="0"/>
          </a:p>
        </p:txBody>
      </p:sp>
      <p:sp>
        <p:nvSpPr>
          <p:cNvPr id="9" name="Text 7"/>
          <p:cNvSpPr/>
          <p:nvPr/>
        </p:nvSpPr>
        <p:spPr>
          <a:xfrm>
            <a:off x="11454170" y="2673429"/>
            <a:ext cx="2148007"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Result</a:t>
            </a:r>
            <a:endParaRPr lang="en-US" sz="1750" dirty="0"/>
          </a:p>
        </p:txBody>
      </p:sp>
      <p:sp>
        <p:nvSpPr>
          <p:cNvPr id="10" name="Shape 8"/>
          <p:cNvSpPr/>
          <p:nvPr/>
        </p:nvSpPr>
        <p:spPr>
          <a:xfrm>
            <a:off x="801410" y="3180040"/>
            <a:ext cx="13027581" cy="650319"/>
          </a:xfrm>
          <a:prstGeom prst="rect">
            <a:avLst/>
          </a:prstGeom>
          <a:solidFill>
            <a:srgbClr val="000000">
              <a:alpha val="4000"/>
            </a:srgbClr>
          </a:solidFill>
          <a:ln/>
        </p:spPr>
      </p:sp>
      <p:sp>
        <p:nvSpPr>
          <p:cNvPr id="11" name="Text 9"/>
          <p:cNvSpPr/>
          <p:nvPr/>
        </p:nvSpPr>
        <p:spPr>
          <a:xfrm>
            <a:off x="1028462" y="3323749"/>
            <a:ext cx="4753570"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Hedonic Motivation × Experience</a:t>
            </a:r>
            <a:endParaRPr lang="en-US" sz="1750" dirty="0"/>
          </a:p>
        </p:txBody>
      </p:sp>
      <p:sp>
        <p:nvSpPr>
          <p:cNvPr id="12" name="Text 10"/>
          <p:cNvSpPr/>
          <p:nvPr/>
        </p:nvSpPr>
        <p:spPr>
          <a:xfrm>
            <a:off x="6243280" y="3323749"/>
            <a:ext cx="2144197"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.136</a:t>
            </a:r>
            <a:endParaRPr lang="en-US" sz="1750" dirty="0"/>
          </a:p>
        </p:txBody>
      </p:sp>
      <p:sp>
        <p:nvSpPr>
          <p:cNvPr id="13" name="Text 11"/>
          <p:cNvSpPr/>
          <p:nvPr/>
        </p:nvSpPr>
        <p:spPr>
          <a:xfrm>
            <a:off x="8848725" y="3323749"/>
            <a:ext cx="2144197" cy="362903"/>
          </a:xfrm>
          <a:prstGeom prst="rect">
            <a:avLst/>
          </a:prstGeom>
          <a:noFill/>
          <a:ln/>
        </p:spPr>
        <p:txBody>
          <a:bodyPr wrap="none" lIns="0" tIns="0" rIns="0" bIns="0" rtlCol="0" anchor="t"/>
          <a:lstStyle/>
          <a:p>
            <a:pPr algn="l" indent="0" marL="0">
              <a:lnSpc>
                <a:spcPts val="2850"/>
              </a:lnSpc>
              <a:buNone/>
            </a:pPr>
            <a:r>
              <a:rPr lang="en-US" sz="1750" b="1" dirty="0">
                <a:solidFill>
                  <a:srgbClr val="3257B8"/>
                </a:solidFill>
                <a:latin typeface="Roboto" pitchFamily="34" charset="0"/>
                <a:ea typeface="Roboto" pitchFamily="34" charset="-122"/>
                <a:cs typeface="Roboto" pitchFamily="34" charset="-120"/>
              </a:rPr>
              <a:t>.009</a:t>
            </a:r>
            <a:endParaRPr lang="en-US" sz="1750" dirty="0"/>
          </a:p>
        </p:txBody>
      </p:sp>
      <p:sp>
        <p:nvSpPr>
          <p:cNvPr id="14" name="Text 12"/>
          <p:cNvSpPr/>
          <p:nvPr/>
        </p:nvSpPr>
        <p:spPr>
          <a:xfrm>
            <a:off x="11454170" y="3323749"/>
            <a:ext cx="2148007" cy="362903"/>
          </a:xfrm>
          <a:prstGeom prst="rect">
            <a:avLst/>
          </a:prstGeom>
          <a:noFill/>
          <a:ln/>
        </p:spPr>
        <p:txBody>
          <a:bodyPr wrap="none" lIns="0" tIns="0" rIns="0" bIns="0" rtlCol="0" anchor="t"/>
          <a:lstStyle/>
          <a:p>
            <a:pPr algn="l" indent="0" marL="0">
              <a:lnSpc>
                <a:spcPts val="2850"/>
              </a:lnSpc>
              <a:buNone/>
            </a:pPr>
            <a:r>
              <a:rPr lang="en-US" sz="1750" b="1" dirty="0">
                <a:solidFill>
                  <a:srgbClr val="3257B8"/>
                </a:solidFill>
                <a:latin typeface="Roboto" pitchFamily="34" charset="0"/>
                <a:ea typeface="Roboto" pitchFamily="34" charset="-122"/>
                <a:cs typeface="Roboto" pitchFamily="34" charset="-120"/>
              </a:rPr>
              <a:t>✓ Significant</a:t>
            </a:r>
            <a:endParaRPr lang="en-US" sz="1750" dirty="0"/>
          </a:p>
        </p:txBody>
      </p:sp>
      <p:sp>
        <p:nvSpPr>
          <p:cNvPr id="15" name="Shape 13"/>
          <p:cNvSpPr/>
          <p:nvPr/>
        </p:nvSpPr>
        <p:spPr>
          <a:xfrm>
            <a:off x="801410" y="3830360"/>
            <a:ext cx="13027581" cy="650319"/>
          </a:xfrm>
          <a:prstGeom prst="rect">
            <a:avLst/>
          </a:prstGeom>
          <a:solidFill>
            <a:srgbClr val="FFFFFF">
              <a:alpha val="4000"/>
            </a:srgbClr>
          </a:solidFill>
          <a:ln/>
        </p:spPr>
      </p:sp>
      <p:sp>
        <p:nvSpPr>
          <p:cNvPr id="16" name="Text 14"/>
          <p:cNvSpPr/>
          <p:nvPr/>
        </p:nvSpPr>
        <p:spPr>
          <a:xfrm>
            <a:off x="1028462" y="3974068"/>
            <a:ext cx="4753570"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Performance Expectancy × Experience</a:t>
            </a:r>
            <a:endParaRPr lang="en-US" sz="1750" dirty="0"/>
          </a:p>
        </p:txBody>
      </p:sp>
      <p:sp>
        <p:nvSpPr>
          <p:cNvPr id="17" name="Text 15"/>
          <p:cNvSpPr/>
          <p:nvPr/>
        </p:nvSpPr>
        <p:spPr>
          <a:xfrm>
            <a:off x="6243280" y="3974068"/>
            <a:ext cx="2144197"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.112</a:t>
            </a:r>
            <a:endParaRPr lang="en-US" sz="1750" dirty="0"/>
          </a:p>
        </p:txBody>
      </p:sp>
      <p:sp>
        <p:nvSpPr>
          <p:cNvPr id="18" name="Text 16"/>
          <p:cNvSpPr/>
          <p:nvPr/>
        </p:nvSpPr>
        <p:spPr>
          <a:xfrm>
            <a:off x="8848725" y="3974068"/>
            <a:ext cx="2144197"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.055</a:t>
            </a:r>
            <a:endParaRPr lang="en-US" sz="1750" dirty="0"/>
          </a:p>
        </p:txBody>
      </p:sp>
      <p:sp>
        <p:nvSpPr>
          <p:cNvPr id="19" name="Text 17"/>
          <p:cNvSpPr/>
          <p:nvPr/>
        </p:nvSpPr>
        <p:spPr>
          <a:xfrm>
            <a:off x="11454170" y="3974068"/>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Marginal</a:t>
            </a:r>
            <a:endParaRPr lang="en-US" sz="1750" dirty="0"/>
          </a:p>
        </p:txBody>
      </p:sp>
      <p:sp>
        <p:nvSpPr>
          <p:cNvPr id="20" name="Shape 18"/>
          <p:cNvSpPr/>
          <p:nvPr/>
        </p:nvSpPr>
        <p:spPr>
          <a:xfrm>
            <a:off x="793790" y="4743450"/>
            <a:ext cx="13042821" cy="1326713"/>
          </a:xfrm>
          <a:prstGeom prst="roundRect">
            <a:avLst>
              <a:gd name="adj" fmla="val 2565"/>
            </a:avLst>
          </a:prstGeom>
          <a:solidFill>
            <a:srgbClr val="C3CFEF"/>
          </a:solidFill>
          <a:ln/>
        </p:spPr>
      </p:sp>
      <p:pic>
        <p:nvPicPr>
          <p:cNvPr id="21" name="Image 0" descr="preencoded.png">    </p:cNvPr>
          <p:cNvPicPr>
            <a:picLocks noChangeAspect="1"/>
          </p:cNvPicPr>
          <p:nvPr/>
        </p:nvPicPr>
        <p:blipFill>
          <a:blip r:embed="rId1"/>
          <a:stretch>
            <a:fillRect/>
          </a:stretch>
        </p:blipFill>
        <p:spPr>
          <a:xfrm>
            <a:off x="1020604" y="5087541"/>
            <a:ext cx="283488" cy="226814"/>
          </a:xfrm>
          <a:prstGeom prst="rect">
            <a:avLst/>
          </a:prstGeom>
        </p:spPr>
      </p:pic>
      <p:sp>
        <p:nvSpPr>
          <p:cNvPr id="22" name="Text 19"/>
          <p:cNvSpPr/>
          <p:nvPr/>
        </p:nvSpPr>
        <p:spPr>
          <a:xfrm>
            <a:off x="1530906" y="5026938"/>
            <a:ext cx="12078891" cy="725805"/>
          </a:xfrm>
          <a:prstGeom prst="rect">
            <a:avLst/>
          </a:prstGeom>
          <a:noFill/>
          <a:ln/>
        </p:spPr>
        <p:txBody>
          <a:bodyPr wrap="square" lIns="0" tIns="0" rIns="0" bIns="0" rtlCol="0" anchor="t"/>
          <a:lstStyle/>
          <a:p>
            <a:pPr algn="l" indent="0" marL="0">
              <a:lnSpc>
                <a:spcPts val="2850"/>
              </a:lnSpc>
              <a:buNone/>
            </a:pPr>
            <a:r>
              <a:rPr lang="en-US" sz="1750" b="1" dirty="0">
                <a:solidFill>
                  <a:srgbClr val="000000"/>
                </a:solidFill>
                <a:latin typeface="Roboto" pitchFamily="34" charset="0"/>
                <a:ea typeface="Roboto" pitchFamily="34" charset="-122"/>
                <a:cs typeface="Roboto" pitchFamily="34" charset="-120"/>
              </a:rPr>
              <a:t>Counterintuitive Finding:</a:t>
            </a:r>
            <a:pPr algn="l" indent="0" marL="0">
              <a:lnSpc>
                <a:spcPts val="2850"/>
              </a:lnSpc>
              <a:buNone/>
            </a:pPr>
            <a:r>
              <a:rPr lang="en-US" sz="1750" dirty="0">
                <a:solidFill>
                  <a:srgbClr val="000000"/>
                </a:solidFill>
                <a:latin typeface="Roboto" pitchFamily="34" charset="0"/>
                <a:ea typeface="Roboto" pitchFamily="34" charset="-122"/>
                <a:cs typeface="Roboto" pitchFamily="34" charset="-120"/>
              </a:rPr>
              <a:t> Experienced professionals (4+ years of work experience) weight enjoyment and engagement </a:t>
            </a:r>
            <a:pPr algn="l" indent="0" marL="0">
              <a:lnSpc>
                <a:spcPts val="2850"/>
              </a:lnSpc>
              <a:buNone/>
            </a:pPr>
            <a:r>
              <a:rPr lang="en-US" sz="1750" i="1" dirty="0">
                <a:solidFill>
                  <a:srgbClr val="000000"/>
                </a:solidFill>
                <a:latin typeface="Roboto" pitchFamily="34" charset="0"/>
                <a:ea typeface="Roboto" pitchFamily="34" charset="-122"/>
                <a:cs typeface="Roboto" pitchFamily="34" charset="-120"/>
              </a:rPr>
              <a:t>more</a:t>
            </a:r>
            <a:pPr algn="l" indent="0" marL="0">
              <a:lnSpc>
                <a:spcPts val="2850"/>
              </a:lnSpc>
              <a:buNone/>
            </a:pPr>
            <a:r>
              <a:rPr lang="en-US" sz="1750" dirty="0">
                <a:solidFill>
                  <a:srgbClr val="000000"/>
                </a:solidFill>
                <a:latin typeface="Roboto" pitchFamily="34" charset="0"/>
                <a:ea typeface="Roboto" pitchFamily="34" charset="-122"/>
                <a:cs typeface="Roboto" pitchFamily="34" charset="-120"/>
              </a:rPr>
              <a:t> heavily in their AI adoption decisions, not less.</a:t>
            </a:r>
            <a:endParaRPr lang="en-US" sz="1750" dirty="0"/>
          </a:p>
        </p:txBody>
      </p:sp>
      <p:sp>
        <p:nvSpPr>
          <p:cNvPr id="23" name="Text 20"/>
          <p:cNvSpPr/>
          <p:nvPr/>
        </p:nvSpPr>
        <p:spPr>
          <a:xfrm>
            <a:off x="793790" y="6325314"/>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This contradicts the expectation that experienced users would be purely pragmatic. The data suggest that professionals who have used multiple technologies over time have learned that if a tool isn't enjoyable to use, they won't sustain engagement with it regardless of its purported productivity benefits. Enjoyment becomes a proxy for long-term usability.</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838319"/>
            <a:ext cx="11789569" cy="673418"/>
          </a:xfrm>
          <a:prstGeom prst="rect">
            <a:avLst/>
          </a:prstGeom>
          <a:noFill/>
          <a:ln/>
        </p:spPr>
        <p:txBody>
          <a:bodyPr wrap="none" lIns="0" tIns="0" rIns="0" bIns="0" rtlCol="0" anchor="t"/>
          <a:lstStyle/>
          <a:p>
            <a:pPr algn="l" indent="0" marL="0">
              <a:lnSpc>
                <a:spcPts val="5300"/>
              </a:lnSpc>
              <a:buNone/>
            </a:pPr>
            <a:r>
              <a:rPr lang="en-US" sz="4200" dirty="0">
                <a:solidFill>
                  <a:srgbClr val="3257B8"/>
                </a:solidFill>
                <a:latin typeface="Roboto Slab" pitchFamily="34" charset="0"/>
                <a:ea typeface="Roboto Slab" pitchFamily="34" charset="-122"/>
                <a:cs typeface="Roboto Slab" pitchFamily="34" charset="-120"/>
              </a:rPr>
              <a:t>Moderator Analysis #2: Population Differences</a:t>
            </a:r>
            <a:endParaRPr lang="en-US" sz="4200" dirty="0"/>
          </a:p>
        </p:txBody>
      </p:sp>
      <p:sp>
        <p:nvSpPr>
          <p:cNvPr id="3" name="Text 1"/>
          <p:cNvSpPr/>
          <p:nvPr/>
        </p:nvSpPr>
        <p:spPr>
          <a:xfrm>
            <a:off x="793790" y="1597819"/>
            <a:ext cx="7225189" cy="538758"/>
          </a:xfrm>
          <a:prstGeom prst="rect">
            <a:avLst/>
          </a:prstGeom>
          <a:noFill/>
          <a:ln/>
        </p:spPr>
        <p:txBody>
          <a:bodyPr wrap="none" lIns="0" tIns="0" rIns="0" bIns="0" rtlCol="0" anchor="t"/>
          <a:lstStyle/>
          <a:p>
            <a:pPr algn="l" indent="0" marL="0">
              <a:lnSpc>
                <a:spcPts val="4200"/>
              </a:lnSpc>
              <a:buNone/>
            </a:pPr>
            <a:r>
              <a:rPr lang="en-US" sz="3350" dirty="0">
                <a:solidFill>
                  <a:srgbClr val="3257B8"/>
                </a:solidFill>
                <a:latin typeface="Roboto Slab" pitchFamily="34" charset="0"/>
                <a:ea typeface="Roboto Slab" pitchFamily="34" charset="-122"/>
                <a:cs typeface="Roboto Slab" pitchFamily="34" charset="-120"/>
              </a:rPr>
              <a:t>Academic vs. Professional Contexts</a:t>
            </a:r>
            <a:endParaRPr lang="en-US" sz="3350" dirty="0"/>
          </a:p>
        </p:txBody>
      </p:sp>
      <p:sp>
        <p:nvSpPr>
          <p:cNvPr id="4" name="Shape 2"/>
          <p:cNvSpPr/>
          <p:nvPr/>
        </p:nvSpPr>
        <p:spPr>
          <a:xfrm>
            <a:off x="793790" y="2702123"/>
            <a:ext cx="7615357" cy="2286476"/>
          </a:xfrm>
          <a:prstGeom prst="roundRect">
            <a:avLst>
              <a:gd name="adj" fmla="val 1414"/>
            </a:avLst>
          </a:prstGeom>
          <a:noFill/>
          <a:ln w="7620">
            <a:solidFill>
              <a:srgbClr val="000000">
                <a:alpha val="8000"/>
              </a:srgbClr>
            </a:solidFill>
            <a:prstDash val="solid"/>
          </a:ln>
        </p:spPr>
      </p:sp>
      <p:sp>
        <p:nvSpPr>
          <p:cNvPr id="5" name="Shape 3"/>
          <p:cNvSpPr/>
          <p:nvPr/>
        </p:nvSpPr>
        <p:spPr>
          <a:xfrm>
            <a:off x="801410" y="2709743"/>
            <a:ext cx="7600117" cy="963216"/>
          </a:xfrm>
          <a:prstGeom prst="rect">
            <a:avLst/>
          </a:prstGeom>
          <a:solidFill>
            <a:srgbClr val="FFFFFF">
              <a:alpha val="4000"/>
            </a:srgbClr>
          </a:solidFill>
          <a:ln/>
        </p:spPr>
      </p:sp>
      <p:sp>
        <p:nvSpPr>
          <p:cNvPr id="6" name="Text 4"/>
          <p:cNvSpPr/>
          <p:nvPr/>
        </p:nvSpPr>
        <p:spPr>
          <a:xfrm>
            <a:off x="1017151" y="2846546"/>
            <a:ext cx="1085374" cy="689610"/>
          </a:xfrm>
          <a:prstGeom prst="rect">
            <a:avLst/>
          </a:prstGeom>
          <a:noFill/>
          <a:ln/>
        </p:spPr>
        <p:txBody>
          <a:bodyPr wrap="squar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Relationship Path</a:t>
            </a:r>
            <a:endParaRPr lang="en-US" sz="1650" dirty="0"/>
          </a:p>
        </p:txBody>
      </p:sp>
      <p:sp>
        <p:nvSpPr>
          <p:cNvPr id="7" name="Text 5"/>
          <p:cNvSpPr/>
          <p:nvPr/>
        </p:nvSpPr>
        <p:spPr>
          <a:xfrm>
            <a:off x="2540913" y="2846546"/>
            <a:ext cx="1081564" cy="689610"/>
          </a:xfrm>
          <a:prstGeom prst="rect">
            <a:avLst/>
          </a:prstGeom>
          <a:noFill/>
          <a:ln/>
        </p:spPr>
        <p:txBody>
          <a:bodyPr wrap="squar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Academic β</a:t>
            </a:r>
            <a:endParaRPr lang="en-US" sz="1650" dirty="0"/>
          </a:p>
        </p:txBody>
      </p:sp>
      <p:sp>
        <p:nvSpPr>
          <p:cNvPr id="8" name="Text 6"/>
          <p:cNvSpPr/>
          <p:nvPr/>
        </p:nvSpPr>
        <p:spPr>
          <a:xfrm>
            <a:off x="4060865" y="2846546"/>
            <a:ext cx="1081564" cy="689610"/>
          </a:xfrm>
          <a:prstGeom prst="rect">
            <a:avLst/>
          </a:prstGeom>
          <a:noFill/>
          <a:ln/>
        </p:spPr>
        <p:txBody>
          <a:bodyPr wrap="squar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Professional β</a:t>
            </a:r>
            <a:endParaRPr lang="en-US" sz="1650" dirty="0"/>
          </a:p>
        </p:txBody>
      </p:sp>
      <p:sp>
        <p:nvSpPr>
          <p:cNvPr id="9" name="Text 7"/>
          <p:cNvSpPr/>
          <p:nvPr/>
        </p:nvSpPr>
        <p:spPr>
          <a:xfrm>
            <a:off x="5580817" y="2846546"/>
            <a:ext cx="1081564" cy="344805"/>
          </a:xfrm>
          <a:prstGeom prst="rect">
            <a:avLst/>
          </a:prstGeom>
          <a:noFill/>
          <a:ln/>
        </p:spPr>
        <p:txBody>
          <a:bodyPr wrap="non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Δβ</a:t>
            </a:r>
            <a:endParaRPr lang="en-US" sz="1650" dirty="0"/>
          </a:p>
        </p:txBody>
      </p:sp>
      <p:sp>
        <p:nvSpPr>
          <p:cNvPr id="10" name="Text 8"/>
          <p:cNvSpPr/>
          <p:nvPr/>
        </p:nvSpPr>
        <p:spPr>
          <a:xfrm>
            <a:off x="7100768" y="2846546"/>
            <a:ext cx="1085374" cy="344805"/>
          </a:xfrm>
          <a:prstGeom prst="rect">
            <a:avLst/>
          </a:prstGeom>
          <a:noFill/>
          <a:ln/>
        </p:spPr>
        <p:txBody>
          <a:bodyPr wrap="non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p</a:t>
            </a:r>
            <a:endParaRPr lang="en-US" sz="1650" dirty="0"/>
          </a:p>
        </p:txBody>
      </p:sp>
      <p:sp>
        <p:nvSpPr>
          <p:cNvPr id="11" name="Shape 9"/>
          <p:cNvSpPr/>
          <p:nvPr/>
        </p:nvSpPr>
        <p:spPr>
          <a:xfrm>
            <a:off x="801410" y="3672959"/>
            <a:ext cx="7600117" cy="1308021"/>
          </a:xfrm>
          <a:prstGeom prst="rect">
            <a:avLst/>
          </a:prstGeom>
          <a:solidFill>
            <a:srgbClr val="000000">
              <a:alpha val="4000"/>
            </a:srgbClr>
          </a:solidFill>
          <a:ln/>
        </p:spPr>
      </p:sp>
      <p:sp>
        <p:nvSpPr>
          <p:cNvPr id="12" name="Text 10"/>
          <p:cNvSpPr/>
          <p:nvPr/>
        </p:nvSpPr>
        <p:spPr>
          <a:xfrm>
            <a:off x="1017151" y="3809762"/>
            <a:ext cx="1085374" cy="1034415"/>
          </a:xfrm>
          <a:prstGeom prst="rect">
            <a:avLst/>
          </a:prstGeom>
          <a:noFill/>
          <a:ln/>
        </p:spPr>
        <p:txBody>
          <a:bodyPr wrap="squar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Hedonic Motivation → BI</a:t>
            </a:r>
            <a:endParaRPr lang="en-US" sz="1650" dirty="0"/>
          </a:p>
        </p:txBody>
      </p:sp>
      <p:sp>
        <p:nvSpPr>
          <p:cNvPr id="13" name="Text 11"/>
          <p:cNvSpPr/>
          <p:nvPr/>
        </p:nvSpPr>
        <p:spPr>
          <a:xfrm>
            <a:off x="2540913" y="3809762"/>
            <a:ext cx="1081564" cy="344805"/>
          </a:xfrm>
          <a:prstGeom prst="rect">
            <a:avLst/>
          </a:prstGeom>
          <a:noFill/>
          <a:ln/>
        </p:spPr>
        <p:txBody>
          <a:bodyPr wrap="none" lIns="0" tIns="0" rIns="0" bIns="0" rtlCol="0" anchor="t"/>
          <a:lstStyle/>
          <a:p>
            <a:pPr algn="l" indent="0" marL="0">
              <a:lnSpc>
                <a:spcPts val="2700"/>
              </a:lnSpc>
              <a:buNone/>
            </a:pPr>
            <a:r>
              <a:rPr lang="en-US" sz="1650" b="1" dirty="0">
                <a:solidFill>
                  <a:srgbClr val="3257B8"/>
                </a:solidFill>
                <a:latin typeface="Roboto" pitchFamily="34" charset="0"/>
                <a:ea typeface="Roboto" pitchFamily="34" charset="-122"/>
                <a:cs typeface="Roboto" pitchFamily="34" charset="-120"/>
              </a:rPr>
              <a:t>.449</a:t>
            </a:r>
            <a:endParaRPr lang="en-US" sz="1650" dirty="0"/>
          </a:p>
        </p:txBody>
      </p:sp>
      <p:sp>
        <p:nvSpPr>
          <p:cNvPr id="14" name="Text 12"/>
          <p:cNvSpPr/>
          <p:nvPr/>
        </p:nvSpPr>
        <p:spPr>
          <a:xfrm>
            <a:off x="4060865" y="3809762"/>
            <a:ext cx="1081564"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−.301</a:t>
            </a:r>
            <a:endParaRPr lang="en-US" sz="1650" dirty="0"/>
          </a:p>
        </p:txBody>
      </p:sp>
      <p:sp>
        <p:nvSpPr>
          <p:cNvPr id="15" name="Text 13"/>
          <p:cNvSpPr/>
          <p:nvPr/>
        </p:nvSpPr>
        <p:spPr>
          <a:xfrm>
            <a:off x="5580817" y="3809762"/>
            <a:ext cx="1081564"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−.750</a:t>
            </a:r>
            <a:endParaRPr lang="en-US" sz="1650" dirty="0"/>
          </a:p>
        </p:txBody>
      </p:sp>
      <p:sp>
        <p:nvSpPr>
          <p:cNvPr id="16" name="Text 14"/>
          <p:cNvSpPr/>
          <p:nvPr/>
        </p:nvSpPr>
        <p:spPr>
          <a:xfrm>
            <a:off x="7100768" y="3809762"/>
            <a:ext cx="1085374" cy="344805"/>
          </a:xfrm>
          <a:prstGeom prst="rect">
            <a:avLst/>
          </a:prstGeom>
          <a:noFill/>
          <a:ln/>
        </p:spPr>
        <p:txBody>
          <a:bodyPr wrap="none" lIns="0" tIns="0" rIns="0" bIns="0" rtlCol="0" anchor="t"/>
          <a:lstStyle/>
          <a:p>
            <a:pPr algn="l" indent="0" marL="0">
              <a:lnSpc>
                <a:spcPts val="2700"/>
              </a:lnSpc>
              <a:buNone/>
            </a:pPr>
            <a:r>
              <a:rPr lang="en-US" sz="1650" b="1" dirty="0">
                <a:solidFill>
                  <a:srgbClr val="3257B8"/>
                </a:solidFill>
                <a:latin typeface="Roboto" pitchFamily="34" charset="0"/>
                <a:ea typeface="Roboto" pitchFamily="34" charset="-122"/>
                <a:cs typeface="Roboto" pitchFamily="34" charset="-120"/>
              </a:rPr>
              <a:t>.041</a:t>
            </a:r>
            <a:endParaRPr lang="en-US" sz="1650" dirty="0"/>
          </a:p>
        </p:txBody>
      </p:sp>
      <p:sp>
        <p:nvSpPr>
          <p:cNvPr id="17" name="Text 15"/>
          <p:cNvSpPr/>
          <p:nvPr/>
        </p:nvSpPr>
        <p:spPr>
          <a:xfrm>
            <a:off x="793790" y="5231011"/>
            <a:ext cx="7615357" cy="1034415"/>
          </a:xfrm>
          <a:prstGeom prst="rect">
            <a:avLst/>
          </a:prstGeom>
          <a:noFill/>
          <a:ln/>
        </p:spPr>
        <p:txBody>
          <a:bodyPr wrap="squar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For academic populations, hedonic motivation shows a strong positive effect (β = .449). For professional populations, the effect reverses and becomes negative (β = −.301). The difference of .750 is statistically significant at p = .041.</a:t>
            </a:r>
            <a:endParaRPr lang="en-US" sz="1650" dirty="0"/>
          </a:p>
        </p:txBody>
      </p:sp>
      <p:sp>
        <p:nvSpPr>
          <p:cNvPr id="18" name="Text 16"/>
          <p:cNvSpPr/>
          <p:nvPr/>
        </p:nvSpPr>
        <p:spPr>
          <a:xfrm>
            <a:off x="8942546" y="2675096"/>
            <a:ext cx="3427571" cy="403979"/>
          </a:xfrm>
          <a:prstGeom prst="rect">
            <a:avLst/>
          </a:prstGeom>
          <a:noFill/>
          <a:ln/>
        </p:spPr>
        <p:txBody>
          <a:bodyPr wrap="none" lIns="0" tIns="0" rIns="0" bIns="0" rtlCol="0" anchor="t"/>
          <a:lstStyle/>
          <a:p>
            <a:pPr algn="l" indent="0" marL="0">
              <a:lnSpc>
                <a:spcPts val="3150"/>
              </a:lnSpc>
              <a:buNone/>
            </a:pPr>
            <a:r>
              <a:rPr lang="en-US" sz="2500" dirty="0">
                <a:solidFill>
                  <a:srgbClr val="3257B8"/>
                </a:solidFill>
                <a:latin typeface="Roboto Slab" pitchFamily="34" charset="0"/>
                <a:ea typeface="Roboto Slab" pitchFamily="34" charset="-122"/>
                <a:cs typeface="Roboto Slab" pitchFamily="34" charset="-120"/>
              </a:rPr>
              <a:t>Cultural Interpretation</a:t>
            </a:r>
            <a:endParaRPr lang="en-US" sz="2500" dirty="0"/>
          </a:p>
        </p:txBody>
      </p:sp>
      <p:sp>
        <p:nvSpPr>
          <p:cNvPr id="19" name="Text 17"/>
          <p:cNvSpPr/>
          <p:nvPr/>
        </p:nvSpPr>
        <p:spPr>
          <a:xfrm>
            <a:off x="8942546" y="3294459"/>
            <a:ext cx="4901565" cy="1034415"/>
          </a:xfrm>
          <a:prstGeom prst="rect">
            <a:avLst/>
          </a:prstGeom>
          <a:noFill/>
          <a:ln/>
        </p:spPr>
        <p:txBody>
          <a:bodyPr wrap="squar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In academic contexts, enjoying your tools is culturally acceptable and even valued—learning should be engaging.</a:t>
            </a:r>
            <a:endParaRPr lang="en-US" sz="1650" dirty="0"/>
          </a:p>
        </p:txBody>
      </p:sp>
      <p:sp>
        <p:nvSpPr>
          <p:cNvPr id="20" name="Text 18"/>
          <p:cNvSpPr/>
          <p:nvPr/>
        </p:nvSpPr>
        <p:spPr>
          <a:xfrm>
            <a:off x="8942546" y="4522708"/>
            <a:ext cx="4901565" cy="1379220"/>
          </a:xfrm>
          <a:prstGeom prst="rect">
            <a:avLst/>
          </a:prstGeom>
          <a:noFill/>
          <a:ln/>
        </p:spPr>
        <p:txBody>
          <a:bodyPr wrap="squar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In professional contexts, there may be organizational norms that work tools shouldn't be "fun"—if you're enjoying it, perhaps you're not being serious about your work.</a:t>
            </a:r>
            <a:endParaRPr lang="en-US" sz="1650" dirty="0"/>
          </a:p>
        </p:txBody>
      </p:sp>
      <p:sp>
        <p:nvSpPr>
          <p:cNvPr id="21" name="Text 19"/>
          <p:cNvSpPr/>
          <p:nvPr/>
        </p:nvSpPr>
        <p:spPr>
          <a:xfrm>
            <a:off x="793790" y="6701671"/>
            <a:ext cx="13042821" cy="689610"/>
          </a:xfrm>
          <a:prstGeom prst="rect">
            <a:avLst/>
          </a:prstGeom>
          <a:noFill/>
          <a:ln/>
        </p:spPr>
        <p:txBody>
          <a:bodyPr wrap="squar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Practical Implication:</a:t>
            </a:r>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Organizations must adapt their AI messaging based on organizational culture. Academic institutions can emphasize engagement and enjoyment; corporate environments may need to emphasize professionalism and serious business value.</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74502" y="719614"/>
            <a:ext cx="4092654" cy="449461"/>
          </a:xfrm>
          <a:prstGeom prst="rect">
            <a:avLst/>
          </a:prstGeom>
          <a:noFill/>
          <a:ln/>
        </p:spPr>
        <p:txBody>
          <a:bodyPr wrap="none" lIns="0" tIns="0" rIns="0" bIns="0" rtlCol="0" anchor="t"/>
          <a:lstStyle/>
          <a:p>
            <a:pPr algn="l" indent="0" marL="0">
              <a:lnSpc>
                <a:spcPts val="3500"/>
              </a:lnSpc>
              <a:buNone/>
            </a:pPr>
            <a:r>
              <a:rPr lang="en-US" sz="2800" dirty="0">
                <a:solidFill>
                  <a:srgbClr val="3257B8"/>
                </a:solidFill>
                <a:latin typeface="Roboto Slab" pitchFamily="34" charset="0"/>
                <a:ea typeface="Roboto Slab" pitchFamily="34" charset="-122"/>
                <a:cs typeface="Roboto Slab" pitchFamily="34" charset="-120"/>
              </a:rPr>
              <a:t>The AIRS-16 Instrument</a:t>
            </a:r>
            <a:endParaRPr lang="en-US" sz="2800" dirty="0"/>
          </a:p>
        </p:txBody>
      </p:sp>
      <p:sp>
        <p:nvSpPr>
          <p:cNvPr id="3" name="Text 1"/>
          <p:cNvSpPr/>
          <p:nvPr/>
        </p:nvSpPr>
        <p:spPr>
          <a:xfrm>
            <a:off x="774502" y="1226582"/>
            <a:ext cx="5797868" cy="359569"/>
          </a:xfrm>
          <a:prstGeom prst="rect">
            <a:avLst/>
          </a:prstGeom>
          <a:noFill/>
          <a:ln/>
        </p:spPr>
        <p:txBody>
          <a:bodyPr wrap="none" lIns="0" tIns="0" rIns="0" bIns="0" rtlCol="0" anchor="t"/>
          <a:lstStyle/>
          <a:p>
            <a:pPr algn="l" indent="0" marL="0">
              <a:lnSpc>
                <a:spcPts val="2800"/>
              </a:lnSpc>
              <a:buNone/>
            </a:pPr>
            <a:r>
              <a:rPr lang="en-US" sz="2250" dirty="0">
                <a:solidFill>
                  <a:srgbClr val="3257B8"/>
                </a:solidFill>
                <a:latin typeface="Roboto Slab" pitchFamily="34" charset="0"/>
                <a:ea typeface="Roboto Slab" pitchFamily="34" charset="-122"/>
                <a:cs typeface="Roboto Slab" pitchFamily="34" charset="-120"/>
              </a:rPr>
              <a:t>Validated 8-Factor, 16-Item Diagnostic Tool</a:t>
            </a:r>
            <a:endParaRPr lang="en-US" sz="2250" dirty="0"/>
          </a:p>
        </p:txBody>
      </p:sp>
      <p:sp>
        <p:nvSpPr>
          <p:cNvPr id="4" name="Shape 2"/>
          <p:cNvSpPr/>
          <p:nvPr/>
        </p:nvSpPr>
        <p:spPr>
          <a:xfrm>
            <a:off x="774502" y="1801892"/>
            <a:ext cx="13081397" cy="4694396"/>
          </a:xfrm>
          <a:prstGeom prst="roundRect">
            <a:avLst>
              <a:gd name="adj" fmla="val 460"/>
            </a:avLst>
          </a:prstGeom>
          <a:noFill/>
          <a:ln w="7620">
            <a:solidFill>
              <a:srgbClr val="000000">
                <a:alpha val="8000"/>
              </a:srgbClr>
            </a:solidFill>
            <a:prstDash val="solid"/>
          </a:ln>
        </p:spPr>
      </p:sp>
      <p:sp>
        <p:nvSpPr>
          <p:cNvPr id="5" name="Shape 3"/>
          <p:cNvSpPr/>
          <p:nvPr/>
        </p:nvSpPr>
        <p:spPr>
          <a:xfrm>
            <a:off x="782122" y="1809512"/>
            <a:ext cx="13066157" cy="417671"/>
          </a:xfrm>
          <a:prstGeom prst="rect">
            <a:avLst/>
          </a:prstGeom>
          <a:solidFill>
            <a:srgbClr val="FFFFFF">
              <a:alpha val="4000"/>
            </a:srgbClr>
          </a:solidFill>
          <a:ln/>
        </p:spPr>
      </p:sp>
      <p:sp>
        <p:nvSpPr>
          <p:cNvPr id="6" name="Text 4"/>
          <p:cNvSpPr/>
          <p:nvPr/>
        </p:nvSpPr>
        <p:spPr>
          <a:xfrm>
            <a:off x="926187" y="1903333"/>
            <a:ext cx="2975015" cy="230029"/>
          </a:xfrm>
          <a:prstGeom prst="rect">
            <a:avLst/>
          </a:prstGeom>
          <a:noFill/>
          <a:ln/>
        </p:spPr>
        <p:txBody>
          <a:bodyPr wrap="none" lIns="0" tIns="0" rIns="0" bIns="0" rtlCol="0" anchor="t"/>
          <a:lstStyle/>
          <a:p>
            <a:pPr algn="l" indent="0" marL="0">
              <a:lnSpc>
                <a:spcPts val="1800"/>
              </a:lnSpc>
              <a:buNone/>
            </a:pPr>
            <a:r>
              <a:rPr lang="en-US" sz="1100" b="1" dirty="0">
                <a:solidFill>
                  <a:srgbClr val="15213F"/>
                </a:solidFill>
                <a:latin typeface="Roboto" pitchFamily="34" charset="0"/>
                <a:ea typeface="Roboto" pitchFamily="34" charset="-122"/>
                <a:cs typeface="Roboto" pitchFamily="34" charset="-120"/>
              </a:rPr>
              <a:t>Factor</a:t>
            </a:r>
            <a:endParaRPr lang="en-US" sz="1100" dirty="0"/>
          </a:p>
        </p:txBody>
      </p:sp>
      <p:sp>
        <p:nvSpPr>
          <p:cNvPr id="7" name="Text 5"/>
          <p:cNvSpPr/>
          <p:nvPr/>
        </p:nvSpPr>
        <p:spPr>
          <a:xfrm>
            <a:off x="4196477" y="1903333"/>
            <a:ext cx="2971205" cy="230029"/>
          </a:xfrm>
          <a:prstGeom prst="rect">
            <a:avLst/>
          </a:prstGeom>
          <a:noFill/>
          <a:ln/>
        </p:spPr>
        <p:txBody>
          <a:bodyPr wrap="none" lIns="0" tIns="0" rIns="0" bIns="0" rtlCol="0" anchor="t"/>
          <a:lstStyle/>
          <a:p>
            <a:pPr algn="l" indent="0" marL="0">
              <a:lnSpc>
                <a:spcPts val="1800"/>
              </a:lnSpc>
              <a:buNone/>
            </a:pPr>
            <a:r>
              <a:rPr lang="en-US" sz="1100" b="1" dirty="0">
                <a:solidFill>
                  <a:srgbClr val="15213F"/>
                </a:solidFill>
                <a:latin typeface="Roboto" pitchFamily="34" charset="0"/>
                <a:ea typeface="Roboto" pitchFamily="34" charset="-122"/>
                <a:cs typeface="Roboto" pitchFamily="34" charset="-120"/>
              </a:rPr>
              <a:t>Items</a:t>
            </a:r>
            <a:endParaRPr lang="en-US" sz="1100" dirty="0"/>
          </a:p>
        </p:txBody>
      </p:sp>
      <p:sp>
        <p:nvSpPr>
          <p:cNvPr id="8" name="Text 6"/>
          <p:cNvSpPr/>
          <p:nvPr/>
        </p:nvSpPr>
        <p:spPr>
          <a:xfrm>
            <a:off x="7462957" y="1903333"/>
            <a:ext cx="2971205" cy="230029"/>
          </a:xfrm>
          <a:prstGeom prst="rect">
            <a:avLst/>
          </a:prstGeom>
          <a:noFill/>
          <a:ln/>
        </p:spPr>
        <p:txBody>
          <a:bodyPr wrap="none" lIns="0" tIns="0" rIns="0" bIns="0" rtlCol="0" anchor="t"/>
          <a:lstStyle/>
          <a:p>
            <a:pPr algn="l" indent="0" marL="0">
              <a:lnSpc>
                <a:spcPts val="1800"/>
              </a:lnSpc>
              <a:buNone/>
            </a:pPr>
            <a:r>
              <a:rPr lang="en-US" sz="1100" b="1" dirty="0">
                <a:solidFill>
                  <a:srgbClr val="15213F"/>
                </a:solidFill>
                <a:latin typeface="Roboto" pitchFamily="34" charset="0"/>
                <a:ea typeface="Roboto" pitchFamily="34" charset="-122"/>
                <a:cs typeface="Roboto" pitchFamily="34" charset="-120"/>
              </a:rPr>
              <a:t>Reliability (α)</a:t>
            </a:r>
            <a:endParaRPr lang="en-US" sz="1100" dirty="0"/>
          </a:p>
        </p:txBody>
      </p:sp>
      <p:sp>
        <p:nvSpPr>
          <p:cNvPr id="9" name="Text 7"/>
          <p:cNvSpPr/>
          <p:nvPr/>
        </p:nvSpPr>
        <p:spPr>
          <a:xfrm>
            <a:off x="10729436" y="1903333"/>
            <a:ext cx="2975015" cy="230029"/>
          </a:xfrm>
          <a:prstGeom prst="rect">
            <a:avLst/>
          </a:prstGeom>
          <a:noFill/>
          <a:ln/>
        </p:spPr>
        <p:txBody>
          <a:bodyPr wrap="none" lIns="0" tIns="0" rIns="0" bIns="0" rtlCol="0" anchor="t"/>
          <a:lstStyle/>
          <a:p>
            <a:pPr algn="l" indent="0" marL="0">
              <a:lnSpc>
                <a:spcPts val="1800"/>
              </a:lnSpc>
              <a:buNone/>
            </a:pPr>
            <a:r>
              <a:rPr lang="en-US" sz="1100" b="1" dirty="0">
                <a:solidFill>
                  <a:srgbClr val="15213F"/>
                </a:solidFill>
                <a:latin typeface="Roboto" pitchFamily="34" charset="0"/>
                <a:ea typeface="Roboto" pitchFamily="34" charset="-122"/>
                <a:cs typeface="Roboto" pitchFamily="34" charset="-120"/>
              </a:rPr>
              <a:t>Purpose</a:t>
            </a:r>
            <a:endParaRPr lang="en-US" sz="1100" dirty="0"/>
          </a:p>
        </p:txBody>
      </p:sp>
      <p:sp>
        <p:nvSpPr>
          <p:cNvPr id="10" name="Shape 8"/>
          <p:cNvSpPr/>
          <p:nvPr/>
        </p:nvSpPr>
        <p:spPr>
          <a:xfrm>
            <a:off x="782122" y="2227183"/>
            <a:ext cx="13066157" cy="647700"/>
          </a:xfrm>
          <a:prstGeom prst="rect">
            <a:avLst/>
          </a:prstGeom>
          <a:solidFill>
            <a:srgbClr val="000000">
              <a:alpha val="4000"/>
            </a:srgbClr>
          </a:solidFill>
          <a:ln/>
        </p:spPr>
      </p:sp>
      <p:sp>
        <p:nvSpPr>
          <p:cNvPr id="11" name="Text 9"/>
          <p:cNvSpPr/>
          <p:nvPr/>
        </p:nvSpPr>
        <p:spPr>
          <a:xfrm>
            <a:off x="926187" y="2321004"/>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Performance Expectancy</a:t>
            </a:r>
            <a:endParaRPr lang="en-US" sz="1100" dirty="0"/>
          </a:p>
        </p:txBody>
      </p:sp>
      <p:sp>
        <p:nvSpPr>
          <p:cNvPr id="12" name="Text 10"/>
          <p:cNvSpPr/>
          <p:nvPr/>
        </p:nvSpPr>
        <p:spPr>
          <a:xfrm>
            <a:off x="4196477" y="2321004"/>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2</a:t>
            </a:r>
            <a:endParaRPr lang="en-US" sz="1100" dirty="0"/>
          </a:p>
        </p:txBody>
      </p:sp>
      <p:sp>
        <p:nvSpPr>
          <p:cNvPr id="13" name="Text 11"/>
          <p:cNvSpPr/>
          <p:nvPr/>
        </p:nvSpPr>
        <p:spPr>
          <a:xfrm>
            <a:off x="7462957" y="2321004"/>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.80</a:t>
            </a:r>
            <a:endParaRPr lang="en-US" sz="1100" dirty="0"/>
          </a:p>
        </p:txBody>
      </p:sp>
      <p:sp>
        <p:nvSpPr>
          <p:cNvPr id="14" name="Text 12"/>
          <p:cNvSpPr/>
          <p:nvPr/>
        </p:nvSpPr>
        <p:spPr>
          <a:xfrm>
            <a:off x="10729436" y="2321004"/>
            <a:ext cx="2975015" cy="460057"/>
          </a:xfrm>
          <a:prstGeom prst="rect">
            <a:avLst/>
          </a:prstGeom>
          <a:noFill/>
          <a:ln/>
        </p:spPr>
        <p:txBody>
          <a:bodyPr wrap="squar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Productivity beliefs and efficiency expectations</a:t>
            </a:r>
            <a:endParaRPr lang="en-US" sz="1100" dirty="0"/>
          </a:p>
        </p:txBody>
      </p:sp>
      <p:sp>
        <p:nvSpPr>
          <p:cNvPr id="15" name="Shape 13"/>
          <p:cNvSpPr/>
          <p:nvPr/>
        </p:nvSpPr>
        <p:spPr>
          <a:xfrm>
            <a:off x="782122" y="2874883"/>
            <a:ext cx="13066157" cy="417671"/>
          </a:xfrm>
          <a:prstGeom prst="rect">
            <a:avLst/>
          </a:prstGeom>
          <a:solidFill>
            <a:srgbClr val="FFFFFF">
              <a:alpha val="4000"/>
            </a:srgbClr>
          </a:solidFill>
          <a:ln/>
        </p:spPr>
      </p:sp>
      <p:sp>
        <p:nvSpPr>
          <p:cNvPr id="16" name="Text 14"/>
          <p:cNvSpPr/>
          <p:nvPr/>
        </p:nvSpPr>
        <p:spPr>
          <a:xfrm>
            <a:off x="926187" y="2968704"/>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Effort Expectancy</a:t>
            </a:r>
            <a:endParaRPr lang="en-US" sz="1100" dirty="0"/>
          </a:p>
        </p:txBody>
      </p:sp>
      <p:sp>
        <p:nvSpPr>
          <p:cNvPr id="17" name="Text 15"/>
          <p:cNvSpPr/>
          <p:nvPr/>
        </p:nvSpPr>
        <p:spPr>
          <a:xfrm>
            <a:off x="4196477" y="2968704"/>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2</a:t>
            </a:r>
            <a:endParaRPr lang="en-US" sz="1100" dirty="0"/>
          </a:p>
        </p:txBody>
      </p:sp>
      <p:sp>
        <p:nvSpPr>
          <p:cNvPr id="18" name="Text 16"/>
          <p:cNvSpPr/>
          <p:nvPr/>
        </p:nvSpPr>
        <p:spPr>
          <a:xfrm>
            <a:off x="7462957" y="2968704"/>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.86</a:t>
            </a:r>
            <a:endParaRPr lang="en-US" sz="1100" dirty="0"/>
          </a:p>
        </p:txBody>
      </p:sp>
      <p:sp>
        <p:nvSpPr>
          <p:cNvPr id="19" name="Text 17"/>
          <p:cNvSpPr/>
          <p:nvPr/>
        </p:nvSpPr>
        <p:spPr>
          <a:xfrm>
            <a:off x="10729436" y="2968704"/>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Perceived ease of use and learning curve</a:t>
            </a:r>
            <a:endParaRPr lang="en-US" sz="1100" dirty="0"/>
          </a:p>
        </p:txBody>
      </p:sp>
      <p:sp>
        <p:nvSpPr>
          <p:cNvPr id="20" name="Shape 18"/>
          <p:cNvSpPr/>
          <p:nvPr/>
        </p:nvSpPr>
        <p:spPr>
          <a:xfrm>
            <a:off x="782122" y="3292554"/>
            <a:ext cx="13066157" cy="647700"/>
          </a:xfrm>
          <a:prstGeom prst="rect">
            <a:avLst/>
          </a:prstGeom>
          <a:solidFill>
            <a:srgbClr val="000000">
              <a:alpha val="4000"/>
            </a:srgbClr>
          </a:solidFill>
          <a:ln/>
        </p:spPr>
      </p:sp>
      <p:sp>
        <p:nvSpPr>
          <p:cNvPr id="21" name="Text 19"/>
          <p:cNvSpPr/>
          <p:nvPr/>
        </p:nvSpPr>
        <p:spPr>
          <a:xfrm>
            <a:off x="926187" y="3386376"/>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Social Influence</a:t>
            </a:r>
            <a:endParaRPr lang="en-US" sz="1100" dirty="0"/>
          </a:p>
        </p:txBody>
      </p:sp>
      <p:sp>
        <p:nvSpPr>
          <p:cNvPr id="22" name="Text 20"/>
          <p:cNvSpPr/>
          <p:nvPr/>
        </p:nvSpPr>
        <p:spPr>
          <a:xfrm>
            <a:off x="4196477" y="3386376"/>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2</a:t>
            </a:r>
            <a:endParaRPr lang="en-US" sz="1100" dirty="0"/>
          </a:p>
        </p:txBody>
      </p:sp>
      <p:sp>
        <p:nvSpPr>
          <p:cNvPr id="23" name="Text 21"/>
          <p:cNvSpPr/>
          <p:nvPr/>
        </p:nvSpPr>
        <p:spPr>
          <a:xfrm>
            <a:off x="7462957" y="3386376"/>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.75</a:t>
            </a:r>
            <a:endParaRPr lang="en-US" sz="1100" dirty="0"/>
          </a:p>
        </p:txBody>
      </p:sp>
      <p:sp>
        <p:nvSpPr>
          <p:cNvPr id="24" name="Text 22"/>
          <p:cNvSpPr/>
          <p:nvPr/>
        </p:nvSpPr>
        <p:spPr>
          <a:xfrm>
            <a:off x="10729436" y="3386376"/>
            <a:ext cx="2975015" cy="460057"/>
          </a:xfrm>
          <a:prstGeom prst="rect">
            <a:avLst/>
          </a:prstGeom>
          <a:noFill/>
          <a:ln/>
        </p:spPr>
        <p:txBody>
          <a:bodyPr wrap="squar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Peer recommendations and organizational endorsement</a:t>
            </a:r>
            <a:endParaRPr lang="en-US" sz="1100" dirty="0"/>
          </a:p>
        </p:txBody>
      </p:sp>
      <p:sp>
        <p:nvSpPr>
          <p:cNvPr id="25" name="Shape 23"/>
          <p:cNvSpPr/>
          <p:nvPr/>
        </p:nvSpPr>
        <p:spPr>
          <a:xfrm>
            <a:off x="782122" y="3940254"/>
            <a:ext cx="13066157" cy="647700"/>
          </a:xfrm>
          <a:prstGeom prst="rect">
            <a:avLst/>
          </a:prstGeom>
          <a:solidFill>
            <a:srgbClr val="FFFFFF">
              <a:alpha val="4000"/>
            </a:srgbClr>
          </a:solidFill>
          <a:ln/>
        </p:spPr>
      </p:sp>
      <p:sp>
        <p:nvSpPr>
          <p:cNvPr id="26" name="Text 24"/>
          <p:cNvSpPr/>
          <p:nvPr/>
        </p:nvSpPr>
        <p:spPr>
          <a:xfrm>
            <a:off x="926187" y="4034076"/>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Facilitating Conditions</a:t>
            </a:r>
            <a:endParaRPr lang="en-US" sz="1100" dirty="0"/>
          </a:p>
        </p:txBody>
      </p:sp>
      <p:sp>
        <p:nvSpPr>
          <p:cNvPr id="27" name="Text 25"/>
          <p:cNvSpPr/>
          <p:nvPr/>
        </p:nvSpPr>
        <p:spPr>
          <a:xfrm>
            <a:off x="4196477" y="4034076"/>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2</a:t>
            </a:r>
            <a:endParaRPr lang="en-US" sz="1100" dirty="0"/>
          </a:p>
        </p:txBody>
      </p:sp>
      <p:sp>
        <p:nvSpPr>
          <p:cNvPr id="28" name="Text 26"/>
          <p:cNvSpPr/>
          <p:nvPr/>
        </p:nvSpPr>
        <p:spPr>
          <a:xfrm>
            <a:off x="7462957" y="4034076"/>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.74</a:t>
            </a:r>
            <a:endParaRPr lang="en-US" sz="1100" dirty="0"/>
          </a:p>
        </p:txBody>
      </p:sp>
      <p:sp>
        <p:nvSpPr>
          <p:cNvPr id="29" name="Text 27"/>
          <p:cNvSpPr/>
          <p:nvPr/>
        </p:nvSpPr>
        <p:spPr>
          <a:xfrm>
            <a:off x="10729436" y="4034076"/>
            <a:ext cx="2975015" cy="460057"/>
          </a:xfrm>
          <a:prstGeom prst="rect">
            <a:avLst/>
          </a:prstGeom>
          <a:noFill/>
          <a:ln/>
        </p:spPr>
        <p:txBody>
          <a:bodyPr wrap="squar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Resource availability and organizational support</a:t>
            </a:r>
            <a:endParaRPr lang="en-US" sz="1100" dirty="0"/>
          </a:p>
        </p:txBody>
      </p:sp>
      <p:sp>
        <p:nvSpPr>
          <p:cNvPr id="30" name="Shape 28"/>
          <p:cNvSpPr/>
          <p:nvPr/>
        </p:nvSpPr>
        <p:spPr>
          <a:xfrm>
            <a:off x="782122" y="4587954"/>
            <a:ext cx="13066157" cy="417671"/>
          </a:xfrm>
          <a:prstGeom prst="rect">
            <a:avLst/>
          </a:prstGeom>
          <a:solidFill>
            <a:srgbClr val="000000">
              <a:alpha val="4000"/>
            </a:srgbClr>
          </a:solidFill>
          <a:ln/>
        </p:spPr>
      </p:sp>
      <p:sp>
        <p:nvSpPr>
          <p:cNvPr id="31" name="Text 29"/>
          <p:cNvSpPr/>
          <p:nvPr/>
        </p:nvSpPr>
        <p:spPr>
          <a:xfrm>
            <a:off x="926187" y="4681776"/>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Hedonic Motivation</a:t>
            </a:r>
            <a:endParaRPr lang="en-US" sz="1100" dirty="0"/>
          </a:p>
        </p:txBody>
      </p:sp>
      <p:sp>
        <p:nvSpPr>
          <p:cNvPr id="32" name="Text 30"/>
          <p:cNvSpPr/>
          <p:nvPr/>
        </p:nvSpPr>
        <p:spPr>
          <a:xfrm>
            <a:off x="4196477" y="4681776"/>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2</a:t>
            </a:r>
            <a:endParaRPr lang="en-US" sz="1100" dirty="0"/>
          </a:p>
        </p:txBody>
      </p:sp>
      <p:sp>
        <p:nvSpPr>
          <p:cNvPr id="33" name="Text 31"/>
          <p:cNvSpPr/>
          <p:nvPr/>
        </p:nvSpPr>
        <p:spPr>
          <a:xfrm>
            <a:off x="7462957" y="4681776"/>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.86</a:t>
            </a:r>
            <a:endParaRPr lang="en-US" sz="1100" dirty="0"/>
          </a:p>
        </p:txBody>
      </p:sp>
      <p:sp>
        <p:nvSpPr>
          <p:cNvPr id="34" name="Text 32"/>
          <p:cNvSpPr/>
          <p:nvPr/>
        </p:nvSpPr>
        <p:spPr>
          <a:xfrm>
            <a:off x="10729436" y="4681776"/>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Enjoyment, engagement, and intrinsic interest</a:t>
            </a:r>
            <a:endParaRPr lang="en-US" sz="1100" dirty="0"/>
          </a:p>
        </p:txBody>
      </p:sp>
      <p:sp>
        <p:nvSpPr>
          <p:cNvPr id="35" name="Shape 33"/>
          <p:cNvSpPr/>
          <p:nvPr/>
        </p:nvSpPr>
        <p:spPr>
          <a:xfrm>
            <a:off x="782122" y="5005626"/>
            <a:ext cx="13066157" cy="417671"/>
          </a:xfrm>
          <a:prstGeom prst="rect">
            <a:avLst/>
          </a:prstGeom>
          <a:solidFill>
            <a:srgbClr val="FFFFFF">
              <a:alpha val="4000"/>
            </a:srgbClr>
          </a:solidFill>
          <a:ln/>
        </p:spPr>
      </p:sp>
      <p:sp>
        <p:nvSpPr>
          <p:cNvPr id="36" name="Text 34"/>
          <p:cNvSpPr/>
          <p:nvPr/>
        </p:nvSpPr>
        <p:spPr>
          <a:xfrm>
            <a:off x="926187" y="5099447"/>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Price Value</a:t>
            </a:r>
            <a:endParaRPr lang="en-US" sz="1100" dirty="0"/>
          </a:p>
        </p:txBody>
      </p:sp>
      <p:sp>
        <p:nvSpPr>
          <p:cNvPr id="37" name="Text 35"/>
          <p:cNvSpPr/>
          <p:nvPr/>
        </p:nvSpPr>
        <p:spPr>
          <a:xfrm>
            <a:off x="4196477" y="5099447"/>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2</a:t>
            </a:r>
            <a:endParaRPr lang="en-US" sz="1100" dirty="0"/>
          </a:p>
        </p:txBody>
      </p:sp>
      <p:sp>
        <p:nvSpPr>
          <p:cNvPr id="38" name="Text 36"/>
          <p:cNvSpPr/>
          <p:nvPr/>
        </p:nvSpPr>
        <p:spPr>
          <a:xfrm>
            <a:off x="7462957" y="5099447"/>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.88</a:t>
            </a:r>
            <a:endParaRPr lang="en-US" sz="1100" dirty="0"/>
          </a:p>
        </p:txBody>
      </p:sp>
      <p:sp>
        <p:nvSpPr>
          <p:cNvPr id="39" name="Text 37"/>
          <p:cNvSpPr/>
          <p:nvPr/>
        </p:nvSpPr>
        <p:spPr>
          <a:xfrm>
            <a:off x="10729436" y="5099447"/>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Perceived worth relative to total investment</a:t>
            </a:r>
            <a:endParaRPr lang="en-US" sz="1100" dirty="0"/>
          </a:p>
        </p:txBody>
      </p:sp>
      <p:sp>
        <p:nvSpPr>
          <p:cNvPr id="40" name="Shape 38"/>
          <p:cNvSpPr/>
          <p:nvPr/>
        </p:nvSpPr>
        <p:spPr>
          <a:xfrm>
            <a:off x="782122" y="5423297"/>
            <a:ext cx="13066157" cy="417671"/>
          </a:xfrm>
          <a:prstGeom prst="rect">
            <a:avLst/>
          </a:prstGeom>
          <a:solidFill>
            <a:srgbClr val="000000">
              <a:alpha val="4000"/>
            </a:srgbClr>
          </a:solidFill>
          <a:ln/>
        </p:spPr>
      </p:sp>
      <p:sp>
        <p:nvSpPr>
          <p:cNvPr id="41" name="Text 39"/>
          <p:cNvSpPr/>
          <p:nvPr/>
        </p:nvSpPr>
        <p:spPr>
          <a:xfrm>
            <a:off x="926187" y="5517118"/>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Habit</a:t>
            </a:r>
            <a:endParaRPr lang="en-US" sz="1100" dirty="0"/>
          </a:p>
        </p:txBody>
      </p:sp>
      <p:sp>
        <p:nvSpPr>
          <p:cNvPr id="42" name="Text 40"/>
          <p:cNvSpPr/>
          <p:nvPr/>
        </p:nvSpPr>
        <p:spPr>
          <a:xfrm>
            <a:off x="4196477" y="5517118"/>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2</a:t>
            </a:r>
            <a:endParaRPr lang="en-US" sz="1100" dirty="0"/>
          </a:p>
        </p:txBody>
      </p:sp>
      <p:sp>
        <p:nvSpPr>
          <p:cNvPr id="43" name="Text 41"/>
          <p:cNvSpPr/>
          <p:nvPr/>
        </p:nvSpPr>
        <p:spPr>
          <a:xfrm>
            <a:off x="7462957" y="5517118"/>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.91</a:t>
            </a:r>
            <a:endParaRPr lang="en-US" sz="1100" dirty="0"/>
          </a:p>
        </p:txBody>
      </p:sp>
      <p:sp>
        <p:nvSpPr>
          <p:cNvPr id="44" name="Text 42"/>
          <p:cNvSpPr/>
          <p:nvPr/>
        </p:nvSpPr>
        <p:spPr>
          <a:xfrm>
            <a:off x="10729436" y="5517118"/>
            <a:ext cx="297501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Automaticity and behavioral patterns</a:t>
            </a:r>
            <a:endParaRPr lang="en-US" sz="1100" dirty="0"/>
          </a:p>
        </p:txBody>
      </p:sp>
      <p:sp>
        <p:nvSpPr>
          <p:cNvPr id="45" name="Shape 43"/>
          <p:cNvSpPr/>
          <p:nvPr/>
        </p:nvSpPr>
        <p:spPr>
          <a:xfrm>
            <a:off x="782122" y="5840968"/>
            <a:ext cx="13066157" cy="647700"/>
          </a:xfrm>
          <a:prstGeom prst="rect">
            <a:avLst/>
          </a:prstGeom>
          <a:solidFill>
            <a:srgbClr val="FFFFFF">
              <a:alpha val="4000"/>
            </a:srgbClr>
          </a:solidFill>
          <a:ln/>
        </p:spPr>
      </p:sp>
      <p:sp>
        <p:nvSpPr>
          <p:cNvPr id="46" name="Text 44"/>
          <p:cNvSpPr/>
          <p:nvPr/>
        </p:nvSpPr>
        <p:spPr>
          <a:xfrm>
            <a:off x="926187" y="5934789"/>
            <a:ext cx="2975015" cy="230029"/>
          </a:xfrm>
          <a:prstGeom prst="rect">
            <a:avLst/>
          </a:prstGeom>
          <a:noFill/>
          <a:ln/>
        </p:spPr>
        <p:txBody>
          <a:bodyPr wrap="none" lIns="0" tIns="0" rIns="0" bIns="0" rtlCol="0" anchor="t"/>
          <a:lstStyle/>
          <a:p>
            <a:pPr algn="l" indent="0" marL="0">
              <a:lnSpc>
                <a:spcPts val="1800"/>
              </a:lnSpc>
              <a:buNone/>
            </a:pPr>
            <a:r>
              <a:rPr lang="en-US" sz="1100" b="1" dirty="0">
                <a:solidFill>
                  <a:srgbClr val="3257B8"/>
                </a:solidFill>
                <a:latin typeface="Roboto" pitchFamily="34" charset="0"/>
                <a:ea typeface="Roboto" pitchFamily="34" charset="-122"/>
                <a:cs typeface="Roboto" pitchFamily="34" charset="-120"/>
              </a:rPr>
              <a:t>AI Trust</a:t>
            </a:r>
            <a:endParaRPr lang="en-US" sz="1100" dirty="0"/>
          </a:p>
        </p:txBody>
      </p:sp>
      <p:sp>
        <p:nvSpPr>
          <p:cNvPr id="47" name="Text 45"/>
          <p:cNvSpPr/>
          <p:nvPr/>
        </p:nvSpPr>
        <p:spPr>
          <a:xfrm>
            <a:off x="4196477" y="5934789"/>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2</a:t>
            </a:r>
            <a:endParaRPr lang="en-US" sz="1100" dirty="0"/>
          </a:p>
        </p:txBody>
      </p:sp>
      <p:sp>
        <p:nvSpPr>
          <p:cNvPr id="48" name="Text 46"/>
          <p:cNvSpPr/>
          <p:nvPr/>
        </p:nvSpPr>
        <p:spPr>
          <a:xfrm>
            <a:off x="7462957" y="5934789"/>
            <a:ext cx="2971205" cy="230029"/>
          </a:xfrm>
          <a:prstGeom prst="rect">
            <a:avLst/>
          </a:prstGeom>
          <a:noFill/>
          <a:ln/>
        </p:spPr>
        <p:txBody>
          <a:bodyPr wrap="non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.89</a:t>
            </a:r>
            <a:endParaRPr lang="en-US" sz="1100" dirty="0"/>
          </a:p>
        </p:txBody>
      </p:sp>
      <p:sp>
        <p:nvSpPr>
          <p:cNvPr id="49" name="Text 47"/>
          <p:cNvSpPr/>
          <p:nvPr/>
        </p:nvSpPr>
        <p:spPr>
          <a:xfrm>
            <a:off x="10729436" y="5934789"/>
            <a:ext cx="2975015" cy="460057"/>
          </a:xfrm>
          <a:prstGeom prst="rect">
            <a:avLst/>
          </a:prstGeom>
          <a:noFill/>
          <a:ln/>
        </p:spPr>
        <p:txBody>
          <a:bodyPr wrap="squar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AI-specific trust in reliability, transparency, ethics</a:t>
            </a:r>
            <a:endParaRPr lang="en-US" sz="1100" dirty="0"/>
          </a:p>
        </p:txBody>
      </p:sp>
      <p:sp>
        <p:nvSpPr>
          <p:cNvPr id="50" name="Text 48"/>
          <p:cNvSpPr/>
          <p:nvPr/>
        </p:nvSpPr>
        <p:spPr>
          <a:xfrm>
            <a:off x="774502" y="6658094"/>
            <a:ext cx="13081397" cy="230029"/>
          </a:xfrm>
          <a:prstGeom prst="rect">
            <a:avLst/>
          </a:prstGeom>
          <a:noFill/>
          <a:ln/>
        </p:spPr>
        <p:txBody>
          <a:bodyPr wrap="none" lIns="0" tIns="0" rIns="0" bIns="0" rtlCol="0" anchor="t"/>
          <a:lstStyle/>
          <a:p>
            <a:pPr algn="l" indent="0" marL="0">
              <a:lnSpc>
                <a:spcPts val="1800"/>
              </a:lnSpc>
              <a:buNone/>
            </a:pPr>
            <a:r>
              <a:rPr lang="en-US" sz="1100" b="1" dirty="0">
                <a:solidFill>
                  <a:srgbClr val="15213F"/>
                </a:solidFill>
                <a:latin typeface="Roboto" pitchFamily="34" charset="0"/>
                <a:ea typeface="Roboto" pitchFamily="34" charset="-122"/>
                <a:cs typeface="Roboto" pitchFamily="34" charset="-120"/>
              </a:rPr>
              <a:t>Administration time:</a:t>
            </a:r>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 Approximately 3 minutes | </a:t>
            </a:r>
            <a:pPr algn="l" indent="0" marL="0">
              <a:lnSpc>
                <a:spcPts val="1800"/>
              </a:lnSpc>
              <a:buNone/>
            </a:pPr>
            <a:r>
              <a:rPr lang="en-US" sz="1100" b="1" dirty="0">
                <a:solidFill>
                  <a:srgbClr val="15213F"/>
                </a:solidFill>
                <a:latin typeface="Roboto" pitchFamily="34" charset="0"/>
                <a:ea typeface="Roboto" pitchFamily="34" charset="-122"/>
                <a:cs typeface="Roboto" pitchFamily="34" charset="-120"/>
              </a:rPr>
              <a:t>Diagnostic output:</a:t>
            </a:r>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 Identifies specific adoption barriers and user segment classification</a:t>
            </a:r>
            <a:endParaRPr lang="en-US" sz="1100" dirty="0"/>
          </a:p>
        </p:txBody>
      </p:sp>
      <p:sp>
        <p:nvSpPr>
          <p:cNvPr id="51" name="Text 49"/>
          <p:cNvSpPr/>
          <p:nvPr/>
        </p:nvSpPr>
        <p:spPr>
          <a:xfrm>
            <a:off x="774502" y="7049929"/>
            <a:ext cx="13081397" cy="460057"/>
          </a:xfrm>
          <a:prstGeom prst="rect">
            <a:avLst/>
          </a:prstGeom>
          <a:noFill/>
          <a:ln/>
        </p:spPr>
        <p:txBody>
          <a:bodyPr wrap="squar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Organizations can administer AIRS-16, generate individual or team-level diagnostic reports, and design targeted interventions addressing the specific barriers identified rather than implementing generic training programs.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953453"/>
            <a:ext cx="6176724" cy="637937"/>
          </a:xfrm>
          <a:prstGeom prst="rect">
            <a:avLst/>
          </a:prstGeom>
          <a:noFill/>
          <a:ln/>
        </p:spPr>
        <p:txBody>
          <a:bodyPr wrap="none" lIns="0" tIns="0" rIns="0" bIns="0" rtlCol="0" anchor="t"/>
          <a:lstStyle/>
          <a:p>
            <a:pPr algn="l" indent="0" marL="0">
              <a:lnSpc>
                <a:spcPts val="5000"/>
              </a:lnSpc>
              <a:buNone/>
            </a:pPr>
            <a:r>
              <a:rPr lang="en-US" sz="4000" dirty="0">
                <a:solidFill>
                  <a:srgbClr val="3257B8"/>
                </a:solidFill>
                <a:latin typeface="Roboto Slab" pitchFamily="34" charset="0"/>
                <a:ea typeface="Roboto Slab" pitchFamily="34" charset="-122"/>
                <a:cs typeface="Roboto Slab" pitchFamily="34" charset="-120"/>
              </a:rPr>
              <a:t>Theoretical Contributions</a:t>
            </a:r>
            <a:endParaRPr lang="en-US" sz="4000" dirty="0"/>
          </a:p>
        </p:txBody>
      </p:sp>
      <p:sp>
        <p:nvSpPr>
          <p:cNvPr id="3" name="Text 1"/>
          <p:cNvSpPr/>
          <p:nvPr/>
        </p:nvSpPr>
        <p:spPr>
          <a:xfrm>
            <a:off x="793790" y="1999655"/>
            <a:ext cx="204073" cy="255151"/>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Slab Light" pitchFamily="34" charset="0"/>
                <a:ea typeface="Roboto Slab Light" pitchFamily="34" charset="-122"/>
                <a:cs typeface="Roboto Slab Light" pitchFamily="34" charset="-120"/>
              </a:rPr>
              <a:t>01</a:t>
            </a:r>
            <a:endParaRPr lang="en-US" sz="1600" dirty="0"/>
          </a:p>
        </p:txBody>
      </p:sp>
      <p:pic>
        <p:nvPicPr>
          <p:cNvPr id="4" name="Image 0" descr="preencoded.png">    </p:cNvPr>
          <p:cNvPicPr>
            <a:picLocks noChangeAspect="1"/>
          </p:cNvPicPr>
          <p:nvPr/>
        </p:nvPicPr>
        <p:blipFill>
          <a:blip r:embed="rId1"/>
          <a:stretch>
            <a:fillRect/>
          </a:stretch>
        </p:blipFill>
        <p:spPr>
          <a:xfrm>
            <a:off x="793790" y="2323624"/>
            <a:ext cx="6419374" cy="22860"/>
          </a:xfrm>
          <a:prstGeom prst="rect">
            <a:avLst/>
          </a:prstGeom>
        </p:spPr>
      </p:pic>
      <p:sp>
        <p:nvSpPr>
          <p:cNvPr id="5" name="Text 2"/>
          <p:cNvSpPr/>
          <p:nvPr/>
        </p:nvSpPr>
        <p:spPr>
          <a:xfrm>
            <a:off x="793790" y="2471380"/>
            <a:ext cx="2806898" cy="318849"/>
          </a:xfrm>
          <a:prstGeom prst="rect">
            <a:avLst/>
          </a:prstGeom>
          <a:noFill/>
          <a:ln/>
        </p:spPr>
        <p:txBody>
          <a:bodyPr wrap="none" lIns="0" tIns="0" rIns="0" bIns="0" rtlCol="0" anchor="t"/>
          <a:lstStyle/>
          <a:p>
            <a:pPr algn="l" indent="0" marL="0">
              <a:lnSpc>
                <a:spcPts val="2500"/>
              </a:lnSpc>
              <a:buNone/>
            </a:pPr>
            <a:r>
              <a:rPr lang="en-US" sz="2000" dirty="0">
                <a:solidFill>
                  <a:srgbClr val="15213F"/>
                </a:solidFill>
                <a:latin typeface="Roboto Slab" pitchFamily="34" charset="0"/>
                <a:ea typeface="Roboto Slab" pitchFamily="34" charset="-122"/>
                <a:cs typeface="Roboto Slab" pitchFamily="34" charset="-120"/>
              </a:rPr>
              <a:t>Value-Dominant Model</a:t>
            </a:r>
            <a:endParaRPr lang="en-US" sz="2000" dirty="0"/>
          </a:p>
        </p:txBody>
      </p:sp>
      <p:sp>
        <p:nvSpPr>
          <p:cNvPr id="6" name="Text 3"/>
          <p:cNvSpPr/>
          <p:nvPr/>
        </p:nvSpPr>
        <p:spPr>
          <a:xfrm>
            <a:off x="793790" y="2912626"/>
            <a:ext cx="6419374" cy="1633538"/>
          </a:xfrm>
          <a:prstGeom prst="rect">
            <a:avLst/>
          </a:prstGeom>
          <a:noFill/>
          <a:ln/>
        </p:spPr>
        <p:txBody>
          <a:bodyPr wrap="squar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Price Value (β = .505) dominates Performance Expectancy—reversing 30 years of TAM and UTAUT findings where productivity was the strongest predictor. AI is evaluated through a cost-benefit lens that incorporates total investment (time, disruption, risk, learning curve, opportunity costs), not merely productivity improvements.</a:t>
            </a:r>
            <a:endParaRPr lang="en-US" sz="1600" dirty="0"/>
          </a:p>
        </p:txBody>
      </p:sp>
      <p:sp>
        <p:nvSpPr>
          <p:cNvPr id="7" name="Text 4"/>
          <p:cNvSpPr/>
          <p:nvPr/>
        </p:nvSpPr>
        <p:spPr>
          <a:xfrm>
            <a:off x="7417237" y="1999655"/>
            <a:ext cx="204073" cy="255151"/>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Slab Light" pitchFamily="34" charset="0"/>
                <a:ea typeface="Roboto Slab Light" pitchFamily="34" charset="-122"/>
                <a:cs typeface="Roboto Slab Light" pitchFamily="34" charset="-120"/>
              </a:rPr>
              <a:t>02</a:t>
            </a:r>
            <a:endParaRPr lang="en-US" sz="1600" dirty="0"/>
          </a:p>
        </p:txBody>
      </p:sp>
      <p:pic>
        <p:nvPicPr>
          <p:cNvPr id="8" name="Image 1" descr="preencoded.png">    </p:cNvPr>
          <p:cNvPicPr>
            <a:picLocks noChangeAspect="1"/>
          </p:cNvPicPr>
          <p:nvPr/>
        </p:nvPicPr>
        <p:blipFill>
          <a:blip r:embed="rId2"/>
          <a:stretch>
            <a:fillRect/>
          </a:stretch>
        </p:blipFill>
        <p:spPr>
          <a:xfrm>
            <a:off x="7417237" y="2323624"/>
            <a:ext cx="6419374" cy="22860"/>
          </a:xfrm>
          <a:prstGeom prst="rect">
            <a:avLst/>
          </a:prstGeom>
        </p:spPr>
      </p:pic>
      <p:sp>
        <p:nvSpPr>
          <p:cNvPr id="9" name="Text 5"/>
          <p:cNvSpPr/>
          <p:nvPr/>
        </p:nvSpPr>
        <p:spPr>
          <a:xfrm>
            <a:off x="7417237" y="2471380"/>
            <a:ext cx="3284220" cy="318849"/>
          </a:xfrm>
          <a:prstGeom prst="rect">
            <a:avLst/>
          </a:prstGeom>
          <a:noFill/>
          <a:ln/>
        </p:spPr>
        <p:txBody>
          <a:bodyPr wrap="none" lIns="0" tIns="0" rIns="0" bIns="0" rtlCol="0" anchor="t"/>
          <a:lstStyle/>
          <a:p>
            <a:pPr algn="l" indent="0" marL="0">
              <a:lnSpc>
                <a:spcPts val="2500"/>
              </a:lnSpc>
              <a:buNone/>
            </a:pPr>
            <a:r>
              <a:rPr lang="en-US" sz="2000" dirty="0">
                <a:solidFill>
                  <a:srgbClr val="15213F"/>
                </a:solidFill>
                <a:latin typeface="Roboto Slab" pitchFamily="34" charset="0"/>
                <a:ea typeface="Roboto Slab" pitchFamily="34" charset="-122"/>
                <a:cs typeface="Roboto Slab" pitchFamily="34" charset="-120"/>
              </a:rPr>
              <a:t>Established Constructs Fail</a:t>
            </a:r>
            <a:endParaRPr lang="en-US" sz="2000" dirty="0"/>
          </a:p>
        </p:txBody>
      </p:sp>
      <p:sp>
        <p:nvSpPr>
          <p:cNvPr id="10" name="Text 6"/>
          <p:cNvSpPr/>
          <p:nvPr/>
        </p:nvSpPr>
        <p:spPr>
          <a:xfrm>
            <a:off x="7417237" y="2912626"/>
            <a:ext cx="6419374" cy="1633538"/>
          </a:xfrm>
          <a:prstGeom prst="rect">
            <a:avLst/>
          </a:prstGeom>
          <a:noFill/>
          <a:ln/>
        </p:spPr>
        <p:txBody>
          <a:bodyPr wrap="squar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Performance Expectancy, Effort Expectancy, Facilitating Conditions, and Habit show no predictive power for AI adoption. These aren't simply weaker—they're non-significant. This challenges core assumptions about what drives technology adoption and suggests AI may require entirely new theoretical frameworks.</a:t>
            </a:r>
            <a:endParaRPr lang="en-US" sz="1600" dirty="0"/>
          </a:p>
        </p:txBody>
      </p:sp>
      <p:sp>
        <p:nvSpPr>
          <p:cNvPr id="11" name="Text 7"/>
          <p:cNvSpPr/>
          <p:nvPr/>
        </p:nvSpPr>
        <p:spPr>
          <a:xfrm>
            <a:off x="793790" y="4903232"/>
            <a:ext cx="204073" cy="255151"/>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Slab Light" pitchFamily="34" charset="0"/>
                <a:ea typeface="Roboto Slab Light" pitchFamily="34" charset="-122"/>
                <a:cs typeface="Roboto Slab Light" pitchFamily="34" charset="-120"/>
              </a:rPr>
              <a:t>03</a:t>
            </a:r>
            <a:endParaRPr lang="en-US" sz="1600" dirty="0"/>
          </a:p>
        </p:txBody>
      </p:sp>
      <p:pic>
        <p:nvPicPr>
          <p:cNvPr id="12" name="Image 2" descr="preencoded.png">    </p:cNvPr>
          <p:cNvPicPr>
            <a:picLocks noChangeAspect="1"/>
          </p:cNvPicPr>
          <p:nvPr/>
        </p:nvPicPr>
        <p:blipFill>
          <a:blip r:embed="rId3"/>
          <a:stretch>
            <a:fillRect/>
          </a:stretch>
        </p:blipFill>
        <p:spPr>
          <a:xfrm>
            <a:off x="793790" y="5206841"/>
            <a:ext cx="6419374" cy="22860"/>
          </a:xfrm>
          <a:prstGeom prst="rect">
            <a:avLst/>
          </a:prstGeom>
        </p:spPr>
      </p:pic>
      <p:sp>
        <p:nvSpPr>
          <p:cNvPr id="13" name="Text 8"/>
          <p:cNvSpPr/>
          <p:nvPr/>
        </p:nvSpPr>
        <p:spPr>
          <a:xfrm>
            <a:off x="793790" y="5374958"/>
            <a:ext cx="3476744" cy="318849"/>
          </a:xfrm>
          <a:prstGeom prst="rect">
            <a:avLst/>
          </a:prstGeom>
          <a:noFill/>
          <a:ln/>
        </p:spPr>
        <p:txBody>
          <a:bodyPr wrap="none" lIns="0" tIns="0" rIns="0" bIns="0" rtlCol="0" anchor="t"/>
          <a:lstStyle/>
          <a:p>
            <a:pPr algn="l" indent="0" marL="0">
              <a:lnSpc>
                <a:spcPts val="2500"/>
              </a:lnSpc>
              <a:buNone/>
            </a:pPr>
            <a:r>
              <a:rPr lang="en-US" sz="2000" dirty="0">
                <a:solidFill>
                  <a:srgbClr val="15213F"/>
                </a:solidFill>
                <a:latin typeface="Roboto Slab" pitchFamily="34" charset="0"/>
                <a:ea typeface="Roboto Slab" pitchFamily="34" charset="-122"/>
                <a:cs typeface="Roboto Slab" pitchFamily="34" charset="-120"/>
              </a:rPr>
              <a:t>AI Trust as Diagnostic Factor</a:t>
            </a:r>
            <a:endParaRPr lang="en-US" sz="2000" dirty="0"/>
          </a:p>
        </p:txBody>
      </p:sp>
      <p:sp>
        <p:nvSpPr>
          <p:cNvPr id="14" name="Text 9"/>
          <p:cNvSpPr/>
          <p:nvPr/>
        </p:nvSpPr>
        <p:spPr>
          <a:xfrm>
            <a:off x="793790" y="5816203"/>
            <a:ext cx="6419374" cy="1306830"/>
          </a:xfrm>
          <a:prstGeom prst="rect">
            <a:avLst/>
          </a:prstGeom>
          <a:noFill/>
          <a:ln/>
        </p:spPr>
        <p:txBody>
          <a:bodyPr wrap="squar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While the predictive effect was marginal (p = .064), AI Trust provides essential diagnostic value. Organizations can identify individuals with trust deficits and design targeted trust-building interventions—practically useful even without strong statistical prediction.</a:t>
            </a:r>
            <a:endParaRPr lang="en-US" sz="1600" dirty="0"/>
          </a:p>
        </p:txBody>
      </p:sp>
      <p:sp>
        <p:nvSpPr>
          <p:cNvPr id="15" name="Text 10"/>
          <p:cNvSpPr/>
          <p:nvPr/>
        </p:nvSpPr>
        <p:spPr>
          <a:xfrm>
            <a:off x="7417237" y="4903232"/>
            <a:ext cx="204073" cy="255151"/>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Slab Light" pitchFamily="34" charset="0"/>
                <a:ea typeface="Roboto Slab Light" pitchFamily="34" charset="-122"/>
                <a:cs typeface="Roboto Slab Light" pitchFamily="34" charset="-120"/>
              </a:rPr>
              <a:t>04</a:t>
            </a:r>
            <a:endParaRPr lang="en-US" sz="1600" dirty="0"/>
          </a:p>
        </p:txBody>
      </p:sp>
      <p:pic>
        <p:nvPicPr>
          <p:cNvPr id="16" name="Image 3" descr="preencoded.png">    </p:cNvPr>
          <p:cNvPicPr>
            <a:picLocks noChangeAspect="1"/>
          </p:cNvPicPr>
          <p:nvPr/>
        </p:nvPicPr>
        <p:blipFill>
          <a:blip r:embed="rId4"/>
          <a:stretch>
            <a:fillRect/>
          </a:stretch>
        </p:blipFill>
        <p:spPr>
          <a:xfrm>
            <a:off x="7417237" y="5206841"/>
            <a:ext cx="6419374" cy="22860"/>
          </a:xfrm>
          <a:prstGeom prst="rect">
            <a:avLst/>
          </a:prstGeom>
        </p:spPr>
      </p:pic>
      <p:sp>
        <p:nvSpPr>
          <p:cNvPr id="17" name="Text 11"/>
          <p:cNvSpPr/>
          <p:nvPr/>
        </p:nvSpPr>
        <p:spPr>
          <a:xfrm>
            <a:off x="7417237" y="5374958"/>
            <a:ext cx="3418046" cy="318849"/>
          </a:xfrm>
          <a:prstGeom prst="rect">
            <a:avLst/>
          </a:prstGeom>
          <a:noFill/>
          <a:ln/>
        </p:spPr>
        <p:txBody>
          <a:bodyPr wrap="none" lIns="0" tIns="0" rIns="0" bIns="0" rtlCol="0" anchor="t"/>
          <a:lstStyle/>
          <a:p>
            <a:pPr algn="l" indent="0" marL="0">
              <a:lnSpc>
                <a:spcPts val="2500"/>
              </a:lnSpc>
              <a:buNone/>
            </a:pPr>
            <a:r>
              <a:rPr lang="en-US" sz="2000" dirty="0">
                <a:solidFill>
                  <a:srgbClr val="15213F"/>
                </a:solidFill>
                <a:latin typeface="Roboto Slab" pitchFamily="34" charset="0"/>
                <a:ea typeface="Roboto Slab" pitchFamily="34" charset="-122"/>
                <a:cs typeface="Roboto Slab" pitchFamily="34" charset="-120"/>
              </a:rPr>
              <a:t>Measurement Advancement</a:t>
            </a:r>
            <a:endParaRPr lang="en-US" sz="2000" dirty="0"/>
          </a:p>
        </p:txBody>
      </p:sp>
      <p:sp>
        <p:nvSpPr>
          <p:cNvPr id="18" name="Text 12"/>
          <p:cNvSpPr/>
          <p:nvPr/>
        </p:nvSpPr>
        <p:spPr>
          <a:xfrm>
            <a:off x="7417237" y="5816203"/>
            <a:ext cx="6419374" cy="1306830"/>
          </a:xfrm>
          <a:prstGeom prst="rect">
            <a:avLst/>
          </a:prstGeom>
          <a:noFill/>
          <a:ln/>
        </p:spPr>
        <p:txBody>
          <a:bodyPr wrap="squar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AIRS-16 is the first psychometrically validated instrument specifically designed for measuring AI adoption readiness, with demonstrated configural invariance across academic and professional populations. This fills a critical measurement gap in adoption research.</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626745"/>
            <a:ext cx="8756452"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Roboto Slab" pitchFamily="34" charset="0"/>
                <a:ea typeface="Roboto Slab" pitchFamily="34" charset="-122"/>
                <a:cs typeface="Roboto Slab" pitchFamily="34" charset="-120"/>
              </a:rPr>
              <a:t>Practical Contributions for Organizations</a:t>
            </a:r>
            <a:endParaRPr lang="en-US" sz="3550" dirty="0"/>
          </a:p>
        </p:txBody>
      </p:sp>
      <p:sp>
        <p:nvSpPr>
          <p:cNvPr id="3" name="Shape 1"/>
          <p:cNvSpPr/>
          <p:nvPr/>
        </p:nvSpPr>
        <p:spPr>
          <a:xfrm>
            <a:off x="793790" y="1556623"/>
            <a:ext cx="6430685" cy="2932390"/>
          </a:xfrm>
          <a:prstGeom prst="roundRect">
            <a:avLst>
              <a:gd name="adj" fmla="val 928"/>
            </a:avLst>
          </a:prstGeom>
          <a:solidFill>
            <a:srgbClr val="E9ECF2"/>
          </a:solidFill>
          <a:ln/>
        </p:spPr>
      </p:sp>
      <p:pic>
        <p:nvPicPr>
          <p:cNvPr id="4" name="Image 0" descr="preencoded.png">    </p:cNvPr>
          <p:cNvPicPr>
            <a:picLocks noChangeAspect="1"/>
          </p:cNvPicPr>
          <p:nvPr/>
        </p:nvPicPr>
        <p:blipFill>
          <a:blip r:embed="rId1"/>
          <a:stretch>
            <a:fillRect/>
          </a:stretch>
        </p:blipFill>
        <p:spPr>
          <a:xfrm>
            <a:off x="975241" y="1738074"/>
            <a:ext cx="544354" cy="544354"/>
          </a:xfrm>
          <a:prstGeom prst="rect">
            <a:avLst/>
          </a:prstGeom>
        </p:spPr>
      </p:pic>
      <p:sp>
        <p:nvSpPr>
          <p:cNvPr id="5" name="Text 2"/>
          <p:cNvSpPr/>
          <p:nvPr/>
        </p:nvSpPr>
        <p:spPr>
          <a:xfrm>
            <a:off x="1124903" y="1857137"/>
            <a:ext cx="244912" cy="306110"/>
          </a:xfrm>
          <a:prstGeom prst="rect">
            <a:avLst/>
          </a:prstGeom>
          <a:noFill/>
          <a:ln/>
        </p:spPr>
        <p:txBody>
          <a:bodyPr wrap="none" lIns="0" tIns="0" rIns="0" bIns="0" rtlCol="0" anchor="t"/>
          <a:lstStyle/>
          <a:p>
            <a:pPr algn="l" indent="0" marL="0">
              <a:lnSpc>
                <a:spcPts val="3050"/>
              </a:lnSpc>
              <a:buNone/>
            </a:pPr>
            <a:r>
              <a:rPr lang="en-US" sz="1900" dirty="0">
                <a:solidFill>
                  <a:srgbClr val="FFFFFF"/>
                </a:solidFill>
                <a:latin typeface="Roboto Slab" pitchFamily="34" charset="0"/>
                <a:ea typeface="Roboto Slab" pitchFamily="34" charset="-122"/>
                <a:cs typeface="Roboto Slab" pitchFamily="34" charset="-120"/>
              </a:rPr>
              <a:t>1</a:t>
            </a:r>
            <a:endParaRPr lang="en-US" sz="1900" dirty="0"/>
          </a:p>
        </p:txBody>
      </p:sp>
      <p:sp>
        <p:nvSpPr>
          <p:cNvPr id="6" name="Text 3"/>
          <p:cNvSpPr/>
          <p:nvPr/>
        </p:nvSpPr>
        <p:spPr>
          <a:xfrm>
            <a:off x="975241" y="2463879"/>
            <a:ext cx="3534608" cy="283488"/>
          </a:xfrm>
          <a:prstGeom prst="rect">
            <a:avLst/>
          </a:prstGeom>
          <a:noFill/>
          <a:ln/>
        </p:spPr>
        <p:txBody>
          <a:bodyPr wrap="none" lIns="0" tIns="0" rIns="0" bIns="0" rtlCol="0" anchor="t"/>
          <a:lstStyle/>
          <a:p>
            <a:pPr algn="l" indent="0" marL="0">
              <a:lnSpc>
                <a:spcPts val="2200"/>
              </a:lnSpc>
              <a:buNone/>
            </a:pPr>
            <a:r>
              <a:rPr lang="en-US" sz="1750" dirty="0">
                <a:solidFill>
                  <a:srgbClr val="15213F"/>
                </a:solidFill>
                <a:latin typeface="Roboto Slab" pitchFamily="34" charset="0"/>
                <a:ea typeface="Roboto Slab" pitchFamily="34" charset="-122"/>
                <a:cs typeface="Roboto Slab" pitchFamily="34" charset="-120"/>
              </a:rPr>
              <a:t>Lead with Value, Not Capabilities</a:t>
            </a:r>
            <a:endParaRPr lang="en-US" sz="1750" dirty="0"/>
          </a:p>
        </p:txBody>
      </p:sp>
      <p:sp>
        <p:nvSpPr>
          <p:cNvPr id="7" name="Text 4"/>
          <p:cNvSpPr/>
          <p:nvPr/>
        </p:nvSpPr>
        <p:spPr>
          <a:xfrm>
            <a:off x="975241" y="2856190"/>
            <a:ext cx="6067782" cy="1451372"/>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Demonstrate ROI and total value proposition before showcasing features. Address the complete cost structure: monetary investment, time commitment, workflow disruption, learning curve, privacy considerations, and opportunity costs. Users are asking "Is this worth it?"—answer that question explicitly.</a:t>
            </a:r>
            <a:endParaRPr lang="en-US" sz="1400" dirty="0"/>
          </a:p>
        </p:txBody>
      </p:sp>
      <p:sp>
        <p:nvSpPr>
          <p:cNvPr id="8" name="Shape 5"/>
          <p:cNvSpPr/>
          <p:nvPr/>
        </p:nvSpPr>
        <p:spPr>
          <a:xfrm>
            <a:off x="7405926" y="1556623"/>
            <a:ext cx="6430685" cy="2932390"/>
          </a:xfrm>
          <a:prstGeom prst="roundRect">
            <a:avLst>
              <a:gd name="adj" fmla="val 928"/>
            </a:avLst>
          </a:prstGeom>
          <a:solidFill>
            <a:srgbClr val="E9ECF2"/>
          </a:solidFill>
          <a:ln/>
        </p:spPr>
      </p:sp>
      <p:pic>
        <p:nvPicPr>
          <p:cNvPr id="9" name="Image 1" descr="preencoded.png">    </p:cNvPr>
          <p:cNvPicPr>
            <a:picLocks noChangeAspect="1"/>
          </p:cNvPicPr>
          <p:nvPr/>
        </p:nvPicPr>
        <p:blipFill>
          <a:blip r:embed="rId2"/>
          <a:stretch>
            <a:fillRect/>
          </a:stretch>
        </p:blipFill>
        <p:spPr>
          <a:xfrm>
            <a:off x="7587377" y="1738074"/>
            <a:ext cx="544354" cy="544354"/>
          </a:xfrm>
          <a:prstGeom prst="rect">
            <a:avLst/>
          </a:prstGeom>
        </p:spPr>
      </p:pic>
      <p:sp>
        <p:nvSpPr>
          <p:cNvPr id="10" name="Text 6"/>
          <p:cNvSpPr/>
          <p:nvPr/>
        </p:nvSpPr>
        <p:spPr>
          <a:xfrm>
            <a:off x="7737038" y="1857137"/>
            <a:ext cx="244912" cy="306110"/>
          </a:xfrm>
          <a:prstGeom prst="rect">
            <a:avLst/>
          </a:prstGeom>
          <a:noFill/>
          <a:ln/>
        </p:spPr>
        <p:txBody>
          <a:bodyPr wrap="none" lIns="0" tIns="0" rIns="0" bIns="0" rtlCol="0" anchor="t"/>
          <a:lstStyle/>
          <a:p>
            <a:pPr algn="l" indent="0" marL="0">
              <a:lnSpc>
                <a:spcPts val="3050"/>
              </a:lnSpc>
              <a:buNone/>
            </a:pPr>
            <a:r>
              <a:rPr lang="en-US" sz="1900" dirty="0">
                <a:solidFill>
                  <a:srgbClr val="FFFFFF"/>
                </a:solidFill>
                <a:latin typeface="Roboto Slab" pitchFamily="34" charset="0"/>
                <a:ea typeface="Roboto Slab" pitchFamily="34" charset="-122"/>
                <a:cs typeface="Roboto Slab" pitchFamily="34" charset="-120"/>
              </a:rPr>
              <a:t>2</a:t>
            </a:r>
            <a:endParaRPr lang="en-US" sz="1900" dirty="0"/>
          </a:p>
        </p:txBody>
      </p:sp>
      <p:sp>
        <p:nvSpPr>
          <p:cNvPr id="11" name="Text 7"/>
          <p:cNvSpPr/>
          <p:nvPr/>
        </p:nvSpPr>
        <p:spPr>
          <a:xfrm>
            <a:off x="7587377" y="2463879"/>
            <a:ext cx="4234815" cy="283488"/>
          </a:xfrm>
          <a:prstGeom prst="rect">
            <a:avLst/>
          </a:prstGeom>
          <a:noFill/>
          <a:ln/>
        </p:spPr>
        <p:txBody>
          <a:bodyPr wrap="none" lIns="0" tIns="0" rIns="0" bIns="0" rtlCol="0" anchor="t"/>
          <a:lstStyle/>
          <a:p>
            <a:pPr algn="l" indent="0" marL="0">
              <a:lnSpc>
                <a:spcPts val="2200"/>
              </a:lnSpc>
              <a:buNone/>
            </a:pPr>
            <a:r>
              <a:rPr lang="en-US" sz="1750" dirty="0">
                <a:solidFill>
                  <a:srgbClr val="15213F"/>
                </a:solidFill>
                <a:latin typeface="Roboto Slab" pitchFamily="34" charset="0"/>
                <a:ea typeface="Roboto Slab" pitchFamily="34" charset="-122"/>
                <a:cs typeface="Roboto Slab" pitchFamily="34" charset="-120"/>
              </a:rPr>
              <a:t>Implement Segment-Specific Strategies</a:t>
            </a:r>
            <a:endParaRPr lang="en-US" sz="1750" dirty="0"/>
          </a:p>
        </p:txBody>
      </p:sp>
      <p:sp>
        <p:nvSpPr>
          <p:cNvPr id="12" name="Text 8"/>
          <p:cNvSpPr/>
          <p:nvPr/>
        </p:nvSpPr>
        <p:spPr>
          <a:xfrm>
            <a:off x="7587377" y="2856190"/>
            <a:ext cx="6067782" cy="1161098"/>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Don't treat all users identically. AI Enthusiasts (16%) need early access and evangelism opportunities. Cautious Adopters (30%) need proof points and evidence. Moderate Users (37%) need friction reduction and peer influence. Anxious Avoiders (17%) need trust-building before any feature exposure.</a:t>
            </a:r>
            <a:endParaRPr lang="en-US" sz="1400" dirty="0"/>
          </a:p>
        </p:txBody>
      </p:sp>
      <p:sp>
        <p:nvSpPr>
          <p:cNvPr id="13" name="Shape 9"/>
          <p:cNvSpPr/>
          <p:nvPr/>
        </p:nvSpPr>
        <p:spPr>
          <a:xfrm>
            <a:off x="793790" y="4670465"/>
            <a:ext cx="6430685" cy="2932390"/>
          </a:xfrm>
          <a:prstGeom prst="roundRect">
            <a:avLst>
              <a:gd name="adj" fmla="val 928"/>
            </a:avLst>
          </a:prstGeom>
          <a:solidFill>
            <a:srgbClr val="E9ECF2"/>
          </a:solidFill>
          <a:ln/>
        </p:spPr>
      </p:sp>
      <p:pic>
        <p:nvPicPr>
          <p:cNvPr id="14" name="Image 2" descr="preencoded.png">    </p:cNvPr>
          <p:cNvPicPr>
            <a:picLocks noChangeAspect="1"/>
          </p:cNvPicPr>
          <p:nvPr/>
        </p:nvPicPr>
        <p:blipFill>
          <a:blip r:embed="rId3"/>
          <a:stretch>
            <a:fillRect/>
          </a:stretch>
        </p:blipFill>
        <p:spPr>
          <a:xfrm>
            <a:off x="975241" y="4851916"/>
            <a:ext cx="544354" cy="544354"/>
          </a:xfrm>
          <a:prstGeom prst="rect">
            <a:avLst/>
          </a:prstGeom>
        </p:spPr>
      </p:pic>
      <p:sp>
        <p:nvSpPr>
          <p:cNvPr id="15" name="Text 10"/>
          <p:cNvSpPr/>
          <p:nvPr/>
        </p:nvSpPr>
        <p:spPr>
          <a:xfrm>
            <a:off x="1124903" y="4970978"/>
            <a:ext cx="244912" cy="306110"/>
          </a:xfrm>
          <a:prstGeom prst="rect">
            <a:avLst/>
          </a:prstGeom>
          <a:noFill/>
          <a:ln/>
        </p:spPr>
        <p:txBody>
          <a:bodyPr wrap="none" lIns="0" tIns="0" rIns="0" bIns="0" rtlCol="0" anchor="t"/>
          <a:lstStyle/>
          <a:p>
            <a:pPr algn="l" indent="0" marL="0">
              <a:lnSpc>
                <a:spcPts val="3050"/>
              </a:lnSpc>
              <a:buNone/>
            </a:pPr>
            <a:r>
              <a:rPr lang="en-US" sz="1900" dirty="0">
                <a:solidFill>
                  <a:srgbClr val="FFFFFF"/>
                </a:solidFill>
                <a:latin typeface="Roboto Slab" pitchFamily="34" charset="0"/>
                <a:ea typeface="Roboto Slab" pitchFamily="34" charset="-122"/>
                <a:cs typeface="Roboto Slab" pitchFamily="34" charset="-120"/>
              </a:rPr>
              <a:t>3</a:t>
            </a:r>
            <a:endParaRPr lang="en-US" sz="1900" dirty="0"/>
          </a:p>
        </p:txBody>
      </p:sp>
      <p:sp>
        <p:nvSpPr>
          <p:cNvPr id="16" name="Text 11"/>
          <p:cNvSpPr/>
          <p:nvPr/>
        </p:nvSpPr>
        <p:spPr>
          <a:xfrm>
            <a:off x="975241" y="5577721"/>
            <a:ext cx="3264694" cy="283488"/>
          </a:xfrm>
          <a:prstGeom prst="rect">
            <a:avLst/>
          </a:prstGeom>
          <a:noFill/>
          <a:ln/>
        </p:spPr>
        <p:txBody>
          <a:bodyPr wrap="none" lIns="0" tIns="0" rIns="0" bIns="0" rtlCol="0" anchor="t"/>
          <a:lstStyle/>
          <a:p>
            <a:pPr algn="l" indent="0" marL="0">
              <a:lnSpc>
                <a:spcPts val="2200"/>
              </a:lnSpc>
              <a:buNone/>
            </a:pPr>
            <a:r>
              <a:rPr lang="en-US" sz="1750" dirty="0">
                <a:solidFill>
                  <a:srgbClr val="15213F"/>
                </a:solidFill>
                <a:latin typeface="Roboto Slab" pitchFamily="34" charset="0"/>
                <a:ea typeface="Roboto Slab" pitchFamily="34" charset="-122"/>
                <a:cs typeface="Roboto Slab" pitchFamily="34" charset="-120"/>
              </a:rPr>
              <a:t>Deploy Diagnostic Assessment</a:t>
            </a:r>
            <a:endParaRPr lang="en-US" sz="1750" dirty="0"/>
          </a:p>
        </p:txBody>
      </p:sp>
      <p:sp>
        <p:nvSpPr>
          <p:cNvPr id="17" name="Text 12"/>
          <p:cNvSpPr/>
          <p:nvPr/>
        </p:nvSpPr>
        <p:spPr>
          <a:xfrm>
            <a:off x="975241" y="5970032"/>
            <a:ext cx="6067782" cy="1451372"/>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AIRS-16 takes 3 minutes to administer and identifies specific barriers for each individual or team. This enables targeted resource allocation—addressing Price Value concerns for some users, Social Influence gaps for others, and Trust deficits for still others—rather than blanket training programs.</a:t>
            </a:r>
            <a:endParaRPr lang="en-US" sz="1400" dirty="0"/>
          </a:p>
        </p:txBody>
      </p:sp>
      <p:sp>
        <p:nvSpPr>
          <p:cNvPr id="18" name="Shape 13"/>
          <p:cNvSpPr/>
          <p:nvPr/>
        </p:nvSpPr>
        <p:spPr>
          <a:xfrm>
            <a:off x="7405926" y="4670465"/>
            <a:ext cx="6430685" cy="2932390"/>
          </a:xfrm>
          <a:prstGeom prst="roundRect">
            <a:avLst>
              <a:gd name="adj" fmla="val 928"/>
            </a:avLst>
          </a:prstGeom>
          <a:solidFill>
            <a:srgbClr val="E9ECF2"/>
          </a:solidFill>
          <a:ln/>
        </p:spPr>
      </p:sp>
      <p:pic>
        <p:nvPicPr>
          <p:cNvPr id="19" name="Image 3" descr="preencoded.png">    </p:cNvPr>
          <p:cNvPicPr>
            <a:picLocks noChangeAspect="1"/>
          </p:cNvPicPr>
          <p:nvPr/>
        </p:nvPicPr>
        <p:blipFill>
          <a:blip r:embed="rId4"/>
          <a:stretch>
            <a:fillRect/>
          </a:stretch>
        </p:blipFill>
        <p:spPr>
          <a:xfrm>
            <a:off x="7587377" y="4851916"/>
            <a:ext cx="544354" cy="544354"/>
          </a:xfrm>
          <a:prstGeom prst="rect">
            <a:avLst/>
          </a:prstGeom>
        </p:spPr>
      </p:pic>
      <p:sp>
        <p:nvSpPr>
          <p:cNvPr id="20" name="Text 14"/>
          <p:cNvSpPr/>
          <p:nvPr/>
        </p:nvSpPr>
        <p:spPr>
          <a:xfrm>
            <a:off x="7737038" y="4970978"/>
            <a:ext cx="244912" cy="306110"/>
          </a:xfrm>
          <a:prstGeom prst="rect">
            <a:avLst/>
          </a:prstGeom>
          <a:noFill/>
          <a:ln/>
        </p:spPr>
        <p:txBody>
          <a:bodyPr wrap="none" lIns="0" tIns="0" rIns="0" bIns="0" rtlCol="0" anchor="t"/>
          <a:lstStyle/>
          <a:p>
            <a:pPr algn="l" indent="0" marL="0">
              <a:lnSpc>
                <a:spcPts val="3050"/>
              </a:lnSpc>
              <a:buNone/>
            </a:pPr>
            <a:r>
              <a:rPr lang="en-US" sz="1900" dirty="0">
                <a:solidFill>
                  <a:srgbClr val="FFFFFF"/>
                </a:solidFill>
                <a:latin typeface="Roboto Slab" pitchFamily="34" charset="0"/>
                <a:ea typeface="Roboto Slab" pitchFamily="34" charset="-122"/>
                <a:cs typeface="Roboto Slab" pitchFamily="34" charset="-120"/>
              </a:rPr>
              <a:t>4</a:t>
            </a:r>
            <a:endParaRPr lang="en-US" sz="1900" dirty="0"/>
          </a:p>
        </p:txBody>
      </p:sp>
      <p:sp>
        <p:nvSpPr>
          <p:cNvPr id="21" name="Text 15"/>
          <p:cNvSpPr/>
          <p:nvPr/>
        </p:nvSpPr>
        <p:spPr>
          <a:xfrm>
            <a:off x="7587377" y="5577721"/>
            <a:ext cx="3257907" cy="283488"/>
          </a:xfrm>
          <a:prstGeom prst="rect">
            <a:avLst/>
          </a:prstGeom>
          <a:noFill/>
          <a:ln/>
        </p:spPr>
        <p:txBody>
          <a:bodyPr wrap="none" lIns="0" tIns="0" rIns="0" bIns="0" rtlCol="0" anchor="t"/>
          <a:lstStyle/>
          <a:p>
            <a:pPr algn="l" indent="0" marL="0">
              <a:lnSpc>
                <a:spcPts val="2200"/>
              </a:lnSpc>
              <a:buNone/>
            </a:pPr>
            <a:r>
              <a:rPr lang="en-US" sz="1750" dirty="0">
                <a:solidFill>
                  <a:srgbClr val="15213F"/>
                </a:solidFill>
                <a:latin typeface="Roboto Slab" pitchFamily="34" charset="0"/>
                <a:ea typeface="Roboto Slab" pitchFamily="34" charset="-122"/>
                <a:cs typeface="Roboto Slab" pitchFamily="34" charset="-120"/>
              </a:rPr>
              <a:t>Establish Trust as Prerequisite</a:t>
            </a:r>
            <a:endParaRPr lang="en-US" sz="1750" dirty="0"/>
          </a:p>
        </p:txBody>
      </p:sp>
      <p:sp>
        <p:nvSpPr>
          <p:cNvPr id="22" name="Text 16"/>
          <p:cNvSpPr/>
          <p:nvPr/>
        </p:nvSpPr>
        <p:spPr>
          <a:xfrm>
            <a:off x="7587377" y="5970032"/>
            <a:ext cx="6067782" cy="1161098"/>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Nearly 1 in 5 people (17%) have trust barriers blocking adoption. For these individuals, feature demonstrations and capability presentations are useless until trust is established. Organizations must diagnose who has trust deficits and implement trust-building interventions first.</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760928"/>
            <a:ext cx="4820007" cy="602456"/>
          </a:xfrm>
          <a:prstGeom prst="rect">
            <a:avLst/>
          </a:prstGeom>
          <a:noFill/>
          <a:ln/>
        </p:spPr>
        <p:txBody>
          <a:bodyPr wrap="none" lIns="0" tIns="0" rIns="0" bIns="0" rtlCol="0" anchor="t"/>
          <a:lstStyle/>
          <a:p>
            <a:pPr algn="l" indent="0" marL="0">
              <a:lnSpc>
                <a:spcPts val="4700"/>
              </a:lnSpc>
              <a:buNone/>
            </a:pPr>
            <a:r>
              <a:rPr lang="en-US" sz="3750" dirty="0">
                <a:solidFill>
                  <a:srgbClr val="3257B8"/>
                </a:solidFill>
                <a:latin typeface="Roboto Slab" pitchFamily="34" charset="0"/>
                <a:ea typeface="Roboto Slab" pitchFamily="34" charset="-122"/>
                <a:cs typeface="Roboto Slab" pitchFamily="34" charset="-120"/>
              </a:rPr>
              <a:t>Study Limitations</a:t>
            </a:r>
            <a:endParaRPr lang="en-US" sz="3750" dirty="0"/>
          </a:p>
        </p:txBody>
      </p:sp>
      <p:sp>
        <p:nvSpPr>
          <p:cNvPr id="3" name="Shape 1"/>
          <p:cNvSpPr/>
          <p:nvPr/>
        </p:nvSpPr>
        <p:spPr>
          <a:xfrm>
            <a:off x="793790" y="1748909"/>
            <a:ext cx="13042821" cy="4886087"/>
          </a:xfrm>
          <a:prstGeom prst="roundRect">
            <a:avLst>
              <a:gd name="adj" fmla="val 592"/>
            </a:avLst>
          </a:prstGeom>
          <a:noFill/>
          <a:ln w="7620">
            <a:solidFill>
              <a:srgbClr val="000000">
                <a:alpha val="8000"/>
              </a:srgbClr>
            </a:solidFill>
            <a:prstDash val="solid"/>
          </a:ln>
        </p:spPr>
      </p:sp>
      <p:sp>
        <p:nvSpPr>
          <p:cNvPr id="4" name="Shape 2"/>
          <p:cNvSpPr/>
          <p:nvPr/>
        </p:nvSpPr>
        <p:spPr>
          <a:xfrm>
            <a:off x="801410" y="1756529"/>
            <a:ext cx="13026271" cy="554831"/>
          </a:xfrm>
          <a:prstGeom prst="rect">
            <a:avLst/>
          </a:prstGeom>
          <a:solidFill>
            <a:srgbClr val="FFFFFF">
              <a:alpha val="4000"/>
            </a:srgbClr>
          </a:solidFill>
          <a:ln/>
        </p:spPr>
      </p:sp>
      <p:sp>
        <p:nvSpPr>
          <p:cNvPr id="5" name="Text 3"/>
          <p:cNvSpPr/>
          <p:nvPr/>
        </p:nvSpPr>
        <p:spPr>
          <a:xfrm>
            <a:off x="995601" y="1879759"/>
            <a:ext cx="3952280"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Limitation</a:t>
            </a:r>
            <a:endParaRPr lang="en-US" sz="1500" dirty="0"/>
          </a:p>
        </p:txBody>
      </p:sp>
      <p:sp>
        <p:nvSpPr>
          <p:cNvPr id="6" name="Text 4"/>
          <p:cNvSpPr/>
          <p:nvPr/>
        </p:nvSpPr>
        <p:spPr>
          <a:xfrm>
            <a:off x="5341025" y="1879759"/>
            <a:ext cx="3948470"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Implication</a:t>
            </a:r>
            <a:endParaRPr lang="en-US" sz="1500" dirty="0"/>
          </a:p>
        </p:txBody>
      </p:sp>
      <p:sp>
        <p:nvSpPr>
          <p:cNvPr id="7" name="Text 5"/>
          <p:cNvSpPr/>
          <p:nvPr/>
        </p:nvSpPr>
        <p:spPr>
          <a:xfrm>
            <a:off x="9682639" y="1879759"/>
            <a:ext cx="3952280"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Mitigation Strategy</a:t>
            </a:r>
            <a:endParaRPr lang="en-US" sz="1500" dirty="0"/>
          </a:p>
        </p:txBody>
      </p:sp>
      <p:sp>
        <p:nvSpPr>
          <p:cNvPr id="8" name="Shape 6"/>
          <p:cNvSpPr/>
          <p:nvPr/>
        </p:nvSpPr>
        <p:spPr>
          <a:xfrm>
            <a:off x="801410" y="2311360"/>
            <a:ext cx="13026271" cy="863203"/>
          </a:xfrm>
          <a:prstGeom prst="rect">
            <a:avLst/>
          </a:prstGeom>
          <a:solidFill>
            <a:srgbClr val="000000">
              <a:alpha val="4000"/>
            </a:srgbClr>
          </a:solidFill>
          <a:ln/>
        </p:spPr>
      </p:sp>
      <p:sp>
        <p:nvSpPr>
          <p:cNvPr id="9" name="Text 7"/>
          <p:cNvSpPr/>
          <p:nvPr/>
        </p:nvSpPr>
        <p:spPr>
          <a:xfrm>
            <a:off x="995601" y="2434590"/>
            <a:ext cx="3952280"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Cross-sectional design</a:t>
            </a:r>
            <a:endParaRPr lang="en-US" sz="1500" dirty="0"/>
          </a:p>
        </p:txBody>
      </p:sp>
      <p:sp>
        <p:nvSpPr>
          <p:cNvPr id="10" name="Text 8"/>
          <p:cNvSpPr/>
          <p:nvPr/>
        </p:nvSpPr>
        <p:spPr>
          <a:xfrm>
            <a:off x="5341025" y="2434590"/>
            <a:ext cx="3948470"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Cannot establish causality, only correlation</a:t>
            </a:r>
            <a:endParaRPr lang="en-US" sz="1500" dirty="0"/>
          </a:p>
        </p:txBody>
      </p:sp>
      <p:sp>
        <p:nvSpPr>
          <p:cNvPr id="11" name="Text 9"/>
          <p:cNvSpPr/>
          <p:nvPr/>
        </p:nvSpPr>
        <p:spPr>
          <a:xfrm>
            <a:off x="9682639" y="2434590"/>
            <a:ext cx="3952280"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Longitudinal research needed to track behavior over time</a:t>
            </a:r>
            <a:endParaRPr lang="en-US" sz="1500" dirty="0"/>
          </a:p>
        </p:txBody>
      </p:sp>
      <p:sp>
        <p:nvSpPr>
          <p:cNvPr id="12" name="Shape 10"/>
          <p:cNvSpPr/>
          <p:nvPr/>
        </p:nvSpPr>
        <p:spPr>
          <a:xfrm>
            <a:off x="801410" y="3174563"/>
            <a:ext cx="13026271" cy="863203"/>
          </a:xfrm>
          <a:prstGeom prst="rect">
            <a:avLst/>
          </a:prstGeom>
          <a:solidFill>
            <a:srgbClr val="FFFFFF">
              <a:alpha val="4000"/>
            </a:srgbClr>
          </a:solidFill>
          <a:ln/>
        </p:spPr>
      </p:sp>
      <p:sp>
        <p:nvSpPr>
          <p:cNvPr id="13" name="Text 11"/>
          <p:cNvSpPr/>
          <p:nvPr/>
        </p:nvSpPr>
        <p:spPr>
          <a:xfrm>
            <a:off x="995601" y="3297793"/>
            <a:ext cx="3952280"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Self-reported measures</a:t>
            </a:r>
            <a:endParaRPr lang="en-US" sz="1500" dirty="0"/>
          </a:p>
        </p:txBody>
      </p:sp>
      <p:sp>
        <p:nvSpPr>
          <p:cNvPr id="14" name="Text 12"/>
          <p:cNvSpPr/>
          <p:nvPr/>
        </p:nvSpPr>
        <p:spPr>
          <a:xfrm>
            <a:off x="5341025" y="3297793"/>
            <a:ext cx="3948470"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Behavioral intention may not equal actual behavior</a:t>
            </a:r>
            <a:endParaRPr lang="en-US" sz="1500" dirty="0"/>
          </a:p>
        </p:txBody>
      </p:sp>
      <p:sp>
        <p:nvSpPr>
          <p:cNvPr id="15" name="Text 13"/>
          <p:cNvSpPr/>
          <p:nvPr/>
        </p:nvSpPr>
        <p:spPr>
          <a:xfrm>
            <a:off x="9682639" y="3297793"/>
            <a:ext cx="3952280"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Validated against actual usage (ρ = .69); strong correlation achieved</a:t>
            </a:r>
            <a:endParaRPr lang="en-US" sz="1500" dirty="0"/>
          </a:p>
        </p:txBody>
      </p:sp>
      <p:sp>
        <p:nvSpPr>
          <p:cNvPr id="16" name="Shape 14"/>
          <p:cNvSpPr/>
          <p:nvPr/>
        </p:nvSpPr>
        <p:spPr>
          <a:xfrm>
            <a:off x="801410" y="4037767"/>
            <a:ext cx="13026271" cy="863203"/>
          </a:xfrm>
          <a:prstGeom prst="rect">
            <a:avLst/>
          </a:prstGeom>
          <a:solidFill>
            <a:srgbClr val="000000">
              <a:alpha val="4000"/>
            </a:srgbClr>
          </a:solidFill>
          <a:ln/>
        </p:spPr>
      </p:sp>
      <p:sp>
        <p:nvSpPr>
          <p:cNvPr id="17" name="Text 15"/>
          <p:cNvSpPr/>
          <p:nvPr/>
        </p:nvSpPr>
        <p:spPr>
          <a:xfrm>
            <a:off x="995601" y="4160996"/>
            <a:ext cx="3952280"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Convenience sample</a:t>
            </a:r>
            <a:endParaRPr lang="en-US" sz="1500" dirty="0"/>
          </a:p>
        </p:txBody>
      </p:sp>
      <p:sp>
        <p:nvSpPr>
          <p:cNvPr id="18" name="Text 16"/>
          <p:cNvSpPr/>
          <p:nvPr/>
        </p:nvSpPr>
        <p:spPr>
          <a:xfrm>
            <a:off x="5341025" y="4160996"/>
            <a:ext cx="3948470"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Potential self-selection bias</a:t>
            </a:r>
            <a:endParaRPr lang="en-US" sz="1500" dirty="0"/>
          </a:p>
        </p:txBody>
      </p:sp>
      <p:sp>
        <p:nvSpPr>
          <p:cNvPr id="19" name="Text 17"/>
          <p:cNvSpPr/>
          <p:nvPr/>
        </p:nvSpPr>
        <p:spPr>
          <a:xfrm>
            <a:off x="9682639" y="4160996"/>
            <a:ext cx="3952280"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Diverse demographics recruited; rigorous quality controls applied</a:t>
            </a:r>
            <a:endParaRPr lang="en-US" sz="1500" dirty="0"/>
          </a:p>
        </p:txBody>
      </p:sp>
      <p:sp>
        <p:nvSpPr>
          <p:cNvPr id="20" name="Shape 18"/>
          <p:cNvSpPr/>
          <p:nvPr/>
        </p:nvSpPr>
        <p:spPr>
          <a:xfrm>
            <a:off x="801410" y="4900970"/>
            <a:ext cx="13026271" cy="863203"/>
          </a:xfrm>
          <a:prstGeom prst="rect">
            <a:avLst/>
          </a:prstGeom>
          <a:solidFill>
            <a:srgbClr val="FFFFFF">
              <a:alpha val="4000"/>
            </a:srgbClr>
          </a:solidFill>
          <a:ln/>
        </p:spPr>
      </p:sp>
      <p:sp>
        <p:nvSpPr>
          <p:cNvPr id="21" name="Text 19"/>
          <p:cNvSpPr/>
          <p:nvPr/>
        </p:nvSpPr>
        <p:spPr>
          <a:xfrm>
            <a:off x="995601" y="5024199"/>
            <a:ext cx="3952280"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US-based participants</a:t>
            </a:r>
            <a:endParaRPr lang="en-US" sz="1500" dirty="0"/>
          </a:p>
        </p:txBody>
      </p:sp>
      <p:sp>
        <p:nvSpPr>
          <p:cNvPr id="22" name="Text 20"/>
          <p:cNvSpPr/>
          <p:nvPr/>
        </p:nvSpPr>
        <p:spPr>
          <a:xfrm>
            <a:off x="5341025" y="5024199"/>
            <a:ext cx="3948470"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Cultural factors may not generalize globally</a:t>
            </a:r>
            <a:endParaRPr lang="en-US" sz="1500" dirty="0"/>
          </a:p>
        </p:txBody>
      </p:sp>
      <p:sp>
        <p:nvSpPr>
          <p:cNvPr id="23" name="Text 21"/>
          <p:cNvSpPr/>
          <p:nvPr/>
        </p:nvSpPr>
        <p:spPr>
          <a:xfrm>
            <a:off x="9682639" y="5024199"/>
            <a:ext cx="3952280"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Cross-cultural replication recommended for international contexts</a:t>
            </a:r>
            <a:endParaRPr lang="en-US" sz="1500" dirty="0"/>
          </a:p>
        </p:txBody>
      </p:sp>
      <p:sp>
        <p:nvSpPr>
          <p:cNvPr id="24" name="Shape 22"/>
          <p:cNvSpPr/>
          <p:nvPr/>
        </p:nvSpPr>
        <p:spPr>
          <a:xfrm>
            <a:off x="801410" y="5764173"/>
            <a:ext cx="13026271" cy="863203"/>
          </a:xfrm>
          <a:prstGeom prst="rect">
            <a:avLst/>
          </a:prstGeom>
          <a:solidFill>
            <a:srgbClr val="000000">
              <a:alpha val="4000"/>
            </a:srgbClr>
          </a:solidFill>
          <a:ln/>
        </p:spPr>
      </p:sp>
      <p:sp>
        <p:nvSpPr>
          <p:cNvPr id="25" name="Text 23"/>
          <p:cNvSpPr/>
          <p:nvPr/>
        </p:nvSpPr>
        <p:spPr>
          <a:xfrm>
            <a:off x="995601" y="5887403"/>
            <a:ext cx="3952280"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Four dropped constructs</a:t>
            </a:r>
            <a:endParaRPr lang="en-US" sz="1500" dirty="0"/>
          </a:p>
        </p:txBody>
      </p:sp>
      <p:sp>
        <p:nvSpPr>
          <p:cNvPr id="26" name="Text 24"/>
          <p:cNvSpPr/>
          <p:nvPr/>
        </p:nvSpPr>
        <p:spPr>
          <a:xfrm>
            <a:off x="5341025" y="5887403"/>
            <a:ext cx="3948470"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Voluntariness, Explainability, Ethical Risk, AI Anxiety failed psychometrically (α &lt; .60)</a:t>
            </a:r>
            <a:endParaRPr lang="en-US" sz="1500" dirty="0"/>
          </a:p>
        </p:txBody>
      </p:sp>
      <p:sp>
        <p:nvSpPr>
          <p:cNvPr id="27" name="Text 25"/>
          <p:cNvSpPr/>
          <p:nvPr/>
        </p:nvSpPr>
        <p:spPr>
          <a:xfrm>
            <a:off x="9682639" y="5887403"/>
            <a:ext cx="3952280"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Construct redesign and revalidation needed in future research</a:t>
            </a:r>
            <a:endParaRPr lang="en-US" sz="1500" dirty="0"/>
          </a:p>
        </p:txBody>
      </p:sp>
      <p:sp>
        <p:nvSpPr>
          <p:cNvPr id="28" name="Text 26"/>
          <p:cNvSpPr/>
          <p:nvPr/>
        </p:nvSpPr>
        <p:spPr>
          <a:xfrm>
            <a:off x="793790" y="6851809"/>
            <a:ext cx="13042821"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While these limitations exist, the study's strengths—large sample size, rigorous psychometric validation, strong model fit, and behavioral validation—support confidence in the core findings. The limitations primarily indicate directions for future research rather than undermining current conclusions.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751403"/>
            <a:ext cx="7354729"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Roboto Slab" pitchFamily="34" charset="0"/>
                <a:ea typeface="Roboto Slab" pitchFamily="34" charset="-122"/>
                <a:cs typeface="Roboto Slab" pitchFamily="34" charset="-120"/>
              </a:rPr>
              <a:t>AI-Specific Constructs That Failed</a:t>
            </a:r>
            <a:endParaRPr lang="en-US" sz="3550" dirty="0"/>
          </a:p>
        </p:txBody>
      </p:sp>
      <p:sp>
        <p:nvSpPr>
          <p:cNvPr id="3" name="Text 1"/>
          <p:cNvSpPr/>
          <p:nvPr/>
        </p:nvSpPr>
        <p:spPr>
          <a:xfrm>
            <a:off x="793790" y="1390888"/>
            <a:ext cx="8371403" cy="453628"/>
          </a:xfrm>
          <a:prstGeom prst="rect">
            <a:avLst/>
          </a:prstGeom>
          <a:noFill/>
          <a:ln/>
        </p:spPr>
        <p:txBody>
          <a:bodyPr wrap="none" lIns="0" tIns="0" rIns="0" bIns="0" rtlCol="0" anchor="t"/>
          <a:lstStyle/>
          <a:p>
            <a:pPr algn="l" indent="0" marL="0">
              <a:lnSpc>
                <a:spcPts val="3550"/>
              </a:lnSpc>
              <a:buNone/>
            </a:pPr>
            <a:r>
              <a:rPr lang="en-US" sz="2850" dirty="0">
                <a:solidFill>
                  <a:srgbClr val="3257B8"/>
                </a:solidFill>
                <a:latin typeface="Roboto Slab" pitchFamily="34" charset="0"/>
                <a:ea typeface="Roboto Slab" pitchFamily="34" charset="-122"/>
                <a:cs typeface="Roboto Slab" pitchFamily="34" charset="-120"/>
              </a:rPr>
              <a:t>Measurement Challenges Requiring Future Work</a:t>
            </a:r>
            <a:endParaRPr lang="en-US" sz="2850" dirty="0"/>
          </a:p>
        </p:txBody>
      </p:sp>
      <p:sp>
        <p:nvSpPr>
          <p:cNvPr id="4" name="Shape 2"/>
          <p:cNvSpPr/>
          <p:nvPr/>
        </p:nvSpPr>
        <p:spPr>
          <a:xfrm>
            <a:off x="793790" y="2116693"/>
            <a:ext cx="13042821" cy="3792141"/>
          </a:xfrm>
          <a:prstGeom prst="roundRect">
            <a:avLst>
              <a:gd name="adj" fmla="val 718"/>
            </a:avLst>
          </a:prstGeom>
          <a:noFill/>
          <a:ln w="7620">
            <a:solidFill>
              <a:srgbClr val="000000">
                <a:alpha val="8000"/>
              </a:srgbClr>
            </a:solidFill>
            <a:prstDash val="solid"/>
          </a:ln>
        </p:spPr>
      </p:sp>
      <p:sp>
        <p:nvSpPr>
          <p:cNvPr id="5" name="Shape 3"/>
          <p:cNvSpPr/>
          <p:nvPr/>
        </p:nvSpPr>
        <p:spPr>
          <a:xfrm>
            <a:off x="801410" y="2124313"/>
            <a:ext cx="13026271" cy="523161"/>
          </a:xfrm>
          <a:prstGeom prst="rect">
            <a:avLst/>
          </a:prstGeom>
          <a:solidFill>
            <a:srgbClr val="FFFFFF">
              <a:alpha val="4000"/>
            </a:srgbClr>
          </a:solidFill>
          <a:ln/>
        </p:spPr>
      </p:sp>
      <p:sp>
        <p:nvSpPr>
          <p:cNvPr id="6" name="Text 4"/>
          <p:cNvSpPr/>
          <p:nvPr/>
        </p:nvSpPr>
        <p:spPr>
          <a:xfrm>
            <a:off x="984290" y="2240756"/>
            <a:ext cx="3974902" cy="290274"/>
          </a:xfrm>
          <a:prstGeom prst="rect">
            <a:avLst/>
          </a:prstGeom>
          <a:noFill/>
          <a:ln/>
        </p:spPr>
        <p:txBody>
          <a:bodyPr wrap="non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Construct</a:t>
            </a:r>
            <a:endParaRPr lang="en-US" sz="1400" dirty="0"/>
          </a:p>
        </p:txBody>
      </p:sp>
      <p:sp>
        <p:nvSpPr>
          <p:cNvPr id="7" name="Text 5"/>
          <p:cNvSpPr/>
          <p:nvPr/>
        </p:nvSpPr>
        <p:spPr>
          <a:xfrm>
            <a:off x="5329714" y="2240756"/>
            <a:ext cx="3971092" cy="290274"/>
          </a:xfrm>
          <a:prstGeom prst="rect">
            <a:avLst/>
          </a:prstGeom>
          <a:noFill/>
          <a:ln/>
        </p:spPr>
        <p:txBody>
          <a:bodyPr wrap="non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Reliability (α)</a:t>
            </a:r>
            <a:endParaRPr lang="en-US" sz="1400" dirty="0"/>
          </a:p>
        </p:txBody>
      </p:sp>
      <p:sp>
        <p:nvSpPr>
          <p:cNvPr id="8" name="Text 6"/>
          <p:cNvSpPr/>
          <p:nvPr/>
        </p:nvSpPr>
        <p:spPr>
          <a:xfrm>
            <a:off x="9671328" y="2240756"/>
            <a:ext cx="3974902" cy="290274"/>
          </a:xfrm>
          <a:prstGeom prst="rect">
            <a:avLst/>
          </a:prstGeom>
          <a:noFill/>
          <a:ln/>
        </p:spPr>
        <p:txBody>
          <a:bodyPr wrap="non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Measurement Issue</a:t>
            </a:r>
            <a:endParaRPr lang="en-US" sz="1400" dirty="0"/>
          </a:p>
        </p:txBody>
      </p:sp>
      <p:sp>
        <p:nvSpPr>
          <p:cNvPr id="9" name="Shape 7"/>
          <p:cNvSpPr/>
          <p:nvPr/>
        </p:nvSpPr>
        <p:spPr>
          <a:xfrm>
            <a:off x="801410" y="2647474"/>
            <a:ext cx="13026271" cy="813435"/>
          </a:xfrm>
          <a:prstGeom prst="rect">
            <a:avLst/>
          </a:prstGeom>
          <a:solidFill>
            <a:srgbClr val="000000">
              <a:alpha val="4000"/>
            </a:srgbClr>
          </a:solidFill>
          <a:ln/>
        </p:spPr>
      </p:sp>
      <p:sp>
        <p:nvSpPr>
          <p:cNvPr id="10" name="Text 8"/>
          <p:cNvSpPr/>
          <p:nvPr/>
        </p:nvSpPr>
        <p:spPr>
          <a:xfrm>
            <a:off x="984290" y="2763917"/>
            <a:ext cx="397490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Voluntariness</a:t>
            </a:r>
            <a:endParaRPr lang="en-US" sz="1400" dirty="0"/>
          </a:p>
        </p:txBody>
      </p:sp>
      <p:sp>
        <p:nvSpPr>
          <p:cNvPr id="11" name="Text 9"/>
          <p:cNvSpPr/>
          <p:nvPr/>
        </p:nvSpPr>
        <p:spPr>
          <a:xfrm>
            <a:off x="5329714" y="2763917"/>
            <a:ext cx="397109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.301</a:t>
            </a:r>
            <a:endParaRPr lang="en-US" sz="1400" dirty="0"/>
          </a:p>
        </p:txBody>
      </p:sp>
      <p:sp>
        <p:nvSpPr>
          <p:cNvPr id="12" name="Text 10"/>
          <p:cNvSpPr/>
          <p:nvPr/>
        </p:nvSpPr>
        <p:spPr>
          <a:xfrm>
            <a:off x="9671328" y="2763917"/>
            <a:ext cx="3974902" cy="580549"/>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Conceptual conflict between mandatory and choice items</a:t>
            </a:r>
            <a:endParaRPr lang="en-US" sz="1400" dirty="0"/>
          </a:p>
        </p:txBody>
      </p:sp>
      <p:sp>
        <p:nvSpPr>
          <p:cNvPr id="13" name="Shape 11"/>
          <p:cNvSpPr/>
          <p:nvPr/>
        </p:nvSpPr>
        <p:spPr>
          <a:xfrm>
            <a:off x="801410" y="3460909"/>
            <a:ext cx="13026271" cy="813435"/>
          </a:xfrm>
          <a:prstGeom prst="rect">
            <a:avLst/>
          </a:prstGeom>
          <a:solidFill>
            <a:srgbClr val="FFFFFF">
              <a:alpha val="4000"/>
            </a:srgbClr>
          </a:solidFill>
          <a:ln/>
        </p:spPr>
      </p:sp>
      <p:sp>
        <p:nvSpPr>
          <p:cNvPr id="14" name="Text 12"/>
          <p:cNvSpPr/>
          <p:nvPr/>
        </p:nvSpPr>
        <p:spPr>
          <a:xfrm>
            <a:off x="984290" y="3577352"/>
            <a:ext cx="397490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Explainability</a:t>
            </a:r>
            <a:endParaRPr lang="en-US" sz="1400" dirty="0"/>
          </a:p>
        </p:txBody>
      </p:sp>
      <p:sp>
        <p:nvSpPr>
          <p:cNvPr id="15" name="Text 13"/>
          <p:cNvSpPr/>
          <p:nvPr/>
        </p:nvSpPr>
        <p:spPr>
          <a:xfrm>
            <a:off x="5329714" y="3577352"/>
            <a:ext cx="397109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.503</a:t>
            </a:r>
            <a:endParaRPr lang="en-US" sz="1400" dirty="0"/>
          </a:p>
        </p:txBody>
      </p:sp>
      <p:sp>
        <p:nvSpPr>
          <p:cNvPr id="16" name="Text 14"/>
          <p:cNvSpPr/>
          <p:nvPr/>
        </p:nvSpPr>
        <p:spPr>
          <a:xfrm>
            <a:off x="9671328" y="3577352"/>
            <a:ext cx="3974902" cy="580549"/>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Multi-dimensional concept conflated into overly broad items</a:t>
            </a:r>
            <a:endParaRPr lang="en-US" sz="1400" dirty="0"/>
          </a:p>
        </p:txBody>
      </p:sp>
      <p:sp>
        <p:nvSpPr>
          <p:cNvPr id="17" name="Shape 15"/>
          <p:cNvSpPr/>
          <p:nvPr/>
        </p:nvSpPr>
        <p:spPr>
          <a:xfrm>
            <a:off x="801410" y="4274344"/>
            <a:ext cx="13026271" cy="813435"/>
          </a:xfrm>
          <a:prstGeom prst="rect">
            <a:avLst/>
          </a:prstGeom>
          <a:solidFill>
            <a:srgbClr val="000000">
              <a:alpha val="4000"/>
            </a:srgbClr>
          </a:solidFill>
          <a:ln/>
        </p:spPr>
      </p:sp>
      <p:sp>
        <p:nvSpPr>
          <p:cNvPr id="18" name="Text 16"/>
          <p:cNvSpPr/>
          <p:nvPr/>
        </p:nvSpPr>
        <p:spPr>
          <a:xfrm>
            <a:off x="984290" y="4390787"/>
            <a:ext cx="397490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Ethical Risk</a:t>
            </a:r>
            <a:endParaRPr lang="en-US" sz="1400" dirty="0"/>
          </a:p>
        </p:txBody>
      </p:sp>
      <p:sp>
        <p:nvSpPr>
          <p:cNvPr id="19" name="Text 17"/>
          <p:cNvSpPr/>
          <p:nvPr/>
        </p:nvSpPr>
        <p:spPr>
          <a:xfrm>
            <a:off x="5329714" y="4390787"/>
            <a:ext cx="397109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.582</a:t>
            </a:r>
            <a:endParaRPr lang="en-US" sz="1400" dirty="0"/>
          </a:p>
        </p:txBody>
      </p:sp>
      <p:sp>
        <p:nvSpPr>
          <p:cNvPr id="20" name="Text 18"/>
          <p:cNvSpPr/>
          <p:nvPr/>
        </p:nvSpPr>
        <p:spPr>
          <a:xfrm>
            <a:off x="9671328" y="4390787"/>
            <a:ext cx="3974902" cy="580549"/>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Near threshold; personal vs. societal ethics conflated</a:t>
            </a:r>
            <a:endParaRPr lang="en-US" sz="1400" dirty="0"/>
          </a:p>
        </p:txBody>
      </p:sp>
      <p:sp>
        <p:nvSpPr>
          <p:cNvPr id="21" name="Shape 19"/>
          <p:cNvSpPr/>
          <p:nvPr/>
        </p:nvSpPr>
        <p:spPr>
          <a:xfrm>
            <a:off x="801410" y="5087779"/>
            <a:ext cx="13026271" cy="813435"/>
          </a:xfrm>
          <a:prstGeom prst="rect">
            <a:avLst/>
          </a:prstGeom>
          <a:solidFill>
            <a:srgbClr val="FFFFFF">
              <a:alpha val="4000"/>
            </a:srgbClr>
          </a:solidFill>
          <a:ln/>
        </p:spPr>
      </p:sp>
      <p:sp>
        <p:nvSpPr>
          <p:cNvPr id="22" name="Text 20"/>
          <p:cNvSpPr/>
          <p:nvPr/>
        </p:nvSpPr>
        <p:spPr>
          <a:xfrm>
            <a:off x="984290" y="5204222"/>
            <a:ext cx="397490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AI Anxiety</a:t>
            </a:r>
            <a:endParaRPr lang="en-US" sz="1400" dirty="0"/>
          </a:p>
        </p:txBody>
      </p:sp>
      <p:sp>
        <p:nvSpPr>
          <p:cNvPr id="23" name="Text 21"/>
          <p:cNvSpPr/>
          <p:nvPr/>
        </p:nvSpPr>
        <p:spPr>
          <a:xfrm>
            <a:off x="5329714" y="5204222"/>
            <a:ext cx="397109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.423</a:t>
            </a:r>
            <a:endParaRPr lang="en-US" sz="1400" dirty="0"/>
          </a:p>
        </p:txBody>
      </p:sp>
      <p:sp>
        <p:nvSpPr>
          <p:cNvPr id="24" name="Text 22"/>
          <p:cNvSpPr/>
          <p:nvPr/>
        </p:nvSpPr>
        <p:spPr>
          <a:xfrm>
            <a:off x="9671328" y="5204222"/>
            <a:ext cx="3974902" cy="580549"/>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Overlap with general technology anxiety; poor discriminant validity</a:t>
            </a:r>
            <a:endParaRPr lang="en-US" sz="1400" dirty="0"/>
          </a:p>
        </p:txBody>
      </p:sp>
      <p:sp>
        <p:nvSpPr>
          <p:cNvPr id="25" name="Text 23"/>
          <p:cNvSpPr/>
          <p:nvPr/>
        </p:nvSpPr>
        <p:spPr>
          <a:xfrm>
            <a:off x="793790" y="6112907"/>
            <a:ext cx="13042821" cy="580549"/>
          </a:xfrm>
          <a:prstGeom prst="rect">
            <a:avLst/>
          </a:prstGeom>
          <a:noFill/>
          <a:ln/>
        </p:spPr>
        <p:txBody>
          <a:bodyPr wrap="square" lIns="0" tIns="0" rIns="0" bIns="0" rtlCol="0" anchor="t"/>
          <a:lstStyle/>
          <a:p>
            <a:pPr algn="l" indent="0" marL="0">
              <a:lnSpc>
                <a:spcPts val="2250"/>
              </a:lnSpc>
              <a:buNone/>
            </a:pPr>
            <a:r>
              <a:rPr lang="en-US" sz="1400" dirty="0">
                <a:solidFill>
                  <a:srgbClr val="FFFFFF"/>
                </a:solidFill>
                <a:highlight>
                  <a:srgbClr val="3257B8"/>
                </a:highlight>
                <a:latin typeface="Roboto" pitchFamily="34" charset="0"/>
                <a:ea typeface="Roboto" pitchFamily="34" charset="-122"/>
                <a:cs typeface="Roboto" pitchFamily="34" charset="-120"/>
              </a:rPr>
              <a:t>Critical distinction:</a:t>
            </a:r>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 These are measurement failures, not theoretical failures. The constructs are conceptually important for understanding AI adoption—Venkatesh (2021) identified several of them as critical AI-specific factors. They require better operationalization through item redesign and revalidation, not abandonment.</a:t>
            </a:r>
            <a:endParaRPr lang="en-US" sz="1400" dirty="0"/>
          </a:p>
        </p:txBody>
      </p:sp>
      <p:sp>
        <p:nvSpPr>
          <p:cNvPr id="26" name="Text 24"/>
          <p:cNvSpPr/>
          <p:nvPr/>
        </p:nvSpPr>
        <p:spPr>
          <a:xfrm>
            <a:off x="793790" y="6897529"/>
            <a:ext cx="13042821" cy="580549"/>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Future research should decompose Explainability into transparency, interpretability, and auditability; separate Ethical Risk into individual and societal concerns; reframe Voluntariness as perceived pressure; and distinguish AI Anxiety from general technology discomfort.</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741045"/>
            <a:ext cx="10288667"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Future Research Directions: Validation</a:t>
            </a:r>
            <a:endParaRPr lang="en-US" sz="4450" dirty="0"/>
          </a:p>
        </p:txBody>
      </p:sp>
      <p:sp>
        <p:nvSpPr>
          <p:cNvPr id="3" name="Shape 1"/>
          <p:cNvSpPr/>
          <p:nvPr/>
        </p:nvSpPr>
        <p:spPr>
          <a:xfrm>
            <a:off x="1133951" y="2810708"/>
            <a:ext cx="3856077" cy="226814"/>
          </a:xfrm>
          <a:prstGeom prst="roundRect">
            <a:avLst>
              <a:gd name="adj" fmla="val 15001"/>
            </a:avLst>
          </a:prstGeom>
          <a:solidFill>
            <a:srgbClr val="E9ECF2"/>
          </a:solidFill>
          <a:ln/>
        </p:spPr>
      </p:sp>
      <p:sp>
        <p:nvSpPr>
          <p:cNvPr id="4" name="Shape 2"/>
          <p:cNvSpPr/>
          <p:nvPr/>
        </p:nvSpPr>
        <p:spPr>
          <a:xfrm>
            <a:off x="793790" y="2583835"/>
            <a:ext cx="680442" cy="680442"/>
          </a:xfrm>
          <a:prstGeom prst="roundRect">
            <a:avLst>
              <a:gd name="adj" fmla="val 67192"/>
            </a:avLst>
          </a:prstGeom>
          <a:solidFill>
            <a:srgbClr val="E9ECF2"/>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3930" y="2753975"/>
            <a:ext cx="340162" cy="340162"/>
          </a:xfrm>
          <a:prstGeom prst="rect">
            <a:avLst/>
          </a:prstGeom>
        </p:spPr>
      </p:pic>
      <p:sp>
        <p:nvSpPr>
          <p:cNvPr id="6" name="Text 3"/>
          <p:cNvSpPr/>
          <p:nvPr/>
        </p:nvSpPr>
        <p:spPr>
          <a:xfrm>
            <a:off x="1020604" y="3491151"/>
            <a:ext cx="3192899"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Longitudinal Validation</a:t>
            </a:r>
            <a:endParaRPr lang="en-US" sz="2200" dirty="0"/>
          </a:p>
        </p:txBody>
      </p:sp>
      <p:sp>
        <p:nvSpPr>
          <p:cNvPr id="7" name="Text 4"/>
          <p:cNvSpPr/>
          <p:nvPr/>
        </p:nvSpPr>
        <p:spPr>
          <a:xfrm>
            <a:off x="1020604" y="3981569"/>
            <a:ext cx="3742730" cy="2903220"/>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Track participants over 6-12 months to test whether behavioral intention scores predict actual adoption behavior. Does someone scoring high on BI at Time 1 actually adopt AI tools by Time 2? This establishes predictive validity beyond cross-sectional correlation.</a:t>
            </a:r>
            <a:endParaRPr lang="en-US" sz="1750" dirty="0"/>
          </a:p>
        </p:txBody>
      </p:sp>
      <p:sp>
        <p:nvSpPr>
          <p:cNvPr id="8" name="Shape 5"/>
          <p:cNvSpPr/>
          <p:nvPr/>
        </p:nvSpPr>
        <p:spPr>
          <a:xfrm>
            <a:off x="5557123" y="2470428"/>
            <a:ext cx="3856077" cy="226814"/>
          </a:xfrm>
          <a:prstGeom prst="roundRect">
            <a:avLst>
              <a:gd name="adj" fmla="val 15001"/>
            </a:avLst>
          </a:prstGeom>
          <a:solidFill>
            <a:srgbClr val="E9ECF2"/>
          </a:solidFill>
          <a:ln/>
        </p:spPr>
      </p:sp>
      <p:sp>
        <p:nvSpPr>
          <p:cNvPr id="9" name="Shape 6"/>
          <p:cNvSpPr/>
          <p:nvPr/>
        </p:nvSpPr>
        <p:spPr>
          <a:xfrm>
            <a:off x="5216962" y="2243554"/>
            <a:ext cx="680442" cy="680442"/>
          </a:xfrm>
          <a:prstGeom prst="roundRect">
            <a:avLst>
              <a:gd name="adj" fmla="val 67192"/>
            </a:avLst>
          </a:prstGeom>
          <a:solidFill>
            <a:srgbClr val="E9ECF2"/>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87102" y="2413695"/>
            <a:ext cx="340162" cy="340162"/>
          </a:xfrm>
          <a:prstGeom prst="rect">
            <a:avLst/>
          </a:prstGeom>
        </p:spPr>
      </p:pic>
      <p:sp>
        <p:nvSpPr>
          <p:cNvPr id="11" name="Text 7"/>
          <p:cNvSpPr/>
          <p:nvPr/>
        </p:nvSpPr>
        <p:spPr>
          <a:xfrm>
            <a:off x="5443776" y="3150870"/>
            <a:ext cx="3742730" cy="708660"/>
          </a:xfrm>
          <a:prstGeom prst="rect">
            <a:avLst/>
          </a:prstGeom>
          <a:noFill/>
          <a:ln/>
        </p:spPr>
        <p:txBody>
          <a:bodyPr wrap="squar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AI-Specific Construct Development</a:t>
            </a:r>
            <a:endParaRPr lang="en-US" sz="2200" dirty="0"/>
          </a:p>
        </p:txBody>
      </p:sp>
      <p:sp>
        <p:nvSpPr>
          <p:cNvPr id="12" name="Text 8"/>
          <p:cNvSpPr/>
          <p:nvPr/>
        </p:nvSpPr>
        <p:spPr>
          <a:xfrm>
            <a:off x="5443776" y="3995618"/>
            <a:ext cx="3742730" cy="3266123"/>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Redesign and revalidate the four failed constructs: Explainability, Ethical Risk, Voluntariness, and AI Anxiety. Venkatesh (2021) identified nine AI-specific challenges; this research addressed four. Five theoretical challenges remain unaddressed and require measurement development.</a:t>
            </a:r>
            <a:endParaRPr lang="en-US" sz="1750" dirty="0"/>
          </a:p>
        </p:txBody>
      </p:sp>
      <p:sp>
        <p:nvSpPr>
          <p:cNvPr id="13" name="Shape 9"/>
          <p:cNvSpPr/>
          <p:nvPr/>
        </p:nvSpPr>
        <p:spPr>
          <a:xfrm>
            <a:off x="9980295" y="2130266"/>
            <a:ext cx="3856077" cy="226814"/>
          </a:xfrm>
          <a:prstGeom prst="roundRect">
            <a:avLst>
              <a:gd name="adj" fmla="val 15001"/>
            </a:avLst>
          </a:prstGeom>
          <a:solidFill>
            <a:srgbClr val="E9ECF2"/>
          </a:solidFill>
          <a:ln/>
        </p:spPr>
      </p:sp>
      <p:sp>
        <p:nvSpPr>
          <p:cNvPr id="14" name="Shape 10"/>
          <p:cNvSpPr/>
          <p:nvPr/>
        </p:nvSpPr>
        <p:spPr>
          <a:xfrm>
            <a:off x="9640133" y="1903393"/>
            <a:ext cx="680442" cy="680442"/>
          </a:xfrm>
          <a:prstGeom prst="roundRect">
            <a:avLst>
              <a:gd name="adj" fmla="val 67192"/>
            </a:avLst>
          </a:prstGeom>
          <a:solidFill>
            <a:srgbClr val="E9ECF2"/>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10274" y="2073533"/>
            <a:ext cx="340162" cy="340162"/>
          </a:xfrm>
          <a:prstGeom prst="rect">
            <a:avLst/>
          </a:prstGeom>
        </p:spPr>
      </p:pic>
      <p:sp>
        <p:nvSpPr>
          <p:cNvPr id="16" name="Text 11"/>
          <p:cNvSpPr/>
          <p:nvPr/>
        </p:nvSpPr>
        <p:spPr>
          <a:xfrm>
            <a:off x="9866948" y="281070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Intervention Testing</a:t>
            </a:r>
            <a:endParaRPr lang="en-US" sz="2200" dirty="0"/>
          </a:p>
        </p:txBody>
      </p:sp>
      <p:sp>
        <p:nvSpPr>
          <p:cNvPr id="17" name="Text 12"/>
          <p:cNvSpPr/>
          <p:nvPr/>
        </p:nvSpPr>
        <p:spPr>
          <a:xfrm>
            <a:off x="9866948" y="3301127"/>
            <a:ext cx="3742730" cy="3266123"/>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Experimental validation of segment-specific strategies. Randomly assign organizations to targeted interventions (using AIRS-16 diagnostics) versus generic training programs. Measure adoption rates, satisfaction, and sustained usage. Does diagnostic-driven intervention outperform traditional approaches?</a:t>
            </a:r>
            <a:endParaRPr lang="en-US" sz="1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93790" y="1270397"/>
            <a:ext cx="10350698"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Future Research Directions: Expansion</a:t>
            </a:r>
            <a:endParaRPr lang="en-US" sz="4450" dirty="0"/>
          </a:p>
        </p:txBody>
      </p:sp>
      <p:sp>
        <p:nvSpPr>
          <p:cNvPr id="3" name="Shape 1"/>
          <p:cNvSpPr/>
          <p:nvPr/>
        </p:nvSpPr>
        <p:spPr>
          <a:xfrm>
            <a:off x="793790" y="2432804"/>
            <a:ext cx="6407944" cy="3545324"/>
          </a:xfrm>
          <a:prstGeom prst="roundRect">
            <a:avLst>
              <a:gd name="adj" fmla="val 4127"/>
            </a:avLst>
          </a:prstGeom>
          <a:solidFill>
            <a:srgbClr val="FBFCFE"/>
          </a:solidFill>
          <a:ln w="30480">
            <a:solidFill>
              <a:srgbClr val="CFD2D8"/>
            </a:solidFill>
            <a:prstDash val="solid"/>
          </a:ln>
        </p:spPr>
      </p:sp>
      <p:pic>
        <p:nvPicPr>
          <p:cNvPr id="4" name="Image 0" descr="preencoded.png">    </p:cNvPr>
          <p:cNvPicPr>
            <a:picLocks noChangeAspect="1"/>
          </p:cNvPicPr>
          <p:nvPr/>
        </p:nvPicPr>
        <p:blipFill>
          <a:blip r:embed="rId1"/>
          <a:stretch>
            <a:fillRect/>
          </a:stretch>
        </p:blipFill>
        <p:spPr>
          <a:xfrm>
            <a:off x="763310" y="2432804"/>
            <a:ext cx="121920" cy="3545324"/>
          </a:xfrm>
          <a:prstGeom prst="rect">
            <a:avLst/>
          </a:prstGeom>
        </p:spPr>
      </p:pic>
      <p:sp>
        <p:nvSpPr>
          <p:cNvPr id="5" name="Text 2"/>
          <p:cNvSpPr/>
          <p:nvPr/>
        </p:nvSpPr>
        <p:spPr>
          <a:xfrm>
            <a:off x="1142524" y="2690098"/>
            <a:ext cx="3515082"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Cross-Cultural Replication</a:t>
            </a:r>
            <a:endParaRPr lang="en-US" sz="2200" dirty="0"/>
          </a:p>
        </p:txBody>
      </p:sp>
      <p:sp>
        <p:nvSpPr>
          <p:cNvPr id="6" name="Text 3"/>
          <p:cNvSpPr/>
          <p:nvPr/>
        </p:nvSpPr>
        <p:spPr>
          <a:xfrm>
            <a:off x="1142524" y="3180517"/>
            <a:ext cx="5801916" cy="254031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Test whether Price Value dominance holds in collectivist cultures or whether Social Influence becomes primary. Examine whether cultural dimensions (individualism-collectivism, power distance, uncertainty avoidance) moderate the AIRS-16 relationships. Establish measurement invariance across languages and cultural contexts.</a:t>
            </a:r>
            <a:endParaRPr lang="en-US" sz="1750" dirty="0"/>
          </a:p>
        </p:txBody>
      </p:sp>
      <p:sp>
        <p:nvSpPr>
          <p:cNvPr id="7" name="Shape 4"/>
          <p:cNvSpPr/>
          <p:nvPr/>
        </p:nvSpPr>
        <p:spPr>
          <a:xfrm>
            <a:off x="7428548" y="2432804"/>
            <a:ext cx="6408063" cy="3545324"/>
          </a:xfrm>
          <a:prstGeom prst="roundRect">
            <a:avLst>
              <a:gd name="adj" fmla="val 4127"/>
            </a:avLst>
          </a:prstGeom>
          <a:solidFill>
            <a:srgbClr val="FBFCFE"/>
          </a:solidFill>
          <a:ln w="30480">
            <a:solidFill>
              <a:srgbClr val="CFD2D8"/>
            </a:solidFill>
            <a:prstDash val="solid"/>
          </a:ln>
        </p:spPr>
      </p:sp>
      <p:pic>
        <p:nvPicPr>
          <p:cNvPr id="8" name="Image 1" descr="preencoded.png">    </p:cNvPr>
          <p:cNvPicPr>
            <a:picLocks noChangeAspect="1"/>
          </p:cNvPicPr>
          <p:nvPr/>
        </p:nvPicPr>
        <p:blipFill>
          <a:blip r:embed="rId2"/>
          <a:stretch>
            <a:fillRect/>
          </a:stretch>
        </p:blipFill>
        <p:spPr>
          <a:xfrm>
            <a:off x="7398067" y="2432804"/>
            <a:ext cx="121920" cy="3545324"/>
          </a:xfrm>
          <a:prstGeom prst="rect">
            <a:avLst/>
          </a:prstGeom>
        </p:spPr>
      </p:pic>
      <p:sp>
        <p:nvSpPr>
          <p:cNvPr id="9" name="Text 5"/>
          <p:cNvSpPr/>
          <p:nvPr/>
        </p:nvSpPr>
        <p:spPr>
          <a:xfrm>
            <a:off x="7777282" y="2690098"/>
            <a:ext cx="3785116"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Domain-Specific Adaptation</a:t>
            </a:r>
            <a:endParaRPr lang="en-US" sz="2200" dirty="0"/>
          </a:p>
        </p:txBody>
      </p:sp>
      <p:sp>
        <p:nvSpPr>
          <p:cNvPr id="10" name="Text 6"/>
          <p:cNvSpPr/>
          <p:nvPr/>
        </p:nvSpPr>
        <p:spPr>
          <a:xfrm>
            <a:off x="7777282" y="3180517"/>
            <a:ext cx="5802035" cy="254031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AI adoption in healthcare contexts faces different considerations than AI in marketing or finance. Regulated industries (healthcare, finance) have compliance concerns that unregulated sectors don't face. The instrument may need domain-specific modules addressing context-unique factors while maintaining core constructs for comparability.</a:t>
            </a:r>
            <a:endParaRPr lang="en-US" sz="1750" dirty="0"/>
          </a:p>
        </p:txBody>
      </p:sp>
      <p:sp>
        <p:nvSpPr>
          <p:cNvPr id="11" name="Text 7"/>
          <p:cNvSpPr/>
          <p:nvPr/>
        </p:nvSpPr>
        <p:spPr>
          <a:xfrm>
            <a:off x="793790" y="6233279"/>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Additional research should examine AI adoption for specialized applications: generative AI tools, autonomous decision systems, predictive analytics platforms, and conversational AI assistants may each require unique measurement considerations.</a:t>
            </a:r>
            <a:endParaRPr lang="en-US" sz="1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93790" y="672227"/>
            <a:ext cx="9334738" cy="637937"/>
          </a:xfrm>
          <a:prstGeom prst="rect">
            <a:avLst/>
          </a:prstGeom>
          <a:noFill/>
          <a:ln/>
        </p:spPr>
        <p:txBody>
          <a:bodyPr wrap="none" lIns="0" tIns="0" rIns="0" bIns="0" rtlCol="0" anchor="t"/>
          <a:lstStyle/>
          <a:p>
            <a:pPr algn="l" indent="0" marL="0">
              <a:lnSpc>
                <a:spcPts val="5000"/>
              </a:lnSpc>
              <a:buNone/>
            </a:pPr>
            <a:r>
              <a:rPr lang="en-US" sz="4000" dirty="0">
                <a:solidFill>
                  <a:srgbClr val="3257B8"/>
                </a:solidFill>
                <a:latin typeface="Roboto Slab" pitchFamily="34" charset="0"/>
                <a:ea typeface="Roboto Slab" pitchFamily="34" charset="-122"/>
                <a:cs typeface="Roboto Slab" pitchFamily="34" charset="-120"/>
              </a:rPr>
              <a:t>Conclusion: Summary of Contributions</a:t>
            </a:r>
            <a:endParaRPr lang="en-US" sz="4000" dirty="0"/>
          </a:p>
        </p:txBody>
      </p:sp>
      <p:sp>
        <p:nvSpPr>
          <p:cNvPr id="3" name="Text 1"/>
          <p:cNvSpPr/>
          <p:nvPr/>
        </p:nvSpPr>
        <p:spPr>
          <a:xfrm>
            <a:off x="793790" y="1820347"/>
            <a:ext cx="3062168" cy="382786"/>
          </a:xfrm>
          <a:prstGeom prst="rect">
            <a:avLst/>
          </a:prstGeom>
          <a:noFill/>
          <a:ln/>
        </p:spPr>
        <p:txBody>
          <a:bodyPr wrap="none" lIns="0" tIns="0" rIns="0" bIns="0" rtlCol="0" anchor="t"/>
          <a:lstStyle/>
          <a:p>
            <a:pPr algn="l" indent="0" marL="0">
              <a:lnSpc>
                <a:spcPts val="3000"/>
              </a:lnSpc>
              <a:buNone/>
            </a:pPr>
            <a:r>
              <a:rPr lang="en-US" sz="2400" dirty="0">
                <a:solidFill>
                  <a:srgbClr val="3257B8"/>
                </a:solidFill>
                <a:latin typeface="Roboto Slab" pitchFamily="34" charset="0"/>
                <a:ea typeface="Roboto Slab" pitchFamily="34" charset="-122"/>
                <a:cs typeface="Roboto Slab" pitchFamily="34" charset="-120"/>
              </a:rPr>
              <a:t>Theoretical</a:t>
            </a:r>
            <a:endParaRPr lang="en-US" sz="2400" dirty="0"/>
          </a:p>
        </p:txBody>
      </p:sp>
      <p:sp>
        <p:nvSpPr>
          <p:cNvPr id="4" name="Text 2"/>
          <p:cNvSpPr/>
          <p:nvPr/>
        </p:nvSpPr>
        <p:spPr>
          <a:xfrm>
            <a:off x="793790" y="2407206"/>
            <a:ext cx="4015145" cy="1633538"/>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15213F"/>
                </a:solidFill>
                <a:latin typeface="Roboto" pitchFamily="34" charset="0"/>
                <a:ea typeface="Roboto" pitchFamily="34" charset="-122"/>
                <a:cs typeface="Roboto" pitchFamily="34" charset="-120"/>
              </a:rPr>
              <a:t>Value-dominant model:</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 Challenges 30 years of technology acceptance research by demonstrating Price Value dominance over Performance Expectancy</a:t>
            </a:r>
            <a:endParaRPr lang="en-US" sz="1600" dirty="0"/>
          </a:p>
        </p:txBody>
      </p:sp>
      <p:sp>
        <p:nvSpPr>
          <p:cNvPr id="5" name="Text 3"/>
          <p:cNvSpPr/>
          <p:nvPr/>
        </p:nvSpPr>
        <p:spPr>
          <a:xfrm>
            <a:off x="793790" y="4112181"/>
            <a:ext cx="4015145" cy="653415"/>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15213F"/>
                </a:solidFill>
                <a:latin typeface="Roboto" pitchFamily="34" charset="0"/>
                <a:ea typeface="Roboto" pitchFamily="34" charset="-122"/>
                <a:cs typeface="Roboto" pitchFamily="34" charset="-120"/>
              </a:rPr>
              <a:t>AI Trust extension:</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 Extends UTAUT2 with AI-specific trust construct</a:t>
            </a:r>
            <a:endParaRPr lang="en-US" sz="1600" dirty="0"/>
          </a:p>
        </p:txBody>
      </p:sp>
      <p:sp>
        <p:nvSpPr>
          <p:cNvPr id="6" name="Text 4"/>
          <p:cNvSpPr/>
          <p:nvPr/>
        </p:nvSpPr>
        <p:spPr>
          <a:xfrm>
            <a:off x="793790" y="4837033"/>
            <a:ext cx="4015145" cy="1306830"/>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15213F"/>
                </a:solidFill>
                <a:latin typeface="Roboto" pitchFamily="34" charset="0"/>
                <a:ea typeface="Roboto" pitchFamily="34" charset="-122"/>
                <a:cs typeface="Roboto" pitchFamily="34" charset="-120"/>
              </a:rPr>
              <a:t>Failed traditional drivers:</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 Provides evidence that PE, EE, FC, and Habit—pillars of adoption research—fail for AI systems</a:t>
            </a:r>
            <a:endParaRPr lang="en-US" sz="1600" dirty="0"/>
          </a:p>
        </p:txBody>
      </p:sp>
      <p:sp>
        <p:nvSpPr>
          <p:cNvPr id="7" name="Text 5"/>
          <p:cNvSpPr/>
          <p:nvPr/>
        </p:nvSpPr>
        <p:spPr>
          <a:xfrm>
            <a:off x="5314474" y="1820347"/>
            <a:ext cx="3062168" cy="382786"/>
          </a:xfrm>
          <a:prstGeom prst="rect">
            <a:avLst/>
          </a:prstGeom>
          <a:noFill/>
          <a:ln/>
        </p:spPr>
        <p:txBody>
          <a:bodyPr wrap="none" lIns="0" tIns="0" rIns="0" bIns="0" rtlCol="0" anchor="t"/>
          <a:lstStyle/>
          <a:p>
            <a:pPr algn="l" indent="0" marL="0">
              <a:lnSpc>
                <a:spcPts val="3000"/>
              </a:lnSpc>
              <a:buNone/>
            </a:pPr>
            <a:r>
              <a:rPr lang="en-US" sz="2400" dirty="0">
                <a:solidFill>
                  <a:srgbClr val="3257B8"/>
                </a:solidFill>
                <a:latin typeface="Roboto Slab" pitchFamily="34" charset="0"/>
                <a:ea typeface="Roboto Slab" pitchFamily="34" charset="-122"/>
                <a:cs typeface="Roboto Slab" pitchFamily="34" charset="-120"/>
              </a:rPr>
              <a:t>Methodological</a:t>
            </a:r>
            <a:endParaRPr lang="en-US" sz="2400" dirty="0"/>
          </a:p>
        </p:txBody>
      </p:sp>
      <p:sp>
        <p:nvSpPr>
          <p:cNvPr id="8" name="Text 6"/>
          <p:cNvSpPr/>
          <p:nvPr/>
        </p:nvSpPr>
        <p:spPr>
          <a:xfrm>
            <a:off x="5314474" y="2407206"/>
            <a:ext cx="4015145" cy="980123"/>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15213F"/>
                </a:solidFill>
                <a:latin typeface="Roboto" pitchFamily="34" charset="0"/>
                <a:ea typeface="Roboto" pitchFamily="34" charset="-122"/>
                <a:cs typeface="Roboto" pitchFamily="34" charset="-120"/>
              </a:rPr>
              <a:t>AIRS-16 development:</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 First psychometrically validated AI adoption readiness instrument</a:t>
            </a:r>
            <a:endParaRPr lang="en-US" sz="1600" dirty="0"/>
          </a:p>
        </p:txBody>
      </p:sp>
      <p:sp>
        <p:nvSpPr>
          <p:cNvPr id="9" name="Text 7"/>
          <p:cNvSpPr/>
          <p:nvPr/>
        </p:nvSpPr>
        <p:spPr>
          <a:xfrm>
            <a:off x="5314474" y="3458766"/>
            <a:ext cx="4015145" cy="653415"/>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15213F"/>
                </a:solidFill>
                <a:latin typeface="Roboto" pitchFamily="34" charset="0"/>
                <a:ea typeface="Roboto" pitchFamily="34" charset="-122"/>
                <a:cs typeface="Roboto" pitchFamily="34" charset="-120"/>
              </a:rPr>
              <a:t>8-factor structure:</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 Strong fit indices (CFI = .975, TLI = .960, RMSEA = .065)</a:t>
            </a:r>
            <a:endParaRPr lang="en-US" sz="1600" dirty="0"/>
          </a:p>
        </p:txBody>
      </p:sp>
      <p:sp>
        <p:nvSpPr>
          <p:cNvPr id="10" name="Text 8"/>
          <p:cNvSpPr/>
          <p:nvPr/>
        </p:nvSpPr>
        <p:spPr>
          <a:xfrm>
            <a:off x="5314474" y="4183618"/>
            <a:ext cx="4015145" cy="653415"/>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15213F"/>
                </a:solidFill>
                <a:latin typeface="Roboto" pitchFamily="34" charset="0"/>
                <a:ea typeface="Roboto" pitchFamily="34" charset="-122"/>
                <a:cs typeface="Roboto" pitchFamily="34" charset="-120"/>
              </a:rPr>
              <a:t>85.2% predictive accuracy:</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 Exceptional model R² demonstrates practical utility</a:t>
            </a:r>
            <a:endParaRPr lang="en-US" sz="1600" dirty="0"/>
          </a:p>
        </p:txBody>
      </p:sp>
      <p:sp>
        <p:nvSpPr>
          <p:cNvPr id="11" name="Text 9"/>
          <p:cNvSpPr/>
          <p:nvPr/>
        </p:nvSpPr>
        <p:spPr>
          <a:xfrm>
            <a:off x="9835158" y="1820347"/>
            <a:ext cx="3062168" cy="382786"/>
          </a:xfrm>
          <a:prstGeom prst="rect">
            <a:avLst/>
          </a:prstGeom>
          <a:noFill/>
          <a:ln/>
        </p:spPr>
        <p:txBody>
          <a:bodyPr wrap="none" lIns="0" tIns="0" rIns="0" bIns="0" rtlCol="0" anchor="t"/>
          <a:lstStyle/>
          <a:p>
            <a:pPr algn="l" indent="0" marL="0">
              <a:lnSpc>
                <a:spcPts val="3000"/>
              </a:lnSpc>
              <a:buNone/>
            </a:pPr>
            <a:r>
              <a:rPr lang="en-US" sz="2400" dirty="0">
                <a:solidFill>
                  <a:srgbClr val="3257B8"/>
                </a:solidFill>
                <a:latin typeface="Roboto Slab" pitchFamily="34" charset="0"/>
                <a:ea typeface="Roboto Slab" pitchFamily="34" charset="-122"/>
                <a:cs typeface="Roboto Slab" pitchFamily="34" charset="-120"/>
              </a:rPr>
              <a:t>Practical</a:t>
            </a:r>
            <a:endParaRPr lang="en-US" sz="2400" dirty="0"/>
          </a:p>
        </p:txBody>
      </p:sp>
      <p:sp>
        <p:nvSpPr>
          <p:cNvPr id="12" name="Text 10"/>
          <p:cNvSpPr/>
          <p:nvPr/>
        </p:nvSpPr>
        <p:spPr>
          <a:xfrm>
            <a:off x="9835158" y="2407206"/>
            <a:ext cx="4015145" cy="980123"/>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15213F"/>
                </a:solidFill>
                <a:latin typeface="Roboto" pitchFamily="34" charset="0"/>
                <a:ea typeface="Roboto" pitchFamily="34" charset="-122"/>
                <a:cs typeface="Roboto" pitchFamily="34" charset="-120"/>
              </a:rPr>
              <a:t>User segmentation:</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 Four distinct profiles with targeted intervention strategies</a:t>
            </a:r>
            <a:endParaRPr lang="en-US" sz="1600" dirty="0"/>
          </a:p>
        </p:txBody>
      </p:sp>
      <p:sp>
        <p:nvSpPr>
          <p:cNvPr id="13" name="Text 11"/>
          <p:cNvSpPr/>
          <p:nvPr/>
        </p:nvSpPr>
        <p:spPr>
          <a:xfrm>
            <a:off x="9835158" y="3458766"/>
            <a:ext cx="4015145" cy="653415"/>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15213F"/>
                </a:solidFill>
                <a:latin typeface="Roboto" pitchFamily="34" charset="0"/>
                <a:ea typeface="Roboto" pitchFamily="34" charset="-122"/>
                <a:cs typeface="Roboto" pitchFamily="34" charset="-120"/>
              </a:rPr>
              <a:t>Diagnostic tool:</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 3-minute assessment for organizational use</a:t>
            </a:r>
            <a:endParaRPr lang="en-US" sz="1600" dirty="0"/>
          </a:p>
        </p:txBody>
      </p:sp>
      <p:sp>
        <p:nvSpPr>
          <p:cNvPr id="14" name="Text 12"/>
          <p:cNvSpPr/>
          <p:nvPr/>
        </p:nvSpPr>
        <p:spPr>
          <a:xfrm>
            <a:off x="9835158" y="4183618"/>
            <a:ext cx="4015145" cy="980123"/>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15213F"/>
                </a:solidFill>
                <a:latin typeface="Roboto" pitchFamily="34" charset="0"/>
                <a:ea typeface="Roboto" pitchFamily="34" charset="-122"/>
                <a:cs typeface="Roboto" pitchFamily="34" charset="-120"/>
              </a:rPr>
              <a:t>Evidence-based recommendations:</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 Data-driven guidance for AI implementation programs</a:t>
            </a:r>
            <a:endParaRPr lang="en-US" sz="1600" dirty="0"/>
          </a:p>
        </p:txBody>
      </p:sp>
      <p:sp>
        <p:nvSpPr>
          <p:cNvPr id="15" name="Text 13"/>
          <p:cNvSpPr/>
          <p:nvPr/>
        </p:nvSpPr>
        <p:spPr>
          <a:xfrm>
            <a:off x="1099899" y="6674406"/>
            <a:ext cx="12736711" cy="653415"/>
          </a:xfrm>
          <a:prstGeom prst="rect">
            <a:avLst/>
          </a:prstGeom>
          <a:noFill/>
          <a:ln/>
        </p:spPr>
        <p:txBody>
          <a:bodyPr wrap="square" lIns="0" tIns="0" rIns="0" bIns="0" rtlCol="0" anchor="t"/>
          <a:lstStyle/>
          <a:p>
            <a:pPr algn="l" indent="0" marL="0">
              <a:lnSpc>
                <a:spcPts val="2550"/>
              </a:lnSpc>
              <a:buNone/>
            </a:pPr>
            <a:r>
              <a:rPr lang="en-US" sz="1600" b="1" dirty="0">
                <a:solidFill>
                  <a:srgbClr val="15213F"/>
                </a:solidFill>
                <a:latin typeface="Roboto" pitchFamily="34" charset="0"/>
                <a:ea typeface="Roboto" pitchFamily="34" charset="-122"/>
                <a:cs typeface="Roboto" pitchFamily="34" charset="-120"/>
              </a:rPr>
              <a:t>The bottom line:</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 Organizations don't have an AI technology problem—they have an AI adoption problem. This research provides the diagnostic tools to understand and address it systematically.</a:t>
            </a:r>
            <a:endParaRPr lang="en-US" sz="1600" dirty="0"/>
          </a:p>
        </p:txBody>
      </p:sp>
      <p:sp>
        <p:nvSpPr>
          <p:cNvPr id="16" name="Shape 14"/>
          <p:cNvSpPr/>
          <p:nvPr/>
        </p:nvSpPr>
        <p:spPr>
          <a:xfrm>
            <a:off x="793790" y="6444853"/>
            <a:ext cx="22860" cy="1112520"/>
          </a:xfrm>
          <a:prstGeom prst="rect">
            <a:avLst/>
          </a:prstGeom>
          <a:solidFill>
            <a:srgbClr val="3257B8"/>
          </a:solidFill>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5666" y="444460"/>
            <a:ext cx="3395067" cy="328255"/>
          </a:xfrm>
          <a:prstGeom prst="rect">
            <a:avLst/>
          </a:prstGeom>
          <a:noFill/>
          <a:ln/>
        </p:spPr>
        <p:txBody>
          <a:bodyPr wrap="none" lIns="0" tIns="0" rIns="0" bIns="0" rtlCol="0" anchor="t"/>
          <a:lstStyle/>
          <a:p>
            <a:pPr algn="l" indent="0" marL="0">
              <a:lnSpc>
                <a:spcPts val="2550"/>
              </a:lnSpc>
              <a:buNone/>
            </a:pPr>
            <a:r>
              <a:rPr lang="en-US" sz="2050" dirty="0">
                <a:solidFill>
                  <a:srgbClr val="3257B8"/>
                </a:solidFill>
                <a:latin typeface="Roboto Slab" pitchFamily="34" charset="0"/>
                <a:ea typeface="Roboto Slab" pitchFamily="34" charset="-122"/>
                <a:cs typeface="Roboto Slab" pitchFamily="34" charset="-120"/>
              </a:rPr>
              <a:t>Key Numbers to Remember</a:t>
            </a:r>
            <a:endParaRPr lang="en-US" sz="2050" dirty="0"/>
          </a:p>
        </p:txBody>
      </p:sp>
      <p:sp>
        <p:nvSpPr>
          <p:cNvPr id="3" name="Text 1"/>
          <p:cNvSpPr/>
          <p:nvPr/>
        </p:nvSpPr>
        <p:spPr>
          <a:xfrm>
            <a:off x="2125504" y="1665565"/>
            <a:ext cx="1292185" cy="262652"/>
          </a:xfrm>
          <a:prstGeom prst="rect">
            <a:avLst/>
          </a:prstGeom>
          <a:noFill/>
          <a:ln/>
        </p:spPr>
        <p:txBody>
          <a:bodyPr wrap="none" lIns="0" tIns="0" rIns="0" bIns="0" rtlCol="0" anchor="t"/>
          <a:lstStyle/>
          <a:p>
            <a:pPr algn="ctr" indent="0" marL="0">
              <a:lnSpc>
                <a:spcPts val="2050"/>
              </a:lnSpc>
              <a:buNone/>
            </a:pPr>
            <a:r>
              <a:rPr lang="en-US" sz="2050" dirty="0">
                <a:solidFill>
                  <a:srgbClr val="15213F"/>
                </a:solidFill>
                <a:latin typeface="Roboto Slab" pitchFamily="34" charset="0"/>
                <a:ea typeface="Roboto Slab" pitchFamily="34" charset="-122"/>
                <a:cs typeface="Roboto Slab" pitchFamily="34" charset="-120"/>
              </a:rPr>
              <a:t>523</a:t>
            </a:r>
            <a:endParaRPr lang="en-US" sz="2050" dirty="0"/>
          </a:p>
        </p:txBody>
      </p:sp>
      <p:pic>
        <p:nvPicPr>
          <p:cNvPr id="4" name="Image 0" descr="preencoded.png">    </p:cNvPr>
          <p:cNvPicPr>
            <a:picLocks noChangeAspect="1"/>
          </p:cNvPicPr>
          <p:nvPr/>
        </p:nvPicPr>
        <p:blipFill>
          <a:blip r:embed="rId1"/>
          <a:stretch>
            <a:fillRect/>
          </a:stretch>
        </p:blipFill>
        <p:spPr>
          <a:xfrm>
            <a:off x="1983700" y="1008936"/>
            <a:ext cx="1575911" cy="1575911"/>
          </a:xfrm>
          <a:prstGeom prst="rect">
            <a:avLst/>
          </a:prstGeom>
        </p:spPr>
      </p:pic>
      <p:sp>
        <p:nvSpPr>
          <p:cNvPr id="5" name="Text 2"/>
          <p:cNvSpPr/>
          <p:nvPr/>
        </p:nvSpPr>
        <p:spPr>
          <a:xfrm>
            <a:off x="2115026" y="2716054"/>
            <a:ext cx="1313259" cy="164068"/>
          </a:xfrm>
          <a:prstGeom prst="rect">
            <a:avLst/>
          </a:prstGeom>
          <a:noFill/>
          <a:ln/>
        </p:spPr>
        <p:txBody>
          <a:bodyPr wrap="none" lIns="0" tIns="0" rIns="0" bIns="0" rtlCol="0" anchor="t"/>
          <a:lstStyle/>
          <a:p>
            <a:pPr algn="ctr" indent="0" marL="0">
              <a:lnSpc>
                <a:spcPts val="1250"/>
              </a:lnSpc>
              <a:buNone/>
            </a:pPr>
            <a:r>
              <a:rPr lang="en-US" sz="1000" dirty="0">
                <a:solidFill>
                  <a:srgbClr val="15213F"/>
                </a:solidFill>
                <a:latin typeface="Roboto Slab" pitchFamily="34" charset="0"/>
                <a:ea typeface="Roboto Slab" pitchFamily="34" charset="-122"/>
                <a:cs typeface="Roboto Slab" pitchFamily="34" charset="-120"/>
              </a:rPr>
              <a:t>Sample Size</a:t>
            </a:r>
            <a:endParaRPr lang="en-US" sz="1000" dirty="0"/>
          </a:p>
        </p:txBody>
      </p:sp>
      <p:sp>
        <p:nvSpPr>
          <p:cNvPr id="6" name="Text 3"/>
          <p:cNvSpPr/>
          <p:nvPr/>
        </p:nvSpPr>
        <p:spPr>
          <a:xfrm>
            <a:off x="565666" y="2943106"/>
            <a:ext cx="4412099" cy="167997"/>
          </a:xfrm>
          <a:prstGeom prst="rect">
            <a:avLst/>
          </a:prstGeom>
          <a:noFill/>
          <a:ln/>
        </p:spPr>
        <p:txBody>
          <a:bodyPr wrap="none" lIns="0" tIns="0" rIns="0" bIns="0" rtlCol="0" anchor="t"/>
          <a:lstStyle/>
          <a:p>
            <a:pPr algn="ctr" indent="0" marL="0">
              <a:lnSpc>
                <a:spcPts val="1300"/>
              </a:lnSpc>
              <a:buNone/>
            </a:pPr>
            <a:r>
              <a:rPr lang="en-US" sz="800" dirty="0">
                <a:solidFill>
                  <a:srgbClr val="15213F"/>
                </a:solidFill>
                <a:latin typeface="Roboto" pitchFamily="34" charset="0"/>
                <a:ea typeface="Roboto" pitchFamily="34" charset="-122"/>
                <a:cs typeface="Roboto" pitchFamily="34" charset="-120"/>
              </a:rPr>
              <a:t>Diverse participants across academic and professional contexts</a:t>
            </a:r>
            <a:endParaRPr lang="en-US" sz="800" dirty="0"/>
          </a:p>
        </p:txBody>
      </p:sp>
      <p:sp>
        <p:nvSpPr>
          <p:cNvPr id="7" name="Text 4"/>
          <p:cNvSpPr/>
          <p:nvPr/>
        </p:nvSpPr>
        <p:spPr>
          <a:xfrm>
            <a:off x="6668929" y="1665565"/>
            <a:ext cx="1292185" cy="262652"/>
          </a:xfrm>
          <a:prstGeom prst="rect">
            <a:avLst/>
          </a:prstGeom>
          <a:noFill/>
          <a:ln/>
        </p:spPr>
        <p:txBody>
          <a:bodyPr wrap="none" lIns="0" tIns="0" rIns="0" bIns="0" rtlCol="0" anchor="t"/>
          <a:lstStyle/>
          <a:p>
            <a:pPr algn="ctr" indent="0" marL="0">
              <a:lnSpc>
                <a:spcPts val="2050"/>
              </a:lnSpc>
              <a:buNone/>
            </a:pPr>
            <a:r>
              <a:rPr lang="en-US" sz="2050" dirty="0">
                <a:solidFill>
                  <a:srgbClr val="15213F"/>
                </a:solidFill>
                <a:latin typeface="Roboto Slab" pitchFamily="34" charset="0"/>
                <a:ea typeface="Roboto Slab" pitchFamily="34" charset="-122"/>
                <a:cs typeface="Roboto Slab" pitchFamily="34" charset="-120"/>
              </a:rPr>
              <a:t>.505</a:t>
            </a:r>
            <a:endParaRPr lang="en-US" sz="2050" dirty="0"/>
          </a:p>
        </p:txBody>
      </p:sp>
      <p:pic>
        <p:nvPicPr>
          <p:cNvPr id="8" name="Image 1" descr="preencoded.png">    </p:cNvPr>
          <p:cNvPicPr>
            <a:picLocks noChangeAspect="1"/>
          </p:cNvPicPr>
          <p:nvPr/>
        </p:nvPicPr>
        <p:blipFill>
          <a:blip r:embed="rId2"/>
          <a:stretch>
            <a:fillRect/>
          </a:stretch>
        </p:blipFill>
        <p:spPr>
          <a:xfrm>
            <a:off x="6527125" y="1008936"/>
            <a:ext cx="1575911" cy="1575911"/>
          </a:xfrm>
          <a:prstGeom prst="rect">
            <a:avLst/>
          </a:prstGeom>
        </p:spPr>
      </p:pic>
      <p:sp>
        <p:nvSpPr>
          <p:cNvPr id="9" name="Text 5"/>
          <p:cNvSpPr/>
          <p:nvPr/>
        </p:nvSpPr>
        <p:spPr>
          <a:xfrm>
            <a:off x="6658451" y="2716054"/>
            <a:ext cx="1313259" cy="164068"/>
          </a:xfrm>
          <a:prstGeom prst="rect">
            <a:avLst/>
          </a:prstGeom>
          <a:noFill/>
          <a:ln/>
        </p:spPr>
        <p:txBody>
          <a:bodyPr wrap="none" lIns="0" tIns="0" rIns="0" bIns="0" rtlCol="0" anchor="t"/>
          <a:lstStyle/>
          <a:p>
            <a:pPr algn="ctr" indent="0" marL="0">
              <a:lnSpc>
                <a:spcPts val="1250"/>
              </a:lnSpc>
              <a:buNone/>
            </a:pPr>
            <a:r>
              <a:rPr lang="en-US" sz="1000" dirty="0">
                <a:solidFill>
                  <a:srgbClr val="15213F"/>
                </a:solidFill>
                <a:latin typeface="Roboto Slab" pitchFamily="34" charset="0"/>
                <a:ea typeface="Roboto Slab" pitchFamily="34" charset="-122"/>
                <a:cs typeface="Roboto Slab" pitchFamily="34" charset="-120"/>
              </a:rPr>
              <a:t>Price Value β</a:t>
            </a:r>
            <a:endParaRPr lang="en-US" sz="1000" dirty="0"/>
          </a:p>
        </p:txBody>
      </p:sp>
      <p:sp>
        <p:nvSpPr>
          <p:cNvPr id="10" name="Text 6"/>
          <p:cNvSpPr/>
          <p:nvPr/>
        </p:nvSpPr>
        <p:spPr>
          <a:xfrm>
            <a:off x="5109091" y="2943106"/>
            <a:ext cx="4412099" cy="167997"/>
          </a:xfrm>
          <a:prstGeom prst="rect">
            <a:avLst/>
          </a:prstGeom>
          <a:noFill/>
          <a:ln/>
        </p:spPr>
        <p:txBody>
          <a:bodyPr wrap="none" lIns="0" tIns="0" rIns="0" bIns="0" rtlCol="0" anchor="t"/>
          <a:lstStyle/>
          <a:p>
            <a:pPr algn="ctr" indent="0" marL="0">
              <a:lnSpc>
                <a:spcPts val="1300"/>
              </a:lnSpc>
              <a:buNone/>
            </a:pPr>
            <a:r>
              <a:rPr lang="en-US" sz="800" dirty="0">
                <a:solidFill>
                  <a:srgbClr val="15213F"/>
                </a:solidFill>
                <a:latin typeface="Roboto" pitchFamily="34" charset="0"/>
                <a:ea typeface="Roboto" pitchFamily="34" charset="-122"/>
                <a:cs typeface="Roboto" pitchFamily="34" charset="-120"/>
              </a:rPr>
              <a:t>Strongest predictor by far—dominant effect</a:t>
            </a:r>
            <a:endParaRPr lang="en-US" sz="800" dirty="0"/>
          </a:p>
        </p:txBody>
      </p:sp>
      <p:sp>
        <p:nvSpPr>
          <p:cNvPr id="11" name="Text 7"/>
          <p:cNvSpPr/>
          <p:nvPr/>
        </p:nvSpPr>
        <p:spPr>
          <a:xfrm>
            <a:off x="11212473" y="1665565"/>
            <a:ext cx="1292185" cy="262652"/>
          </a:xfrm>
          <a:prstGeom prst="rect">
            <a:avLst/>
          </a:prstGeom>
          <a:noFill/>
          <a:ln/>
        </p:spPr>
        <p:txBody>
          <a:bodyPr wrap="none" lIns="0" tIns="0" rIns="0" bIns="0" rtlCol="0" anchor="t"/>
          <a:lstStyle/>
          <a:p>
            <a:pPr algn="ctr" indent="0" marL="0">
              <a:lnSpc>
                <a:spcPts val="2050"/>
              </a:lnSpc>
              <a:buNone/>
            </a:pPr>
            <a:r>
              <a:rPr lang="en-US" sz="2050" dirty="0">
                <a:solidFill>
                  <a:srgbClr val="15213F"/>
                </a:solidFill>
                <a:latin typeface="Roboto Slab" pitchFamily="34" charset="0"/>
                <a:ea typeface="Roboto Slab" pitchFamily="34" charset="-122"/>
                <a:cs typeface="Roboto Slab" pitchFamily="34" charset="-120"/>
              </a:rPr>
              <a:t>85.2%</a:t>
            </a:r>
            <a:endParaRPr lang="en-US" sz="2050" dirty="0"/>
          </a:p>
        </p:txBody>
      </p:sp>
      <p:pic>
        <p:nvPicPr>
          <p:cNvPr id="12" name="Image 2" descr="preencoded.png">    </p:cNvPr>
          <p:cNvPicPr>
            <a:picLocks noChangeAspect="1"/>
          </p:cNvPicPr>
          <p:nvPr/>
        </p:nvPicPr>
        <p:blipFill>
          <a:blip r:embed="rId3"/>
          <a:stretch>
            <a:fillRect/>
          </a:stretch>
        </p:blipFill>
        <p:spPr>
          <a:xfrm>
            <a:off x="11070669" y="1008936"/>
            <a:ext cx="1575911" cy="1575911"/>
          </a:xfrm>
          <a:prstGeom prst="rect">
            <a:avLst/>
          </a:prstGeom>
        </p:spPr>
      </p:pic>
      <p:sp>
        <p:nvSpPr>
          <p:cNvPr id="13" name="Text 8"/>
          <p:cNvSpPr/>
          <p:nvPr/>
        </p:nvSpPr>
        <p:spPr>
          <a:xfrm>
            <a:off x="11201995" y="2716054"/>
            <a:ext cx="1313259" cy="164068"/>
          </a:xfrm>
          <a:prstGeom prst="rect">
            <a:avLst/>
          </a:prstGeom>
          <a:noFill/>
          <a:ln/>
        </p:spPr>
        <p:txBody>
          <a:bodyPr wrap="none" lIns="0" tIns="0" rIns="0" bIns="0" rtlCol="0" anchor="t"/>
          <a:lstStyle/>
          <a:p>
            <a:pPr algn="ctr" indent="0" marL="0">
              <a:lnSpc>
                <a:spcPts val="1250"/>
              </a:lnSpc>
              <a:buNone/>
            </a:pPr>
            <a:r>
              <a:rPr lang="en-US" sz="1000" dirty="0">
                <a:solidFill>
                  <a:srgbClr val="15213F"/>
                </a:solidFill>
                <a:latin typeface="Roboto Slab" pitchFamily="34" charset="0"/>
                <a:ea typeface="Roboto Slab" pitchFamily="34" charset="-122"/>
                <a:cs typeface="Roboto Slab" pitchFamily="34" charset="-120"/>
              </a:rPr>
              <a:t>Variance Explained</a:t>
            </a:r>
            <a:endParaRPr lang="en-US" sz="1000" dirty="0"/>
          </a:p>
        </p:txBody>
      </p:sp>
      <p:sp>
        <p:nvSpPr>
          <p:cNvPr id="14" name="Text 9"/>
          <p:cNvSpPr/>
          <p:nvPr/>
        </p:nvSpPr>
        <p:spPr>
          <a:xfrm>
            <a:off x="9652516" y="2943106"/>
            <a:ext cx="4412218" cy="167997"/>
          </a:xfrm>
          <a:prstGeom prst="rect">
            <a:avLst/>
          </a:prstGeom>
          <a:noFill/>
          <a:ln/>
        </p:spPr>
        <p:txBody>
          <a:bodyPr wrap="none" lIns="0" tIns="0" rIns="0" bIns="0" rtlCol="0" anchor="t"/>
          <a:lstStyle/>
          <a:p>
            <a:pPr algn="ctr" indent="0" marL="0">
              <a:lnSpc>
                <a:spcPts val="1300"/>
              </a:lnSpc>
              <a:buNone/>
            </a:pPr>
            <a:r>
              <a:rPr lang="en-US" sz="800" dirty="0">
                <a:solidFill>
                  <a:srgbClr val="15213F"/>
                </a:solidFill>
                <a:latin typeface="Roboto" pitchFamily="34" charset="0"/>
                <a:ea typeface="Roboto" pitchFamily="34" charset="-122"/>
                <a:cs typeface="Roboto" pitchFamily="34" charset="-120"/>
              </a:rPr>
              <a:t>Model R² demonstrates exceptional predictive power</a:t>
            </a:r>
            <a:endParaRPr lang="en-US" sz="800" dirty="0"/>
          </a:p>
        </p:txBody>
      </p:sp>
      <p:sp>
        <p:nvSpPr>
          <p:cNvPr id="15" name="Text 10"/>
          <p:cNvSpPr/>
          <p:nvPr/>
        </p:nvSpPr>
        <p:spPr>
          <a:xfrm>
            <a:off x="2125504" y="4003953"/>
            <a:ext cx="1292185" cy="262652"/>
          </a:xfrm>
          <a:prstGeom prst="rect">
            <a:avLst/>
          </a:prstGeom>
          <a:noFill/>
          <a:ln/>
        </p:spPr>
        <p:txBody>
          <a:bodyPr wrap="none" lIns="0" tIns="0" rIns="0" bIns="0" rtlCol="0" anchor="t"/>
          <a:lstStyle/>
          <a:p>
            <a:pPr algn="ctr" indent="0" marL="0">
              <a:lnSpc>
                <a:spcPts val="2050"/>
              </a:lnSpc>
              <a:buNone/>
            </a:pPr>
            <a:r>
              <a:rPr lang="en-US" sz="2050" dirty="0">
                <a:solidFill>
                  <a:srgbClr val="15213F"/>
                </a:solidFill>
                <a:latin typeface="Roboto Slab" pitchFamily="34" charset="0"/>
                <a:ea typeface="Roboto Slab" pitchFamily="34" charset="-122"/>
                <a:cs typeface="Roboto Slab" pitchFamily="34" charset="-120"/>
              </a:rPr>
              <a:t>.975</a:t>
            </a:r>
            <a:endParaRPr lang="en-US" sz="2050" dirty="0"/>
          </a:p>
        </p:txBody>
      </p:sp>
      <p:pic>
        <p:nvPicPr>
          <p:cNvPr id="16" name="Image 3" descr="preencoded.png">    </p:cNvPr>
          <p:cNvPicPr>
            <a:picLocks noChangeAspect="1"/>
          </p:cNvPicPr>
          <p:nvPr/>
        </p:nvPicPr>
        <p:blipFill>
          <a:blip r:embed="rId4"/>
          <a:stretch>
            <a:fillRect/>
          </a:stretch>
        </p:blipFill>
        <p:spPr>
          <a:xfrm>
            <a:off x="1983700" y="3347323"/>
            <a:ext cx="1575911" cy="1575911"/>
          </a:xfrm>
          <a:prstGeom prst="rect">
            <a:avLst/>
          </a:prstGeom>
        </p:spPr>
      </p:pic>
      <p:sp>
        <p:nvSpPr>
          <p:cNvPr id="17" name="Text 11"/>
          <p:cNvSpPr/>
          <p:nvPr/>
        </p:nvSpPr>
        <p:spPr>
          <a:xfrm>
            <a:off x="2115026" y="5054441"/>
            <a:ext cx="1313259" cy="164068"/>
          </a:xfrm>
          <a:prstGeom prst="rect">
            <a:avLst/>
          </a:prstGeom>
          <a:noFill/>
          <a:ln/>
        </p:spPr>
        <p:txBody>
          <a:bodyPr wrap="none" lIns="0" tIns="0" rIns="0" bIns="0" rtlCol="0" anchor="t"/>
          <a:lstStyle/>
          <a:p>
            <a:pPr algn="ctr" indent="0" marL="0">
              <a:lnSpc>
                <a:spcPts val="1250"/>
              </a:lnSpc>
              <a:buNone/>
            </a:pPr>
            <a:r>
              <a:rPr lang="en-US" sz="1000" dirty="0">
                <a:solidFill>
                  <a:srgbClr val="15213F"/>
                </a:solidFill>
                <a:latin typeface="Roboto Slab" pitchFamily="34" charset="0"/>
                <a:ea typeface="Roboto Slab" pitchFamily="34" charset="-122"/>
                <a:cs typeface="Roboto Slab" pitchFamily="34" charset="-120"/>
              </a:rPr>
              <a:t>CFI Model Fit</a:t>
            </a:r>
            <a:endParaRPr lang="en-US" sz="1000" dirty="0"/>
          </a:p>
        </p:txBody>
      </p:sp>
      <p:sp>
        <p:nvSpPr>
          <p:cNvPr id="18" name="Text 12"/>
          <p:cNvSpPr/>
          <p:nvPr/>
        </p:nvSpPr>
        <p:spPr>
          <a:xfrm>
            <a:off x="565666" y="5281493"/>
            <a:ext cx="4412099" cy="167997"/>
          </a:xfrm>
          <a:prstGeom prst="rect">
            <a:avLst/>
          </a:prstGeom>
          <a:noFill/>
          <a:ln/>
        </p:spPr>
        <p:txBody>
          <a:bodyPr wrap="none" lIns="0" tIns="0" rIns="0" bIns="0" rtlCol="0" anchor="t"/>
          <a:lstStyle/>
          <a:p>
            <a:pPr algn="ctr" indent="0" marL="0">
              <a:lnSpc>
                <a:spcPts val="1300"/>
              </a:lnSpc>
              <a:buNone/>
            </a:pPr>
            <a:r>
              <a:rPr lang="en-US" sz="800" dirty="0">
                <a:solidFill>
                  <a:srgbClr val="15213F"/>
                </a:solidFill>
                <a:latin typeface="Roboto" pitchFamily="34" charset="0"/>
                <a:ea typeface="Roboto" pitchFamily="34" charset="-122"/>
                <a:cs typeface="Roboto" pitchFamily="34" charset="-120"/>
              </a:rPr>
              <a:t>Excellent fit far exceeding .95 threshold</a:t>
            </a:r>
            <a:endParaRPr lang="en-US" sz="800" dirty="0"/>
          </a:p>
        </p:txBody>
      </p:sp>
      <p:sp>
        <p:nvSpPr>
          <p:cNvPr id="19" name="Text 13"/>
          <p:cNvSpPr/>
          <p:nvPr/>
        </p:nvSpPr>
        <p:spPr>
          <a:xfrm>
            <a:off x="6668929" y="4003953"/>
            <a:ext cx="1292185" cy="262652"/>
          </a:xfrm>
          <a:prstGeom prst="rect">
            <a:avLst/>
          </a:prstGeom>
          <a:noFill/>
          <a:ln/>
        </p:spPr>
        <p:txBody>
          <a:bodyPr wrap="none" lIns="0" tIns="0" rIns="0" bIns="0" rtlCol="0" anchor="t"/>
          <a:lstStyle/>
          <a:p>
            <a:pPr algn="ctr" indent="0" marL="0">
              <a:lnSpc>
                <a:spcPts val="2050"/>
              </a:lnSpc>
              <a:buNone/>
            </a:pPr>
            <a:r>
              <a:rPr lang="en-US" sz="2050" dirty="0">
                <a:solidFill>
                  <a:srgbClr val="15213F"/>
                </a:solidFill>
                <a:latin typeface="Roboto Slab" pitchFamily="34" charset="0"/>
                <a:ea typeface="Roboto Slab" pitchFamily="34" charset="-122"/>
                <a:cs typeface="Roboto Slab" pitchFamily="34" charset="-120"/>
              </a:rPr>
              <a:t>4</a:t>
            </a:r>
            <a:endParaRPr lang="en-US" sz="2050" dirty="0"/>
          </a:p>
        </p:txBody>
      </p:sp>
      <p:pic>
        <p:nvPicPr>
          <p:cNvPr id="20" name="Image 4" descr="preencoded.png">    </p:cNvPr>
          <p:cNvPicPr>
            <a:picLocks noChangeAspect="1"/>
          </p:cNvPicPr>
          <p:nvPr/>
        </p:nvPicPr>
        <p:blipFill>
          <a:blip r:embed="rId5"/>
          <a:stretch>
            <a:fillRect/>
          </a:stretch>
        </p:blipFill>
        <p:spPr>
          <a:xfrm>
            <a:off x="6527125" y="3347323"/>
            <a:ext cx="1575911" cy="1575911"/>
          </a:xfrm>
          <a:prstGeom prst="rect">
            <a:avLst/>
          </a:prstGeom>
        </p:spPr>
      </p:pic>
      <p:sp>
        <p:nvSpPr>
          <p:cNvPr id="21" name="Text 14"/>
          <p:cNvSpPr/>
          <p:nvPr/>
        </p:nvSpPr>
        <p:spPr>
          <a:xfrm>
            <a:off x="6658451" y="5054441"/>
            <a:ext cx="1313259" cy="164068"/>
          </a:xfrm>
          <a:prstGeom prst="rect">
            <a:avLst/>
          </a:prstGeom>
          <a:noFill/>
          <a:ln/>
        </p:spPr>
        <p:txBody>
          <a:bodyPr wrap="none" lIns="0" tIns="0" rIns="0" bIns="0" rtlCol="0" anchor="t"/>
          <a:lstStyle/>
          <a:p>
            <a:pPr algn="ctr" indent="0" marL="0">
              <a:lnSpc>
                <a:spcPts val="1250"/>
              </a:lnSpc>
              <a:buNone/>
            </a:pPr>
            <a:r>
              <a:rPr lang="en-US" sz="1000" dirty="0">
                <a:solidFill>
                  <a:srgbClr val="15213F"/>
                </a:solidFill>
                <a:latin typeface="Roboto Slab" pitchFamily="34" charset="0"/>
                <a:ea typeface="Roboto Slab" pitchFamily="34" charset="-122"/>
                <a:cs typeface="Roboto Slab" pitchFamily="34" charset="-120"/>
              </a:rPr>
              <a:t>User Segments</a:t>
            </a:r>
            <a:endParaRPr lang="en-US" sz="1000" dirty="0"/>
          </a:p>
        </p:txBody>
      </p:sp>
      <p:sp>
        <p:nvSpPr>
          <p:cNvPr id="22" name="Text 15"/>
          <p:cNvSpPr/>
          <p:nvPr/>
        </p:nvSpPr>
        <p:spPr>
          <a:xfrm>
            <a:off x="5109091" y="5281493"/>
            <a:ext cx="4412099" cy="167997"/>
          </a:xfrm>
          <a:prstGeom prst="rect">
            <a:avLst/>
          </a:prstGeom>
          <a:noFill/>
          <a:ln/>
        </p:spPr>
        <p:txBody>
          <a:bodyPr wrap="none" lIns="0" tIns="0" rIns="0" bIns="0" rtlCol="0" anchor="t"/>
          <a:lstStyle/>
          <a:p>
            <a:pPr algn="ctr" indent="0" marL="0">
              <a:lnSpc>
                <a:spcPts val="1300"/>
              </a:lnSpc>
              <a:buNone/>
            </a:pPr>
            <a:r>
              <a:rPr lang="en-US" sz="800" dirty="0">
                <a:solidFill>
                  <a:srgbClr val="15213F"/>
                </a:solidFill>
                <a:latin typeface="Roboto" pitchFamily="34" charset="0"/>
                <a:ea typeface="Roboto" pitchFamily="34" charset="-122"/>
                <a:cs typeface="Roboto" pitchFamily="34" charset="-120"/>
              </a:rPr>
              <a:t>Distinct adoption profiles requiring different strategies</a:t>
            </a:r>
            <a:endParaRPr lang="en-US" sz="800" dirty="0"/>
          </a:p>
        </p:txBody>
      </p:sp>
      <p:sp>
        <p:nvSpPr>
          <p:cNvPr id="23" name="Text 16"/>
          <p:cNvSpPr/>
          <p:nvPr/>
        </p:nvSpPr>
        <p:spPr>
          <a:xfrm>
            <a:off x="11212473" y="4003953"/>
            <a:ext cx="1292185" cy="262652"/>
          </a:xfrm>
          <a:prstGeom prst="rect">
            <a:avLst/>
          </a:prstGeom>
          <a:noFill/>
          <a:ln/>
        </p:spPr>
        <p:txBody>
          <a:bodyPr wrap="none" lIns="0" tIns="0" rIns="0" bIns="0" rtlCol="0" anchor="t"/>
          <a:lstStyle/>
          <a:p>
            <a:pPr algn="ctr" indent="0" marL="0">
              <a:lnSpc>
                <a:spcPts val="2050"/>
              </a:lnSpc>
              <a:buNone/>
            </a:pPr>
            <a:r>
              <a:rPr lang="en-US" sz="2050" dirty="0">
                <a:solidFill>
                  <a:srgbClr val="15213F"/>
                </a:solidFill>
                <a:latin typeface="Roboto Slab" pitchFamily="34" charset="0"/>
                <a:ea typeface="Roboto Slab" pitchFamily="34" charset="-122"/>
                <a:cs typeface="Roboto Slab" pitchFamily="34" charset="-120"/>
              </a:rPr>
              <a:t>16</a:t>
            </a:r>
            <a:endParaRPr lang="en-US" sz="2050" dirty="0"/>
          </a:p>
        </p:txBody>
      </p:sp>
      <p:pic>
        <p:nvPicPr>
          <p:cNvPr id="24" name="Image 5" descr="preencoded.png">    </p:cNvPr>
          <p:cNvPicPr>
            <a:picLocks noChangeAspect="1"/>
          </p:cNvPicPr>
          <p:nvPr/>
        </p:nvPicPr>
        <p:blipFill>
          <a:blip r:embed="rId6"/>
          <a:stretch>
            <a:fillRect/>
          </a:stretch>
        </p:blipFill>
        <p:spPr>
          <a:xfrm>
            <a:off x="11070669" y="3347323"/>
            <a:ext cx="1575911" cy="1575911"/>
          </a:xfrm>
          <a:prstGeom prst="rect">
            <a:avLst/>
          </a:prstGeom>
        </p:spPr>
      </p:pic>
      <p:sp>
        <p:nvSpPr>
          <p:cNvPr id="25" name="Text 17"/>
          <p:cNvSpPr/>
          <p:nvPr/>
        </p:nvSpPr>
        <p:spPr>
          <a:xfrm>
            <a:off x="11201995" y="5054441"/>
            <a:ext cx="1313259" cy="164068"/>
          </a:xfrm>
          <a:prstGeom prst="rect">
            <a:avLst/>
          </a:prstGeom>
          <a:noFill/>
          <a:ln/>
        </p:spPr>
        <p:txBody>
          <a:bodyPr wrap="none" lIns="0" tIns="0" rIns="0" bIns="0" rtlCol="0" anchor="t"/>
          <a:lstStyle/>
          <a:p>
            <a:pPr algn="ctr" indent="0" marL="0">
              <a:lnSpc>
                <a:spcPts val="1250"/>
              </a:lnSpc>
              <a:buNone/>
            </a:pPr>
            <a:r>
              <a:rPr lang="en-US" sz="1000" dirty="0">
                <a:solidFill>
                  <a:srgbClr val="15213F"/>
                </a:solidFill>
                <a:latin typeface="Roboto Slab" pitchFamily="34" charset="0"/>
                <a:ea typeface="Roboto Slab" pitchFamily="34" charset="-122"/>
                <a:cs typeface="Roboto Slab" pitchFamily="34" charset="-120"/>
              </a:rPr>
              <a:t>Validated Items</a:t>
            </a:r>
            <a:endParaRPr lang="en-US" sz="1000" dirty="0"/>
          </a:p>
        </p:txBody>
      </p:sp>
      <p:sp>
        <p:nvSpPr>
          <p:cNvPr id="26" name="Text 18"/>
          <p:cNvSpPr/>
          <p:nvPr/>
        </p:nvSpPr>
        <p:spPr>
          <a:xfrm>
            <a:off x="9652516" y="5281493"/>
            <a:ext cx="4412218" cy="167997"/>
          </a:xfrm>
          <a:prstGeom prst="rect">
            <a:avLst/>
          </a:prstGeom>
          <a:noFill/>
          <a:ln/>
        </p:spPr>
        <p:txBody>
          <a:bodyPr wrap="none" lIns="0" tIns="0" rIns="0" bIns="0" rtlCol="0" anchor="t"/>
          <a:lstStyle/>
          <a:p>
            <a:pPr algn="ctr" indent="0" marL="0">
              <a:lnSpc>
                <a:spcPts val="1300"/>
              </a:lnSpc>
              <a:buNone/>
            </a:pPr>
            <a:r>
              <a:rPr lang="en-US" sz="800" dirty="0">
                <a:solidFill>
                  <a:srgbClr val="15213F"/>
                </a:solidFill>
                <a:latin typeface="Roboto" pitchFamily="34" charset="0"/>
                <a:ea typeface="Roboto" pitchFamily="34" charset="-122"/>
                <a:cs typeface="Roboto" pitchFamily="34" charset="-120"/>
              </a:rPr>
              <a:t>Refined from 28 initial items through rigorous analysis</a:t>
            </a:r>
            <a:endParaRPr lang="en-US" sz="800" dirty="0"/>
          </a:p>
        </p:txBody>
      </p:sp>
      <p:sp>
        <p:nvSpPr>
          <p:cNvPr id="27" name="Text 19"/>
          <p:cNvSpPr/>
          <p:nvPr/>
        </p:nvSpPr>
        <p:spPr>
          <a:xfrm>
            <a:off x="6668929" y="6342340"/>
            <a:ext cx="1292185" cy="262652"/>
          </a:xfrm>
          <a:prstGeom prst="rect">
            <a:avLst/>
          </a:prstGeom>
          <a:noFill/>
          <a:ln/>
        </p:spPr>
        <p:txBody>
          <a:bodyPr wrap="none" lIns="0" tIns="0" rIns="0" bIns="0" rtlCol="0" anchor="t"/>
          <a:lstStyle/>
          <a:p>
            <a:pPr algn="ctr" indent="0" marL="0">
              <a:lnSpc>
                <a:spcPts val="2050"/>
              </a:lnSpc>
              <a:buNone/>
            </a:pPr>
            <a:r>
              <a:rPr lang="en-US" sz="2050" dirty="0">
                <a:solidFill>
                  <a:srgbClr val="15213F"/>
                </a:solidFill>
                <a:latin typeface="Roboto Slab" pitchFamily="34" charset="0"/>
                <a:ea typeface="Roboto Slab" pitchFamily="34" charset="-122"/>
                <a:cs typeface="Roboto Slab" pitchFamily="34" charset="-120"/>
              </a:rPr>
              <a:t>8</a:t>
            </a:r>
            <a:endParaRPr lang="en-US" sz="2050" dirty="0"/>
          </a:p>
        </p:txBody>
      </p:sp>
      <p:pic>
        <p:nvPicPr>
          <p:cNvPr id="28" name="Image 6" descr="preencoded.png">    </p:cNvPr>
          <p:cNvPicPr>
            <a:picLocks noChangeAspect="1"/>
          </p:cNvPicPr>
          <p:nvPr/>
        </p:nvPicPr>
        <p:blipFill>
          <a:blip r:embed="rId7"/>
          <a:stretch>
            <a:fillRect/>
          </a:stretch>
        </p:blipFill>
        <p:spPr>
          <a:xfrm>
            <a:off x="6527125" y="5685711"/>
            <a:ext cx="1575911" cy="1575911"/>
          </a:xfrm>
          <a:prstGeom prst="rect">
            <a:avLst/>
          </a:prstGeom>
        </p:spPr>
      </p:pic>
      <p:sp>
        <p:nvSpPr>
          <p:cNvPr id="29" name="Text 20"/>
          <p:cNvSpPr/>
          <p:nvPr/>
        </p:nvSpPr>
        <p:spPr>
          <a:xfrm>
            <a:off x="6658451" y="7392829"/>
            <a:ext cx="1313259" cy="164068"/>
          </a:xfrm>
          <a:prstGeom prst="rect">
            <a:avLst/>
          </a:prstGeom>
          <a:noFill/>
          <a:ln/>
        </p:spPr>
        <p:txBody>
          <a:bodyPr wrap="none" lIns="0" tIns="0" rIns="0" bIns="0" rtlCol="0" anchor="t"/>
          <a:lstStyle/>
          <a:p>
            <a:pPr algn="ctr" indent="0" marL="0">
              <a:lnSpc>
                <a:spcPts val="1250"/>
              </a:lnSpc>
              <a:buNone/>
            </a:pPr>
            <a:r>
              <a:rPr lang="en-US" sz="1000" dirty="0">
                <a:solidFill>
                  <a:srgbClr val="15213F"/>
                </a:solidFill>
                <a:latin typeface="Roboto Slab" pitchFamily="34" charset="0"/>
                <a:ea typeface="Roboto Slab" pitchFamily="34" charset="-122"/>
                <a:cs typeface="Roboto Slab" pitchFamily="34" charset="-120"/>
              </a:rPr>
              <a:t>Factors</a:t>
            </a:r>
            <a:endParaRPr lang="en-US" sz="1000" dirty="0"/>
          </a:p>
        </p:txBody>
      </p:sp>
      <p:sp>
        <p:nvSpPr>
          <p:cNvPr id="30" name="Text 21"/>
          <p:cNvSpPr/>
          <p:nvPr/>
        </p:nvSpPr>
        <p:spPr>
          <a:xfrm>
            <a:off x="5109091" y="7619881"/>
            <a:ext cx="4412099" cy="167997"/>
          </a:xfrm>
          <a:prstGeom prst="rect">
            <a:avLst/>
          </a:prstGeom>
          <a:noFill/>
          <a:ln/>
        </p:spPr>
        <p:txBody>
          <a:bodyPr wrap="none" lIns="0" tIns="0" rIns="0" bIns="0" rtlCol="0" anchor="t"/>
          <a:lstStyle/>
          <a:p>
            <a:pPr algn="ctr" indent="0" marL="0">
              <a:lnSpc>
                <a:spcPts val="1300"/>
              </a:lnSpc>
              <a:buNone/>
            </a:pPr>
            <a:r>
              <a:rPr lang="en-US" sz="800" dirty="0">
                <a:solidFill>
                  <a:srgbClr val="15213F"/>
                </a:solidFill>
                <a:latin typeface="Roboto" pitchFamily="34" charset="0"/>
                <a:ea typeface="Roboto" pitchFamily="34" charset="-122"/>
                <a:cs typeface="Roboto" pitchFamily="34" charset="-120"/>
              </a:rPr>
              <a:t>Psychometrically validated constructs in final instrument</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793790" y="910114"/>
            <a:ext cx="11341298" cy="1417677"/>
          </a:xfrm>
          <a:prstGeom prst="rect">
            <a:avLst/>
          </a:prstGeom>
          <a:noFill/>
          <a:ln/>
        </p:spPr>
        <p:txBody>
          <a:bodyPr wrap="none" lIns="0" tIns="0" rIns="0" bIns="0" rtlCol="0" anchor="t"/>
          <a:lstStyle/>
          <a:p>
            <a:pPr algn="l" indent="0" marL="0">
              <a:lnSpc>
                <a:spcPts val="11150"/>
              </a:lnSpc>
              <a:buNone/>
            </a:pPr>
            <a:r>
              <a:rPr lang="en-US" sz="8900" dirty="0">
                <a:solidFill>
                  <a:srgbClr val="3257B8"/>
                </a:solidFill>
                <a:latin typeface="Roboto Slab" pitchFamily="34" charset="0"/>
                <a:ea typeface="Roboto Slab" pitchFamily="34" charset="-122"/>
                <a:cs typeface="Roboto Slab" pitchFamily="34" charset="-120"/>
              </a:rPr>
              <a:t>Thank You</a:t>
            </a:r>
            <a:endParaRPr lang="en-US" sz="8900" dirty="0"/>
          </a:p>
        </p:txBody>
      </p:sp>
      <p:sp>
        <p:nvSpPr>
          <p:cNvPr id="3" name="Text 1"/>
          <p:cNvSpPr/>
          <p:nvPr/>
        </p:nvSpPr>
        <p:spPr>
          <a:xfrm>
            <a:off x="793790" y="2667953"/>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Questions?</a:t>
            </a:r>
            <a:endParaRPr lang="en-US" sz="4450" dirty="0"/>
          </a:p>
        </p:txBody>
      </p:sp>
      <p:sp>
        <p:nvSpPr>
          <p:cNvPr id="4" name="Text 2"/>
          <p:cNvSpPr/>
          <p:nvPr/>
        </p:nvSpPr>
        <p:spPr>
          <a:xfrm>
            <a:off x="793790" y="3716893"/>
            <a:ext cx="13042821" cy="1088708"/>
          </a:xfrm>
          <a:prstGeom prst="rect">
            <a:avLst/>
          </a:prstGeom>
          <a:noFill/>
          <a:ln/>
        </p:spPr>
        <p:txBody>
          <a:bodyPr wrap="squar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Fabio Correa</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Doctor of Business Administration Candidate</a:t>
            </a:r>
            <a:endParaRPr lang="en-US" sz="1750" dirty="0"/>
          </a:p>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Touro University Worldwide</a:t>
            </a:r>
            <a:endParaRPr lang="en-US" sz="1750" dirty="0"/>
          </a:p>
        </p:txBody>
      </p:sp>
      <p:sp>
        <p:nvSpPr>
          <p:cNvPr id="5" name="Shape 3"/>
          <p:cNvSpPr/>
          <p:nvPr/>
        </p:nvSpPr>
        <p:spPr>
          <a:xfrm>
            <a:off x="793790" y="5174132"/>
            <a:ext cx="13042821" cy="35957"/>
          </a:xfrm>
          <a:prstGeom prst="rect">
            <a:avLst/>
          </a:prstGeom>
          <a:solidFill>
            <a:srgbClr val="15213F">
              <a:alpha val="50000"/>
            </a:srgbClr>
          </a:solidFill>
          <a:ln/>
        </p:spPr>
      </p:sp>
      <p:sp>
        <p:nvSpPr>
          <p:cNvPr id="6" name="Text 4"/>
          <p:cNvSpPr/>
          <p:nvPr/>
        </p:nvSpPr>
        <p:spPr>
          <a:xfrm>
            <a:off x="1133951" y="5720358"/>
            <a:ext cx="12702659" cy="362903"/>
          </a:xfrm>
          <a:prstGeom prst="rect">
            <a:avLst/>
          </a:prstGeom>
          <a:noFill/>
          <a:ln/>
        </p:spPr>
        <p:txBody>
          <a:bodyPr wrap="none" lIns="0" tIns="0" rIns="0" bIns="0" rtlCol="0" anchor="t"/>
          <a:lstStyle/>
          <a:p>
            <a:pPr algn="l" indent="0" marL="0">
              <a:lnSpc>
                <a:spcPts val="2850"/>
              </a:lnSpc>
              <a:buNone/>
            </a:pPr>
            <a:r>
              <a:rPr lang="en-US" sz="1750" i="1" dirty="0">
                <a:solidFill>
                  <a:srgbClr val="15213F"/>
                </a:solidFill>
                <a:latin typeface="Roboto" pitchFamily="34" charset="0"/>
                <a:ea typeface="Roboto" pitchFamily="34" charset="-122"/>
                <a:cs typeface="Roboto" pitchFamily="34" charset="-120"/>
              </a:rPr>
              <a:t>"Organizations don't have an AI technology problem—they have an AI adoption problem."</a:t>
            </a:r>
            <a:endParaRPr lang="en-US" sz="1750" dirty="0"/>
          </a:p>
        </p:txBody>
      </p:sp>
      <p:sp>
        <p:nvSpPr>
          <p:cNvPr id="7" name="Shape 5"/>
          <p:cNvSpPr/>
          <p:nvPr/>
        </p:nvSpPr>
        <p:spPr>
          <a:xfrm>
            <a:off x="793790" y="5465207"/>
            <a:ext cx="30480" cy="873204"/>
          </a:xfrm>
          <a:prstGeom prst="rect">
            <a:avLst/>
          </a:prstGeom>
          <a:solidFill>
            <a:srgbClr val="3257B8"/>
          </a:solidFill>
          <a:ln/>
        </p:spPr>
      </p:sp>
      <p:sp>
        <p:nvSpPr>
          <p:cNvPr id="8" name="Text 6"/>
          <p:cNvSpPr/>
          <p:nvPr/>
        </p:nvSpPr>
        <p:spPr>
          <a:xfrm>
            <a:off x="793790" y="6593562"/>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I welcome your questions and feedback on this research examining why individuals adopt or resist artificial intelligence tools and how organizations can systematically diagnose and address adoption barriers.</a:t>
            </a:r>
            <a:endParaRPr lang="en-US" sz="1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793790" y="881539"/>
            <a:ext cx="7957304" cy="460772"/>
          </a:xfrm>
          <a:prstGeom prst="rect">
            <a:avLst/>
          </a:prstGeom>
          <a:noFill/>
          <a:ln/>
        </p:spPr>
        <p:txBody>
          <a:bodyPr wrap="none" lIns="0" tIns="0" rIns="0" bIns="0" rtlCol="0" anchor="t"/>
          <a:lstStyle/>
          <a:p>
            <a:pPr algn="l" indent="0" marL="0">
              <a:lnSpc>
                <a:spcPts val="3600"/>
              </a:lnSpc>
              <a:buNone/>
            </a:pPr>
            <a:r>
              <a:rPr lang="en-US" sz="2900" dirty="0">
                <a:solidFill>
                  <a:srgbClr val="3257B8"/>
                </a:solidFill>
                <a:latin typeface="Roboto Slab" pitchFamily="34" charset="0"/>
                <a:ea typeface="Roboto Slab" pitchFamily="34" charset="-122"/>
                <a:cs typeface="Roboto Slab" pitchFamily="34" charset="-120"/>
              </a:rPr>
              <a:t>Backup Slide B1: Complete Hypothesis Results</a:t>
            </a:r>
            <a:endParaRPr lang="en-US" sz="2900" dirty="0"/>
          </a:p>
        </p:txBody>
      </p:sp>
      <p:sp>
        <p:nvSpPr>
          <p:cNvPr id="3" name="Text 1"/>
          <p:cNvSpPr/>
          <p:nvPr/>
        </p:nvSpPr>
        <p:spPr>
          <a:xfrm>
            <a:off x="793790" y="1401247"/>
            <a:ext cx="7153275" cy="368618"/>
          </a:xfrm>
          <a:prstGeom prst="rect">
            <a:avLst/>
          </a:prstGeom>
          <a:noFill/>
          <a:ln/>
        </p:spPr>
        <p:txBody>
          <a:bodyPr wrap="none" lIns="0" tIns="0" rIns="0" bIns="0" rtlCol="0" anchor="t"/>
          <a:lstStyle/>
          <a:p>
            <a:pPr algn="l" indent="0" marL="0">
              <a:lnSpc>
                <a:spcPts val="2900"/>
              </a:lnSpc>
              <a:buNone/>
            </a:pPr>
            <a:r>
              <a:rPr lang="en-US" sz="2300" dirty="0">
                <a:solidFill>
                  <a:srgbClr val="3257B8"/>
                </a:solidFill>
                <a:latin typeface="Roboto Slab" pitchFamily="34" charset="0"/>
                <a:ea typeface="Roboto Slab" pitchFamily="34" charset="-122"/>
                <a:cs typeface="Roboto Slab" pitchFamily="34" charset="-120"/>
              </a:rPr>
              <a:t>Full Statistical Summary with Confidence Intervals</a:t>
            </a:r>
            <a:endParaRPr lang="en-US" sz="2300" dirty="0"/>
          </a:p>
        </p:txBody>
      </p:sp>
      <p:sp>
        <p:nvSpPr>
          <p:cNvPr id="4" name="Shape 2"/>
          <p:cNvSpPr/>
          <p:nvPr/>
        </p:nvSpPr>
        <p:spPr>
          <a:xfrm>
            <a:off x="793790" y="1990963"/>
            <a:ext cx="13042821" cy="4719638"/>
          </a:xfrm>
          <a:prstGeom prst="roundRect">
            <a:avLst>
              <a:gd name="adj" fmla="val 469"/>
            </a:avLst>
          </a:prstGeom>
          <a:noFill/>
          <a:ln w="7620">
            <a:solidFill>
              <a:srgbClr val="000000">
                <a:alpha val="8000"/>
              </a:srgbClr>
            </a:solidFill>
            <a:prstDash val="solid"/>
          </a:ln>
        </p:spPr>
      </p:sp>
      <p:sp>
        <p:nvSpPr>
          <p:cNvPr id="5" name="Shape 3"/>
          <p:cNvSpPr/>
          <p:nvPr/>
        </p:nvSpPr>
        <p:spPr>
          <a:xfrm>
            <a:off x="801410" y="1998583"/>
            <a:ext cx="13030081" cy="427673"/>
          </a:xfrm>
          <a:prstGeom prst="rect">
            <a:avLst/>
          </a:prstGeom>
          <a:solidFill>
            <a:srgbClr val="FFFFFF">
              <a:alpha val="4000"/>
            </a:srgbClr>
          </a:solidFill>
          <a:ln/>
        </p:spPr>
      </p:sp>
      <p:sp>
        <p:nvSpPr>
          <p:cNvPr id="6" name="Text 4"/>
          <p:cNvSpPr/>
          <p:nvPr/>
        </p:nvSpPr>
        <p:spPr>
          <a:xfrm>
            <a:off x="949404" y="2094547"/>
            <a:ext cx="1872972"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Hypothesis</a:t>
            </a:r>
            <a:endParaRPr lang="en-US" sz="1150" dirty="0"/>
          </a:p>
        </p:txBody>
      </p:sp>
      <p:sp>
        <p:nvSpPr>
          <p:cNvPr id="7" name="Text 5"/>
          <p:cNvSpPr/>
          <p:nvPr/>
        </p:nvSpPr>
        <p:spPr>
          <a:xfrm>
            <a:off x="3124795" y="2094547"/>
            <a:ext cx="1869162"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Path</a:t>
            </a:r>
            <a:endParaRPr lang="en-US" sz="1150" dirty="0"/>
          </a:p>
        </p:txBody>
      </p:sp>
      <p:sp>
        <p:nvSpPr>
          <p:cNvPr id="8" name="Text 6"/>
          <p:cNvSpPr/>
          <p:nvPr/>
        </p:nvSpPr>
        <p:spPr>
          <a:xfrm>
            <a:off x="5296376" y="2094547"/>
            <a:ext cx="1869162"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β</a:t>
            </a:r>
            <a:endParaRPr lang="en-US" sz="1150" dirty="0"/>
          </a:p>
        </p:txBody>
      </p:sp>
      <p:sp>
        <p:nvSpPr>
          <p:cNvPr id="9" name="Text 7"/>
          <p:cNvSpPr/>
          <p:nvPr/>
        </p:nvSpPr>
        <p:spPr>
          <a:xfrm>
            <a:off x="7467957" y="2094547"/>
            <a:ext cx="1869162"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p</a:t>
            </a:r>
            <a:endParaRPr lang="en-US" sz="1150" dirty="0"/>
          </a:p>
        </p:txBody>
      </p:sp>
      <p:sp>
        <p:nvSpPr>
          <p:cNvPr id="10" name="Text 8"/>
          <p:cNvSpPr/>
          <p:nvPr/>
        </p:nvSpPr>
        <p:spPr>
          <a:xfrm>
            <a:off x="9639538" y="2094547"/>
            <a:ext cx="1869162"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95% CI</a:t>
            </a:r>
            <a:endParaRPr lang="en-US" sz="1150" dirty="0"/>
          </a:p>
        </p:txBody>
      </p:sp>
      <p:sp>
        <p:nvSpPr>
          <p:cNvPr id="11" name="Text 9"/>
          <p:cNvSpPr/>
          <p:nvPr/>
        </p:nvSpPr>
        <p:spPr>
          <a:xfrm>
            <a:off x="11811119" y="2094547"/>
            <a:ext cx="1872972"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Result</a:t>
            </a:r>
            <a:endParaRPr lang="en-US" sz="1150" dirty="0"/>
          </a:p>
        </p:txBody>
      </p:sp>
      <p:sp>
        <p:nvSpPr>
          <p:cNvPr id="12" name="Shape 10"/>
          <p:cNvSpPr/>
          <p:nvPr/>
        </p:nvSpPr>
        <p:spPr>
          <a:xfrm>
            <a:off x="801410" y="2426256"/>
            <a:ext cx="13030081" cy="427673"/>
          </a:xfrm>
          <a:prstGeom prst="rect">
            <a:avLst/>
          </a:prstGeom>
          <a:solidFill>
            <a:srgbClr val="000000">
              <a:alpha val="4000"/>
            </a:srgbClr>
          </a:solidFill>
          <a:ln/>
        </p:spPr>
      </p:sp>
      <p:sp>
        <p:nvSpPr>
          <p:cNvPr id="13" name="Text 11"/>
          <p:cNvSpPr/>
          <p:nvPr/>
        </p:nvSpPr>
        <p:spPr>
          <a:xfrm>
            <a:off x="949404" y="2522220"/>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H1a</a:t>
            </a:r>
            <a:endParaRPr lang="en-US" sz="1150" dirty="0"/>
          </a:p>
        </p:txBody>
      </p:sp>
      <p:sp>
        <p:nvSpPr>
          <p:cNvPr id="14" name="Text 12"/>
          <p:cNvSpPr/>
          <p:nvPr/>
        </p:nvSpPr>
        <p:spPr>
          <a:xfrm>
            <a:off x="3124795" y="252222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PE → BI</a:t>
            </a:r>
            <a:endParaRPr lang="en-US" sz="1150" dirty="0"/>
          </a:p>
        </p:txBody>
      </p:sp>
      <p:sp>
        <p:nvSpPr>
          <p:cNvPr id="15" name="Text 13"/>
          <p:cNvSpPr/>
          <p:nvPr/>
        </p:nvSpPr>
        <p:spPr>
          <a:xfrm>
            <a:off x="5296376" y="252222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−.028</a:t>
            </a:r>
            <a:endParaRPr lang="en-US" sz="1150" dirty="0"/>
          </a:p>
        </p:txBody>
      </p:sp>
      <p:sp>
        <p:nvSpPr>
          <p:cNvPr id="16" name="Text 14"/>
          <p:cNvSpPr/>
          <p:nvPr/>
        </p:nvSpPr>
        <p:spPr>
          <a:xfrm>
            <a:off x="7467957" y="252222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.791</a:t>
            </a:r>
            <a:endParaRPr lang="en-US" sz="1150" dirty="0"/>
          </a:p>
        </p:txBody>
      </p:sp>
      <p:sp>
        <p:nvSpPr>
          <p:cNvPr id="17" name="Text 15"/>
          <p:cNvSpPr/>
          <p:nvPr/>
        </p:nvSpPr>
        <p:spPr>
          <a:xfrm>
            <a:off x="9639538" y="252222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[−.234, .178]</a:t>
            </a:r>
            <a:endParaRPr lang="en-US" sz="1150" dirty="0"/>
          </a:p>
        </p:txBody>
      </p:sp>
      <p:sp>
        <p:nvSpPr>
          <p:cNvPr id="18" name="Text 16"/>
          <p:cNvSpPr/>
          <p:nvPr/>
        </p:nvSpPr>
        <p:spPr>
          <a:xfrm>
            <a:off x="11811119" y="2522220"/>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Not Supported</a:t>
            </a:r>
            <a:endParaRPr lang="en-US" sz="1150" dirty="0"/>
          </a:p>
        </p:txBody>
      </p:sp>
      <p:sp>
        <p:nvSpPr>
          <p:cNvPr id="19" name="Shape 17"/>
          <p:cNvSpPr/>
          <p:nvPr/>
        </p:nvSpPr>
        <p:spPr>
          <a:xfrm>
            <a:off x="801410" y="2853928"/>
            <a:ext cx="13030081" cy="427673"/>
          </a:xfrm>
          <a:prstGeom prst="rect">
            <a:avLst/>
          </a:prstGeom>
          <a:solidFill>
            <a:srgbClr val="FFFFFF">
              <a:alpha val="4000"/>
            </a:srgbClr>
          </a:solidFill>
          <a:ln/>
        </p:spPr>
      </p:sp>
      <p:sp>
        <p:nvSpPr>
          <p:cNvPr id="20" name="Text 18"/>
          <p:cNvSpPr/>
          <p:nvPr/>
        </p:nvSpPr>
        <p:spPr>
          <a:xfrm>
            <a:off x="949404" y="2949893"/>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H1b</a:t>
            </a:r>
            <a:endParaRPr lang="en-US" sz="1150" dirty="0"/>
          </a:p>
        </p:txBody>
      </p:sp>
      <p:sp>
        <p:nvSpPr>
          <p:cNvPr id="21" name="Text 19"/>
          <p:cNvSpPr/>
          <p:nvPr/>
        </p:nvSpPr>
        <p:spPr>
          <a:xfrm>
            <a:off x="3124795" y="2949893"/>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EE → BI</a:t>
            </a:r>
            <a:endParaRPr lang="en-US" sz="1150" dirty="0"/>
          </a:p>
        </p:txBody>
      </p:sp>
      <p:sp>
        <p:nvSpPr>
          <p:cNvPr id="22" name="Text 20"/>
          <p:cNvSpPr/>
          <p:nvPr/>
        </p:nvSpPr>
        <p:spPr>
          <a:xfrm>
            <a:off x="5296376" y="2949893"/>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−.008</a:t>
            </a:r>
            <a:endParaRPr lang="en-US" sz="1150" dirty="0"/>
          </a:p>
        </p:txBody>
      </p:sp>
      <p:sp>
        <p:nvSpPr>
          <p:cNvPr id="23" name="Text 21"/>
          <p:cNvSpPr/>
          <p:nvPr/>
        </p:nvSpPr>
        <p:spPr>
          <a:xfrm>
            <a:off x="7467957" y="2949893"/>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.875</a:t>
            </a:r>
            <a:endParaRPr lang="en-US" sz="1150" dirty="0"/>
          </a:p>
        </p:txBody>
      </p:sp>
      <p:sp>
        <p:nvSpPr>
          <p:cNvPr id="24" name="Text 22"/>
          <p:cNvSpPr/>
          <p:nvPr/>
        </p:nvSpPr>
        <p:spPr>
          <a:xfrm>
            <a:off x="9639538" y="2949893"/>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[−.108, .092]</a:t>
            </a:r>
            <a:endParaRPr lang="en-US" sz="1150" dirty="0"/>
          </a:p>
        </p:txBody>
      </p:sp>
      <p:sp>
        <p:nvSpPr>
          <p:cNvPr id="25" name="Text 23"/>
          <p:cNvSpPr/>
          <p:nvPr/>
        </p:nvSpPr>
        <p:spPr>
          <a:xfrm>
            <a:off x="11811119" y="2949893"/>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Not Supported</a:t>
            </a:r>
            <a:endParaRPr lang="en-US" sz="1150" dirty="0"/>
          </a:p>
        </p:txBody>
      </p:sp>
      <p:sp>
        <p:nvSpPr>
          <p:cNvPr id="26" name="Shape 24"/>
          <p:cNvSpPr/>
          <p:nvPr/>
        </p:nvSpPr>
        <p:spPr>
          <a:xfrm>
            <a:off x="801410" y="3281601"/>
            <a:ext cx="13030081" cy="427673"/>
          </a:xfrm>
          <a:prstGeom prst="rect">
            <a:avLst/>
          </a:prstGeom>
          <a:solidFill>
            <a:srgbClr val="000000">
              <a:alpha val="4000"/>
            </a:srgbClr>
          </a:solidFill>
          <a:ln/>
        </p:spPr>
      </p:sp>
      <p:sp>
        <p:nvSpPr>
          <p:cNvPr id="27" name="Text 25"/>
          <p:cNvSpPr/>
          <p:nvPr/>
        </p:nvSpPr>
        <p:spPr>
          <a:xfrm>
            <a:off x="949404" y="3377565"/>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H1c</a:t>
            </a:r>
            <a:endParaRPr lang="en-US" sz="1150" dirty="0"/>
          </a:p>
        </p:txBody>
      </p:sp>
      <p:sp>
        <p:nvSpPr>
          <p:cNvPr id="28" name="Text 26"/>
          <p:cNvSpPr/>
          <p:nvPr/>
        </p:nvSpPr>
        <p:spPr>
          <a:xfrm>
            <a:off x="3124795" y="3377565"/>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SI → BI</a:t>
            </a:r>
            <a:endParaRPr lang="en-US" sz="1150" dirty="0"/>
          </a:p>
        </p:txBody>
      </p:sp>
      <p:sp>
        <p:nvSpPr>
          <p:cNvPr id="29" name="Text 27"/>
          <p:cNvSpPr/>
          <p:nvPr/>
        </p:nvSpPr>
        <p:spPr>
          <a:xfrm>
            <a:off x="5296376" y="3377565"/>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.136</a:t>
            </a:r>
            <a:endParaRPr lang="en-US" sz="1150" dirty="0"/>
          </a:p>
        </p:txBody>
      </p:sp>
      <p:sp>
        <p:nvSpPr>
          <p:cNvPr id="30" name="Text 28"/>
          <p:cNvSpPr/>
          <p:nvPr/>
        </p:nvSpPr>
        <p:spPr>
          <a:xfrm>
            <a:off x="7467957" y="3377565"/>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.024</a:t>
            </a:r>
            <a:endParaRPr lang="en-US" sz="1150" dirty="0"/>
          </a:p>
        </p:txBody>
      </p:sp>
      <p:sp>
        <p:nvSpPr>
          <p:cNvPr id="31" name="Text 29"/>
          <p:cNvSpPr/>
          <p:nvPr/>
        </p:nvSpPr>
        <p:spPr>
          <a:xfrm>
            <a:off x="9639538" y="3377565"/>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[.018, .254]</a:t>
            </a:r>
            <a:endParaRPr lang="en-US" sz="1150" dirty="0"/>
          </a:p>
        </p:txBody>
      </p:sp>
      <p:sp>
        <p:nvSpPr>
          <p:cNvPr id="32" name="Text 30"/>
          <p:cNvSpPr/>
          <p:nvPr/>
        </p:nvSpPr>
        <p:spPr>
          <a:xfrm>
            <a:off x="11811119" y="3377565"/>
            <a:ext cx="1872972" cy="235744"/>
          </a:xfrm>
          <a:prstGeom prst="rect">
            <a:avLst/>
          </a:prstGeom>
          <a:noFill/>
          <a:ln/>
        </p:spPr>
        <p:txBody>
          <a:bodyPr wrap="none" lIns="0" tIns="0" rIns="0" bIns="0" rtlCol="0" anchor="t"/>
          <a:lstStyle/>
          <a:p>
            <a:pPr algn="l" indent="0" marL="0">
              <a:lnSpc>
                <a:spcPts val="1850"/>
              </a:lnSpc>
              <a:buNone/>
            </a:pPr>
            <a:r>
              <a:rPr lang="en-US" sz="1150" b="1" dirty="0">
                <a:solidFill>
                  <a:srgbClr val="3257B8"/>
                </a:solidFill>
                <a:latin typeface="Roboto" pitchFamily="34" charset="0"/>
                <a:ea typeface="Roboto" pitchFamily="34" charset="-122"/>
                <a:cs typeface="Roboto" pitchFamily="34" charset="-120"/>
              </a:rPr>
              <a:t>✓ Supported</a:t>
            </a:r>
            <a:endParaRPr lang="en-US" sz="1150" dirty="0"/>
          </a:p>
        </p:txBody>
      </p:sp>
      <p:sp>
        <p:nvSpPr>
          <p:cNvPr id="33" name="Shape 31"/>
          <p:cNvSpPr/>
          <p:nvPr/>
        </p:nvSpPr>
        <p:spPr>
          <a:xfrm>
            <a:off x="801410" y="3709273"/>
            <a:ext cx="13030081" cy="427673"/>
          </a:xfrm>
          <a:prstGeom prst="rect">
            <a:avLst/>
          </a:prstGeom>
          <a:solidFill>
            <a:srgbClr val="FFFFFF">
              <a:alpha val="4000"/>
            </a:srgbClr>
          </a:solidFill>
          <a:ln/>
        </p:spPr>
      </p:sp>
      <p:sp>
        <p:nvSpPr>
          <p:cNvPr id="34" name="Text 32"/>
          <p:cNvSpPr/>
          <p:nvPr/>
        </p:nvSpPr>
        <p:spPr>
          <a:xfrm>
            <a:off x="949404" y="3805238"/>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H1d</a:t>
            </a:r>
            <a:endParaRPr lang="en-US" sz="1150" dirty="0"/>
          </a:p>
        </p:txBody>
      </p:sp>
      <p:sp>
        <p:nvSpPr>
          <p:cNvPr id="35" name="Text 33"/>
          <p:cNvSpPr/>
          <p:nvPr/>
        </p:nvSpPr>
        <p:spPr>
          <a:xfrm>
            <a:off x="3124795" y="3805238"/>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FC → BI</a:t>
            </a:r>
            <a:endParaRPr lang="en-US" sz="1150" dirty="0"/>
          </a:p>
        </p:txBody>
      </p:sp>
      <p:sp>
        <p:nvSpPr>
          <p:cNvPr id="36" name="Text 34"/>
          <p:cNvSpPr/>
          <p:nvPr/>
        </p:nvSpPr>
        <p:spPr>
          <a:xfrm>
            <a:off x="5296376" y="3805238"/>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.059</a:t>
            </a:r>
            <a:endParaRPr lang="en-US" sz="1150" dirty="0"/>
          </a:p>
        </p:txBody>
      </p:sp>
      <p:sp>
        <p:nvSpPr>
          <p:cNvPr id="37" name="Text 35"/>
          <p:cNvSpPr/>
          <p:nvPr/>
        </p:nvSpPr>
        <p:spPr>
          <a:xfrm>
            <a:off x="7467957" y="3805238"/>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.338</a:t>
            </a:r>
            <a:endParaRPr lang="en-US" sz="1150" dirty="0"/>
          </a:p>
        </p:txBody>
      </p:sp>
      <p:sp>
        <p:nvSpPr>
          <p:cNvPr id="38" name="Text 36"/>
          <p:cNvSpPr/>
          <p:nvPr/>
        </p:nvSpPr>
        <p:spPr>
          <a:xfrm>
            <a:off x="9639538" y="3805238"/>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[−.062, .180]</a:t>
            </a:r>
            <a:endParaRPr lang="en-US" sz="1150" dirty="0"/>
          </a:p>
        </p:txBody>
      </p:sp>
      <p:sp>
        <p:nvSpPr>
          <p:cNvPr id="39" name="Text 37"/>
          <p:cNvSpPr/>
          <p:nvPr/>
        </p:nvSpPr>
        <p:spPr>
          <a:xfrm>
            <a:off x="11811119" y="3805238"/>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Not Supported</a:t>
            </a:r>
            <a:endParaRPr lang="en-US" sz="1150" dirty="0"/>
          </a:p>
        </p:txBody>
      </p:sp>
      <p:sp>
        <p:nvSpPr>
          <p:cNvPr id="40" name="Shape 38"/>
          <p:cNvSpPr/>
          <p:nvPr/>
        </p:nvSpPr>
        <p:spPr>
          <a:xfrm>
            <a:off x="801410" y="4136946"/>
            <a:ext cx="13030081" cy="427673"/>
          </a:xfrm>
          <a:prstGeom prst="rect">
            <a:avLst/>
          </a:prstGeom>
          <a:solidFill>
            <a:srgbClr val="000000">
              <a:alpha val="4000"/>
            </a:srgbClr>
          </a:solidFill>
          <a:ln/>
        </p:spPr>
      </p:sp>
      <p:sp>
        <p:nvSpPr>
          <p:cNvPr id="41" name="Text 39"/>
          <p:cNvSpPr/>
          <p:nvPr/>
        </p:nvSpPr>
        <p:spPr>
          <a:xfrm>
            <a:off x="949404" y="4232910"/>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H1e</a:t>
            </a:r>
            <a:endParaRPr lang="en-US" sz="1150" dirty="0"/>
          </a:p>
        </p:txBody>
      </p:sp>
      <p:sp>
        <p:nvSpPr>
          <p:cNvPr id="42" name="Text 40"/>
          <p:cNvSpPr/>
          <p:nvPr/>
        </p:nvSpPr>
        <p:spPr>
          <a:xfrm>
            <a:off x="3124795" y="423291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HM → BI</a:t>
            </a:r>
            <a:endParaRPr lang="en-US" sz="1150" dirty="0"/>
          </a:p>
        </p:txBody>
      </p:sp>
      <p:sp>
        <p:nvSpPr>
          <p:cNvPr id="43" name="Text 41"/>
          <p:cNvSpPr/>
          <p:nvPr/>
        </p:nvSpPr>
        <p:spPr>
          <a:xfrm>
            <a:off x="5296376" y="423291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.217</a:t>
            </a:r>
            <a:endParaRPr lang="en-US" sz="1150" dirty="0"/>
          </a:p>
        </p:txBody>
      </p:sp>
      <p:sp>
        <p:nvSpPr>
          <p:cNvPr id="44" name="Text 42"/>
          <p:cNvSpPr/>
          <p:nvPr/>
        </p:nvSpPr>
        <p:spPr>
          <a:xfrm>
            <a:off x="7467957" y="423291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.014</a:t>
            </a:r>
            <a:endParaRPr lang="en-US" sz="1150" dirty="0"/>
          </a:p>
        </p:txBody>
      </p:sp>
      <p:sp>
        <p:nvSpPr>
          <p:cNvPr id="45" name="Text 43"/>
          <p:cNvSpPr/>
          <p:nvPr/>
        </p:nvSpPr>
        <p:spPr>
          <a:xfrm>
            <a:off x="9639538" y="423291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[.044, .390]</a:t>
            </a:r>
            <a:endParaRPr lang="en-US" sz="1150" dirty="0"/>
          </a:p>
        </p:txBody>
      </p:sp>
      <p:sp>
        <p:nvSpPr>
          <p:cNvPr id="46" name="Text 44"/>
          <p:cNvSpPr/>
          <p:nvPr/>
        </p:nvSpPr>
        <p:spPr>
          <a:xfrm>
            <a:off x="11811119" y="4232910"/>
            <a:ext cx="1872972" cy="235744"/>
          </a:xfrm>
          <a:prstGeom prst="rect">
            <a:avLst/>
          </a:prstGeom>
          <a:noFill/>
          <a:ln/>
        </p:spPr>
        <p:txBody>
          <a:bodyPr wrap="none" lIns="0" tIns="0" rIns="0" bIns="0" rtlCol="0" anchor="t"/>
          <a:lstStyle/>
          <a:p>
            <a:pPr algn="l" indent="0" marL="0">
              <a:lnSpc>
                <a:spcPts val="1850"/>
              </a:lnSpc>
              <a:buNone/>
            </a:pPr>
            <a:r>
              <a:rPr lang="en-US" sz="1150" b="1" dirty="0">
                <a:solidFill>
                  <a:srgbClr val="3257B8"/>
                </a:solidFill>
                <a:latin typeface="Roboto" pitchFamily="34" charset="0"/>
                <a:ea typeface="Roboto" pitchFamily="34" charset="-122"/>
                <a:cs typeface="Roboto" pitchFamily="34" charset="-120"/>
              </a:rPr>
              <a:t>✓ Supported</a:t>
            </a:r>
            <a:endParaRPr lang="en-US" sz="1150" dirty="0"/>
          </a:p>
        </p:txBody>
      </p:sp>
      <p:sp>
        <p:nvSpPr>
          <p:cNvPr id="47" name="Shape 45"/>
          <p:cNvSpPr/>
          <p:nvPr/>
        </p:nvSpPr>
        <p:spPr>
          <a:xfrm>
            <a:off x="801410" y="4564618"/>
            <a:ext cx="13030081" cy="427673"/>
          </a:xfrm>
          <a:prstGeom prst="rect">
            <a:avLst/>
          </a:prstGeom>
          <a:solidFill>
            <a:srgbClr val="FFFFFF">
              <a:alpha val="4000"/>
            </a:srgbClr>
          </a:solidFill>
          <a:ln/>
        </p:spPr>
      </p:sp>
      <p:sp>
        <p:nvSpPr>
          <p:cNvPr id="48" name="Text 46"/>
          <p:cNvSpPr/>
          <p:nvPr/>
        </p:nvSpPr>
        <p:spPr>
          <a:xfrm>
            <a:off x="949404" y="4660582"/>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H1f</a:t>
            </a:r>
            <a:endParaRPr lang="en-US" sz="1150" dirty="0"/>
          </a:p>
        </p:txBody>
      </p:sp>
      <p:sp>
        <p:nvSpPr>
          <p:cNvPr id="49" name="Text 47"/>
          <p:cNvSpPr/>
          <p:nvPr/>
        </p:nvSpPr>
        <p:spPr>
          <a:xfrm>
            <a:off x="3124795" y="4660582"/>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PV → BI</a:t>
            </a:r>
            <a:endParaRPr lang="en-US" sz="1150" dirty="0"/>
          </a:p>
        </p:txBody>
      </p:sp>
      <p:sp>
        <p:nvSpPr>
          <p:cNvPr id="50" name="Text 48"/>
          <p:cNvSpPr/>
          <p:nvPr/>
        </p:nvSpPr>
        <p:spPr>
          <a:xfrm>
            <a:off x="5296376" y="4660582"/>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.505</a:t>
            </a:r>
            <a:endParaRPr lang="en-US" sz="1150" dirty="0"/>
          </a:p>
        </p:txBody>
      </p:sp>
      <p:sp>
        <p:nvSpPr>
          <p:cNvPr id="51" name="Text 49"/>
          <p:cNvSpPr/>
          <p:nvPr/>
        </p:nvSpPr>
        <p:spPr>
          <a:xfrm>
            <a:off x="7467957" y="4660582"/>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&lt;.001</a:t>
            </a:r>
            <a:endParaRPr lang="en-US" sz="1150" dirty="0"/>
          </a:p>
        </p:txBody>
      </p:sp>
      <p:sp>
        <p:nvSpPr>
          <p:cNvPr id="52" name="Text 50"/>
          <p:cNvSpPr/>
          <p:nvPr/>
        </p:nvSpPr>
        <p:spPr>
          <a:xfrm>
            <a:off x="9639538" y="4660582"/>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[.352, .658]</a:t>
            </a:r>
            <a:endParaRPr lang="en-US" sz="1150" dirty="0"/>
          </a:p>
        </p:txBody>
      </p:sp>
      <p:sp>
        <p:nvSpPr>
          <p:cNvPr id="53" name="Text 51"/>
          <p:cNvSpPr/>
          <p:nvPr/>
        </p:nvSpPr>
        <p:spPr>
          <a:xfrm>
            <a:off x="11811119" y="4660582"/>
            <a:ext cx="1872972" cy="235744"/>
          </a:xfrm>
          <a:prstGeom prst="rect">
            <a:avLst/>
          </a:prstGeom>
          <a:noFill/>
          <a:ln/>
        </p:spPr>
        <p:txBody>
          <a:bodyPr wrap="none" lIns="0" tIns="0" rIns="0" bIns="0" rtlCol="0" anchor="t"/>
          <a:lstStyle/>
          <a:p>
            <a:pPr algn="l" indent="0" marL="0">
              <a:lnSpc>
                <a:spcPts val="1850"/>
              </a:lnSpc>
              <a:buNone/>
            </a:pPr>
            <a:r>
              <a:rPr lang="en-US" sz="1150" b="1" dirty="0">
                <a:solidFill>
                  <a:srgbClr val="3257B8"/>
                </a:solidFill>
                <a:latin typeface="Roboto" pitchFamily="34" charset="0"/>
                <a:ea typeface="Roboto" pitchFamily="34" charset="-122"/>
                <a:cs typeface="Roboto" pitchFamily="34" charset="-120"/>
              </a:rPr>
              <a:t>✓ Supported (Strongest)</a:t>
            </a:r>
            <a:endParaRPr lang="en-US" sz="1150" dirty="0"/>
          </a:p>
        </p:txBody>
      </p:sp>
      <p:sp>
        <p:nvSpPr>
          <p:cNvPr id="54" name="Shape 52"/>
          <p:cNvSpPr/>
          <p:nvPr/>
        </p:nvSpPr>
        <p:spPr>
          <a:xfrm>
            <a:off x="801410" y="4992291"/>
            <a:ext cx="13030081" cy="427673"/>
          </a:xfrm>
          <a:prstGeom prst="rect">
            <a:avLst/>
          </a:prstGeom>
          <a:solidFill>
            <a:srgbClr val="000000">
              <a:alpha val="4000"/>
            </a:srgbClr>
          </a:solidFill>
          <a:ln/>
        </p:spPr>
      </p:sp>
      <p:sp>
        <p:nvSpPr>
          <p:cNvPr id="55" name="Text 53"/>
          <p:cNvSpPr/>
          <p:nvPr/>
        </p:nvSpPr>
        <p:spPr>
          <a:xfrm>
            <a:off x="949404" y="5088255"/>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H1g</a:t>
            </a:r>
            <a:endParaRPr lang="en-US" sz="1150" dirty="0"/>
          </a:p>
        </p:txBody>
      </p:sp>
      <p:sp>
        <p:nvSpPr>
          <p:cNvPr id="56" name="Text 54"/>
          <p:cNvSpPr/>
          <p:nvPr/>
        </p:nvSpPr>
        <p:spPr>
          <a:xfrm>
            <a:off x="3124795" y="5088255"/>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HB → BI</a:t>
            </a:r>
            <a:endParaRPr lang="en-US" sz="1150" dirty="0"/>
          </a:p>
        </p:txBody>
      </p:sp>
      <p:sp>
        <p:nvSpPr>
          <p:cNvPr id="57" name="Text 55"/>
          <p:cNvSpPr/>
          <p:nvPr/>
        </p:nvSpPr>
        <p:spPr>
          <a:xfrm>
            <a:off x="5296376" y="5088255"/>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.023</a:t>
            </a:r>
            <a:endParaRPr lang="en-US" sz="1150" dirty="0"/>
          </a:p>
        </p:txBody>
      </p:sp>
      <p:sp>
        <p:nvSpPr>
          <p:cNvPr id="58" name="Text 56"/>
          <p:cNvSpPr/>
          <p:nvPr/>
        </p:nvSpPr>
        <p:spPr>
          <a:xfrm>
            <a:off x="7467957" y="5088255"/>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.631</a:t>
            </a:r>
            <a:endParaRPr lang="en-US" sz="1150" dirty="0"/>
          </a:p>
        </p:txBody>
      </p:sp>
      <p:sp>
        <p:nvSpPr>
          <p:cNvPr id="59" name="Text 57"/>
          <p:cNvSpPr/>
          <p:nvPr/>
        </p:nvSpPr>
        <p:spPr>
          <a:xfrm>
            <a:off x="9639538" y="5088255"/>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[−.071, .117]</a:t>
            </a:r>
            <a:endParaRPr lang="en-US" sz="1150" dirty="0"/>
          </a:p>
        </p:txBody>
      </p:sp>
      <p:sp>
        <p:nvSpPr>
          <p:cNvPr id="60" name="Text 58"/>
          <p:cNvSpPr/>
          <p:nvPr/>
        </p:nvSpPr>
        <p:spPr>
          <a:xfrm>
            <a:off x="11811119" y="5088255"/>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Not Supported</a:t>
            </a:r>
            <a:endParaRPr lang="en-US" sz="1150" dirty="0"/>
          </a:p>
        </p:txBody>
      </p:sp>
      <p:sp>
        <p:nvSpPr>
          <p:cNvPr id="61" name="Shape 59"/>
          <p:cNvSpPr/>
          <p:nvPr/>
        </p:nvSpPr>
        <p:spPr>
          <a:xfrm>
            <a:off x="801410" y="5419963"/>
            <a:ext cx="13030081" cy="427673"/>
          </a:xfrm>
          <a:prstGeom prst="rect">
            <a:avLst/>
          </a:prstGeom>
          <a:solidFill>
            <a:srgbClr val="FFFFFF">
              <a:alpha val="4000"/>
            </a:srgbClr>
          </a:solidFill>
          <a:ln/>
        </p:spPr>
      </p:sp>
      <p:sp>
        <p:nvSpPr>
          <p:cNvPr id="62" name="Text 60"/>
          <p:cNvSpPr/>
          <p:nvPr/>
        </p:nvSpPr>
        <p:spPr>
          <a:xfrm>
            <a:off x="949404" y="5515928"/>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H2</a:t>
            </a:r>
            <a:endParaRPr lang="en-US" sz="1150" dirty="0"/>
          </a:p>
        </p:txBody>
      </p:sp>
      <p:sp>
        <p:nvSpPr>
          <p:cNvPr id="63" name="Text 61"/>
          <p:cNvSpPr/>
          <p:nvPr/>
        </p:nvSpPr>
        <p:spPr>
          <a:xfrm>
            <a:off x="3124795" y="5515928"/>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TR → BI</a:t>
            </a:r>
            <a:endParaRPr lang="en-US" sz="1150" dirty="0"/>
          </a:p>
        </p:txBody>
      </p:sp>
      <p:sp>
        <p:nvSpPr>
          <p:cNvPr id="64" name="Text 62"/>
          <p:cNvSpPr/>
          <p:nvPr/>
        </p:nvSpPr>
        <p:spPr>
          <a:xfrm>
            <a:off x="5296376" y="5515928"/>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.106</a:t>
            </a:r>
            <a:endParaRPr lang="en-US" sz="1150" dirty="0"/>
          </a:p>
        </p:txBody>
      </p:sp>
      <p:sp>
        <p:nvSpPr>
          <p:cNvPr id="65" name="Text 63"/>
          <p:cNvSpPr/>
          <p:nvPr/>
        </p:nvSpPr>
        <p:spPr>
          <a:xfrm>
            <a:off x="7467957" y="5515928"/>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.064</a:t>
            </a:r>
            <a:endParaRPr lang="en-US" sz="1150" dirty="0"/>
          </a:p>
        </p:txBody>
      </p:sp>
      <p:sp>
        <p:nvSpPr>
          <p:cNvPr id="66" name="Text 64"/>
          <p:cNvSpPr/>
          <p:nvPr/>
        </p:nvSpPr>
        <p:spPr>
          <a:xfrm>
            <a:off x="9639538" y="5515928"/>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[−.006, .218]</a:t>
            </a:r>
            <a:endParaRPr lang="en-US" sz="1150" dirty="0"/>
          </a:p>
        </p:txBody>
      </p:sp>
      <p:sp>
        <p:nvSpPr>
          <p:cNvPr id="67" name="Text 65"/>
          <p:cNvSpPr/>
          <p:nvPr/>
        </p:nvSpPr>
        <p:spPr>
          <a:xfrm>
            <a:off x="11811119" y="5515928"/>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Marginal</a:t>
            </a:r>
            <a:endParaRPr lang="en-US" sz="1150" dirty="0"/>
          </a:p>
        </p:txBody>
      </p:sp>
      <p:sp>
        <p:nvSpPr>
          <p:cNvPr id="68" name="Shape 66"/>
          <p:cNvSpPr/>
          <p:nvPr/>
        </p:nvSpPr>
        <p:spPr>
          <a:xfrm>
            <a:off x="801410" y="5847636"/>
            <a:ext cx="13030081" cy="427673"/>
          </a:xfrm>
          <a:prstGeom prst="rect">
            <a:avLst/>
          </a:prstGeom>
          <a:solidFill>
            <a:srgbClr val="000000">
              <a:alpha val="4000"/>
            </a:srgbClr>
          </a:solidFill>
          <a:ln/>
        </p:spPr>
      </p:sp>
      <p:sp>
        <p:nvSpPr>
          <p:cNvPr id="69" name="Text 67"/>
          <p:cNvSpPr/>
          <p:nvPr/>
        </p:nvSpPr>
        <p:spPr>
          <a:xfrm>
            <a:off x="949404" y="5943600"/>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H3</a:t>
            </a:r>
            <a:endParaRPr lang="en-US" sz="1150" dirty="0"/>
          </a:p>
        </p:txBody>
      </p:sp>
      <p:sp>
        <p:nvSpPr>
          <p:cNvPr id="70" name="Text 68"/>
          <p:cNvSpPr/>
          <p:nvPr/>
        </p:nvSpPr>
        <p:spPr>
          <a:xfrm>
            <a:off x="3124795" y="594360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Experience moderates</a:t>
            </a:r>
            <a:endParaRPr lang="en-US" sz="1150" dirty="0"/>
          </a:p>
        </p:txBody>
      </p:sp>
      <p:sp>
        <p:nvSpPr>
          <p:cNvPr id="71" name="Text 69"/>
          <p:cNvSpPr/>
          <p:nvPr/>
        </p:nvSpPr>
        <p:spPr>
          <a:xfrm>
            <a:off x="5296376" y="594360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.136</a:t>
            </a:r>
            <a:endParaRPr lang="en-US" sz="1150" dirty="0"/>
          </a:p>
        </p:txBody>
      </p:sp>
      <p:sp>
        <p:nvSpPr>
          <p:cNvPr id="72" name="Text 70"/>
          <p:cNvSpPr/>
          <p:nvPr/>
        </p:nvSpPr>
        <p:spPr>
          <a:xfrm>
            <a:off x="7467957" y="594360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.009</a:t>
            </a:r>
            <a:endParaRPr lang="en-US" sz="1150" dirty="0"/>
          </a:p>
        </p:txBody>
      </p:sp>
      <p:sp>
        <p:nvSpPr>
          <p:cNvPr id="73" name="Text 71"/>
          <p:cNvSpPr/>
          <p:nvPr/>
        </p:nvSpPr>
        <p:spPr>
          <a:xfrm>
            <a:off x="9639538" y="5943600"/>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a:t>
            </a:r>
            <a:endParaRPr lang="en-US" sz="1150" dirty="0"/>
          </a:p>
        </p:txBody>
      </p:sp>
      <p:sp>
        <p:nvSpPr>
          <p:cNvPr id="74" name="Text 72"/>
          <p:cNvSpPr/>
          <p:nvPr/>
        </p:nvSpPr>
        <p:spPr>
          <a:xfrm>
            <a:off x="11811119" y="5943600"/>
            <a:ext cx="1872972" cy="235744"/>
          </a:xfrm>
          <a:prstGeom prst="rect">
            <a:avLst/>
          </a:prstGeom>
          <a:noFill/>
          <a:ln/>
        </p:spPr>
        <p:txBody>
          <a:bodyPr wrap="none" lIns="0" tIns="0" rIns="0" bIns="0" rtlCol="0" anchor="t"/>
          <a:lstStyle/>
          <a:p>
            <a:pPr algn="l" indent="0" marL="0">
              <a:lnSpc>
                <a:spcPts val="1850"/>
              </a:lnSpc>
              <a:buNone/>
            </a:pPr>
            <a:r>
              <a:rPr lang="en-US" sz="1150" b="1" dirty="0">
                <a:solidFill>
                  <a:srgbClr val="3257B8"/>
                </a:solidFill>
                <a:latin typeface="Roboto" pitchFamily="34" charset="0"/>
                <a:ea typeface="Roboto" pitchFamily="34" charset="-122"/>
                <a:cs typeface="Roboto" pitchFamily="34" charset="-120"/>
              </a:rPr>
              <a:t>✓ Partial (HM)</a:t>
            </a:r>
            <a:endParaRPr lang="en-US" sz="1150" dirty="0"/>
          </a:p>
        </p:txBody>
      </p:sp>
      <p:sp>
        <p:nvSpPr>
          <p:cNvPr id="75" name="Shape 73"/>
          <p:cNvSpPr/>
          <p:nvPr/>
        </p:nvSpPr>
        <p:spPr>
          <a:xfrm>
            <a:off x="801410" y="6275308"/>
            <a:ext cx="13030081" cy="427673"/>
          </a:xfrm>
          <a:prstGeom prst="rect">
            <a:avLst/>
          </a:prstGeom>
          <a:solidFill>
            <a:srgbClr val="FFFFFF">
              <a:alpha val="4000"/>
            </a:srgbClr>
          </a:solidFill>
          <a:ln/>
        </p:spPr>
      </p:sp>
      <p:sp>
        <p:nvSpPr>
          <p:cNvPr id="76" name="Text 74"/>
          <p:cNvSpPr/>
          <p:nvPr/>
        </p:nvSpPr>
        <p:spPr>
          <a:xfrm>
            <a:off x="949404" y="6371273"/>
            <a:ext cx="187297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H4</a:t>
            </a:r>
            <a:endParaRPr lang="en-US" sz="1150" dirty="0"/>
          </a:p>
        </p:txBody>
      </p:sp>
      <p:sp>
        <p:nvSpPr>
          <p:cNvPr id="77" name="Text 75"/>
          <p:cNvSpPr/>
          <p:nvPr/>
        </p:nvSpPr>
        <p:spPr>
          <a:xfrm>
            <a:off x="3124795" y="6371273"/>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Population moderates</a:t>
            </a:r>
            <a:endParaRPr lang="en-US" sz="1150" dirty="0"/>
          </a:p>
        </p:txBody>
      </p:sp>
      <p:sp>
        <p:nvSpPr>
          <p:cNvPr id="78" name="Text 76"/>
          <p:cNvSpPr/>
          <p:nvPr/>
        </p:nvSpPr>
        <p:spPr>
          <a:xfrm>
            <a:off x="5296376" y="6371273"/>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−.750</a:t>
            </a:r>
            <a:endParaRPr lang="en-US" sz="1150" dirty="0"/>
          </a:p>
        </p:txBody>
      </p:sp>
      <p:sp>
        <p:nvSpPr>
          <p:cNvPr id="79" name="Text 77"/>
          <p:cNvSpPr/>
          <p:nvPr/>
        </p:nvSpPr>
        <p:spPr>
          <a:xfrm>
            <a:off x="7467957" y="6371273"/>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.041</a:t>
            </a:r>
            <a:endParaRPr lang="en-US" sz="1150" dirty="0"/>
          </a:p>
        </p:txBody>
      </p:sp>
      <p:sp>
        <p:nvSpPr>
          <p:cNvPr id="80" name="Text 78"/>
          <p:cNvSpPr/>
          <p:nvPr/>
        </p:nvSpPr>
        <p:spPr>
          <a:xfrm>
            <a:off x="9639538" y="6371273"/>
            <a:ext cx="1869162"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a:t>
            </a:r>
            <a:endParaRPr lang="en-US" sz="1150" dirty="0"/>
          </a:p>
        </p:txBody>
      </p:sp>
      <p:sp>
        <p:nvSpPr>
          <p:cNvPr id="81" name="Text 79"/>
          <p:cNvSpPr/>
          <p:nvPr/>
        </p:nvSpPr>
        <p:spPr>
          <a:xfrm>
            <a:off x="11811119" y="6371273"/>
            <a:ext cx="1872972" cy="235744"/>
          </a:xfrm>
          <a:prstGeom prst="rect">
            <a:avLst/>
          </a:prstGeom>
          <a:noFill/>
          <a:ln/>
        </p:spPr>
        <p:txBody>
          <a:bodyPr wrap="none" lIns="0" tIns="0" rIns="0" bIns="0" rtlCol="0" anchor="t"/>
          <a:lstStyle/>
          <a:p>
            <a:pPr algn="l" indent="0" marL="0">
              <a:lnSpc>
                <a:spcPts val="1850"/>
              </a:lnSpc>
              <a:buNone/>
            </a:pPr>
            <a:r>
              <a:rPr lang="en-US" sz="1150" b="1" dirty="0">
                <a:solidFill>
                  <a:srgbClr val="3257B8"/>
                </a:solidFill>
                <a:latin typeface="Roboto" pitchFamily="34" charset="0"/>
                <a:ea typeface="Roboto" pitchFamily="34" charset="-122"/>
                <a:cs typeface="Roboto" pitchFamily="34" charset="-120"/>
              </a:rPr>
              <a:t>✓ Partial (HM)</a:t>
            </a:r>
            <a:endParaRPr lang="en-US" sz="1150" dirty="0"/>
          </a:p>
        </p:txBody>
      </p:sp>
      <p:sp>
        <p:nvSpPr>
          <p:cNvPr id="82" name="Text 80"/>
          <p:cNvSpPr/>
          <p:nvPr/>
        </p:nvSpPr>
        <p:spPr>
          <a:xfrm>
            <a:off x="793790" y="6876455"/>
            <a:ext cx="13042821" cy="471488"/>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The three supported UTAUT2 hypotheses—Social Influence, Hedonic Motivation, and Price Value—all have confidence intervals that exclude zero, confirming significant effects. Non-significant paths have wide confidence intervals crossing zero.</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793790" y="646033"/>
            <a:ext cx="11946850" cy="673418"/>
          </a:xfrm>
          <a:prstGeom prst="rect">
            <a:avLst/>
          </a:prstGeom>
          <a:noFill/>
          <a:ln/>
        </p:spPr>
        <p:txBody>
          <a:bodyPr wrap="none" lIns="0" tIns="0" rIns="0" bIns="0" rtlCol="0" anchor="t"/>
          <a:lstStyle/>
          <a:p>
            <a:pPr algn="l" indent="0" marL="0">
              <a:lnSpc>
                <a:spcPts val="5300"/>
              </a:lnSpc>
              <a:buNone/>
            </a:pPr>
            <a:r>
              <a:rPr lang="en-US" sz="4200" dirty="0">
                <a:solidFill>
                  <a:srgbClr val="3257B8"/>
                </a:solidFill>
                <a:latin typeface="Roboto Slab" pitchFamily="34" charset="0"/>
                <a:ea typeface="Roboto Slab" pitchFamily="34" charset="-122"/>
                <a:cs typeface="Roboto Slab" pitchFamily="34" charset="-120"/>
              </a:rPr>
              <a:t>Backup Slide B2: Model Fit Indices Comparison</a:t>
            </a:r>
            <a:endParaRPr lang="en-US" sz="4200" dirty="0"/>
          </a:p>
        </p:txBody>
      </p:sp>
      <p:sp>
        <p:nvSpPr>
          <p:cNvPr id="3" name="Text 1"/>
          <p:cNvSpPr/>
          <p:nvPr/>
        </p:nvSpPr>
        <p:spPr>
          <a:xfrm>
            <a:off x="793790" y="1405533"/>
            <a:ext cx="6415445" cy="538758"/>
          </a:xfrm>
          <a:prstGeom prst="rect">
            <a:avLst/>
          </a:prstGeom>
          <a:noFill/>
          <a:ln/>
        </p:spPr>
        <p:txBody>
          <a:bodyPr wrap="none" lIns="0" tIns="0" rIns="0" bIns="0" rtlCol="0" anchor="t"/>
          <a:lstStyle/>
          <a:p>
            <a:pPr algn="l" indent="0" marL="0">
              <a:lnSpc>
                <a:spcPts val="4200"/>
              </a:lnSpc>
              <a:buNone/>
            </a:pPr>
            <a:r>
              <a:rPr lang="en-US" sz="3350" dirty="0">
                <a:solidFill>
                  <a:srgbClr val="3257B8"/>
                </a:solidFill>
                <a:latin typeface="Roboto Slab" pitchFamily="34" charset="0"/>
                <a:ea typeface="Roboto Slab" pitchFamily="34" charset="-122"/>
                <a:cs typeface="Roboto Slab" pitchFamily="34" charset="-120"/>
              </a:rPr>
              <a:t>Comprehensive Fit Assessment</a:t>
            </a:r>
            <a:endParaRPr lang="en-US" sz="3350" dirty="0"/>
          </a:p>
        </p:txBody>
      </p:sp>
      <p:sp>
        <p:nvSpPr>
          <p:cNvPr id="4" name="Shape 2"/>
          <p:cNvSpPr/>
          <p:nvPr/>
        </p:nvSpPr>
        <p:spPr>
          <a:xfrm>
            <a:off x="793790" y="2267426"/>
            <a:ext cx="13042821" cy="3107293"/>
          </a:xfrm>
          <a:prstGeom prst="roundRect">
            <a:avLst>
              <a:gd name="adj" fmla="val 1040"/>
            </a:avLst>
          </a:prstGeom>
          <a:noFill/>
          <a:ln w="7620">
            <a:solidFill>
              <a:srgbClr val="000000">
                <a:alpha val="8000"/>
              </a:srgbClr>
            </a:solidFill>
            <a:prstDash val="solid"/>
          </a:ln>
        </p:spPr>
      </p:sp>
      <p:sp>
        <p:nvSpPr>
          <p:cNvPr id="5" name="Shape 3"/>
          <p:cNvSpPr/>
          <p:nvPr/>
        </p:nvSpPr>
        <p:spPr>
          <a:xfrm>
            <a:off x="801410" y="2275046"/>
            <a:ext cx="13027581" cy="618411"/>
          </a:xfrm>
          <a:prstGeom prst="rect">
            <a:avLst/>
          </a:prstGeom>
          <a:solidFill>
            <a:srgbClr val="FFFFFF">
              <a:alpha val="4000"/>
            </a:srgbClr>
          </a:solidFill>
          <a:ln/>
        </p:spPr>
      </p:sp>
      <p:sp>
        <p:nvSpPr>
          <p:cNvPr id="6" name="Text 4"/>
          <p:cNvSpPr/>
          <p:nvPr/>
        </p:nvSpPr>
        <p:spPr>
          <a:xfrm>
            <a:off x="1017151" y="2411849"/>
            <a:ext cx="2170867" cy="344805"/>
          </a:xfrm>
          <a:prstGeom prst="rect">
            <a:avLst/>
          </a:prstGeom>
          <a:noFill/>
          <a:ln/>
        </p:spPr>
        <p:txBody>
          <a:bodyPr wrap="non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Fit Index</a:t>
            </a:r>
            <a:endParaRPr lang="en-US" sz="1650" dirty="0"/>
          </a:p>
        </p:txBody>
      </p:sp>
      <p:sp>
        <p:nvSpPr>
          <p:cNvPr id="7" name="Text 5"/>
          <p:cNvSpPr/>
          <p:nvPr/>
        </p:nvSpPr>
        <p:spPr>
          <a:xfrm>
            <a:off x="3626406" y="2411849"/>
            <a:ext cx="2167057" cy="344805"/>
          </a:xfrm>
          <a:prstGeom prst="rect">
            <a:avLst/>
          </a:prstGeom>
          <a:noFill/>
          <a:ln/>
        </p:spPr>
        <p:txBody>
          <a:bodyPr wrap="non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Obtained Value</a:t>
            </a:r>
            <a:endParaRPr lang="en-US" sz="1650" dirty="0"/>
          </a:p>
        </p:txBody>
      </p:sp>
      <p:sp>
        <p:nvSpPr>
          <p:cNvPr id="8" name="Text 6"/>
          <p:cNvSpPr/>
          <p:nvPr/>
        </p:nvSpPr>
        <p:spPr>
          <a:xfrm>
            <a:off x="6231850" y="2411849"/>
            <a:ext cx="2167057" cy="344805"/>
          </a:xfrm>
          <a:prstGeom prst="rect">
            <a:avLst/>
          </a:prstGeom>
          <a:noFill/>
          <a:ln/>
        </p:spPr>
        <p:txBody>
          <a:bodyPr wrap="non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Excellent Threshold</a:t>
            </a:r>
            <a:endParaRPr lang="en-US" sz="1650" dirty="0"/>
          </a:p>
        </p:txBody>
      </p:sp>
      <p:sp>
        <p:nvSpPr>
          <p:cNvPr id="9" name="Text 7"/>
          <p:cNvSpPr/>
          <p:nvPr/>
        </p:nvSpPr>
        <p:spPr>
          <a:xfrm>
            <a:off x="8837295" y="2411849"/>
            <a:ext cx="2167057" cy="344805"/>
          </a:xfrm>
          <a:prstGeom prst="rect">
            <a:avLst/>
          </a:prstGeom>
          <a:noFill/>
          <a:ln/>
        </p:spPr>
        <p:txBody>
          <a:bodyPr wrap="non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Acceptable Threshold</a:t>
            </a:r>
            <a:endParaRPr lang="en-US" sz="1650" dirty="0"/>
          </a:p>
        </p:txBody>
      </p:sp>
      <p:sp>
        <p:nvSpPr>
          <p:cNvPr id="10" name="Text 8"/>
          <p:cNvSpPr/>
          <p:nvPr/>
        </p:nvSpPr>
        <p:spPr>
          <a:xfrm>
            <a:off x="11442740" y="2411849"/>
            <a:ext cx="2170867" cy="344805"/>
          </a:xfrm>
          <a:prstGeom prst="rect">
            <a:avLst/>
          </a:prstGeom>
          <a:noFill/>
          <a:ln/>
        </p:spPr>
        <p:txBody>
          <a:bodyPr wrap="non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Assessment</a:t>
            </a:r>
            <a:endParaRPr lang="en-US" sz="1650" dirty="0"/>
          </a:p>
        </p:txBody>
      </p:sp>
      <p:sp>
        <p:nvSpPr>
          <p:cNvPr id="11" name="Shape 9"/>
          <p:cNvSpPr/>
          <p:nvPr/>
        </p:nvSpPr>
        <p:spPr>
          <a:xfrm>
            <a:off x="801410" y="2893457"/>
            <a:ext cx="13027581" cy="618411"/>
          </a:xfrm>
          <a:prstGeom prst="rect">
            <a:avLst/>
          </a:prstGeom>
          <a:solidFill>
            <a:srgbClr val="000000">
              <a:alpha val="4000"/>
            </a:srgbClr>
          </a:solidFill>
          <a:ln/>
        </p:spPr>
      </p:sp>
      <p:sp>
        <p:nvSpPr>
          <p:cNvPr id="12" name="Text 10"/>
          <p:cNvSpPr/>
          <p:nvPr/>
        </p:nvSpPr>
        <p:spPr>
          <a:xfrm>
            <a:off x="1017151" y="3030260"/>
            <a:ext cx="217086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CFI</a:t>
            </a:r>
            <a:endParaRPr lang="en-US" sz="1650" dirty="0"/>
          </a:p>
        </p:txBody>
      </p:sp>
      <p:sp>
        <p:nvSpPr>
          <p:cNvPr id="13" name="Text 11"/>
          <p:cNvSpPr/>
          <p:nvPr/>
        </p:nvSpPr>
        <p:spPr>
          <a:xfrm>
            <a:off x="3626406" y="3030260"/>
            <a:ext cx="2167057" cy="344805"/>
          </a:xfrm>
          <a:prstGeom prst="rect">
            <a:avLst/>
          </a:prstGeom>
          <a:noFill/>
          <a:ln/>
        </p:spPr>
        <p:txBody>
          <a:bodyPr wrap="none" lIns="0" tIns="0" rIns="0" bIns="0" rtlCol="0" anchor="t"/>
          <a:lstStyle/>
          <a:p>
            <a:pPr algn="l" indent="0" marL="0">
              <a:lnSpc>
                <a:spcPts val="2700"/>
              </a:lnSpc>
              <a:buNone/>
            </a:pPr>
            <a:r>
              <a:rPr lang="en-US" sz="1650" b="1" dirty="0">
                <a:solidFill>
                  <a:srgbClr val="3257B8"/>
                </a:solidFill>
                <a:latin typeface="Roboto" pitchFamily="34" charset="0"/>
                <a:ea typeface="Roboto" pitchFamily="34" charset="-122"/>
                <a:cs typeface="Roboto" pitchFamily="34" charset="-120"/>
              </a:rPr>
              <a:t>.975</a:t>
            </a:r>
            <a:endParaRPr lang="en-US" sz="1650" dirty="0"/>
          </a:p>
        </p:txBody>
      </p:sp>
      <p:sp>
        <p:nvSpPr>
          <p:cNvPr id="14" name="Text 12"/>
          <p:cNvSpPr/>
          <p:nvPr/>
        </p:nvSpPr>
        <p:spPr>
          <a:xfrm>
            <a:off x="6231850" y="3030260"/>
            <a:ext cx="216705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.95</a:t>
            </a:r>
            <a:endParaRPr lang="en-US" sz="1650" dirty="0"/>
          </a:p>
        </p:txBody>
      </p:sp>
      <p:sp>
        <p:nvSpPr>
          <p:cNvPr id="15" name="Text 13"/>
          <p:cNvSpPr/>
          <p:nvPr/>
        </p:nvSpPr>
        <p:spPr>
          <a:xfrm>
            <a:off x="8837295" y="3030260"/>
            <a:ext cx="216705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.90</a:t>
            </a:r>
            <a:endParaRPr lang="en-US" sz="1650" dirty="0"/>
          </a:p>
        </p:txBody>
      </p:sp>
      <p:sp>
        <p:nvSpPr>
          <p:cNvPr id="16" name="Text 14"/>
          <p:cNvSpPr/>
          <p:nvPr/>
        </p:nvSpPr>
        <p:spPr>
          <a:xfrm>
            <a:off x="11442740" y="3030260"/>
            <a:ext cx="2170867" cy="344805"/>
          </a:xfrm>
          <a:prstGeom prst="rect">
            <a:avLst/>
          </a:prstGeom>
          <a:noFill/>
          <a:ln/>
        </p:spPr>
        <p:txBody>
          <a:bodyPr wrap="none" lIns="0" tIns="0" rIns="0" bIns="0" rtlCol="0" anchor="t"/>
          <a:lstStyle/>
          <a:p>
            <a:pPr algn="l" indent="0" marL="0">
              <a:lnSpc>
                <a:spcPts val="2700"/>
              </a:lnSpc>
              <a:buNone/>
            </a:pPr>
            <a:r>
              <a:rPr lang="en-US" sz="1650" b="1" dirty="0">
                <a:solidFill>
                  <a:srgbClr val="3257B8"/>
                </a:solidFill>
                <a:latin typeface="Roboto" pitchFamily="34" charset="0"/>
                <a:ea typeface="Roboto" pitchFamily="34" charset="-122"/>
                <a:cs typeface="Roboto" pitchFamily="34" charset="-120"/>
              </a:rPr>
              <a:t>Excellent</a:t>
            </a:r>
            <a:endParaRPr lang="en-US" sz="1650" dirty="0"/>
          </a:p>
        </p:txBody>
      </p:sp>
      <p:sp>
        <p:nvSpPr>
          <p:cNvPr id="17" name="Shape 15"/>
          <p:cNvSpPr/>
          <p:nvPr/>
        </p:nvSpPr>
        <p:spPr>
          <a:xfrm>
            <a:off x="801410" y="3511868"/>
            <a:ext cx="13027581" cy="618411"/>
          </a:xfrm>
          <a:prstGeom prst="rect">
            <a:avLst/>
          </a:prstGeom>
          <a:solidFill>
            <a:srgbClr val="FFFFFF">
              <a:alpha val="4000"/>
            </a:srgbClr>
          </a:solidFill>
          <a:ln/>
        </p:spPr>
      </p:sp>
      <p:sp>
        <p:nvSpPr>
          <p:cNvPr id="18" name="Text 16"/>
          <p:cNvSpPr/>
          <p:nvPr/>
        </p:nvSpPr>
        <p:spPr>
          <a:xfrm>
            <a:off x="1017151" y="3648670"/>
            <a:ext cx="217086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TLI</a:t>
            </a:r>
            <a:endParaRPr lang="en-US" sz="1650" dirty="0"/>
          </a:p>
        </p:txBody>
      </p:sp>
      <p:sp>
        <p:nvSpPr>
          <p:cNvPr id="19" name="Text 17"/>
          <p:cNvSpPr/>
          <p:nvPr/>
        </p:nvSpPr>
        <p:spPr>
          <a:xfrm>
            <a:off x="3626406" y="3648670"/>
            <a:ext cx="2167057" cy="344805"/>
          </a:xfrm>
          <a:prstGeom prst="rect">
            <a:avLst/>
          </a:prstGeom>
          <a:noFill/>
          <a:ln/>
        </p:spPr>
        <p:txBody>
          <a:bodyPr wrap="none" lIns="0" tIns="0" rIns="0" bIns="0" rtlCol="0" anchor="t"/>
          <a:lstStyle/>
          <a:p>
            <a:pPr algn="l" indent="0" marL="0">
              <a:lnSpc>
                <a:spcPts val="2700"/>
              </a:lnSpc>
              <a:buNone/>
            </a:pPr>
            <a:r>
              <a:rPr lang="en-US" sz="1650" b="1" dirty="0">
                <a:solidFill>
                  <a:srgbClr val="3257B8"/>
                </a:solidFill>
                <a:latin typeface="Roboto" pitchFamily="34" charset="0"/>
                <a:ea typeface="Roboto" pitchFamily="34" charset="-122"/>
                <a:cs typeface="Roboto" pitchFamily="34" charset="-120"/>
              </a:rPr>
              <a:t>.960</a:t>
            </a:r>
            <a:endParaRPr lang="en-US" sz="1650" dirty="0"/>
          </a:p>
        </p:txBody>
      </p:sp>
      <p:sp>
        <p:nvSpPr>
          <p:cNvPr id="20" name="Text 18"/>
          <p:cNvSpPr/>
          <p:nvPr/>
        </p:nvSpPr>
        <p:spPr>
          <a:xfrm>
            <a:off x="6231850" y="3648670"/>
            <a:ext cx="216705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.95</a:t>
            </a:r>
            <a:endParaRPr lang="en-US" sz="1650" dirty="0"/>
          </a:p>
        </p:txBody>
      </p:sp>
      <p:sp>
        <p:nvSpPr>
          <p:cNvPr id="21" name="Text 19"/>
          <p:cNvSpPr/>
          <p:nvPr/>
        </p:nvSpPr>
        <p:spPr>
          <a:xfrm>
            <a:off x="8837295" y="3648670"/>
            <a:ext cx="216705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.90</a:t>
            </a:r>
            <a:endParaRPr lang="en-US" sz="1650" dirty="0"/>
          </a:p>
        </p:txBody>
      </p:sp>
      <p:sp>
        <p:nvSpPr>
          <p:cNvPr id="22" name="Text 20"/>
          <p:cNvSpPr/>
          <p:nvPr/>
        </p:nvSpPr>
        <p:spPr>
          <a:xfrm>
            <a:off x="11442740" y="3648670"/>
            <a:ext cx="2170867" cy="344805"/>
          </a:xfrm>
          <a:prstGeom prst="rect">
            <a:avLst/>
          </a:prstGeom>
          <a:noFill/>
          <a:ln/>
        </p:spPr>
        <p:txBody>
          <a:bodyPr wrap="none" lIns="0" tIns="0" rIns="0" bIns="0" rtlCol="0" anchor="t"/>
          <a:lstStyle/>
          <a:p>
            <a:pPr algn="l" indent="0" marL="0">
              <a:lnSpc>
                <a:spcPts val="2700"/>
              </a:lnSpc>
              <a:buNone/>
            </a:pPr>
            <a:r>
              <a:rPr lang="en-US" sz="1650" b="1" dirty="0">
                <a:solidFill>
                  <a:srgbClr val="3257B8"/>
                </a:solidFill>
                <a:latin typeface="Roboto" pitchFamily="34" charset="0"/>
                <a:ea typeface="Roboto" pitchFamily="34" charset="-122"/>
                <a:cs typeface="Roboto" pitchFamily="34" charset="-120"/>
              </a:rPr>
              <a:t>Excellent</a:t>
            </a:r>
            <a:endParaRPr lang="en-US" sz="1650" dirty="0"/>
          </a:p>
        </p:txBody>
      </p:sp>
      <p:sp>
        <p:nvSpPr>
          <p:cNvPr id="23" name="Shape 21"/>
          <p:cNvSpPr/>
          <p:nvPr/>
        </p:nvSpPr>
        <p:spPr>
          <a:xfrm>
            <a:off x="801410" y="4130278"/>
            <a:ext cx="13027581" cy="618411"/>
          </a:xfrm>
          <a:prstGeom prst="rect">
            <a:avLst/>
          </a:prstGeom>
          <a:solidFill>
            <a:srgbClr val="000000">
              <a:alpha val="4000"/>
            </a:srgbClr>
          </a:solidFill>
          <a:ln/>
        </p:spPr>
      </p:sp>
      <p:sp>
        <p:nvSpPr>
          <p:cNvPr id="24" name="Text 22"/>
          <p:cNvSpPr/>
          <p:nvPr/>
        </p:nvSpPr>
        <p:spPr>
          <a:xfrm>
            <a:off x="1017151" y="4267081"/>
            <a:ext cx="217086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RMSEA</a:t>
            </a:r>
            <a:endParaRPr lang="en-US" sz="1650" dirty="0"/>
          </a:p>
        </p:txBody>
      </p:sp>
      <p:sp>
        <p:nvSpPr>
          <p:cNvPr id="25" name="Text 23"/>
          <p:cNvSpPr/>
          <p:nvPr/>
        </p:nvSpPr>
        <p:spPr>
          <a:xfrm>
            <a:off x="3626406" y="4267081"/>
            <a:ext cx="216705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.065</a:t>
            </a:r>
            <a:endParaRPr lang="en-US" sz="1650" dirty="0"/>
          </a:p>
        </p:txBody>
      </p:sp>
      <p:sp>
        <p:nvSpPr>
          <p:cNvPr id="26" name="Text 24"/>
          <p:cNvSpPr/>
          <p:nvPr/>
        </p:nvSpPr>
        <p:spPr>
          <a:xfrm>
            <a:off x="6231850" y="4267081"/>
            <a:ext cx="216705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.06</a:t>
            </a:r>
            <a:endParaRPr lang="en-US" sz="1650" dirty="0"/>
          </a:p>
        </p:txBody>
      </p:sp>
      <p:sp>
        <p:nvSpPr>
          <p:cNvPr id="27" name="Text 25"/>
          <p:cNvSpPr/>
          <p:nvPr/>
        </p:nvSpPr>
        <p:spPr>
          <a:xfrm>
            <a:off x="8837295" y="4267081"/>
            <a:ext cx="216705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.08</a:t>
            </a:r>
            <a:endParaRPr lang="en-US" sz="1650" dirty="0"/>
          </a:p>
        </p:txBody>
      </p:sp>
      <p:sp>
        <p:nvSpPr>
          <p:cNvPr id="28" name="Text 26"/>
          <p:cNvSpPr/>
          <p:nvPr/>
        </p:nvSpPr>
        <p:spPr>
          <a:xfrm>
            <a:off x="11442740" y="4267081"/>
            <a:ext cx="217086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Acceptable</a:t>
            </a:r>
            <a:endParaRPr lang="en-US" sz="1650" dirty="0"/>
          </a:p>
        </p:txBody>
      </p:sp>
      <p:sp>
        <p:nvSpPr>
          <p:cNvPr id="29" name="Shape 27"/>
          <p:cNvSpPr/>
          <p:nvPr/>
        </p:nvSpPr>
        <p:spPr>
          <a:xfrm>
            <a:off x="801410" y="4748689"/>
            <a:ext cx="13027581" cy="618411"/>
          </a:xfrm>
          <a:prstGeom prst="rect">
            <a:avLst/>
          </a:prstGeom>
          <a:solidFill>
            <a:srgbClr val="FFFFFF">
              <a:alpha val="4000"/>
            </a:srgbClr>
          </a:solidFill>
          <a:ln/>
        </p:spPr>
      </p:sp>
      <p:sp>
        <p:nvSpPr>
          <p:cNvPr id="30" name="Text 28"/>
          <p:cNvSpPr/>
          <p:nvPr/>
        </p:nvSpPr>
        <p:spPr>
          <a:xfrm>
            <a:off x="1017151" y="4885492"/>
            <a:ext cx="217086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SRMR</a:t>
            </a:r>
            <a:endParaRPr lang="en-US" sz="1650" dirty="0"/>
          </a:p>
        </p:txBody>
      </p:sp>
      <p:sp>
        <p:nvSpPr>
          <p:cNvPr id="31" name="Text 29"/>
          <p:cNvSpPr/>
          <p:nvPr/>
        </p:nvSpPr>
        <p:spPr>
          <a:xfrm>
            <a:off x="3626406" y="4885492"/>
            <a:ext cx="2167057" cy="344805"/>
          </a:xfrm>
          <a:prstGeom prst="rect">
            <a:avLst/>
          </a:prstGeom>
          <a:noFill/>
          <a:ln/>
        </p:spPr>
        <p:txBody>
          <a:bodyPr wrap="none" lIns="0" tIns="0" rIns="0" bIns="0" rtlCol="0" anchor="t"/>
          <a:lstStyle/>
          <a:p>
            <a:pPr algn="l" indent="0" marL="0">
              <a:lnSpc>
                <a:spcPts val="2700"/>
              </a:lnSpc>
              <a:buNone/>
            </a:pPr>
            <a:r>
              <a:rPr lang="en-US" sz="1650" b="1" dirty="0">
                <a:solidFill>
                  <a:srgbClr val="3257B8"/>
                </a:solidFill>
                <a:latin typeface="Roboto" pitchFamily="34" charset="0"/>
                <a:ea typeface="Roboto" pitchFamily="34" charset="-122"/>
                <a:cs typeface="Roboto" pitchFamily="34" charset="-120"/>
              </a:rPr>
              <a:t>.044</a:t>
            </a:r>
            <a:endParaRPr lang="en-US" sz="1650" dirty="0"/>
          </a:p>
        </p:txBody>
      </p:sp>
      <p:sp>
        <p:nvSpPr>
          <p:cNvPr id="32" name="Text 30"/>
          <p:cNvSpPr/>
          <p:nvPr/>
        </p:nvSpPr>
        <p:spPr>
          <a:xfrm>
            <a:off x="6231850" y="4885492"/>
            <a:ext cx="216705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.08</a:t>
            </a:r>
            <a:endParaRPr lang="en-US" sz="1650" dirty="0"/>
          </a:p>
        </p:txBody>
      </p:sp>
      <p:sp>
        <p:nvSpPr>
          <p:cNvPr id="33" name="Text 31"/>
          <p:cNvSpPr/>
          <p:nvPr/>
        </p:nvSpPr>
        <p:spPr>
          <a:xfrm>
            <a:off x="8837295" y="4885492"/>
            <a:ext cx="2167057"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.10</a:t>
            </a:r>
            <a:endParaRPr lang="en-US" sz="1650" dirty="0"/>
          </a:p>
        </p:txBody>
      </p:sp>
      <p:sp>
        <p:nvSpPr>
          <p:cNvPr id="34" name="Text 32"/>
          <p:cNvSpPr/>
          <p:nvPr/>
        </p:nvSpPr>
        <p:spPr>
          <a:xfrm>
            <a:off x="11442740" y="4885492"/>
            <a:ext cx="2170867" cy="344805"/>
          </a:xfrm>
          <a:prstGeom prst="rect">
            <a:avLst/>
          </a:prstGeom>
          <a:noFill/>
          <a:ln/>
        </p:spPr>
        <p:txBody>
          <a:bodyPr wrap="none" lIns="0" tIns="0" rIns="0" bIns="0" rtlCol="0" anchor="t"/>
          <a:lstStyle/>
          <a:p>
            <a:pPr algn="l" indent="0" marL="0">
              <a:lnSpc>
                <a:spcPts val="2700"/>
              </a:lnSpc>
              <a:buNone/>
            </a:pPr>
            <a:r>
              <a:rPr lang="en-US" sz="1650" b="1" dirty="0">
                <a:solidFill>
                  <a:srgbClr val="3257B8"/>
                </a:solidFill>
                <a:latin typeface="Roboto" pitchFamily="34" charset="0"/>
                <a:ea typeface="Roboto" pitchFamily="34" charset="-122"/>
                <a:cs typeface="Roboto" pitchFamily="34" charset="-120"/>
              </a:rPr>
              <a:t>Excellent</a:t>
            </a:r>
            <a:endParaRPr lang="en-US" sz="1650" dirty="0"/>
          </a:p>
        </p:txBody>
      </p:sp>
      <p:sp>
        <p:nvSpPr>
          <p:cNvPr id="35" name="Text 33"/>
          <p:cNvSpPr/>
          <p:nvPr/>
        </p:nvSpPr>
        <p:spPr>
          <a:xfrm>
            <a:off x="793790" y="5617131"/>
            <a:ext cx="13042821" cy="1034415"/>
          </a:xfrm>
          <a:prstGeom prst="rect">
            <a:avLst/>
          </a:prstGeom>
          <a:noFill/>
          <a:ln/>
        </p:spPr>
        <p:txBody>
          <a:bodyPr wrap="squar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CFI and TLI both exceed the .95 excellent threshold, indicating that the model fits the data substantially better than the null model. RMSEA at .065 falls in the acceptable range—typical for models with this sample size and complexity—just above the .06 excellent cutoff. SRMR at .044 is well below the .08 excellent threshold.</a:t>
            </a:r>
            <a:endParaRPr lang="en-US" sz="1650" dirty="0"/>
          </a:p>
        </p:txBody>
      </p:sp>
      <p:sp>
        <p:nvSpPr>
          <p:cNvPr id="36" name="Text 34"/>
          <p:cNvSpPr/>
          <p:nvPr/>
        </p:nvSpPr>
        <p:spPr>
          <a:xfrm>
            <a:off x="793790" y="6893957"/>
            <a:ext cx="13042821" cy="689610"/>
          </a:xfrm>
          <a:prstGeom prst="rect">
            <a:avLst/>
          </a:prstGeom>
          <a:noFill/>
          <a:ln/>
        </p:spPr>
        <p:txBody>
          <a:bodyPr wrap="squar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Overall assessment:</a:t>
            </a:r>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The measurement model demonstrates excellent fit to the observed data, supporting the validity of the 8-factor structure.</a:t>
            </a:r>
            <a:endParaRPr lang="en-US" sz="1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787241" y="618530"/>
            <a:ext cx="8745022" cy="527209"/>
          </a:xfrm>
          <a:prstGeom prst="rect">
            <a:avLst/>
          </a:prstGeom>
          <a:noFill/>
          <a:ln/>
        </p:spPr>
        <p:txBody>
          <a:bodyPr wrap="none" lIns="0" tIns="0" rIns="0" bIns="0" rtlCol="0" anchor="t"/>
          <a:lstStyle/>
          <a:p>
            <a:pPr algn="l" indent="0" marL="0">
              <a:lnSpc>
                <a:spcPts val="4150"/>
              </a:lnSpc>
              <a:buNone/>
            </a:pPr>
            <a:r>
              <a:rPr lang="en-US" sz="3300" dirty="0">
                <a:solidFill>
                  <a:srgbClr val="3257B8"/>
                </a:solidFill>
                <a:latin typeface="Roboto Slab" pitchFamily="34" charset="0"/>
                <a:ea typeface="Roboto Slab" pitchFamily="34" charset="-122"/>
                <a:cs typeface="Roboto Slab" pitchFamily="34" charset="-120"/>
              </a:rPr>
              <a:t>Backup Slide B3: Understanding Price Value</a:t>
            </a:r>
            <a:endParaRPr lang="en-US" sz="3300" dirty="0"/>
          </a:p>
        </p:txBody>
      </p:sp>
      <p:sp>
        <p:nvSpPr>
          <p:cNvPr id="3" name="Text 1"/>
          <p:cNvSpPr/>
          <p:nvPr/>
        </p:nvSpPr>
        <p:spPr>
          <a:xfrm>
            <a:off x="787241" y="1213128"/>
            <a:ext cx="3591044" cy="421719"/>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Beyond Monetary Cost</a:t>
            </a:r>
            <a:endParaRPr lang="en-US" sz="2650" dirty="0"/>
          </a:p>
        </p:txBody>
      </p:sp>
      <p:sp>
        <p:nvSpPr>
          <p:cNvPr id="4" name="Text 2"/>
          <p:cNvSpPr/>
          <p:nvPr/>
        </p:nvSpPr>
        <p:spPr>
          <a:xfrm>
            <a:off x="1040249" y="2077641"/>
            <a:ext cx="12802910" cy="269915"/>
          </a:xfrm>
          <a:prstGeom prst="rect">
            <a:avLst/>
          </a:prstGeom>
          <a:noFill/>
          <a:ln/>
        </p:spPr>
        <p:txBody>
          <a:bodyPr wrap="none" lIns="0" tIns="0" rIns="0" bIns="0" rtlCol="0" anchor="t"/>
          <a:lstStyle/>
          <a:p>
            <a:pPr algn="l" indent="0" marL="0">
              <a:lnSpc>
                <a:spcPts val="2100"/>
              </a:lnSpc>
              <a:buNone/>
            </a:pPr>
            <a:r>
              <a:rPr lang="en-US" sz="1300" b="1" dirty="0">
                <a:solidFill>
                  <a:srgbClr val="15213F"/>
                </a:solidFill>
                <a:latin typeface="Roboto" pitchFamily="34" charset="0"/>
                <a:ea typeface="Roboto" pitchFamily="34" charset="-122"/>
                <a:cs typeface="Roboto" pitchFamily="34" charset="-120"/>
              </a:rPr>
              <a:t>Price Value</a:t>
            </a:r>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measures perceived worth relative to </a:t>
            </a:r>
            <a:pPr algn="l" indent="0" marL="0">
              <a:lnSpc>
                <a:spcPts val="2100"/>
              </a:lnSpc>
              <a:buNone/>
            </a:pPr>
            <a:r>
              <a:rPr lang="en-US" sz="1300" i="1" dirty="0">
                <a:solidFill>
                  <a:srgbClr val="15213F"/>
                </a:solidFill>
                <a:latin typeface="Roboto" pitchFamily="34" charset="0"/>
                <a:ea typeface="Roboto" pitchFamily="34" charset="-122"/>
                <a:cs typeface="Roboto" pitchFamily="34" charset="-120"/>
              </a:rPr>
              <a:t>total investment</a:t>
            </a:r>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not merely licensing costs or subscription fees.</a:t>
            </a:r>
            <a:endParaRPr lang="en-US" sz="1300" dirty="0"/>
          </a:p>
        </p:txBody>
      </p:sp>
      <p:sp>
        <p:nvSpPr>
          <p:cNvPr id="5" name="Shape 3"/>
          <p:cNvSpPr/>
          <p:nvPr/>
        </p:nvSpPr>
        <p:spPr>
          <a:xfrm>
            <a:off x="787241" y="1887855"/>
            <a:ext cx="22860" cy="649486"/>
          </a:xfrm>
          <a:prstGeom prst="rect">
            <a:avLst/>
          </a:prstGeom>
          <a:solidFill>
            <a:srgbClr val="3257B8"/>
          </a:solidFill>
          <a:ln/>
        </p:spPr>
      </p:sp>
      <p:sp>
        <p:nvSpPr>
          <p:cNvPr id="6" name="Shape 4"/>
          <p:cNvSpPr/>
          <p:nvPr/>
        </p:nvSpPr>
        <p:spPr>
          <a:xfrm>
            <a:off x="787241" y="2980134"/>
            <a:ext cx="6443543" cy="1517809"/>
          </a:xfrm>
          <a:prstGeom prst="roundRect">
            <a:avLst>
              <a:gd name="adj" fmla="val 7229"/>
            </a:avLst>
          </a:prstGeom>
          <a:solidFill>
            <a:srgbClr val="FBFCFE"/>
          </a:solidFill>
          <a:ln/>
        </p:spPr>
      </p:sp>
      <p:pic>
        <p:nvPicPr>
          <p:cNvPr id="7" name="Image 0" descr="preencoded.png">    </p:cNvPr>
          <p:cNvPicPr>
            <a:picLocks noChangeAspect="1"/>
          </p:cNvPicPr>
          <p:nvPr/>
        </p:nvPicPr>
        <p:blipFill>
          <a:blip r:embed="rId1"/>
          <a:stretch>
            <a:fillRect/>
          </a:stretch>
        </p:blipFill>
        <p:spPr>
          <a:xfrm>
            <a:off x="787241" y="2957274"/>
            <a:ext cx="6443543" cy="91440"/>
          </a:xfrm>
          <a:prstGeom prst="rect">
            <a:avLst/>
          </a:prstGeom>
        </p:spPr>
      </p:pic>
      <p:pic>
        <p:nvPicPr>
          <p:cNvPr id="8" name="Image 1" descr="preencoded.png">    </p:cNvPr>
          <p:cNvPicPr>
            <a:picLocks noChangeAspect="1"/>
          </p:cNvPicPr>
          <p:nvPr/>
        </p:nvPicPr>
        <p:blipFill>
          <a:blip r:embed="rId2"/>
          <a:stretch>
            <a:fillRect/>
          </a:stretch>
        </p:blipFill>
        <p:spPr>
          <a:xfrm>
            <a:off x="3755886" y="2727127"/>
            <a:ext cx="506135" cy="506135"/>
          </a:xfrm>
          <a:prstGeom prst="rect">
            <a:avLst/>
          </a:prstGeom>
        </p:spPr>
      </p:pic>
      <p:sp>
        <p:nvSpPr>
          <p:cNvPr id="9" name="Text 5"/>
          <p:cNvSpPr/>
          <p:nvPr/>
        </p:nvSpPr>
        <p:spPr>
          <a:xfrm>
            <a:off x="978813" y="3401854"/>
            <a:ext cx="2108835" cy="263485"/>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Direct Costs</a:t>
            </a:r>
            <a:endParaRPr lang="en-US" sz="1650" dirty="0"/>
          </a:p>
        </p:txBody>
      </p:sp>
      <p:sp>
        <p:nvSpPr>
          <p:cNvPr id="10" name="Text 6"/>
          <p:cNvSpPr/>
          <p:nvPr/>
        </p:nvSpPr>
        <p:spPr>
          <a:xfrm>
            <a:off x="978813" y="3766542"/>
            <a:ext cx="6060400" cy="539829"/>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Licensing fees, subscription charges, infrastructure requirements, and implementation expenses</a:t>
            </a:r>
            <a:endParaRPr lang="en-US" sz="1300" dirty="0"/>
          </a:p>
        </p:txBody>
      </p:sp>
      <p:sp>
        <p:nvSpPr>
          <p:cNvPr id="11" name="Shape 7"/>
          <p:cNvSpPr/>
          <p:nvPr/>
        </p:nvSpPr>
        <p:spPr>
          <a:xfrm>
            <a:off x="7399496" y="2980134"/>
            <a:ext cx="6443663" cy="1517809"/>
          </a:xfrm>
          <a:prstGeom prst="roundRect">
            <a:avLst>
              <a:gd name="adj" fmla="val 7229"/>
            </a:avLst>
          </a:prstGeom>
          <a:solidFill>
            <a:srgbClr val="FBFCFE"/>
          </a:solidFill>
          <a:ln/>
        </p:spPr>
      </p:sp>
      <p:pic>
        <p:nvPicPr>
          <p:cNvPr id="12" name="Image 2" descr="preencoded.png">    </p:cNvPr>
          <p:cNvPicPr>
            <a:picLocks noChangeAspect="1"/>
          </p:cNvPicPr>
          <p:nvPr/>
        </p:nvPicPr>
        <p:blipFill>
          <a:blip r:embed="rId3"/>
          <a:stretch>
            <a:fillRect/>
          </a:stretch>
        </p:blipFill>
        <p:spPr>
          <a:xfrm>
            <a:off x="7399496" y="2957274"/>
            <a:ext cx="6443663" cy="91440"/>
          </a:xfrm>
          <a:prstGeom prst="rect">
            <a:avLst/>
          </a:prstGeom>
        </p:spPr>
      </p:pic>
      <p:pic>
        <p:nvPicPr>
          <p:cNvPr id="13" name="Image 3" descr="preencoded.png">    </p:cNvPr>
          <p:cNvPicPr>
            <a:picLocks noChangeAspect="1"/>
          </p:cNvPicPr>
          <p:nvPr/>
        </p:nvPicPr>
        <p:blipFill>
          <a:blip r:embed="rId4"/>
          <a:stretch>
            <a:fillRect/>
          </a:stretch>
        </p:blipFill>
        <p:spPr>
          <a:xfrm>
            <a:off x="10368260" y="2727127"/>
            <a:ext cx="506135" cy="506135"/>
          </a:xfrm>
          <a:prstGeom prst="rect">
            <a:avLst/>
          </a:prstGeom>
        </p:spPr>
      </p:pic>
      <p:sp>
        <p:nvSpPr>
          <p:cNvPr id="14" name="Text 8"/>
          <p:cNvSpPr/>
          <p:nvPr/>
        </p:nvSpPr>
        <p:spPr>
          <a:xfrm>
            <a:off x="7591068" y="3401854"/>
            <a:ext cx="2108835" cy="263485"/>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Indirect Costs</a:t>
            </a:r>
            <a:endParaRPr lang="en-US" sz="1650" dirty="0"/>
          </a:p>
        </p:txBody>
      </p:sp>
      <p:sp>
        <p:nvSpPr>
          <p:cNvPr id="15" name="Text 9"/>
          <p:cNvSpPr/>
          <p:nvPr/>
        </p:nvSpPr>
        <p:spPr>
          <a:xfrm>
            <a:off x="7591068" y="3766542"/>
            <a:ext cx="6060519" cy="539829"/>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Learning curve time investment, workflow disruption during transition period, retraining requirements</a:t>
            </a:r>
            <a:endParaRPr lang="en-US" sz="1300" dirty="0"/>
          </a:p>
        </p:txBody>
      </p:sp>
      <p:sp>
        <p:nvSpPr>
          <p:cNvPr id="16" name="Shape 10"/>
          <p:cNvSpPr/>
          <p:nvPr/>
        </p:nvSpPr>
        <p:spPr>
          <a:xfrm>
            <a:off x="787241" y="4919663"/>
            <a:ext cx="6443543" cy="1517809"/>
          </a:xfrm>
          <a:prstGeom prst="roundRect">
            <a:avLst>
              <a:gd name="adj" fmla="val 7229"/>
            </a:avLst>
          </a:prstGeom>
          <a:solidFill>
            <a:srgbClr val="FBFCFE"/>
          </a:solidFill>
          <a:ln/>
        </p:spPr>
      </p:sp>
      <p:pic>
        <p:nvPicPr>
          <p:cNvPr id="17" name="Image 4" descr="preencoded.png">    </p:cNvPr>
          <p:cNvPicPr>
            <a:picLocks noChangeAspect="1"/>
          </p:cNvPicPr>
          <p:nvPr/>
        </p:nvPicPr>
        <p:blipFill>
          <a:blip r:embed="rId5"/>
          <a:stretch>
            <a:fillRect/>
          </a:stretch>
        </p:blipFill>
        <p:spPr>
          <a:xfrm>
            <a:off x="787241" y="4896803"/>
            <a:ext cx="6443543" cy="91440"/>
          </a:xfrm>
          <a:prstGeom prst="rect">
            <a:avLst/>
          </a:prstGeom>
        </p:spPr>
      </p:pic>
      <p:pic>
        <p:nvPicPr>
          <p:cNvPr id="18" name="Image 5" descr="preencoded.png">    </p:cNvPr>
          <p:cNvPicPr>
            <a:picLocks noChangeAspect="1"/>
          </p:cNvPicPr>
          <p:nvPr/>
        </p:nvPicPr>
        <p:blipFill>
          <a:blip r:embed="rId6"/>
          <a:stretch>
            <a:fillRect/>
          </a:stretch>
        </p:blipFill>
        <p:spPr>
          <a:xfrm>
            <a:off x="3755886" y="4666655"/>
            <a:ext cx="506135" cy="506135"/>
          </a:xfrm>
          <a:prstGeom prst="rect">
            <a:avLst/>
          </a:prstGeom>
        </p:spPr>
      </p:pic>
      <p:sp>
        <p:nvSpPr>
          <p:cNvPr id="19" name="Text 11"/>
          <p:cNvSpPr/>
          <p:nvPr/>
        </p:nvSpPr>
        <p:spPr>
          <a:xfrm>
            <a:off x="978813" y="5341382"/>
            <a:ext cx="2108835" cy="263485"/>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Hidden Costs</a:t>
            </a:r>
            <a:endParaRPr lang="en-US" sz="1650" dirty="0"/>
          </a:p>
        </p:txBody>
      </p:sp>
      <p:sp>
        <p:nvSpPr>
          <p:cNvPr id="20" name="Text 12"/>
          <p:cNvSpPr/>
          <p:nvPr/>
        </p:nvSpPr>
        <p:spPr>
          <a:xfrm>
            <a:off x="978813" y="5706070"/>
            <a:ext cx="6060400" cy="539829"/>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Data privacy risks, potential for algorithmic errors, vendor lock-in concerns, dependence on third-party systems</a:t>
            </a:r>
            <a:endParaRPr lang="en-US" sz="1300" dirty="0"/>
          </a:p>
        </p:txBody>
      </p:sp>
      <p:sp>
        <p:nvSpPr>
          <p:cNvPr id="21" name="Shape 13"/>
          <p:cNvSpPr/>
          <p:nvPr/>
        </p:nvSpPr>
        <p:spPr>
          <a:xfrm>
            <a:off x="7399496" y="4919663"/>
            <a:ext cx="6443663" cy="1517809"/>
          </a:xfrm>
          <a:prstGeom prst="roundRect">
            <a:avLst>
              <a:gd name="adj" fmla="val 7229"/>
            </a:avLst>
          </a:prstGeom>
          <a:solidFill>
            <a:srgbClr val="FBFCFE"/>
          </a:solidFill>
          <a:ln/>
        </p:spPr>
      </p:sp>
      <p:pic>
        <p:nvPicPr>
          <p:cNvPr id="22" name="Image 6" descr="preencoded.png">    </p:cNvPr>
          <p:cNvPicPr>
            <a:picLocks noChangeAspect="1"/>
          </p:cNvPicPr>
          <p:nvPr/>
        </p:nvPicPr>
        <p:blipFill>
          <a:blip r:embed="rId7"/>
          <a:stretch>
            <a:fillRect/>
          </a:stretch>
        </p:blipFill>
        <p:spPr>
          <a:xfrm>
            <a:off x="7399496" y="4896803"/>
            <a:ext cx="6443663" cy="91440"/>
          </a:xfrm>
          <a:prstGeom prst="rect">
            <a:avLst/>
          </a:prstGeom>
        </p:spPr>
      </p:pic>
      <p:pic>
        <p:nvPicPr>
          <p:cNvPr id="23" name="Image 7" descr="preencoded.png">    </p:cNvPr>
          <p:cNvPicPr>
            <a:picLocks noChangeAspect="1"/>
          </p:cNvPicPr>
          <p:nvPr/>
        </p:nvPicPr>
        <p:blipFill>
          <a:blip r:embed="rId8"/>
          <a:stretch>
            <a:fillRect/>
          </a:stretch>
        </p:blipFill>
        <p:spPr>
          <a:xfrm>
            <a:off x="10368260" y="4666655"/>
            <a:ext cx="506135" cy="506135"/>
          </a:xfrm>
          <a:prstGeom prst="rect">
            <a:avLst/>
          </a:prstGeom>
        </p:spPr>
      </p:pic>
      <p:sp>
        <p:nvSpPr>
          <p:cNvPr id="24" name="Text 14"/>
          <p:cNvSpPr/>
          <p:nvPr/>
        </p:nvSpPr>
        <p:spPr>
          <a:xfrm>
            <a:off x="7591068" y="5341382"/>
            <a:ext cx="2108835" cy="263485"/>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Opportunity Costs</a:t>
            </a:r>
            <a:endParaRPr lang="en-US" sz="1650" dirty="0"/>
          </a:p>
        </p:txBody>
      </p:sp>
      <p:sp>
        <p:nvSpPr>
          <p:cNvPr id="25" name="Text 15"/>
          <p:cNvSpPr/>
          <p:nvPr/>
        </p:nvSpPr>
        <p:spPr>
          <a:xfrm>
            <a:off x="7591068" y="5706070"/>
            <a:ext cx="6060519" cy="539829"/>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Time spent learning AI is time not spent on current productive work; attention diverted from proven methods</a:t>
            </a:r>
            <a:endParaRPr lang="en-US" sz="1300" dirty="0"/>
          </a:p>
        </p:txBody>
      </p:sp>
      <p:sp>
        <p:nvSpPr>
          <p:cNvPr id="26" name="Shape 16"/>
          <p:cNvSpPr/>
          <p:nvPr/>
        </p:nvSpPr>
        <p:spPr>
          <a:xfrm>
            <a:off x="787241" y="6627257"/>
            <a:ext cx="13055918" cy="986790"/>
          </a:xfrm>
          <a:prstGeom prst="roundRect">
            <a:avLst>
              <a:gd name="adj" fmla="val 2565"/>
            </a:avLst>
          </a:prstGeom>
          <a:solidFill>
            <a:srgbClr val="C3CFEF"/>
          </a:solidFill>
          <a:ln/>
        </p:spPr>
      </p:sp>
      <p:pic>
        <p:nvPicPr>
          <p:cNvPr id="27" name="Image 8" descr="preencoded.png">    </p:cNvPr>
          <p:cNvPicPr>
            <a:picLocks noChangeAspect="1"/>
          </p:cNvPicPr>
          <p:nvPr/>
        </p:nvPicPr>
        <p:blipFill>
          <a:blip r:embed="rId9"/>
          <a:stretch>
            <a:fillRect/>
          </a:stretch>
        </p:blipFill>
        <p:spPr>
          <a:xfrm>
            <a:off x="955953" y="6880979"/>
            <a:ext cx="210860" cy="168712"/>
          </a:xfrm>
          <a:prstGeom prst="rect">
            <a:avLst/>
          </a:prstGeom>
        </p:spPr>
      </p:pic>
      <p:sp>
        <p:nvSpPr>
          <p:cNvPr id="28" name="Text 17"/>
          <p:cNvSpPr/>
          <p:nvPr/>
        </p:nvSpPr>
        <p:spPr>
          <a:xfrm>
            <a:off x="1335524" y="6838117"/>
            <a:ext cx="12338923" cy="539829"/>
          </a:xfrm>
          <a:prstGeom prst="rect">
            <a:avLst/>
          </a:prstGeom>
          <a:noFill/>
          <a:ln/>
        </p:spPr>
        <p:txBody>
          <a:bodyPr wrap="square" lIns="0" tIns="0" rIns="0" bIns="0" rtlCol="0" anchor="t"/>
          <a:lstStyle/>
          <a:p>
            <a:pPr algn="l" indent="0" marL="0">
              <a:lnSpc>
                <a:spcPts val="2100"/>
              </a:lnSpc>
              <a:buNone/>
            </a:pPr>
            <a:r>
              <a:rPr lang="en-US" sz="1300" b="1" dirty="0">
                <a:solidFill>
                  <a:srgbClr val="000000"/>
                </a:solidFill>
                <a:latin typeface="Roboto" pitchFamily="34" charset="0"/>
                <a:ea typeface="Roboto" pitchFamily="34" charset="-122"/>
                <a:cs typeface="Roboto" pitchFamily="34" charset="-120"/>
              </a:rPr>
              <a:t>The Critical Question:</a:t>
            </a:r>
            <a:pPr algn="l" indent="0" marL="0">
              <a:lnSpc>
                <a:spcPts val="2100"/>
              </a:lnSpc>
              <a:buNone/>
            </a:pPr>
            <a:r>
              <a:rPr lang="en-US" sz="1300" dirty="0">
                <a:solidFill>
                  <a:srgbClr val="000000"/>
                </a:solidFill>
                <a:latin typeface="Roboto" pitchFamily="34" charset="0"/>
                <a:ea typeface="Roboto" pitchFamily="34" charset="-122"/>
                <a:cs typeface="Roboto" pitchFamily="34" charset="-120"/>
              </a:rPr>
              <a:t> When someone evaluates Price Value, they're asking "Is the total value I'll receive worth the total investment I have to make?"—a much richer cognitive assessment than simply "Is this software expensive?"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793790" y="652820"/>
            <a:ext cx="10184844" cy="602456"/>
          </a:xfrm>
          <a:prstGeom prst="rect">
            <a:avLst/>
          </a:prstGeom>
          <a:noFill/>
          <a:ln/>
        </p:spPr>
        <p:txBody>
          <a:bodyPr wrap="none" lIns="0" tIns="0" rIns="0" bIns="0" rtlCol="0" anchor="t"/>
          <a:lstStyle/>
          <a:p>
            <a:pPr algn="l" indent="0" marL="0">
              <a:lnSpc>
                <a:spcPts val="4700"/>
              </a:lnSpc>
              <a:buNone/>
            </a:pPr>
            <a:r>
              <a:rPr lang="en-US" sz="3750" dirty="0">
                <a:solidFill>
                  <a:srgbClr val="3257B8"/>
                </a:solidFill>
                <a:latin typeface="Roboto Slab" pitchFamily="34" charset="0"/>
                <a:ea typeface="Roboto Slab" pitchFamily="34" charset="-122"/>
                <a:cs typeface="Roboto Slab" pitchFamily="34" charset="-120"/>
              </a:rPr>
              <a:t>Backup Slide B4: Why Four Constructs Failed</a:t>
            </a:r>
            <a:endParaRPr lang="en-US" sz="3750" dirty="0"/>
          </a:p>
        </p:txBody>
      </p:sp>
      <p:sp>
        <p:nvSpPr>
          <p:cNvPr id="3" name="Text 1"/>
          <p:cNvSpPr/>
          <p:nvPr/>
        </p:nvSpPr>
        <p:spPr>
          <a:xfrm>
            <a:off x="793790" y="1332309"/>
            <a:ext cx="7481887" cy="481965"/>
          </a:xfrm>
          <a:prstGeom prst="rect">
            <a:avLst/>
          </a:prstGeom>
          <a:noFill/>
          <a:ln/>
        </p:spPr>
        <p:txBody>
          <a:bodyPr wrap="none" lIns="0" tIns="0" rIns="0" bIns="0" rtlCol="0" anchor="t"/>
          <a:lstStyle/>
          <a:p>
            <a:pPr algn="l" indent="0" marL="0">
              <a:lnSpc>
                <a:spcPts val="3750"/>
              </a:lnSpc>
              <a:buNone/>
            </a:pPr>
            <a:r>
              <a:rPr lang="en-US" sz="3000" dirty="0">
                <a:solidFill>
                  <a:srgbClr val="3257B8"/>
                </a:solidFill>
                <a:latin typeface="Roboto Slab" pitchFamily="34" charset="0"/>
                <a:ea typeface="Roboto Slab" pitchFamily="34" charset="-122"/>
                <a:cs typeface="Roboto Slab" pitchFamily="34" charset="-120"/>
              </a:rPr>
              <a:t>Detailed Analysis of Measurement Issues</a:t>
            </a:r>
            <a:endParaRPr lang="en-US" sz="3000" dirty="0"/>
          </a:p>
        </p:txBody>
      </p:sp>
      <p:sp>
        <p:nvSpPr>
          <p:cNvPr id="4" name="Shape 2"/>
          <p:cNvSpPr/>
          <p:nvPr/>
        </p:nvSpPr>
        <p:spPr>
          <a:xfrm>
            <a:off x="793790" y="2103477"/>
            <a:ext cx="13042821" cy="4331256"/>
          </a:xfrm>
          <a:prstGeom prst="roundRect">
            <a:avLst>
              <a:gd name="adj" fmla="val 668"/>
            </a:avLst>
          </a:prstGeom>
          <a:noFill/>
          <a:ln w="7620">
            <a:solidFill>
              <a:srgbClr val="000000">
                <a:alpha val="8000"/>
              </a:srgbClr>
            </a:solidFill>
            <a:prstDash val="solid"/>
          </a:ln>
        </p:spPr>
      </p:sp>
      <p:sp>
        <p:nvSpPr>
          <p:cNvPr id="5" name="Shape 3"/>
          <p:cNvSpPr/>
          <p:nvPr/>
        </p:nvSpPr>
        <p:spPr>
          <a:xfrm>
            <a:off x="801410" y="2111097"/>
            <a:ext cx="13027581" cy="554831"/>
          </a:xfrm>
          <a:prstGeom prst="rect">
            <a:avLst/>
          </a:prstGeom>
          <a:solidFill>
            <a:srgbClr val="FFFFFF">
              <a:alpha val="4000"/>
            </a:srgbClr>
          </a:solidFill>
          <a:ln/>
        </p:spPr>
      </p:sp>
      <p:sp>
        <p:nvSpPr>
          <p:cNvPr id="6" name="Text 4"/>
          <p:cNvSpPr/>
          <p:nvPr/>
        </p:nvSpPr>
        <p:spPr>
          <a:xfrm>
            <a:off x="994529" y="2234327"/>
            <a:ext cx="1481376"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Construct</a:t>
            </a:r>
            <a:endParaRPr lang="en-US" sz="1500" dirty="0"/>
          </a:p>
        </p:txBody>
      </p:sp>
      <p:sp>
        <p:nvSpPr>
          <p:cNvPr id="7" name="Text 5"/>
          <p:cNvSpPr/>
          <p:nvPr/>
        </p:nvSpPr>
        <p:spPr>
          <a:xfrm>
            <a:off x="2869049" y="2234327"/>
            <a:ext cx="909518"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α</a:t>
            </a:r>
            <a:endParaRPr lang="en-US" sz="1500" dirty="0"/>
          </a:p>
        </p:txBody>
      </p:sp>
      <p:sp>
        <p:nvSpPr>
          <p:cNvPr id="8" name="Text 6"/>
          <p:cNvSpPr/>
          <p:nvPr/>
        </p:nvSpPr>
        <p:spPr>
          <a:xfrm>
            <a:off x="4171712" y="2234327"/>
            <a:ext cx="4533781"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What Went Wrong</a:t>
            </a:r>
            <a:endParaRPr lang="en-US" sz="1500" dirty="0"/>
          </a:p>
        </p:txBody>
      </p:sp>
      <p:sp>
        <p:nvSpPr>
          <p:cNvPr id="9" name="Text 7"/>
          <p:cNvSpPr/>
          <p:nvPr/>
        </p:nvSpPr>
        <p:spPr>
          <a:xfrm>
            <a:off x="9098637" y="2234327"/>
            <a:ext cx="4537591"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Future Direction</a:t>
            </a:r>
            <a:endParaRPr lang="en-US" sz="1500" dirty="0"/>
          </a:p>
        </p:txBody>
      </p:sp>
      <p:sp>
        <p:nvSpPr>
          <p:cNvPr id="10" name="Shape 8"/>
          <p:cNvSpPr/>
          <p:nvPr/>
        </p:nvSpPr>
        <p:spPr>
          <a:xfrm>
            <a:off x="801410" y="2665928"/>
            <a:ext cx="13027581" cy="1171575"/>
          </a:xfrm>
          <a:prstGeom prst="rect">
            <a:avLst/>
          </a:prstGeom>
          <a:solidFill>
            <a:srgbClr val="000000">
              <a:alpha val="4000"/>
            </a:srgbClr>
          </a:solidFill>
          <a:ln/>
        </p:spPr>
      </p:sp>
      <p:sp>
        <p:nvSpPr>
          <p:cNvPr id="11" name="Text 9"/>
          <p:cNvSpPr/>
          <p:nvPr/>
        </p:nvSpPr>
        <p:spPr>
          <a:xfrm>
            <a:off x="994529" y="2789158"/>
            <a:ext cx="1481376"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Voluntariness</a:t>
            </a:r>
            <a:endParaRPr lang="en-US" sz="1500" dirty="0"/>
          </a:p>
        </p:txBody>
      </p:sp>
      <p:sp>
        <p:nvSpPr>
          <p:cNvPr id="12" name="Text 10"/>
          <p:cNvSpPr/>
          <p:nvPr/>
        </p:nvSpPr>
        <p:spPr>
          <a:xfrm>
            <a:off x="2869049" y="2789158"/>
            <a:ext cx="909518"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.301</a:t>
            </a:r>
            <a:endParaRPr lang="en-US" sz="1500" dirty="0"/>
          </a:p>
        </p:txBody>
      </p:sp>
      <p:sp>
        <p:nvSpPr>
          <p:cNvPr id="13" name="Text 11"/>
          <p:cNvSpPr/>
          <p:nvPr/>
        </p:nvSpPr>
        <p:spPr>
          <a:xfrm>
            <a:off x="4171712" y="2789158"/>
            <a:ext cx="4533781" cy="925116"/>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Items conceptually conflicted: "My organization requires AI use" and "I choose to use AI voluntarily" were interpreted inconsistently</a:t>
            </a:r>
            <a:endParaRPr lang="en-US" sz="1500" dirty="0"/>
          </a:p>
        </p:txBody>
      </p:sp>
      <p:sp>
        <p:nvSpPr>
          <p:cNvPr id="14" name="Text 12"/>
          <p:cNvSpPr/>
          <p:nvPr/>
        </p:nvSpPr>
        <p:spPr>
          <a:xfrm>
            <a:off x="9098637" y="2789158"/>
            <a:ext cx="4537591"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Reframe as "perceived pressure" construct with consistent directionality</a:t>
            </a:r>
            <a:endParaRPr lang="en-US" sz="1500" dirty="0"/>
          </a:p>
        </p:txBody>
      </p:sp>
      <p:sp>
        <p:nvSpPr>
          <p:cNvPr id="15" name="Shape 13"/>
          <p:cNvSpPr/>
          <p:nvPr/>
        </p:nvSpPr>
        <p:spPr>
          <a:xfrm>
            <a:off x="801410" y="3837503"/>
            <a:ext cx="13027581" cy="863203"/>
          </a:xfrm>
          <a:prstGeom prst="rect">
            <a:avLst/>
          </a:prstGeom>
          <a:solidFill>
            <a:srgbClr val="FFFFFF">
              <a:alpha val="4000"/>
            </a:srgbClr>
          </a:solidFill>
          <a:ln/>
        </p:spPr>
      </p:sp>
      <p:sp>
        <p:nvSpPr>
          <p:cNvPr id="16" name="Text 14"/>
          <p:cNvSpPr/>
          <p:nvPr/>
        </p:nvSpPr>
        <p:spPr>
          <a:xfrm>
            <a:off x="994529" y="3960733"/>
            <a:ext cx="1481376"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Explainability</a:t>
            </a:r>
            <a:endParaRPr lang="en-US" sz="1500" dirty="0"/>
          </a:p>
        </p:txBody>
      </p:sp>
      <p:sp>
        <p:nvSpPr>
          <p:cNvPr id="17" name="Text 15"/>
          <p:cNvSpPr/>
          <p:nvPr/>
        </p:nvSpPr>
        <p:spPr>
          <a:xfrm>
            <a:off x="2869049" y="3960733"/>
            <a:ext cx="909518"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.503</a:t>
            </a:r>
            <a:endParaRPr lang="en-US" sz="1500" dirty="0"/>
          </a:p>
        </p:txBody>
      </p:sp>
      <p:sp>
        <p:nvSpPr>
          <p:cNvPr id="18" name="Text 16"/>
          <p:cNvSpPr/>
          <p:nvPr/>
        </p:nvSpPr>
        <p:spPr>
          <a:xfrm>
            <a:off x="4171712" y="3960733"/>
            <a:ext cx="4533781"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AI explanation is multi-dimensional; overly broad items failed to capture distinct facets</a:t>
            </a:r>
            <a:endParaRPr lang="en-US" sz="1500" dirty="0"/>
          </a:p>
        </p:txBody>
      </p:sp>
      <p:sp>
        <p:nvSpPr>
          <p:cNvPr id="19" name="Text 17"/>
          <p:cNvSpPr/>
          <p:nvPr/>
        </p:nvSpPr>
        <p:spPr>
          <a:xfrm>
            <a:off x="9098637" y="3960733"/>
            <a:ext cx="4537591"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Decompose into transparency, interpretability, and auditability subscales</a:t>
            </a:r>
            <a:endParaRPr lang="en-US" sz="1500" dirty="0"/>
          </a:p>
        </p:txBody>
      </p:sp>
      <p:sp>
        <p:nvSpPr>
          <p:cNvPr id="20" name="Shape 18"/>
          <p:cNvSpPr/>
          <p:nvPr/>
        </p:nvSpPr>
        <p:spPr>
          <a:xfrm>
            <a:off x="801410" y="4700707"/>
            <a:ext cx="13027581" cy="863203"/>
          </a:xfrm>
          <a:prstGeom prst="rect">
            <a:avLst/>
          </a:prstGeom>
          <a:solidFill>
            <a:srgbClr val="000000">
              <a:alpha val="4000"/>
            </a:srgbClr>
          </a:solidFill>
          <a:ln/>
        </p:spPr>
      </p:sp>
      <p:sp>
        <p:nvSpPr>
          <p:cNvPr id="21" name="Text 19"/>
          <p:cNvSpPr/>
          <p:nvPr/>
        </p:nvSpPr>
        <p:spPr>
          <a:xfrm>
            <a:off x="994529" y="4823936"/>
            <a:ext cx="1481376"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Ethical Risk</a:t>
            </a:r>
            <a:endParaRPr lang="en-US" sz="1500" dirty="0"/>
          </a:p>
        </p:txBody>
      </p:sp>
      <p:sp>
        <p:nvSpPr>
          <p:cNvPr id="22" name="Text 20"/>
          <p:cNvSpPr/>
          <p:nvPr/>
        </p:nvSpPr>
        <p:spPr>
          <a:xfrm>
            <a:off x="2869049" y="4823936"/>
            <a:ext cx="909518"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.582</a:t>
            </a:r>
            <a:endParaRPr lang="en-US" sz="1500" dirty="0"/>
          </a:p>
        </p:txBody>
      </p:sp>
      <p:sp>
        <p:nvSpPr>
          <p:cNvPr id="23" name="Text 21"/>
          <p:cNvSpPr/>
          <p:nvPr/>
        </p:nvSpPr>
        <p:spPr>
          <a:xfrm>
            <a:off x="4171712" y="4823936"/>
            <a:ext cx="4533781"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Near threshold; items conflated personal ethical concerns with societal ethical concerns</a:t>
            </a:r>
            <a:endParaRPr lang="en-US" sz="1500" dirty="0"/>
          </a:p>
        </p:txBody>
      </p:sp>
      <p:sp>
        <p:nvSpPr>
          <p:cNvPr id="24" name="Text 22"/>
          <p:cNvSpPr/>
          <p:nvPr/>
        </p:nvSpPr>
        <p:spPr>
          <a:xfrm>
            <a:off x="9098637" y="4823936"/>
            <a:ext cx="4537591"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Separate individual concerns ("AI could harm me") from societal concerns ("AI could harm society")</a:t>
            </a:r>
            <a:endParaRPr lang="en-US" sz="1500" dirty="0"/>
          </a:p>
        </p:txBody>
      </p:sp>
      <p:sp>
        <p:nvSpPr>
          <p:cNvPr id="25" name="Shape 23"/>
          <p:cNvSpPr/>
          <p:nvPr/>
        </p:nvSpPr>
        <p:spPr>
          <a:xfrm>
            <a:off x="801410" y="5563910"/>
            <a:ext cx="13027581" cy="863203"/>
          </a:xfrm>
          <a:prstGeom prst="rect">
            <a:avLst/>
          </a:prstGeom>
          <a:solidFill>
            <a:srgbClr val="FFFFFF">
              <a:alpha val="4000"/>
            </a:srgbClr>
          </a:solidFill>
          <a:ln/>
        </p:spPr>
      </p:sp>
      <p:sp>
        <p:nvSpPr>
          <p:cNvPr id="26" name="Text 24"/>
          <p:cNvSpPr/>
          <p:nvPr/>
        </p:nvSpPr>
        <p:spPr>
          <a:xfrm>
            <a:off x="994529" y="5687139"/>
            <a:ext cx="1481376"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AI Anxiety</a:t>
            </a:r>
            <a:endParaRPr lang="en-US" sz="1500" dirty="0"/>
          </a:p>
        </p:txBody>
      </p:sp>
      <p:sp>
        <p:nvSpPr>
          <p:cNvPr id="27" name="Text 25"/>
          <p:cNvSpPr/>
          <p:nvPr/>
        </p:nvSpPr>
        <p:spPr>
          <a:xfrm>
            <a:off x="2869049" y="5687139"/>
            <a:ext cx="909518"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.423</a:t>
            </a:r>
            <a:endParaRPr lang="en-US" sz="1500" dirty="0"/>
          </a:p>
        </p:txBody>
      </p:sp>
      <p:sp>
        <p:nvSpPr>
          <p:cNvPr id="28" name="Text 26"/>
          <p:cNvSpPr/>
          <p:nvPr/>
        </p:nvSpPr>
        <p:spPr>
          <a:xfrm>
            <a:off x="4171712" y="5687139"/>
            <a:ext cx="4533781"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Overlapped excessively with general technology anxiety; poor discriminant validity</a:t>
            </a:r>
            <a:endParaRPr lang="en-US" sz="1500" dirty="0"/>
          </a:p>
        </p:txBody>
      </p:sp>
      <p:sp>
        <p:nvSpPr>
          <p:cNvPr id="29" name="Text 27"/>
          <p:cNvSpPr/>
          <p:nvPr/>
        </p:nvSpPr>
        <p:spPr>
          <a:xfrm>
            <a:off x="9098637" y="5687139"/>
            <a:ext cx="4537591"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Distinguish AI-specific anxiety (opacity, autonomy) from general technology discomfort</a:t>
            </a:r>
            <a:endParaRPr lang="en-US" sz="1500" dirty="0"/>
          </a:p>
        </p:txBody>
      </p:sp>
      <p:sp>
        <p:nvSpPr>
          <p:cNvPr id="30" name="Text 28"/>
          <p:cNvSpPr/>
          <p:nvPr/>
        </p:nvSpPr>
        <p:spPr>
          <a:xfrm>
            <a:off x="793790" y="6651546"/>
            <a:ext cx="13042821" cy="925116"/>
          </a:xfrm>
          <a:prstGeom prst="rect">
            <a:avLst/>
          </a:prstGeom>
          <a:noFill/>
          <a:ln/>
        </p:spPr>
        <p:txBody>
          <a:bodyPr wrap="square" lIns="0" tIns="0" rIns="0" bIns="0" rtlCol="0" anchor="t"/>
          <a:lstStyle/>
          <a:p>
            <a:pPr algn="l" indent="0" marL="0">
              <a:lnSpc>
                <a:spcPts val="2400"/>
              </a:lnSpc>
              <a:buNone/>
            </a:pPr>
            <a:r>
              <a:rPr lang="en-US" sz="1500" dirty="0">
                <a:solidFill>
                  <a:srgbClr val="FFFFFF"/>
                </a:solidFill>
                <a:highlight>
                  <a:srgbClr val="3257B8"/>
                </a:highlight>
                <a:latin typeface="Roboto" pitchFamily="34" charset="0"/>
                <a:ea typeface="Roboto" pitchFamily="34" charset="-122"/>
                <a:cs typeface="Roboto" pitchFamily="34" charset="-120"/>
              </a:rPr>
              <a:t>Important clarification:</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These failures are psychometric and methodological, not theoretical. The constructs remain conceptually important for understanding AI adoption. They require better operationalization through item redesign, clearer construct definitions, and revalidation—not abandonment.</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787956" y="619125"/>
            <a:ext cx="10996374" cy="598051"/>
          </a:xfrm>
          <a:prstGeom prst="rect">
            <a:avLst/>
          </a:prstGeom>
          <a:noFill/>
          <a:ln/>
        </p:spPr>
        <p:txBody>
          <a:bodyPr wrap="none" lIns="0" tIns="0" rIns="0" bIns="0" rtlCol="0" anchor="t"/>
          <a:lstStyle/>
          <a:p>
            <a:pPr algn="l" indent="0" marL="0">
              <a:lnSpc>
                <a:spcPts val="4700"/>
              </a:lnSpc>
              <a:buNone/>
            </a:pPr>
            <a:r>
              <a:rPr lang="en-US" sz="3750" dirty="0">
                <a:solidFill>
                  <a:srgbClr val="3257B8"/>
                </a:solidFill>
                <a:latin typeface="Roboto Slab" pitchFamily="34" charset="0"/>
                <a:ea typeface="Roboto Slab" pitchFamily="34" charset="-122"/>
                <a:cs typeface="Roboto Slab" pitchFamily="34" charset="-120"/>
              </a:rPr>
              <a:t>Backup Slide B5: Practical Implementation Guide</a:t>
            </a:r>
            <a:endParaRPr lang="en-US" sz="3750" dirty="0"/>
          </a:p>
        </p:txBody>
      </p:sp>
      <p:sp>
        <p:nvSpPr>
          <p:cNvPr id="3" name="Text 1"/>
          <p:cNvSpPr/>
          <p:nvPr/>
        </p:nvSpPr>
        <p:spPr>
          <a:xfrm>
            <a:off x="787956" y="1293614"/>
            <a:ext cx="6416040" cy="478393"/>
          </a:xfrm>
          <a:prstGeom prst="rect">
            <a:avLst/>
          </a:prstGeom>
          <a:noFill/>
          <a:ln/>
        </p:spPr>
        <p:txBody>
          <a:bodyPr wrap="none" lIns="0" tIns="0" rIns="0" bIns="0" rtlCol="0" anchor="t"/>
          <a:lstStyle/>
          <a:p>
            <a:pPr algn="l" indent="0" marL="0">
              <a:lnSpc>
                <a:spcPts val="3750"/>
              </a:lnSpc>
              <a:buNone/>
            </a:pPr>
            <a:r>
              <a:rPr lang="en-US" sz="3000" dirty="0">
                <a:solidFill>
                  <a:srgbClr val="3257B8"/>
                </a:solidFill>
                <a:latin typeface="Roboto Slab" pitchFamily="34" charset="0"/>
                <a:ea typeface="Roboto Slab" pitchFamily="34" charset="-122"/>
                <a:cs typeface="Roboto Slab" pitchFamily="34" charset="-120"/>
              </a:rPr>
              <a:t>Using AIRS-16 in Your Organization</a:t>
            </a:r>
            <a:endParaRPr lang="en-US" sz="3000" dirty="0"/>
          </a:p>
        </p:txBody>
      </p:sp>
      <p:sp>
        <p:nvSpPr>
          <p:cNvPr id="4" name="Shape 2"/>
          <p:cNvSpPr/>
          <p:nvPr/>
        </p:nvSpPr>
        <p:spPr>
          <a:xfrm>
            <a:off x="7303770" y="2059067"/>
            <a:ext cx="22860" cy="4724400"/>
          </a:xfrm>
          <a:prstGeom prst="roundRect">
            <a:avLst>
              <a:gd name="adj" fmla="val 125581"/>
            </a:avLst>
          </a:prstGeom>
          <a:solidFill>
            <a:srgbClr val="CFD2D8"/>
          </a:solidFill>
          <a:ln/>
        </p:spPr>
      </p:sp>
      <p:sp>
        <p:nvSpPr>
          <p:cNvPr id="5" name="Shape 3"/>
          <p:cNvSpPr/>
          <p:nvPr/>
        </p:nvSpPr>
        <p:spPr>
          <a:xfrm>
            <a:off x="6548676" y="2262902"/>
            <a:ext cx="574119" cy="22860"/>
          </a:xfrm>
          <a:prstGeom prst="roundRect">
            <a:avLst>
              <a:gd name="adj" fmla="val 125581"/>
            </a:avLst>
          </a:prstGeom>
          <a:solidFill>
            <a:srgbClr val="CFD2D8"/>
          </a:solidFill>
          <a:ln/>
        </p:spPr>
      </p:sp>
      <p:sp>
        <p:nvSpPr>
          <p:cNvPr id="6" name="Shape 4"/>
          <p:cNvSpPr/>
          <p:nvPr/>
        </p:nvSpPr>
        <p:spPr>
          <a:xfrm>
            <a:off x="7099935" y="2059067"/>
            <a:ext cx="430530" cy="430530"/>
          </a:xfrm>
          <a:prstGeom prst="roundRect">
            <a:avLst>
              <a:gd name="adj" fmla="val 6668"/>
            </a:avLst>
          </a:prstGeom>
          <a:solidFill>
            <a:srgbClr val="E9ECF2"/>
          </a:solidFill>
          <a:ln/>
        </p:spPr>
      </p:sp>
      <p:sp>
        <p:nvSpPr>
          <p:cNvPr id="7" name="Text 5"/>
          <p:cNvSpPr/>
          <p:nvPr/>
        </p:nvSpPr>
        <p:spPr>
          <a:xfrm>
            <a:off x="7171670" y="2094964"/>
            <a:ext cx="287060" cy="358735"/>
          </a:xfrm>
          <a:prstGeom prst="rect">
            <a:avLst/>
          </a:prstGeom>
          <a:noFill/>
          <a:ln/>
        </p:spPr>
        <p:txBody>
          <a:bodyPr wrap="none" lIns="0" tIns="0" rIns="0" bIns="0" rtlCol="0" anchor="t"/>
          <a:lstStyle/>
          <a:p>
            <a:pPr algn="ctr" indent="0" marL="0">
              <a:lnSpc>
                <a:spcPts val="2250"/>
              </a:lnSpc>
              <a:buNone/>
            </a:pPr>
            <a:r>
              <a:rPr lang="en-US" sz="2250" dirty="0">
                <a:solidFill>
                  <a:srgbClr val="15213F"/>
                </a:solidFill>
                <a:latin typeface="Roboto Slab" pitchFamily="34" charset="0"/>
                <a:ea typeface="Roboto Slab" pitchFamily="34" charset="-122"/>
                <a:cs typeface="Roboto Slab" pitchFamily="34" charset="-120"/>
              </a:rPr>
              <a:t>1</a:t>
            </a:r>
            <a:endParaRPr lang="en-US" sz="2250" dirty="0"/>
          </a:p>
        </p:txBody>
      </p:sp>
      <p:sp>
        <p:nvSpPr>
          <p:cNvPr id="8" name="Text 6"/>
          <p:cNvSpPr/>
          <p:nvPr/>
        </p:nvSpPr>
        <p:spPr>
          <a:xfrm>
            <a:off x="3214688" y="2124789"/>
            <a:ext cx="3143607" cy="298966"/>
          </a:xfrm>
          <a:prstGeom prst="rect">
            <a:avLst/>
          </a:prstGeom>
          <a:noFill/>
          <a:ln/>
        </p:spPr>
        <p:txBody>
          <a:bodyPr wrap="none" lIns="0" tIns="0" rIns="0" bIns="0" rtlCol="0" anchor="t"/>
          <a:lstStyle/>
          <a:p>
            <a:pPr algn="r" indent="0" marL="0">
              <a:lnSpc>
                <a:spcPts val="2350"/>
              </a:lnSpc>
              <a:buNone/>
            </a:pPr>
            <a:r>
              <a:rPr lang="en-US" sz="1850" dirty="0">
                <a:solidFill>
                  <a:srgbClr val="15213F"/>
                </a:solidFill>
                <a:latin typeface="Roboto Slab" pitchFamily="34" charset="0"/>
                <a:ea typeface="Roboto Slab" pitchFamily="34" charset="-122"/>
                <a:cs typeface="Roboto Slab" pitchFamily="34" charset="-120"/>
              </a:rPr>
              <a:t>Step 1: Baseline Assessment</a:t>
            </a:r>
            <a:endParaRPr lang="en-US" sz="1850" dirty="0"/>
          </a:p>
        </p:txBody>
      </p:sp>
      <p:sp>
        <p:nvSpPr>
          <p:cNvPr id="9" name="Text 7"/>
          <p:cNvSpPr/>
          <p:nvPr/>
        </p:nvSpPr>
        <p:spPr>
          <a:xfrm>
            <a:off x="787956" y="2538532"/>
            <a:ext cx="5570339" cy="918329"/>
          </a:xfrm>
          <a:prstGeom prst="rect">
            <a:avLst/>
          </a:prstGeom>
          <a:noFill/>
          <a:ln/>
        </p:spPr>
        <p:txBody>
          <a:bodyPr wrap="square" lIns="0" tIns="0" rIns="0" bIns="0" rtlCol="0" anchor="t"/>
          <a:lstStyle/>
          <a:p>
            <a:pPr algn="r" indent="0" marL="0">
              <a:lnSpc>
                <a:spcPts val="2400"/>
              </a:lnSpc>
              <a:buNone/>
            </a:pPr>
            <a:r>
              <a:rPr lang="en-US" sz="1500" dirty="0">
                <a:solidFill>
                  <a:srgbClr val="15213F"/>
                </a:solidFill>
                <a:latin typeface="Roboto" pitchFamily="34" charset="0"/>
                <a:ea typeface="Roboto" pitchFamily="34" charset="-122"/>
                <a:cs typeface="Roboto" pitchFamily="34" charset="-120"/>
              </a:rPr>
              <a:t>Administer AIRS-16 to target population (3-minute survey). Generate individual scores across 8 constructs and classify into 4 user segments.</a:t>
            </a:r>
            <a:endParaRPr lang="en-US" sz="1500" dirty="0"/>
          </a:p>
        </p:txBody>
      </p:sp>
      <p:sp>
        <p:nvSpPr>
          <p:cNvPr id="10" name="Shape 8"/>
          <p:cNvSpPr/>
          <p:nvPr/>
        </p:nvSpPr>
        <p:spPr>
          <a:xfrm>
            <a:off x="7507605" y="3411022"/>
            <a:ext cx="574119" cy="22860"/>
          </a:xfrm>
          <a:prstGeom prst="roundRect">
            <a:avLst>
              <a:gd name="adj" fmla="val 125581"/>
            </a:avLst>
          </a:prstGeom>
          <a:solidFill>
            <a:srgbClr val="CFD2D8"/>
          </a:solidFill>
          <a:ln/>
        </p:spPr>
      </p:sp>
      <p:sp>
        <p:nvSpPr>
          <p:cNvPr id="11" name="Shape 9"/>
          <p:cNvSpPr/>
          <p:nvPr/>
        </p:nvSpPr>
        <p:spPr>
          <a:xfrm>
            <a:off x="7099935" y="3207187"/>
            <a:ext cx="430530" cy="430530"/>
          </a:xfrm>
          <a:prstGeom prst="roundRect">
            <a:avLst>
              <a:gd name="adj" fmla="val 6668"/>
            </a:avLst>
          </a:prstGeom>
          <a:solidFill>
            <a:srgbClr val="E9ECF2"/>
          </a:solidFill>
          <a:ln/>
        </p:spPr>
      </p:sp>
      <p:sp>
        <p:nvSpPr>
          <p:cNvPr id="12" name="Text 10"/>
          <p:cNvSpPr/>
          <p:nvPr/>
        </p:nvSpPr>
        <p:spPr>
          <a:xfrm>
            <a:off x="7171670" y="3243084"/>
            <a:ext cx="287060" cy="358735"/>
          </a:xfrm>
          <a:prstGeom prst="rect">
            <a:avLst/>
          </a:prstGeom>
          <a:noFill/>
          <a:ln/>
        </p:spPr>
        <p:txBody>
          <a:bodyPr wrap="none" lIns="0" tIns="0" rIns="0" bIns="0" rtlCol="0" anchor="t"/>
          <a:lstStyle/>
          <a:p>
            <a:pPr algn="ctr" indent="0" marL="0">
              <a:lnSpc>
                <a:spcPts val="2250"/>
              </a:lnSpc>
              <a:buNone/>
            </a:pPr>
            <a:r>
              <a:rPr lang="en-US" sz="2250" dirty="0">
                <a:solidFill>
                  <a:srgbClr val="15213F"/>
                </a:solidFill>
                <a:latin typeface="Roboto Slab" pitchFamily="34" charset="0"/>
                <a:ea typeface="Roboto Slab" pitchFamily="34" charset="-122"/>
                <a:cs typeface="Roboto Slab" pitchFamily="34" charset="-120"/>
              </a:rPr>
              <a:t>2</a:t>
            </a:r>
            <a:endParaRPr lang="en-US" sz="2250" dirty="0"/>
          </a:p>
        </p:txBody>
      </p:sp>
      <p:sp>
        <p:nvSpPr>
          <p:cNvPr id="13" name="Text 11"/>
          <p:cNvSpPr/>
          <p:nvPr/>
        </p:nvSpPr>
        <p:spPr>
          <a:xfrm>
            <a:off x="8272105" y="3272909"/>
            <a:ext cx="3033832" cy="298966"/>
          </a:xfrm>
          <a:prstGeom prst="rect">
            <a:avLst/>
          </a:prstGeom>
          <a:noFill/>
          <a:ln/>
        </p:spPr>
        <p:txBody>
          <a:bodyPr wrap="none" lIns="0" tIns="0" rIns="0" bIns="0" rtlCol="0" anchor="t"/>
          <a:lstStyle/>
          <a:p>
            <a:pPr algn="l" indent="0" marL="0">
              <a:lnSpc>
                <a:spcPts val="2350"/>
              </a:lnSpc>
              <a:buNone/>
            </a:pPr>
            <a:r>
              <a:rPr lang="en-US" sz="1850" dirty="0">
                <a:solidFill>
                  <a:srgbClr val="15213F"/>
                </a:solidFill>
                <a:latin typeface="Roboto Slab" pitchFamily="34" charset="0"/>
                <a:ea typeface="Roboto Slab" pitchFamily="34" charset="-122"/>
                <a:cs typeface="Roboto Slab" pitchFamily="34" charset="-120"/>
              </a:rPr>
              <a:t>Step 2: Diagnostic Analysis</a:t>
            </a:r>
            <a:endParaRPr lang="en-US" sz="1850" dirty="0"/>
          </a:p>
        </p:txBody>
      </p:sp>
      <p:sp>
        <p:nvSpPr>
          <p:cNvPr id="14" name="Text 12"/>
          <p:cNvSpPr/>
          <p:nvPr/>
        </p:nvSpPr>
        <p:spPr>
          <a:xfrm>
            <a:off x="8272105" y="3686651"/>
            <a:ext cx="5570339" cy="918329"/>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Identify specific barriers at individual, team, or organizational level. Determine whether issues are concentrated in Price Value, Trust, Social Influence, or other factors.</a:t>
            </a:r>
            <a:endParaRPr lang="en-US" sz="1500" dirty="0"/>
          </a:p>
        </p:txBody>
      </p:sp>
      <p:sp>
        <p:nvSpPr>
          <p:cNvPr id="15" name="Shape 13"/>
          <p:cNvSpPr/>
          <p:nvPr/>
        </p:nvSpPr>
        <p:spPr>
          <a:xfrm>
            <a:off x="6548676" y="4400669"/>
            <a:ext cx="574119" cy="22860"/>
          </a:xfrm>
          <a:prstGeom prst="roundRect">
            <a:avLst>
              <a:gd name="adj" fmla="val 125581"/>
            </a:avLst>
          </a:prstGeom>
          <a:solidFill>
            <a:srgbClr val="CFD2D8"/>
          </a:solidFill>
          <a:ln/>
        </p:spPr>
      </p:sp>
      <p:sp>
        <p:nvSpPr>
          <p:cNvPr id="16" name="Shape 14"/>
          <p:cNvSpPr/>
          <p:nvPr/>
        </p:nvSpPr>
        <p:spPr>
          <a:xfrm>
            <a:off x="7099935" y="4196834"/>
            <a:ext cx="430530" cy="430530"/>
          </a:xfrm>
          <a:prstGeom prst="roundRect">
            <a:avLst>
              <a:gd name="adj" fmla="val 6668"/>
            </a:avLst>
          </a:prstGeom>
          <a:solidFill>
            <a:srgbClr val="E9ECF2"/>
          </a:solidFill>
          <a:ln/>
        </p:spPr>
      </p:sp>
      <p:sp>
        <p:nvSpPr>
          <p:cNvPr id="17" name="Text 15"/>
          <p:cNvSpPr/>
          <p:nvPr/>
        </p:nvSpPr>
        <p:spPr>
          <a:xfrm>
            <a:off x="7171670" y="4232731"/>
            <a:ext cx="287060" cy="358735"/>
          </a:xfrm>
          <a:prstGeom prst="rect">
            <a:avLst/>
          </a:prstGeom>
          <a:noFill/>
          <a:ln/>
        </p:spPr>
        <p:txBody>
          <a:bodyPr wrap="none" lIns="0" tIns="0" rIns="0" bIns="0" rtlCol="0" anchor="t"/>
          <a:lstStyle/>
          <a:p>
            <a:pPr algn="ctr" indent="0" marL="0">
              <a:lnSpc>
                <a:spcPts val="2250"/>
              </a:lnSpc>
              <a:buNone/>
            </a:pPr>
            <a:r>
              <a:rPr lang="en-US" sz="2250" dirty="0">
                <a:solidFill>
                  <a:srgbClr val="15213F"/>
                </a:solidFill>
                <a:latin typeface="Roboto Slab" pitchFamily="34" charset="0"/>
                <a:ea typeface="Roboto Slab" pitchFamily="34" charset="-122"/>
                <a:cs typeface="Roboto Slab" pitchFamily="34" charset="-120"/>
              </a:rPr>
              <a:t>3</a:t>
            </a:r>
            <a:endParaRPr lang="en-US" sz="2250" dirty="0"/>
          </a:p>
        </p:txBody>
      </p:sp>
      <p:sp>
        <p:nvSpPr>
          <p:cNvPr id="18" name="Text 16"/>
          <p:cNvSpPr/>
          <p:nvPr/>
        </p:nvSpPr>
        <p:spPr>
          <a:xfrm>
            <a:off x="3000256" y="4262557"/>
            <a:ext cx="3358039" cy="298966"/>
          </a:xfrm>
          <a:prstGeom prst="rect">
            <a:avLst/>
          </a:prstGeom>
          <a:noFill/>
          <a:ln/>
        </p:spPr>
        <p:txBody>
          <a:bodyPr wrap="none" lIns="0" tIns="0" rIns="0" bIns="0" rtlCol="0" anchor="t"/>
          <a:lstStyle/>
          <a:p>
            <a:pPr algn="r" indent="0" marL="0">
              <a:lnSpc>
                <a:spcPts val="2350"/>
              </a:lnSpc>
              <a:buNone/>
            </a:pPr>
            <a:r>
              <a:rPr lang="en-US" sz="1850" dirty="0">
                <a:solidFill>
                  <a:srgbClr val="15213F"/>
                </a:solidFill>
                <a:latin typeface="Roboto Slab" pitchFamily="34" charset="0"/>
                <a:ea typeface="Roboto Slab" pitchFamily="34" charset="-122"/>
                <a:cs typeface="Roboto Slab" pitchFamily="34" charset="-120"/>
              </a:rPr>
              <a:t>Step 3: Targeted Interventions</a:t>
            </a:r>
            <a:endParaRPr lang="en-US" sz="1850" dirty="0"/>
          </a:p>
        </p:txBody>
      </p:sp>
      <p:sp>
        <p:nvSpPr>
          <p:cNvPr id="19" name="Text 17"/>
          <p:cNvSpPr/>
          <p:nvPr/>
        </p:nvSpPr>
        <p:spPr>
          <a:xfrm>
            <a:off x="787956" y="4676299"/>
            <a:ext cx="5570339" cy="918329"/>
          </a:xfrm>
          <a:prstGeom prst="rect">
            <a:avLst/>
          </a:prstGeom>
          <a:noFill/>
          <a:ln/>
        </p:spPr>
        <p:txBody>
          <a:bodyPr wrap="square" lIns="0" tIns="0" rIns="0" bIns="0" rtlCol="0" anchor="t"/>
          <a:lstStyle/>
          <a:p>
            <a:pPr algn="r" indent="0" marL="0">
              <a:lnSpc>
                <a:spcPts val="2400"/>
              </a:lnSpc>
              <a:buNone/>
            </a:pPr>
            <a:r>
              <a:rPr lang="en-US" sz="1500" dirty="0">
                <a:solidFill>
                  <a:srgbClr val="15213F"/>
                </a:solidFill>
                <a:latin typeface="Roboto" pitchFamily="34" charset="0"/>
                <a:ea typeface="Roboto" pitchFamily="34" charset="-122"/>
                <a:cs typeface="Roboto" pitchFamily="34" charset="-120"/>
              </a:rPr>
              <a:t>Design segment-specific strategies: champions for Enthusiasts, proof points for Cautious Adopters, friction reduction for Moderates, trust-building for Anxious Avoiders.</a:t>
            </a:r>
            <a:endParaRPr lang="en-US" sz="1500" dirty="0"/>
          </a:p>
        </p:txBody>
      </p:sp>
      <p:sp>
        <p:nvSpPr>
          <p:cNvPr id="20" name="Shape 18"/>
          <p:cNvSpPr/>
          <p:nvPr/>
        </p:nvSpPr>
        <p:spPr>
          <a:xfrm>
            <a:off x="7507605" y="5390436"/>
            <a:ext cx="574119" cy="22860"/>
          </a:xfrm>
          <a:prstGeom prst="roundRect">
            <a:avLst>
              <a:gd name="adj" fmla="val 125581"/>
            </a:avLst>
          </a:prstGeom>
          <a:solidFill>
            <a:srgbClr val="CFD2D8"/>
          </a:solidFill>
          <a:ln/>
        </p:spPr>
      </p:sp>
      <p:sp>
        <p:nvSpPr>
          <p:cNvPr id="21" name="Shape 19"/>
          <p:cNvSpPr/>
          <p:nvPr/>
        </p:nvSpPr>
        <p:spPr>
          <a:xfrm>
            <a:off x="7099935" y="5186601"/>
            <a:ext cx="430530" cy="430530"/>
          </a:xfrm>
          <a:prstGeom prst="roundRect">
            <a:avLst>
              <a:gd name="adj" fmla="val 6668"/>
            </a:avLst>
          </a:prstGeom>
          <a:solidFill>
            <a:srgbClr val="E9ECF2"/>
          </a:solidFill>
          <a:ln/>
        </p:spPr>
      </p:sp>
      <p:sp>
        <p:nvSpPr>
          <p:cNvPr id="22" name="Text 20"/>
          <p:cNvSpPr/>
          <p:nvPr/>
        </p:nvSpPr>
        <p:spPr>
          <a:xfrm>
            <a:off x="7171670" y="5222498"/>
            <a:ext cx="287060" cy="358735"/>
          </a:xfrm>
          <a:prstGeom prst="rect">
            <a:avLst/>
          </a:prstGeom>
          <a:noFill/>
          <a:ln/>
        </p:spPr>
        <p:txBody>
          <a:bodyPr wrap="none" lIns="0" tIns="0" rIns="0" bIns="0" rtlCol="0" anchor="t"/>
          <a:lstStyle/>
          <a:p>
            <a:pPr algn="ctr" indent="0" marL="0">
              <a:lnSpc>
                <a:spcPts val="2250"/>
              </a:lnSpc>
              <a:buNone/>
            </a:pPr>
            <a:r>
              <a:rPr lang="en-US" sz="2250" dirty="0">
                <a:solidFill>
                  <a:srgbClr val="15213F"/>
                </a:solidFill>
                <a:latin typeface="Roboto Slab" pitchFamily="34" charset="0"/>
                <a:ea typeface="Roboto Slab" pitchFamily="34" charset="-122"/>
                <a:cs typeface="Roboto Slab" pitchFamily="34" charset="-120"/>
              </a:rPr>
              <a:t>4</a:t>
            </a:r>
            <a:endParaRPr lang="en-US" sz="2250" dirty="0"/>
          </a:p>
        </p:txBody>
      </p:sp>
      <p:sp>
        <p:nvSpPr>
          <p:cNvPr id="23" name="Text 21"/>
          <p:cNvSpPr/>
          <p:nvPr/>
        </p:nvSpPr>
        <p:spPr>
          <a:xfrm>
            <a:off x="8272105" y="5252323"/>
            <a:ext cx="2403991" cy="298966"/>
          </a:xfrm>
          <a:prstGeom prst="rect">
            <a:avLst/>
          </a:prstGeom>
          <a:noFill/>
          <a:ln/>
        </p:spPr>
        <p:txBody>
          <a:bodyPr wrap="none" lIns="0" tIns="0" rIns="0" bIns="0" rtlCol="0" anchor="t"/>
          <a:lstStyle/>
          <a:p>
            <a:pPr algn="l" indent="0" marL="0">
              <a:lnSpc>
                <a:spcPts val="2350"/>
              </a:lnSpc>
              <a:buNone/>
            </a:pPr>
            <a:r>
              <a:rPr lang="en-US" sz="1850" dirty="0">
                <a:solidFill>
                  <a:srgbClr val="15213F"/>
                </a:solidFill>
                <a:latin typeface="Roboto Slab" pitchFamily="34" charset="0"/>
                <a:ea typeface="Roboto Slab" pitchFamily="34" charset="-122"/>
                <a:cs typeface="Roboto Slab" pitchFamily="34" charset="-120"/>
              </a:rPr>
              <a:t>Step 4: Reassessment</a:t>
            </a:r>
            <a:endParaRPr lang="en-US" sz="1850" dirty="0"/>
          </a:p>
        </p:txBody>
      </p:sp>
      <p:sp>
        <p:nvSpPr>
          <p:cNvPr id="24" name="Text 22"/>
          <p:cNvSpPr/>
          <p:nvPr/>
        </p:nvSpPr>
        <p:spPr>
          <a:xfrm>
            <a:off x="8272105" y="5666065"/>
            <a:ext cx="5570339" cy="918329"/>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Re-administer AIRS-16 after intervention to measure effectiveness. Track changes in construct scores and adoption rates over time.</a:t>
            </a:r>
            <a:endParaRPr lang="en-US" sz="1500" dirty="0"/>
          </a:p>
        </p:txBody>
      </p:sp>
      <p:sp>
        <p:nvSpPr>
          <p:cNvPr id="25" name="Text 23"/>
          <p:cNvSpPr/>
          <p:nvPr/>
        </p:nvSpPr>
        <p:spPr>
          <a:xfrm>
            <a:off x="787956" y="6998732"/>
            <a:ext cx="13054489" cy="612219"/>
          </a:xfrm>
          <a:prstGeom prst="rect">
            <a:avLst/>
          </a:prstGeom>
          <a:noFill/>
          <a:ln/>
        </p:spPr>
        <p:txBody>
          <a:bodyPr wrap="squar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Expected Outcomes:</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Organizations implementing diagnostic-driven interventions should see improved adoption rates, reduced training costs, and more efficient resource allocation compared to generic one-size-fits-all programs.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2025-12-30T00:08:09Z</dcterms:created>
  <dcterms:modified xsi:type="dcterms:W3CDTF">2025-12-30T00:08:09Z</dcterms:modified>
</cp:coreProperties>
</file>