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4630400" cy="8229600"/>
  <p:notesSz cx="8229600" cy="14630400"/>
  <p:embeddedFontLst>
    <p:embeddedFont>
      <p:font typeface="Roboto" panose="02000000000000000000" pitchFamily="2" charset="0"/>
      <p:regular r:id="rId37"/>
      <p:bold r:id="rId38"/>
      <p:italic r:id="rId39"/>
    </p:embeddedFont>
    <p:embeddedFont>
      <p:font typeface="Roboto Slab" pitchFamily="2" charset="0"/>
      <p:regular r:id="rId40"/>
    </p:embeddedFont>
    <p:embeddedFont>
      <p:font typeface="Roboto Slab Light" pitchFamily="2"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3" d="100"/>
          <a:sy n="123" d="100"/>
        </p:scale>
        <p:origin x="672"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643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txBody>
          <a:bodyPr/>
          <a:lstStyle/>
          <a:p>
            <a:endParaRPr lang="en-US"/>
          </a:p>
        </p:txBody>
      </p:sp>
      <p:sp>
        <p:nvSpPr>
          <p:cNvPr id="3" name="Shape 1"/>
          <p:cNvSpPr/>
          <p:nvPr/>
        </p:nvSpPr>
        <p:spPr>
          <a:xfrm>
            <a:off x="0" y="0"/>
            <a:ext cx="14630400" cy="8229600"/>
          </a:xfrm>
          <a:prstGeom prst="rect">
            <a:avLst/>
          </a:prstGeom>
          <a:solidFill>
            <a:srgbClr val="FBFCFE"/>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6.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6.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281999" y="1372128"/>
            <a:ext cx="5800528" cy="3262797"/>
          </a:xfrm>
          <a:prstGeom prst="rect">
            <a:avLst/>
          </a:prstGeom>
        </p:spPr>
      </p:pic>
      <p:sp>
        <p:nvSpPr>
          <p:cNvPr id="3" name="Shape 0"/>
          <p:cNvSpPr/>
          <p:nvPr/>
        </p:nvSpPr>
        <p:spPr>
          <a:xfrm>
            <a:off x="-119" y="0"/>
            <a:ext cx="14630400" cy="8229600"/>
          </a:xfrm>
          <a:prstGeom prst="rect">
            <a:avLst/>
          </a:prstGeom>
          <a:solidFill>
            <a:srgbClr val="FBFCFE">
              <a:alpha val="85000"/>
            </a:srgbClr>
          </a:solidFill>
          <a:ln/>
        </p:spPr>
        <p:txBody>
          <a:bodyPr/>
          <a:lstStyle/>
          <a:p>
            <a:endParaRPr lang="en-US"/>
          </a:p>
        </p:txBody>
      </p:sp>
      <p:sp>
        <p:nvSpPr>
          <p:cNvPr id="4" name="Text 1"/>
          <p:cNvSpPr/>
          <p:nvPr/>
        </p:nvSpPr>
        <p:spPr>
          <a:xfrm>
            <a:off x="793790" y="969169"/>
            <a:ext cx="8874443"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Artificial Intelligence Readiness Scale</a:t>
            </a:r>
            <a:endParaRPr lang="en-US" sz="3900" dirty="0"/>
          </a:p>
        </p:txBody>
      </p:sp>
      <p:sp>
        <p:nvSpPr>
          <p:cNvPr id="5" name="Text 2"/>
          <p:cNvSpPr/>
          <p:nvPr/>
        </p:nvSpPr>
        <p:spPr>
          <a:xfrm>
            <a:off x="801539" y="1623437"/>
            <a:ext cx="13042821" cy="396954"/>
          </a:xfrm>
          <a:prstGeom prst="rect">
            <a:avLst/>
          </a:prstGeom>
          <a:noFill/>
          <a:ln/>
        </p:spPr>
        <p:txBody>
          <a:bodyPr wrap="none" lIns="0" tIns="0" rIns="0" bIns="0" rtlCol="0" anchor="t"/>
          <a:lstStyle/>
          <a:p>
            <a:pPr marL="0" indent="0" algn="l">
              <a:lnSpc>
                <a:spcPts val="3100"/>
              </a:lnSpc>
              <a:buNone/>
            </a:pPr>
            <a:r>
              <a:rPr lang="en-US" sz="1950" dirty="0">
                <a:solidFill>
                  <a:srgbClr val="15213F"/>
                </a:solidFill>
                <a:latin typeface="Roboto" pitchFamily="34" charset="0"/>
                <a:ea typeface="Roboto" pitchFamily="34" charset="-122"/>
                <a:cs typeface="Roboto" pitchFamily="34" charset="-120"/>
              </a:rPr>
              <a:t>Extending UTAUT2 for Enterprise AI Adoption</a:t>
            </a:r>
            <a:endParaRPr lang="en-US" sz="1950" dirty="0"/>
          </a:p>
        </p:txBody>
      </p:sp>
      <p:sp>
        <p:nvSpPr>
          <p:cNvPr id="6" name="Text 3"/>
          <p:cNvSpPr/>
          <p:nvPr/>
        </p:nvSpPr>
        <p:spPr>
          <a:xfrm>
            <a:off x="793790" y="3434187"/>
            <a:ext cx="6847284" cy="855821"/>
          </a:xfrm>
          <a:prstGeom prst="rect">
            <a:avLst/>
          </a:prstGeom>
          <a:noFill/>
          <a:ln/>
        </p:spPr>
        <p:txBody>
          <a:bodyPr wrap="none" lIns="0" tIns="0" rIns="0" bIns="0" rtlCol="0" anchor="t"/>
          <a:lstStyle/>
          <a:p>
            <a:pPr marL="0" indent="0" algn="l">
              <a:lnSpc>
                <a:spcPts val="6700"/>
              </a:lnSpc>
              <a:buNone/>
            </a:pPr>
            <a:r>
              <a:rPr lang="en-US" sz="5350" dirty="0">
                <a:solidFill>
                  <a:srgbClr val="3257B8"/>
                </a:solidFill>
                <a:latin typeface="Roboto Slab" pitchFamily="34" charset="0"/>
                <a:ea typeface="Roboto Slab" pitchFamily="34" charset="-122"/>
                <a:cs typeface="Roboto Slab" pitchFamily="34" charset="-120"/>
              </a:rPr>
              <a:t>Fabio Correa</a:t>
            </a:r>
            <a:endParaRPr lang="en-US" sz="5350" dirty="0"/>
          </a:p>
        </p:txBody>
      </p:sp>
      <p:sp>
        <p:nvSpPr>
          <p:cNvPr id="7" name="Text 4"/>
          <p:cNvSpPr/>
          <p:nvPr/>
        </p:nvSpPr>
        <p:spPr>
          <a:xfrm>
            <a:off x="793790" y="435518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Doctor of Business Administration | Touro University Worldwide | December 2025</a:t>
            </a:r>
            <a:endParaRPr lang="en-US" sz="1550" dirty="0"/>
          </a:p>
        </p:txBody>
      </p:sp>
      <p:sp>
        <p:nvSpPr>
          <p:cNvPr id="8" name="Shape 5"/>
          <p:cNvSpPr/>
          <p:nvPr/>
        </p:nvSpPr>
        <p:spPr>
          <a:xfrm>
            <a:off x="793790" y="4840139"/>
            <a:ext cx="13042821" cy="32385"/>
          </a:xfrm>
          <a:prstGeom prst="rect">
            <a:avLst/>
          </a:prstGeom>
          <a:solidFill>
            <a:srgbClr val="15213F">
              <a:alpha val="50000"/>
            </a:srgbClr>
          </a:solidFill>
          <a:ln/>
        </p:spPr>
        <p:txBody>
          <a:bodyPr/>
          <a:lstStyle/>
          <a:p>
            <a:endParaRPr lang="en-US"/>
          </a:p>
        </p:txBody>
      </p:sp>
      <p:sp>
        <p:nvSpPr>
          <p:cNvPr id="9" name="Text 6"/>
          <p:cNvSpPr/>
          <p:nvPr/>
        </p:nvSpPr>
        <p:spPr>
          <a:xfrm>
            <a:off x="784503" y="5239803"/>
            <a:ext cx="442281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Dissertation Committee</a:t>
            </a:r>
            <a:endParaRPr lang="en-US" sz="3100" dirty="0"/>
          </a:p>
        </p:txBody>
      </p:sp>
      <p:sp>
        <p:nvSpPr>
          <p:cNvPr id="10" name="Shape 7"/>
          <p:cNvSpPr/>
          <p:nvPr/>
        </p:nvSpPr>
        <p:spPr>
          <a:xfrm>
            <a:off x="793790" y="5796320"/>
            <a:ext cx="4215289" cy="1464112"/>
          </a:xfrm>
          <a:prstGeom prst="roundRect">
            <a:avLst>
              <a:gd name="adj" fmla="val 7495"/>
            </a:avLst>
          </a:prstGeom>
          <a:solidFill>
            <a:srgbClr val="FBFCFE"/>
          </a:solidFill>
          <a:ln>
            <a:solidFill>
              <a:schemeClr val="bg1">
                <a:lumMod val="75000"/>
              </a:schemeClr>
            </a:solidFill>
          </a:ln>
        </p:spPr>
        <p:txBody>
          <a:bodyPr/>
          <a:lstStyle/>
          <a:p>
            <a:endParaRPr lang="en-US"/>
          </a:p>
        </p:txBody>
      </p:sp>
      <p:sp>
        <p:nvSpPr>
          <p:cNvPr id="13" name="Text 8"/>
          <p:cNvSpPr/>
          <p:nvPr/>
        </p:nvSpPr>
        <p:spPr>
          <a:xfrm>
            <a:off x="1653897" y="6292453"/>
            <a:ext cx="2495074"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Dr. Karina Kasztelnik</a:t>
            </a:r>
            <a:endParaRPr lang="en-US" sz="1950" dirty="0"/>
          </a:p>
        </p:txBody>
      </p:sp>
      <p:sp>
        <p:nvSpPr>
          <p:cNvPr id="14" name="Text 9"/>
          <p:cNvSpPr/>
          <p:nvPr/>
        </p:nvSpPr>
        <p:spPr>
          <a:xfrm>
            <a:off x="1015008" y="6721673"/>
            <a:ext cx="3772853" cy="317540"/>
          </a:xfrm>
          <a:prstGeom prst="rect">
            <a:avLst/>
          </a:prstGeom>
          <a:noFill/>
          <a:ln/>
        </p:spPr>
        <p:txBody>
          <a:bodyPr wrap="non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Committee Chair</a:t>
            </a:r>
            <a:endParaRPr lang="en-US" sz="1550" dirty="0"/>
          </a:p>
        </p:txBody>
      </p:sp>
      <p:sp>
        <p:nvSpPr>
          <p:cNvPr id="15" name="Shape 10"/>
          <p:cNvSpPr/>
          <p:nvPr/>
        </p:nvSpPr>
        <p:spPr>
          <a:xfrm>
            <a:off x="5207437" y="5796320"/>
            <a:ext cx="4215408" cy="1464112"/>
          </a:xfrm>
          <a:prstGeom prst="roundRect">
            <a:avLst>
              <a:gd name="adj" fmla="val 7495"/>
            </a:avLst>
          </a:prstGeom>
          <a:solidFill>
            <a:srgbClr val="FBFCFE"/>
          </a:solidFill>
          <a:ln>
            <a:solidFill>
              <a:schemeClr val="bg1">
                <a:lumMod val="75000"/>
              </a:schemeClr>
            </a:solidFill>
          </a:ln>
        </p:spPr>
        <p:txBody>
          <a:bodyPr/>
          <a:lstStyle/>
          <a:p>
            <a:endParaRPr lang="en-US"/>
          </a:p>
        </p:txBody>
      </p:sp>
      <p:pic>
        <p:nvPicPr>
          <p:cNvPr id="17" name="Image 4" descr="preencoded.png"/>
          <p:cNvPicPr>
            <a:picLocks noChangeAspect="1"/>
          </p:cNvPicPr>
          <p:nvPr/>
        </p:nvPicPr>
        <p:blipFill>
          <a:blip r:embed="rId4"/>
          <a:stretch>
            <a:fillRect/>
          </a:stretch>
        </p:blipFill>
        <p:spPr>
          <a:xfrm>
            <a:off x="7017425" y="5498663"/>
            <a:ext cx="595313" cy="595313"/>
          </a:xfrm>
          <a:prstGeom prst="rect">
            <a:avLst/>
          </a:prstGeom>
        </p:spPr>
      </p:pic>
      <p:sp>
        <p:nvSpPr>
          <p:cNvPr id="18" name="Text 11"/>
          <p:cNvSpPr/>
          <p:nvPr/>
        </p:nvSpPr>
        <p:spPr>
          <a:xfrm>
            <a:off x="6074688" y="629245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Dr. Jerome Jones</a:t>
            </a:r>
            <a:endParaRPr lang="en-US" sz="1950" dirty="0"/>
          </a:p>
        </p:txBody>
      </p:sp>
      <p:sp>
        <p:nvSpPr>
          <p:cNvPr id="19" name="Text 12"/>
          <p:cNvSpPr/>
          <p:nvPr/>
        </p:nvSpPr>
        <p:spPr>
          <a:xfrm>
            <a:off x="5428655" y="6721673"/>
            <a:ext cx="3772972" cy="317540"/>
          </a:xfrm>
          <a:prstGeom prst="rect">
            <a:avLst/>
          </a:prstGeom>
          <a:noFill/>
          <a:ln/>
        </p:spPr>
        <p:txBody>
          <a:bodyPr wrap="non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Committee Member</a:t>
            </a:r>
            <a:endParaRPr lang="en-US" sz="1550" dirty="0"/>
          </a:p>
        </p:txBody>
      </p:sp>
      <p:sp>
        <p:nvSpPr>
          <p:cNvPr id="20" name="Shape 13"/>
          <p:cNvSpPr/>
          <p:nvPr/>
        </p:nvSpPr>
        <p:spPr>
          <a:xfrm>
            <a:off x="9621203" y="5796320"/>
            <a:ext cx="4215289" cy="1464112"/>
          </a:xfrm>
          <a:prstGeom prst="roundRect">
            <a:avLst>
              <a:gd name="adj" fmla="val 7495"/>
            </a:avLst>
          </a:prstGeom>
          <a:solidFill>
            <a:srgbClr val="FBFCFE"/>
          </a:solidFill>
          <a:ln>
            <a:solidFill>
              <a:schemeClr val="bg1">
                <a:lumMod val="75000"/>
              </a:schemeClr>
            </a:solidFill>
          </a:ln>
        </p:spPr>
        <p:txBody>
          <a:bodyPr/>
          <a:lstStyle/>
          <a:p>
            <a:endParaRPr lang="en-US"/>
          </a:p>
        </p:txBody>
      </p:sp>
      <p:pic>
        <p:nvPicPr>
          <p:cNvPr id="22" name="Image 6" descr="preencoded.png"/>
          <p:cNvPicPr>
            <a:picLocks noChangeAspect="1"/>
          </p:cNvPicPr>
          <p:nvPr/>
        </p:nvPicPr>
        <p:blipFill>
          <a:blip r:embed="rId4"/>
          <a:stretch>
            <a:fillRect/>
          </a:stretch>
        </p:blipFill>
        <p:spPr>
          <a:xfrm>
            <a:off x="11431191" y="5498663"/>
            <a:ext cx="595313" cy="595313"/>
          </a:xfrm>
          <a:prstGeom prst="rect">
            <a:avLst/>
          </a:prstGeom>
        </p:spPr>
      </p:pic>
      <p:sp>
        <p:nvSpPr>
          <p:cNvPr id="23" name="Text 14"/>
          <p:cNvSpPr/>
          <p:nvPr/>
        </p:nvSpPr>
        <p:spPr>
          <a:xfrm>
            <a:off x="10488335" y="629245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Dr. Donna Day</a:t>
            </a:r>
            <a:endParaRPr lang="en-US" sz="1950" dirty="0"/>
          </a:p>
        </p:txBody>
      </p:sp>
      <p:sp>
        <p:nvSpPr>
          <p:cNvPr id="24" name="Text 15"/>
          <p:cNvSpPr/>
          <p:nvPr/>
        </p:nvSpPr>
        <p:spPr>
          <a:xfrm>
            <a:off x="9842421" y="6721673"/>
            <a:ext cx="3772853" cy="317540"/>
          </a:xfrm>
          <a:prstGeom prst="rect">
            <a:avLst/>
          </a:prstGeom>
          <a:noFill/>
          <a:ln/>
        </p:spPr>
        <p:txBody>
          <a:bodyPr wrap="non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Committee Member</a:t>
            </a:r>
            <a:endParaRPr lang="en-US" sz="1550" dirty="0"/>
          </a:p>
        </p:txBody>
      </p:sp>
      <p:pic>
        <p:nvPicPr>
          <p:cNvPr id="12" name="Image 2" descr="preencoded.png"/>
          <p:cNvPicPr>
            <a:picLocks noChangeAspect="1"/>
          </p:cNvPicPr>
          <p:nvPr/>
        </p:nvPicPr>
        <p:blipFill>
          <a:blip r:embed="rId4"/>
          <a:stretch>
            <a:fillRect/>
          </a:stretch>
        </p:blipFill>
        <p:spPr>
          <a:xfrm>
            <a:off x="2603778" y="5498663"/>
            <a:ext cx="595313" cy="5953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25930"/>
            <a:ext cx="8874443"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Artificial Intelligence Readiness Scale</a:t>
            </a:r>
            <a:endParaRPr lang="en-US" sz="3900" dirty="0"/>
          </a:p>
        </p:txBody>
      </p:sp>
      <p:sp>
        <p:nvSpPr>
          <p:cNvPr id="3" name="Text 1"/>
          <p:cNvSpPr/>
          <p:nvPr/>
        </p:nvSpPr>
        <p:spPr>
          <a:xfrm>
            <a:off x="793790" y="2425303"/>
            <a:ext cx="5394841"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Extending UTAUT2 for Enterprise AI Adoption</a:t>
            </a:r>
            <a:endParaRPr lang="en-US" sz="1950" dirty="0"/>
          </a:p>
        </p:txBody>
      </p:sp>
      <p:sp>
        <p:nvSpPr>
          <p:cNvPr id="4" name="Text 2"/>
          <p:cNvSpPr/>
          <p:nvPr/>
        </p:nvSpPr>
        <p:spPr>
          <a:xfrm>
            <a:off x="793790" y="3033117"/>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Fabio Correa</a:t>
            </a:r>
            <a:endParaRPr lang="en-US" sz="1550" dirty="0"/>
          </a:p>
        </p:txBody>
      </p:sp>
      <p:sp>
        <p:nvSpPr>
          <p:cNvPr id="5" name="Text 3"/>
          <p:cNvSpPr/>
          <p:nvPr/>
        </p:nvSpPr>
        <p:spPr>
          <a:xfrm>
            <a:off x="793790" y="357389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 Dissertation Presented in Partial Fulfillment of the Requirements for the Degree Doctor of Business Administration</a:t>
            </a:r>
            <a:endParaRPr lang="en-US" sz="1550" dirty="0"/>
          </a:p>
        </p:txBody>
      </p:sp>
      <p:sp>
        <p:nvSpPr>
          <p:cNvPr id="6" name="Text 4"/>
          <p:cNvSpPr/>
          <p:nvPr/>
        </p:nvSpPr>
        <p:spPr>
          <a:xfrm>
            <a:off x="793790" y="4114681"/>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Touro University Worldwide | December 2025</a:t>
            </a:r>
            <a:endParaRPr lang="en-US" sz="1550" dirty="0"/>
          </a:p>
        </p:txBody>
      </p:sp>
      <p:sp>
        <p:nvSpPr>
          <p:cNvPr id="7" name="Shape 5"/>
          <p:cNvSpPr/>
          <p:nvPr/>
        </p:nvSpPr>
        <p:spPr>
          <a:xfrm>
            <a:off x="793790" y="4754611"/>
            <a:ext cx="13042821" cy="32385"/>
          </a:xfrm>
          <a:prstGeom prst="rect">
            <a:avLst/>
          </a:prstGeom>
          <a:solidFill>
            <a:srgbClr val="15213F">
              <a:alpha val="50000"/>
            </a:srgbClr>
          </a:solidFill>
          <a:ln/>
        </p:spPr>
        <p:txBody>
          <a:bodyPr/>
          <a:lstStyle/>
          <a:p>
            <a:endParaRPr lang="en-US"/>
          </a:p>
        </p:txBody>
      </p:sp>
      <p:sp>
        <p:nvSpPr>
          <p:cNvPr id="8" name="Text 6"/>
          <p:cNvSpPr/>
          <p:nvPr/>
        </p:nvSpPr>
        <p:spPr>
          <a:xfrm>
            <a:off x="793790" y="5010150"/>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This presentation introduces the Artificial Intelligence Readiness Scale (AIRS)—a diagnostic instrument developed to help organizations understand why individuals adopt or resist AI tools. The presentation covers the problem motivation, theoretical framework, methodology, key findings, and contributions to both theory and practice.</a:t>
            </a:r>
            <a:endParaRPr lang="en-US" sz="1550" dirty="0"/>
          </a:p>
        </p:txBody>
      </p:sp>
      <p:sp>
        <p:nvSpPr>
          <p:cNvPr id="9" name="Text 7"/>
          <p:cNvSpPr/>
          <p:nvPr/>
        </p:nvSpPr>
        <p:spPr>
          <a:xfrm>
            <a:off x="793790" y="6186011"/>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Estimated duration: 20–25 minutes plus Q&amp;A</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14738"/>
            <a:ext cx="589145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The AI Adoption Paradox</a:t>
            </a:r>
            <a:endParaRPr lang="en-US" sz="3900" dirty="0"/>
          </a:p>
        </p:txBody>
      </p:sp>
      <p:sp>
        <p:nvSpPr>
          <p:cNvPr id="3" name="Text 1"/>
          <p:cNvSpPr/>
          <p:nvPr/>
        </p:nvSpPr>
        <p:spPr>
          <a:xfrm>
            <a:off x="793790" y="273165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Organizations invest heavily in AI but lack tools to understand </a:t>
            </a:r>
            <a:r>
              <a:rPr lang="en-US" sz="1550" i="1" dirty="0">
                <a:solidFill>
                  <a:srgbClr val="15213F"/>
                </a:solidFill>
                <a:latin typeface="Roboto" pitchFamily="34" charset="0"/>
                <a:ea typeface="Roboto" pitchFamily="34" charset="-122"/>
                <a:cs typeface="Roboto" pitchFamily="34" charset="-120"/>
              </a:rPr>
              <a:t>why</a:t>
            </a:r>
            <a:r>
              <a:rPr lang="en-US" sz="1550" dirty="0">
                <a:solidFill>
                  <a:srgbClr val="15213F"/>
                </a:solidFill>
                <a:latin typeface="Roboto" pitchFamily="34" charset="0"/>
                <a:ea typeface="Roboto" pitchFamily="34" charset="-122"/>
                <a:cs typeface="Roboto" pitchFamily="34" charset="-120"/>
              </a:rPr>
              <a:t> individuals adopt or resist. McKinsey's 2025 State of AI Global Survey reveals a striking disconnect between widespread adoption and value realization.</a:t>
            </a:r>
            <a:endParaRPr lang="en-US" sz="1550" dirty="0"/>
          </a:p>
        </p:txBody>
      </p:sp>
      <p:sp>
        <p:nvSpPr>
          <p:cNvPr id="4" name="Text 2"/>
          <p:cNvSpPr/>
          <p:nvPr/>
        </p:nvSpPr>
        <p:spPr>
          <a:xfrm>
            <a:off x="793790" y="3689152"/>
            <a:ext cx="4182189"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88%</a:t>
            </a:r>
            <a:endParaRPr lang="en-US" sz="5150" dirty="0"/>
          </a:p>
        </p:txBody>
      </p:sp>
      <p:sp>
        <p:nvSpPr>
          <p:cNvPr id="5" name="Text 3"/>
          <p:cNvSpPr/>
          <p:nvPr/>
        </p:nvSpPr>
        <p:spPr>
          <a:xfrm>
            <a:off x="1526858" y="4592122"/>
            <a:ext cx="271593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Organizations Using AI</a:t>
            </a:r>
            <a:endParaRPr lang="en-US" sz="1950" dirty="0"/>
          </a:p>
        </p:txBody>
      </p:sp>
      <p:sp>
        <p:nvSpPr>
          <p:cNvPr id="6" name="Text 4"/>
          <p:cNvSpPr/>
          <p:nvPr/>
        </p:nvSpPr>
        <p:spPr>
          <a:xfrm>
            <a:off x="793790" y="5021342"/>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Report AI adoption in at least one business function (McKinsey, 2025)</a:t>
            </a:r>
            <a:endParaRPr lang="en-US" sz="1550" dirty="0"/>
          </a:p>
        </p:txBody>
      </p:sp>
      <p:sp>
        <p:nvSpPr>
          <p:cNvPr id="7" name="Text 5"/>
          <p:cNvSpPr/>
          <p:nvPr/>
        </p:nvSpPr>
        <p:spPr>
          <a:xfrm>
            <a:off x="5223986" y="3689152"/>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~6%</a:t>
            </a:r>
            <a:endParaRPr lang="en-US" sz="5150" dirty="0"/>
          </a:p>
        </p:txBody>
      </p:sp>
      <p:sp>
        <p:nvSpPr>
          <p:cNvPr id="8" name="Text 6"/>
          <p:cNvSpPr/>
          <p:nvPr/>
        </p:nvSpPr>
        <p:spPr>
          <a:xfrm>
            <a:off x="6074688" y="459212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AI High Performers</a:t>
            </a:r>
            <a:endParaRPr lang="en-US" sz="1950" dirty="0"/>
          </a:p>
        </p:txBody>
      </p:sp>
      <p:sp>
        <p:nvSpPr>
          <p:cNvPr id="9" name="Text 7"/>
          <p:cNvSpPr/>
          <p:nvPr/>
        </p:nvSpPr>
        <p:spPr>
          <a:xfrm>
            <a:off x="5223986" y="502134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Qualify as high performers with meaningful EBIT impact (McKinsey, 2025)</a:t>
            </a:r>
            <a:endParaRPr lang="en-US" sz="1550" dirty="0"/>
          </a:p>
        </p:txBody>
      </p:sp>
      <p:sp>
        <p:nvSpPr>
          <p:cNvPr id="10" name="Text 8"/>
          <p:cNvSpPr/>
          <p:nvPr/>
        </p:nvSpPr>
        <p:spPr>
          <a:xfrm>
            <a:off x="9654302" y="3689152"/>
            <a:ext cx="4182308"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90-95%</a:t>
            </a:r>
            <a:endParaRPr lang="en-US" sz="5150" dirty="0"/>
          </a:p>
        </p:txBody>
      </p:sp>
      <p:sp>
        <p:nvSpPr>
          <p:cNvPr id="11" name="Text 9"/>
          <p:cNvSpPr/>
          <p:nvPr/>
        </p:nvSpPr>
        <p:spPr>
          <a:xfrm>
            <a:off x="10505003" y="459212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Pilot Failure Rate</a:t>
            </a:r>
            <a:endParaRPr lang="en-US" sz="1950" dirty="0"/>
          </a:p>
        </p:txBody>
      </p:sp>
      <p:sp>
        <p:nvSpPr>
          <p:cNvPr id="12" name="Text 10"/>
          <p:cNvSpPr/>
          <p:nvPr/>
        </p:nvSpPr>
        <p:spPr>
          <a:xfrm>
            <a:off x="9654302" y="502134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Generative AI pilots fail to scale (MIT Media Lab NANDA Initiative, 2025)</a:t>
            </a:r>
            <a:endParaRPr lang="en-US" sz="1550" dirty="0"/>
          </a:p>
        </p:txBody>
      </p:sp>
      <p:sp>
        <p:nvSpPr>
          <p:cNvPr id="13" name="Text 11"/>
          <p:cNvSpPr/>
          <p:nvPr/>
        </p:nvSpPr>
        <p:spPr>
          <a:xfrm>
            <a:off x="793790" y="5879663"/>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The Gap:</a:t>
            </a:r>
            <a:r>
              <a:rPr lang="en-US" sz="1550" dirty="0">
                <a:solidFill>
                  <a:srgbClr val="15213F"/>
                </a:solidFill>
                <a:latin typeface="Roboto" pitchFamily="34" charset="0"/>
                <a:ea typeface="Roboto" pitchFamily="34" charset="-122"/>
                <a:cs typeface="Roboto" pitchFamily="34" charset="-120"/>
              </a:rPr>
              <a:t> Organizations excel at deploying AI technology but lack understanding of the human factors—why individuals adopt or resist AI tools. This research addresses that gap.</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60790"/>
            <a:ext cx="6327696"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Three Interconnected Gaps</a:t>
            </a:r>
            <a:endParaRPr lang="en-US" sz="3900" dirty="0"/>
          </a:p>
        </p:txBody>
      </p:sp>
      <p:sp>
        <p:nvSpPr>
          <p:cNvPr id="3" name="Text 1"/>
          <p:cNvSpPr/>
          <p:nvPr/>
        </p:nvSpPr>
        <p:spPr>
          <a:xfrm>
            <a:off x="793790" y="2260163"/>
            <a:ext cx="3247430"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Why This Research Matters</a:t>
            </a:r>
            <a:endParaRPr lang="en-US" sz="1950" dirty="0"/>
          </a:p>
        </p:txBody>
      </p:sp>
      <p:sp>
        <p:nvSpPr>
          <p:cNvPr id="4" name="Text 2"/>
          <p:cNvSpPr/>
          <p:nvPr/>
        </p:nvSpPr>
        <p:spPr>
          <a:xfrm>
            <a:off x="793790" y="2867978"/>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01</a:t>
            </a:r>
            <a:endParaRPr lang="en-US" sz="1550" dirty="0"/>
          </a:p>
        </p:txBody>
      </p:sp>
      <p:pic>
        <p:nvPicPr>
          <p:cNvPr id="5" name="Image 0" descr="preencoded.png"/>
          <p:cNvPicPr>
            <a:picLocks noChangeAspect="1"/>
          </p:cNvPicPr>
          <p:nvPr/>
        </p:nvPicPr>
        <p:blipFill>
          <a:blip r:embed="rId3"/>
          <a:stretch>
            <a:fillRect/>
          </a:stretch>
        </p:blipFill>
        <p:spPr>
          <a:xfrm>
            <a:off x="793790" y="3182303"/>
            <a:ext cx="4215289" cy="22860"/>
          </a:xfrm>
          <a:prstGeom prst="rect">
            <a:avLst/>
          </a:prstGeom>
        </p:spPr>
      </p:pic>
      <p:sp>
        <p:nvSpPr>
          <p:cNvPr id="6" name="Text 3"/>
          <p:cNvSpPr/>
          <p:nvPr/>
        </p:nvSpPr>
        <p:spPr>
          <a:xfrm>
            <a:off x="793790" y="332720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Theoretical Gap</a:t>
            </a:r>
            <a:endParaRPr lang="en-US" sz="1950" dirty="0"/>
          </a:p>
        </p:txBody>
      </p:sp>
      <p:sp>
        <p:nvSpPr>
          <p:cNvPr id="7" name="Text 4"/>
          <p:cNvSpPr/>
          <p:nvPr/>
        </p:nvSpPr>
        <p:spPr>
          <a:xfrm>
            <a:off x="793790" y="3756422"/>
            <a:ext cx="4215289" cy="2222778"/>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UTAUT2 validated on mobile apps, internet banking, consumer tech—not AI (Venkatesh et al., 2012). Venkatesh (2021) identified nine unique AI research challenges unaddressed in existing frameworks, including trust in opaque systems, ethical concerns, and algorithmic decision-making.</a:t>
            </a:r>
            <a:endParaRPr lang="en-US" sz="1550" dirty="0"/>
          </a:p>
        </p:txBody>
      </p:sp>
      <p:sp>
        <p:nvSpPr>
          <p:cNvPr id="8" name="Text 5"/>
          <p:cNvSpPr/>
          <p:nvPr/>
        </p:nvSpPr>
        <p:spPr>
          <a:xfrm>
            <a:off x="5207437" y="2867978"/>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02</a:t>
            </a:r>
            <a:endParaRPr lang="en-US" sz="1550" dirty="0"/>
          </a:p>
        </p:txBody>
      </p:sp>
      <p:pic>
        <p:nvPicPr>
          <p:cNvPr id="9" name="Image 1" descr="preencoded.png"/>
          <p:cNvPicPr>
            <a:picLocks noChangeAspect="1"/>
          </p:cNvPicPr>
          <p:nvPr/>
        </p:nvPicPr>
        <p:blipFill>
          <a:blip r:embed="rId3"/>
          <a:stretch>
            <a:fillRect/>
          </a:stretch>
        </p:blipFill>
        <p:spPr>
          <a:xfrm>
            <a:off x="5207437" y="3202067"/>
            <a:ext cx="4215408" cy="22860"/>
          </a:xfrm>
          <a:prstGeom prst="rect">
            <a:avLst/>
          </a:prstGeom>
        </p:spPr>
      </p:pic>
      <p:sp>
        <p:nvSpPr>
          <p:cNvPr id="10" name="Text 6"/>
          <p:cNvSpPr/>
          <p:nvPr/>
        </p:nvSpPr>
        <p:spPr>
          <a:xfrm>
            <a:off x="5207437" y="332720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Measurement Gap</a:t>
            </a:r>
            <a:endParaRPr lang="en-US" sz="1950" dirty="0"/>
          </a:p>
        </p:txBody>
      </p:sp>
      <p:sp>
        <p:nvSpPr>
          <p:cNvPr id="11" name="Text 7"/>
          <p:cNvSpPr/>
          <p:nvPr/>
        </p:nvSpPr>
        <p:spPr>
          <a:xfrm>
            <a:off x="5207437" y="3756422"/>
            <a:ext cx="4215408"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No psychometrically validated AI adoption instrument exists. Organizations rely on ad hoc surveys or general technology readiness scales not designed for AI-specific characteristics.</a:t>
            </a:r>
            <a:endParaRPr lang="en-US" sz="1550" dirty="0"/>
          </a:p>
        </p:txBody>
      </p:sp>
      <p:sp>
        <p:nvSpPr>
          <p:cNvPr id="12" name="Text 8"/>
          <p:cNvSpPr/>
          <p:nvPr/>
        </p:nvSpPr>
        <p:spPr>
          <a:xfrm>
            <a:off x="9621203" y="2867978"/>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03</a:t>
            </a:r>
            <a:endParaRPr lang="en-US" sz="1550" dirty="0"/>
          </a:p>
        </p:txBody>
      </p:sp>
      <p:pic>
        <p:nvPicPr>
          <p:cNvPr id="13" name="Image 2" descr="preencoded.png"/>
          <p:cNvPicPr>
            <a:picLocks noChangeAspect="1"/>
          </p:cNvPicPr>
          <p:nvPr/>
        </p:nvPicPr>
        <p:blipFill>
          <a:blip r:embed="rId3"/>
          <a:stretch>
            <a:fillRect/>
          </a:stretch>
        </p:blipFill>
        <p:spPr>
          <a:xfrm>
            <a:off x="9621203" y="3202067"/>
            <a:ext cx="4215289" cy="22860"/>
          </a:xfrm>
          <a:prstGeom prst="rect">
            <a:avLst/>
          </a:prstGeom>
        </p:spPr>
      </p:pic>
      <p:sp>
        <p:nvSpPr>
          <p:cNvPr id="14" name="Text 9"/>
          <p:cNvSpPr/>
          <p:nvPr/>
        </p:nvSpPr>
        <p:spPr>
          <a:xfrm>
            <a:off x="9621203" y="332720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Practice Gap</a:t>
            </a:r>
            <a:endParaRPr lang="en-US" sz="1950" dirty="0"/>
          </a:p>
        </p:txBody>
      </p:sp>
      <p:sp>
        <p:nvSpPr>
          <p:cNvPr id="15" name="Text 10"/>
          <p:cNvSpPr/>
          <p:nvPr/>
        </p:nvSpPr>
        <p:spPr>
          <a:xfrm>
            <a:off x="9621203" y="3756422"/>
            <a:ext cx="4215289" cy="1587698"/>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Without valid measurement, organizations cannot diagnose why AI initiatives fail or identify which employees will adopt versus resist. This contributes directly to the 90–95% pilot failure rate.</a:t>
            </a:r>
            <a:endParaRPr lang="en-US" sz="1550" dirty="0"/>
          </a:p>
        </p:txBody>
      </p:sp>
      <p:sp>
        <p:nvSpPr>
          <p:cNvPr id="16" name="Text 11"/>
          <p:cNvSpPr/>
          <p:nvPr/>
        </p:nvSpPr>
        <p:spPr>
          <a:xfrm>
            <a:off x="793790" y="635127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This research addresses all three gaps simultaneously.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7355"/>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Research Questions</a:t>
            </a:r>
            <a:endParaRPr lang="en-US" sz="3900" dirty="0"/>
          </a:p>
        </p:txBody>
      </p:sp>
      <p:sp>
        <p:nvSpPr>
          <p:cNvPr id="3" name="Text 1"/>
          <p:cNvSpPr/>
          <p:nvPr/>
        </p:nvSpPr>
        <p:spPr>
          <a:xfrm>
            <a:off x="793790" y="1446728"/>
            <a:ext cx="32023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Primary Research Question</a:t>
            </a:r>
            <a:endParaRPr lang="en-US" sz="1950" dirty="0"/>
          </a:p>
        </p:txBody>
      </p:sp>
      <p:sp>
        <p:nvSpPr>
          <p:cNvPr id="4" name="Text 2"/>
          <p:cNvSpPr/>
          <p:nvPr/>
        </p:nvSpPr>
        <p:spPr>
          <a:xfrm>
            <a:off x="1091446" y="2277785"/>
            <a:ext cx="12745164" cy="635079"/>
          </a:xfrm>
          <a:prstGeom prst="rect">
            <a:avLst/>
          </a:prstGeom>
          <a:noFill/>
          <a:ln/>
        </p:spPr>
        <p:txBody>
          <a:bodyPr wrap="square" lIns="0" tIns="0" rIns="0" bIns="0" rtlCol="0" anchor="t"/>
          <a:lstStyle/>
          <a:p>
            <a:pPr marL="0" indent="0" algn="l">
              <a:lnSpc>
                <a:spcPts val="2500"/>
              </a:lnSpc>
              <a:buNone/>
            </a:pPr>
            <a:r>
              <a:rPr lang="en-US" sz="1550" i="1" dirty="0">
                <a:solidFill>
                  <a:srgbClr val="15213F"/>
                </a:solidFill>
                <a:latin typeface="Roboto" pitchFamily="34" charset="0"/>
                <a:ea typeface="Roboto" pitchFamily="34" charset="-122"/>
                <a:cs typeface="Roboto" pitchFamily="34" charset="-120"/>
              </a:rPr>
              <a:t>How can UTAUT2 be extended with AI-specific constructs to better predict behavioral intention to adopt AI tools in professional and academic contexts?</a:t>
            </a:r>
            <a:endParaRPr lang="en-US" sz="1550" dirty="0"/>
          </a:p>
        </p:txBody>
      </p:sp>
      <p:sp>
        <p:nvSpPr>
          <p:cNvPr id="5" name="Shape 3"/>
          <p:cNvSpPr/>
          <p:nvPr/>
        </p:nvSpPr>
        <p:spPr>
          <a:xfrm>
            <a:off x="793790" y="2054543"/>
            <a:ext cx="22860" cy="1081564"/>
          </a:xfrm>
          <a:prstGeom prst="rect">
            <a:avLst/>
          </a:prstGeom>
          <a:solidFill>
            <a:srgbClr val="3257B8"/>
          </a:solidFill>
          <a:ln/>
        </p:spPr>
        <p:txBody>
          <a:bodyPr/>
          <a:lstStyle/>
          <a:p>
            <a:endParaRPr lang="en-US"/>
          </a:p>
        </p:txBody>
      </p:sp>
      <p:sp>
        <p:nvSpPr>
          <p:cNvPr id="6" name="Text 4"/>
          <p:cNvSpPr/>
          <p:nvPr/>
        </p:nvSpPr>
        <p:spPr>
          <a:xfrm>
            <a:off x="793790" y="3433763"/>
            <a:ext cx="360366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Secondary Research Questions</a:t>
            </a:r>
            <a:endParaRPr lang="en-US" sz="1950" dirty="0"/>
          </a:p>
        </p:txBody>
      </p:sp>
      <p:sp>
        <p:nvSpPr>
          <p:cNvPr id="7" name="Shape 5"/>
          <p:cNvSpPr/>
          <p:nvPr/>
        </p:nvSpPr>
        <p:spPr>
          <a:xfrm>
            <a:off x="793790" y="4041577"/>
            <a:ext cx="13042821" cy="3440668"/>
          </a:xfrm>
          <a:prstGeom prst="roundRect">
            <a:avLst>
              <a:gd name="adj" fmla="val 865"/>
            </a:avLst>
          </a:prstGeom>
          <a:noFill/>
          <a:ln w="7620">
            <a:solidFill>
              <a:srgbClr val="000000">
                <a:alpha val="8000"/>
              </a:srgbClr>
            </a:solidFill>
            <a:prstDash val="solid"/>
          </a:ln>
        </p:spPr>
        <p:txBody>
          <a:bodyPr/>
          <a:lstStyle/>
          <a:p>
            <a:endParaRPr lang="en-US"/>
          </a:p>
        </p:txBody>
      </p:sp>
      <p:sp>
        <p:nvSpPr>
          <p:cNvPr id="8" name="Shape 6"/>
          <p:cNvSpPr/>
          <p:nvPr/>
        </p:nvSpPr>
        <p:spPr>
          <a:xfrm>
            <a:off x="801410" y="4049197"/>
            <a:ext cx="13027581" cy="570905"/>
          </a:xfrm>
          <a:prstGeom prst="rect">
            <a:avLst/>
          </a:prstGeom>
          <a:solidFill>
            <a:srgbClr val="FFFFFF">
              <a:alpha val="4000"/>
            </a:srgbClr>
          </a:solidFill>
          <a:ln/>
        </p:spPr>
        <p:txBody>
          <a:bodyPr/>
          <a:lstStyle/>
          <a:p>
            <a:endParaRPr lang="en-US"/>
          </a:p>
        </p:txBody>
      </p:sp>
      <p:sp>
        <p:nvSpPr>
          <p:cNvPr id="9" name="Text 7"/>
          <p:cNvSpPr/>
          <p:nvPr/>
        </p:nvSpPr>
        <p:spPr>
          <a:xfrm>
            <a:off x="999887" y="4175879"/>
            <a:ext cx="155352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RQ</a:t>
            </a:r>
            <a:endParaRPr lang="en-US" sz="1550" dirty="0"/>
          </a:p>
        </p:txBody>
      </p:sp>
      <p:sp>
        <p:nvSpPr>
          <p:cNvPr id="10" name="Text 8"/>
          <p:cNvSpPr/>
          <p:nvPr/>
        </p:nvSpPr>
        <p:spPr>
          <a:xfrm>
            <a:off x="2957751" y="4175879"/>
            <a:ext cx="4806672"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Focus</a:t>
            </a:r>
            <a:endParaRPr lang="en-US" sz="1550" dirty="0"/>
          </a:p>
        </p:txBody>
      </p:sp>
      <p:sp>
        <p:nvSpPr>
          <p:cNvPr id="11" name="Text 9"/>
          <p:cNvSpPr/>
          <p:nvPr/>
        </p:nvSpPr>
        <p:spPr>
          <a:xfrm>
            <a:off x="8168759" y="4175879"/>
            <a:ext cx="54618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Answer</a:t>
            </a:r>
            <a:endParaRPr lang="en-US" sz="1550" dirty="0"/>
          </a:p>
        </p:txBody>
      </p:sp>
      <p:sp>
        <p:nvSpPr>
          <p:cNvPr id="12" name="Shape 10"/>
          <p:cNvSpPr/>
          <p:nvPr/>
        </p:nvSpPr>
        <p:spPr>
          <a:xfrm>
            <a:off x="801410" y="4620101"/>
            <a:ext cx="13027581" cy="570905"/>
          </a:xfrm>
          <a:prstGeom prst="rect">
            <a:avLst/>
          </a:prstGeom>
          <a:solidFill>
            <a:srgbClr val="000000">
              <a:alpha val="4000"/>
            </a:srgbClr>
          </a:solidFill>
          <a:ln/>
        </p:spPr>
        <p:txBody>
          <a:bodyPr/>
          <a:lstStyle/>
          <a:p>
            <a:endParaRPr lang="en-US"/>
          </a:p>
        </p:txBody>
      </p:sp>
      <p:sp>
        <p:nvSpPr>
          <p:cNvPr id="13" name="Text 11"/>
          <p:cNvSpPr/>
          <p:nvPr/>
        </p:nvSpPr>
        <p:spPr>
          <a:xfrm>
            <a:off x="999887" y="4746784"/>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RQ1</a:t>
            </a:r>
            <a:endParaRPr lang="en-US" sz="1550" dirty="0"/>
          </a:p>
        </p:txBody>
      </p:sp>
      <p:sp>
        <p:nvSpPr>
          <p:cNvPr id="14" name="Text 12"/>
          <p:cNvSpPr/>
          <p:nvPr/>
        </p:nvSpPr>
        <p:spPr>
          <a:xfrm>
            <a:off x="2957751" y="4746784"/>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Factor structure</a:t>
            </a:r>
            <a:endParaRPr lang="en-US" sz="1550" dirty="0"/>
          </a:p>
        </p:txBody>
      </p:sp>
      <p:sp>
        <p:nvSpPr>
          <p:cNvPr id="15" name="Text 13"/>
          <p:cNvSpPr/>
          <p:nvPr/>
        </p:nvSpPr>
        <p:spPr>
          <a:xfrm>
            <a:off x="8168759" y="4746784"/>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8 factors, 16 items</a:t>
            </a:r>
            <a:endParaRPr lang="en-US" sz="1550" dirty="0"/>
          </a:p>
        </p:txBody>
      </p:sp>
      <p:sp>
        <p:nvSpPr>
          <p:cNvPr id="16" name="Shape 14"/>
          <p:cNvSpPr/>
          <p:nvPr/>
        </p:nvSpPr>
        <p:spPr>
          <a:xfrm>
            <a:off x="801410" y="5191006"/>
            <a:ext cx="13027581" cy="570905"/>
          </a:xfrm>
          <a:prstGeom prst="rect">
            <a:avLst/>
          </a:prstGeom>
          <a:solidFill>
            <a:srgbClr val="FFFFFF">
              <a:alpha val="4000"/>
            </a:srgbClr>
          </a:solidFill>
          <a:ln/>
        </p:spPr>
        <p:txBody>
          <a:bodyPr/>
          <a:lstStyle/>
          <a:p>
            <a:endParaRPr lang="en-US"/>
          </a:p>
        </p:txBody>
      </p:sp>
      <p:sp>
        <p:nvSpPr>
          <p:cNvPr id="17" name="Text 15"/>
          <p:cNvSpPr/>
          <p:nvPr/>
        </p:nvSpPr>
        <p:spPr>
          <a:xfrm>
            <a:off x="999887" y="5317688"/>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RQ2</a:t>
            </a:r>
            <a:endParaRPr lang="en-US" sz="1550" dirty="0"/>
          </a:p>
        </p:txBody>
      </p:sp>
      <p:sp>
        <p:nvSpPr>
          <p:cNvPr id="18" name="Text 16"/>
          <p:cNvSpPr/>
          <p:nvPr/>
        </p:nvSpPr>
        <p:spPr>
          <a:xfrm>
            <a:off x="2957751" y="5317688"/>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Measurement invariance</a:t>
            </a:r>
            <a:endParaRPr lang="en-US" sz="1550" dirty="0"/>
          </a:p>
        </p:txBody>
      </p:sp>
      <p:sp>
        <p:nvSpPr>
          <p:cNvPr id="19" name="Text 17"/>
          <p:cNvSpPr/>
          <p:nvPr/>
        </p:nvSpPr>
        <p:spPr>
          <a:xfrm>
            <a:off x="8168759" y="5317688"/>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Configural invariance achieved</a:t>
            </a:r>
            <a:endParaRPr lang="en-US" sz="1550" dirty="0"/>
          </a:p>
        </p:txBody>
      </p:sp>
      <p:sp>
        <p:nvSpPr>
          <p:cNvPr id="20" name="Shape 18"/>
          <p:cNvSpPr/>
          <p:nvPr/>
        </p:nvSpPr>
        <p:spPr>
          <a:xfrm>
            <a:off x="801410" y="5761911"/>
            <a:ext cx="13027581" cy="570905"/>
          </a:xfrm>
          <a:prstGeom prst="rect">
            <a:avLst/>
          </a:prstGeom>
          <a:solidFill>
            <a:srgbClr val="000000">
              <a:alpha val="4000"/>
            </a:srgbClr>
          </a:solidFill>
          <a:ln/>
        </p:spPr>
        <p:txBody>
          <a:bodyPr/>
          <a:lstStyle/>
          <a:p>
            <a:endParaRPr lang="en-US"/>
          </a:p>
        </p:txBody>
      </p:sp>
      <p:sp>
        <p:nvSpPr>
          <p:cNvPr id="21" name="Text 19"/>
          <p:cNvSpPr/>
          <p:nvPr/>
        </p:nvSpPr>
        <p:spPr>
          <a:xfrm>
            <a:off x="999887" y="5888593"/>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RQ3</a:t>
            </a:r>
            <a:endParaRPr lang="en-US" sz="1550" dirty="0"/>
          </a:p>
        </p:txBody>
      </p:sp>
      <p:sp>
        <p:nvSpPr>
          <p:cNvPr id="22" name="Text 20"/>
          <p:cNvSpPr/>
          <p:nvPr/>
        </p:nvSpPr>
        <p:spPr>
          <a:xfrm>
            <a:off x="2957751" y="5888593"/>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Strongest predictors</a:t>
            </a:r>
            <a:endParaRPr lang="en-US" sz="1550" dirty="0"/>
          </a:p>
        </p:txBody>
      </p:sp>
      <p:sp>
        <p:nvSpPr>
          <p:cNvPr id="23" name="Text 21"/>
          <p:cNvSpPr/>
          <p:nvPr/>
        </p:nvSpPr>
        <p:spPr>
          <a:xfrm>
            <a:off x="8168759" y="5888593"/>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PV &gt; HM &gt; SI</a:t>
            </a:r>
            <a:endParaRPr lang="en-US" sz="1550" dirty="0"/>
          </a:p>
        </p:txBody>
      </p:sp>
      <p:sp>
        <p:nvSpPr>
          <p:cNvPr id="24" name="Shape 22"/>
          <p:cNvSpPr/>
          <p:nvPr/>
        </p:nvSpPr>
        <p:spPr>
          <a:xfrm>
            <a:off x="801410" y="6332815"/>
            <a:ext cx="13027581" cy="570905"/>
          </a:xfrm>
          <a:prstGeom prst="rect">
            <a:avLst/>
          </a:prstGeom>
          <a:solidFill>
            <a:srgbClr val="FFFFFF">
              <a:alpha val="4000"/>
            </a:srgbClr>
          </a:solidFill>
          <a:ln/>
        </p:spPr>
        <p:txBody>
          <a:bodyPr/>
          <a:lstStyle/>
          <a:p>
            <a:endParaRPr lang="en-US"/>
          </a:p>
        </p:txBody>
      </p:sp>
      <p:sp>
        <p:nvSpPr>
          <p:cNvPr id="25" name="Text 23"/>
          <p:cNvSpPr/>
          <p:nvPr/>
        </p:nvSpPr>
        <p:spPr>
          <a:xfrm>
            <a:off x="999887" y="6459498"/>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RQ4</a:t>
            </a:r>
            <a:endParaRPr lang="en-US" sz="1550" dirty="0"/>
          </a:p>
        </p:txBody>
      </p:sp>
      <p:sp>
        <p:nvSpPr>
          <p:cNvPr id="26" name="Text 24"/>
          <p:cNvSpPr/>
          <p:nvPr/>
        </p:nvSpPr>
        <p:spPr>
          <a:xfrm>
            <a:off x="2957751" y="6459498"/>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AI Trust extension</a:t>
            </a:r>
            <a:endParaRPr lang="en-US" sz="1550" dirty="0"/>
          </a:p>
        </p:txBody>
      </p:sp>
      <p:sp>
        <p:nvSpPr>
          <p:cNvPr id="27" name="Text 25"/>
          <p:cNvSpPr/>
          <p:nvPr/>
        </p:nvSpPr>
        <p:spPr>
          <a:xfrm>
            <a:off x="8168759" y="6459498"/>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Marginal effect (p = .064)</a:t>
            </a:r>
            <a:endParaRPr lang="en-US" sz="1550" dirty="0"/>
          </a:p>
        </p:txBody>
      </p:sp>
      <p:sp>
        <p:nvSpPr>
          <p:cNvPr id="28" name="Shape 26"/>
          <p:cNvSpPr/>
          <p:nvPr/>
        </p:nvSpPr>
        <p:spPr>
          <a:xfrm>
            <a:off x="801410" y="6903720"/>
            <a:ext cx="13027581" cy="570905"/>
          </a:xfrm>
          <a:prstGeom prst="rect">
            <a:avLst/>
          </a:prstGeom>
          <a:solidFill>
            <a:srgbClr val="000000">
              <a:alpha val="4000"/>
            </a:srgbClr>
          </a:solidFill>
          <a:ln/>
        </p:spPr>
        <p:txBody>
          <a:bodyPr/>
          <a:lstStyle/>
          <a:p>
            <a:endParaRPr lang="en-US"/>
          </a:p>
        </p:txBody>
      </p:sp>
      <p:sp>
        <p:nvSpPr>
          <p:cNvPr id="29" name="Text 27"/>
          <p:cNvSpPr/>
          <p:nvPr/>
        </p:nvSpPr>
        <p:spPr>
          <a:xfrm>
            <a:off x="999887" y="7030403"/>
            <a:ext cx="155352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RQ5</a:t>
            </a:r>
            <a:endParaRPr lang="en-US" sz="1550" dirty="0"/>
          </a:p>
        </p:txBody>
      </p:sp>
      <p:sp>
        <p:nvSpPr>
          <p:cNvPr id="30" name="Text 28"/>
          <p:cNvSpPr/>
          <p:nvPr/>
        </p:nvSpPr>
        <p:spPr>
          <a:xfrm>
            <a:off x="2957751" y="7030403"/>
            <a:ext cx="480667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Moderators</a:t>
            </a:r>
            <a:endParaRPr lang="en-US" sz="1550" dirty="0"/>
          </a:p>
        </p:txBody>
      </p:sp>
      <p:sp>
        <p:nvSpPr>
          <p:cNvPr id="31" name="Text 29"/>
          <p:cNvSpPr/>
          <p:nvPr/>
        </p:nvSpPr>
        <p:spPr>
          <a:xfrm>
            <a:off x="8168759" y="7030403"/>
            <a:ext cx="54618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Experience &amp; population moderate HM</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62883"/>
            <a:ext cx="5537954"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Theoretical Framework</a:t>
            </a:r>
            <a:endParaRPr lang="en-US" sz="3900" dirty="0"/>
          </a:p>
        </p:txBody>
      </p:sp>
      <p:sp>
        <p:nvSpPr>
          <p:cNvPr id="3" name="Text 1"/>
          <p:cNvSpPr/>
          <p:nvPr/>
        </p:nvSpPr>
        <p:spPr>
          <a:xfrm>
            <a:off x="793790" y="1862257"/>
            <a:ext cx="3459004"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UTAUT2 + AI Trust Extension</a:t>
            </a:r>
            <a:endParaRPr lang="en-US" sz="1950" dirty="0"/>
          </a:p>
        </p:txBody>
      </p:sp>
      <p:sp>
        <p:nvSpPr>
          <p:cNvPr id="4" name="Text 2"/>
          <p:cNvSpPr/>
          <p:nvPr/>
        </p:nvSpPr>
        <p:spPr>
          <a:xfrm>
            <a:off x="793790" y="26684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Why UTAUT2?</a:t>
            </a:r>
            <a:endParaRPr lang="en-US" sz="1950" dirty="0"/>
          </a:p>
        </p:txBody>
      </p:sp>
      <p:sp>
        <p:nvSpPr>
          <p:cNvPr id="5" name="Text 3"/>
          <p:cNvSpPr/>
          <p:nvPr/>
        </p:nvSpPr>
        <p:spPr>
          <a:xfrm>
            <a:off x="793790" y="3176945"/>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Explanatory power:</a:t>
            </a:r>
            <a:r>
              <a:rPr lang="en-US" sz="1550" dirty="0">
                <a:solidFill>
                  <a:srgbClr val="15213F"/>
                </a:solidFill>
                <a:latin typeface="Roboto" pitchFamily="34" charset="0"/>
                <a:ea typeface="Roboto" pitchFamily="34" charset="-122"/>
                <a:cs typeface="Roboto" pitchFamily="34" charset="-120"/>
              </a:rPr>
              <a:t> UTAUT2 explains up to 74% of variance in behavioral intention versus ~40% for TAM—nearly double the predictive accuracy.</a:t>
            </a:r>
            <a:endParaRPr lang="en-US" sz="1550" dirty="0"/>
          </a:p>
        </p:txBody>
      </p:sp>
      <p:sp>
        <p:nvSpPr>
          <p:cNvPr id="6" name="Text 4"/>
          <p:cNvSpPr/>
          <p:nvPr/>
        </p:nvSpPr>
        <p:spPr>
          <a:xfrm>
            <a:off x="793790" y="4308158"/>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Theoretical integration:</a:t>
            </a:r>
            <a:r>
              <a:rPr lang="en-US" sz="1550" dirty="0">
                <a:solidFill>
                  <a:srgbClr val="15213F"/>
                </a:solidFill>
                <a:latin typeface="Roboto" pitchFamily="34" charset="0"/>
                <a:ea typeface="Roboto" pitchFamily="34" charset="-122"/>
                <a:cs typeface="Roboto" pitchFamily="34" charset="-120"/>
              </a:rPr>
              <a:t> Synthesizes eight prior models (TRA, TPB, TAM, Motivational Model, etc.), representing 30 years of accumulated research.</a:t>
            </a:r>
            <a:endParaRPr lang="en-US" sz="1550" dirty="0"/>
          </a:p>
        </p:txBody>
      </p:sp>
      <p:sp>
        <p:nvSpPr>
          <p:cNvPr id="7" name="Text 5"/>
          <p:cNvSpPr/>
          <p:nvPr/>
        </p:nvSpPr>
        <p:spPr>
          <a:xfrm>
            <a:off x="793790" y="5439370"/>
            <a:ext cx="6279356"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Consumer-relevant constructs:</a:t>
            </a:r>
            <a:r>
              <a:rPr lang="en-US" sz="1550" dirty="0">
                <a:solidFill>
                  <a:srgbClr val="15213F"/>
                </a:solidFill>
                <a:latin typeface="Roboto" pitchFamily="34" charset="0"/>
                <a:ea typeface="Roboto" pitchFamily="34" charset="-122"/>
                <a:cs typeface="Roboto" pitchFamily="34" charset="-120"/>
              </a:rPr>
              <a:t> Includes Hedonic Motivation, Price Value, and Habit—critical for AI adoption contexts.</a:t>
            </a:r>
            <a:endParaRPr lang="en-US" sz="1550" dirty="0"/>
          </a:p>
        </p:txBody>
      </p:sp>
      <p:sp>
        <p:nvSpPr>
          <p:cNvPr id="8" name="Text 6"/>
          <p:cNvSpPr/>
          <p:nvPr/>
        </p:nvSpPr>
        <p:spPr>
          <a:xfrm>
            <a:off x="793790" y="6253043"/>
            <a:ext cx="6279356"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Current gold standard:</a:t>
            </a:r>
            <a:r>
              <a:rPr lang="en-US" sz="1550" dirty="0">
                <a:solidFill>
                  <a:srgbClr val="15213F"/>
                </a:solidFill>
                <a:latin typeface="Roboto" pitchFamily="34" charset="0"/>
                <a:ea typeface="Roboto" pitchFamily="34" charset="-122"/>
                <a:cs typeface="Roboto" pitchFamily="34" charset="-120"/>
              </a:rPr>
              <a:t> Building on the strongest established foundation ensures meaningful contribution to the field.</a:t>
            </a:r>
            <a:endParaRPr lang="en-US" sz="1550" dirty="0"/>
          </a:p>
        </p:txBody>
      </p:sp>
      <p:sp>
        <p:nvSpPr>
          <p:cNvPr id="9" name="Text 7"/>
          <p:cNvSpPr/>
          <p:nvPr/>
        </p:nvSpPr>
        <p:spPr>
          <a:xfrm>
            <a:off x="7564874" y="2668429"/>
            <a:ext cx="3281958"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AI-Specific Extension: Trust</a:t>
            </a:r>
            <a:endParaRPr lang="en-US" sz="1950" dirty="0"/>
          </a:p>
        </p:txBody>
      </p:sp>
      <p:sp>
        <p:nvSpPr>
          <p:cNvPr id="10" name="Text 8"/>
          <p:cNvSpPr/>
          <p:nvPr/>
        </p:nvSpPr>
        <p:spPr>
          <a:xfrm>
            <a:off x="7564874" y="3176945"/>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AI is characterized by opacity, probabilistic reasoning, and autonomous decision-making. Glikson and Woolley (2020) established in </a:t>
            </a:r>
            <a:r>
              <a:rPr lang="en-US" sz="1550" i="1" dirty="0">
                <a:solidFill>
                  <a:srgbClr val="15213F"/>
                </a:solidFill>
                <a:latin typeface="Roboto" pitchFamily="34" charset="0"/>
                <a:ea typeface="Roboto" pitchFamily="34" charset="-122"/>
                <a:cs typeface="Roboto" pitchFamily="34" charset="-120"/>
              </a:rPr>
              <a:t>Academy of Management Annals</a:t>
            </a:r>
            <a:r>
              <a:rPr lang="en-US" sz="1550" dirty="0">
                <a:solidFill>
                  <a:srgbClr val="15213F"/>
                </a:solidFill>
                <a:latin typeface="Roboto" pitchFamily="34" charset="0"/>
                <a:ea typeface="Roboto" pitchFamily="34" charset="-122"/>
                <a:cs typeface="Roboto" pitchFamily="34" charset="-120"/>
              </a:rPr>
              <a:t> that trust in AI differs fundamentally from trust in traditional technology.</a:t>
            </a:r>
            <a:endParaRPr lang="en-US" sz="1550" dirty="0"/>
          </a:p>
        </p:txBody>
      </p:sp>
      <p:sp>
        <p:nvSpPr>
          <p:cNvPr id="11" name="Text 9"/>
          <p:cNvSpPr/>
          <p:nvPr/>
        </p:nvSpPr>
        <p:spPr>
          <a:xfrm>
            <a:off x="7564874" y="4625697"/>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AI systems cannot be trusted the same way as deterministic tools like spreadsheets. This unique characteristic requires theoretical extension beyond UTAUT2's original scope.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15760"/>
            <a:ext cx="3225165" cy="403146"/>
          </a:xfrm>
          <a:prstGeom prst="rect">
            <a:avLst/>
          </a:prstGeom>
          <a:noFill/>
          <a:ln/>
        </p:spPr>
        <p:txBody>
          <a:bodyPr wrap="none" lIns="0" tIns="0" rIns="0" bIns="0" rtlCol="0" anchor="t"/>
          <a:lstStyle/>
          <a:p>
            <a:pPr marL="0" indent="0" algn="l">
              <a:lnSpc>
                <a:spcPts val="3150"/>
              </a:lnSpc>
              <a:buNone/>
            </a:pPr>
            <a:r>
              <a:rPr lang="en-US" sz="2500" dirty="0">
                <a:solidFill>
                  <a:srgbClr val="3257B8"/>
                </a:solidFill>
                <a:latin typeface="Roboto Slab" pitchFamily="34" charset="0"/>
                <a:ea typeface="Roboto Slab" pitchFamily="34" charset="-122"/>
                <a:cs typeface="Roboto Slab" pitchFamily="34" charset="-120"/>
              </a:rPr>
              <a:t>Core Hypotheses</a:t>
            </a:r>
            <a:endParaRPr lang="en-US" sz="2500" dirty="0"/>
          </a:p>
        </p:txBody>
      </p:sp>
      <p:sp>
        <p:nvSpPr>
          <p:cNvPr id="3" name="Text 1"/>
          <p:cNvSpPr/>
          <p:nvPr/>
        </p:nvSpPr>
        <p:spPr>
          <a:xfrm>
            <a:off x="793790" y="1770459"/>
            <a:ext cx="2773680" cy="201454"/>
          </a:xfrm>
          <a:prstGeom prst="rect">
            <a:avLst/>
          </a:prstGeom>
          <a:noFill/>
          <a:ln/>
        </p:spPr>
        <p:txBody>
          <a:bodyPr wrap="none" lIns="0" tIns="0" rIns="0" bIns="0" rtlCol="0" anchor="t"/>
          <a:lstStyle/>
          <a:p>
            <a:pPr marL="0" indent="0" algn="l">
              <a:lnSpc>
                <a:spcPts val="1550"/>
              </a:lnSpc>
              <a:buNone/>
            </a:pPr>
            <a:r>
              <a:rPr lang="en-US" sz="1250" dirty="0">
                <a:solidFill>
                  <a:srgbClr val="3257B8"/>
                </a:solidFill>
                <a:latin typeface="Roboto Slab" pitchFamily="34" charset="0"/>
                <a:ea typeface="Roboto Slab" pitchFamily="34" charset="-122"/>
                <a:cs typeface="Roboto Slab" pitchFamily="34" charset="-120"/>
              </a:rPr>
              <a:t>UTAUT2 Core Hypotheses (H1a–H1g)</a:t>
            </a:r>
            <a:endParaRPr lang="en-US" sz="1250" dirty="0"/>
          </a:p>
        </p:txBody>
      </p:sp>
      <p:sp>
        <p:nvSpPr>
          <p:cNvPr id="4" name="Text 2"/>
          <p:cNvSpPr/>
          <p:nvPr/>
        </p:nvSpPr>
        <p:spPr>
          <a:xfrm>
            <a:off x="793790" y="2165390"/>
            <a:ext cx="13042821" cy="206454"/>
          </a:xfrm>
          <a:prstGeom prst="rect">
            <a:avLst/>
          </a:prstGeom>
          <a:noFill/>
          <a:ln/>
        </p:spPr>
        <p:txBody>
          <a:bodyPr wrap="none" lIns="0" tIns="0" rIns="0" bIns="0" rtlCol="0" anchor="t"/>
          <a:lstStyle/>
          <a:p>
            <a:pPr marL="0" indent="0" algn="l">
              <a:lnSpc>
                <a:spcPts val="1600"/>
              </a:lnSpc>
              <a:buNone/>
            </a:pPr>
            <a:r>
              <a:rPr lang="en-US" sz="1000" i="1" dirty="0">
                <a:solidFill>
                  <a:srgbClr val="15213F"/>
                </a:solidFill>
                <a:latin typeface="Roboto" pitchFamily="34" charset="0"/>
                <a:ea typeface="Roboto" pitchFamily="34" charset="-122"/>
                <a:cs typeface="Roboto" pitchFamily="34" charset="-120"/>
              </a:rPr>
              <a:t>Based on Venkatesh et al. (2012)</a:t>
            </a:r>
            <a:endParaRPr lang="en-US" sz="1000" dirty="0"/>
          </a:p>
        </p:txBody>
      </p:sp>
      <p:pic>
        <p:nvPicPr>
          <p:cNvPr id="5" name="Image 0" descr="preencoded.png"/>
          <p:cNvPicPr>
            <a:picLocks noChangeAspect="1"/>
          </p:cNvPicPr>
          <p:nvPr/>
        </p:nvPicPr>
        <p:blipFill>
          <a:blip r:embed="rId3"/>
          <a:stretch>
            <a:fillRect/>
          </a:stretch>
        </p:blipFill>
        <p:spPr>
          <a:xfrm>
            <a:off x="793790" y="2516862"/>
            <a:ext cx="4347567" cy="516017"/>
          </a:xfrm>
          <a:prstGeom prst="rect">
            <a:avLst/>
          </a:prstGeom>
        </p:spPr>
      </p:pic>
      <p:sp>
        <p:nvSpPr>
          <p:cNvPr id="6" name="Text 3"/>
          <p:cNvSpPr/>
          <p:nvPr/>
        </p:nvSpPr>
        <p:spPr>
          <a:xfrm>
            <a:off x="922734" y="3161824"/>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H1a: PE → BI</a:t>
            </a:r>
            <a:endParaRPr lang="en-US" sz="1250" dirty="0"/>
          </a:p>
        </p:txBody>
      </p:sp>
      <p:sp>
        <p:nvSpPr>
          <p:cNvPr id="7" name="Text 4"/>
          <p:cNvSpPr/>
          <p:nvPr/>
        </p:nvSpPr>
        <p:spPr>
          <a:xfrm>
            <a:off x="922734" y="3440668"/>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Performance Expectancy:</a:t>
            </a:r>
            <a:r>
              <a:rPr lang="en-US" sz="1000" dirty="0">
                <a:solidFill>
                  <a:srgbClr val="15213F"/>
                </a:solidFill>
                <a:latin typeface="Roboto" pitchFamily="34" charset="0"/>
                <a:ea typeface="Roboto" pitchFamily="34" charset="-122"/>
                <a:cs typeface="Roboto" pitchFamily="34" charset="-120"/>
              </a:rPr>
              <a:t> Productivity enhancement beliefs positively influence behavioral intention</a:t>
            </a:r>
            <a:endParaRPr lang="en-US" sz="1000" dirty="0"/>
          </a:p>
        </p:txBody>
      </p:sp>
      <p:pic>
        <p:nvPicPr>
          <p:cNvPr id="8" name="Image 1" descr="preencoded.png"/>
          <p:cNvPicPr>
            <a:picLocks noChangeAspect="1"/>
          </p:cNvPicPr>
          <p:nvPr/>
        </p:nvPicPr>
        <p:blipFill>
          <a:blip r:embed="rId4"/>
          <a:stretch>
            <a:fillRect/>
          </a:stretch>
        </p:blipFill>
        <p:spPr>
          <a:xfrm>
            <a:off x="5141357" y="2516862"/>
            <a:ext cx="4347567" cy="516017"/>
          </a:xfrm>
          <a:prstGeom prst="rect">
            <a:avLst/>
          </a:prstGeom>
        </p:spPr>
      </p:pic>
      <p:sp>
        <p:nvSpPr>
          <p:cNvPr id="9" name="Text 5"/>
          <p:cNvSpPr/>
          <p:nvPr/>
        </p:nvSpPr>
        <p:spPr>
          <a:xfrm>
            <a:off x="5270302" y="3161824"/>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H1b: EE → BI</a:t>
            </a:r>
            <a:endParaRPr lang="en-US" sz="1250" dirty="0"/>
          </a:p>
        </p:txBody>
      </p:sp>
      <p:sp>
        <p:nvSpPr>
          <p:cNvPr id="10" name="Text 6"/>
          <p:cNvSpPr/>
          <p:nvPr/>
        </p:nvSpPr>
        <p:spPr>
          <a:xfrm>
            <a:off x="5270302" y="3440668"/>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Effort Expectancy:</a:t>
            </a:r>
            <a:r>
              <a:rPr lang="en-US" sz="1000" dirty="0">
                <a:solidFill>
                  <a:srgbClr val="15213F"/>
                </a:solidFill>
                <a:latin typeface="Roboto" pitchFamily="34" charset="0"/>
                <a:ea typeface="Roboto" pitchFamily="34" charset="-122"/>
                <a:cs typeface="Roboto" pitchFamily="34" charset="-120"/>
              </a:rPr>
              <a:t> Perceived ease of use positively influences behavioral intention</a:t>
            </a:r>
            <a:endParaRPr lang="en-US" sz="1000" dirty="0"/>
          </a:p>
        </p:txBody>
      </p:sp>
      <p:pic>
        <p:nvPicPr>
          <p:cNvPr id="11" name="Image 2" descr="preencoded.png"/>
          <p:cNvPicPr>
            <a:picLocks noChangeAspect="1"/>
          </p:cNvPicPr>
          <p:nvPr/>
        </p:nvPicPr>
        <p:blipFill>
          <a:blip r:embed="rId5"/>
          <a:stretch>
            <a:fillRect/>
          </a:stretch>
        </p:blipFill>
        <p:spPr>
          <a:xfrm>
            <a:off x="9488924" y="2516862"/>
            <a:ext cx="4347567" cy="516017"/>
          </a:xfrm>
          <a:prstGeom prst="rect">
            <a:avLst/>
          </a:prstGeom>
        </p:spPr>
      </p:pic>
      <p:sp>
        <p:nvSpPr>
          <p:cNvPr id="12" name="Text 7"/>
          <p:cNvSpPr/>
          <p:nvPr/>
        </p:nvSpPr>
        <p:spPr>
          <a:xfrm>
            <a:off x="9617869" y="3161824"/>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H1c: SI → BI</a:t>
            </a:r>
            <a:endParaRPr lang="en-US" sz="1250" dirty="0"/>
          </a:p>
        </p:txBody>
      </p:sp>
      <p:sp>
        <p:nvSpPr>
          <p:cNvPr id="13" name="Text 8"/>
          <p:cNvSpPr/>
          <p:nvPr/>
        </p:nvSpPr>
        <p:spPr>
          <a:xfrm>
            <a:off x="9617869" y="3440668"/>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Social Influence:</a:t>
            </a:r>
            <a:r>
              <a:rPr lang="en-US" sz="1000" dirty="0">
                <a:solidFill>
                  <a:srgbClr val="15213F"/>
                </a:solidFill>
                <a:latin typeface="Roboto" pitchFamily="34" charset="0"/>
                <a:ea typeface="Roboto" pitchFamily="34" charset="-122"/>
                <a:cs typeface="Roboto" pitchFamily="34" charset="-120"/>
              </a:rPr>
              <a:t> Perceived expectations of important others positively influence behavioral intention</a:t>
            </a:r>
            <a:endParaRPr lang="en-US" sz="1000" dirty="0"/>
          </a:p>
        </p:txBody>
      </p:sp>
      <p:pic>
        <p:nvPicPr>
          <p:cNvPr id="14" name="Image 3" descr="preencoded.png"/>
          <p:cNvPicPr>
            <a:picLocks noChangeAspect="1"/>
          </p:cNvPicPr>
          <p:nvPr/>
        </p:nvPicPr>
        <p:blipFill>
          <a:blip r:embed="rId6"/>
          <a:stretch>
            <a:fillRect/>
          </a:stretch>
        </p:blipFill>
        <p:spPr>
          <a:xfrm>
            <a:off x="793790" y="3982522"/>
            <a:ext cx="4347567" cy="516017"/>
          </a:xfrm>
          <a:prstGeom prst="rect">
            <a:avLst/>
          </a:prstGeom>
        </p:spPr>
      </p:pic>
      <p:sp>
        <p:nvSpPr>
          <p:cNvPr id="15" name="Text 9"/>
          <p:cNvSpPr/>
          <p:nvPr/>
        </p:nvSpPr>
        <p:spPr>
          <a:xfrm>
            <a:off x="922734" y="4627483"/>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H1d: FC → BI</a:t>
            </a:r>
            <a:endParaRPr lang="en-US" sz="1250" dirty="0"/>
          </a:p>
        </p:txBody>
      </p:sp>
      <p:sp>
        <p:nvSpPr>
          <p:cNvPr id="16" name="Text 10"/>
          <p:cNvSpPr/>
          <p:nvPr/>
        </p:nvSpPr>
        <p:spPr>
          <a:xfrm>
            <a:off x="922734" y="4906328"/>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Facilitating Conditions:</a:t>
            </a:r>
            <a:r>
              <a:rPr lang="en-US" sz="1000" dirty="0">
                <a:solidFill>
                  <a:srgbClr val="15213F"/>
                </a:solidFill>
                <a:latin typeface="Roboto" pitchFamily="34" charset="0"/>
                <a:ea typeface="Roboto" pitchFamily="34" charset="-122"/>
                <a:cs typeface="Roboto" pitchFamily="34" charset="-120"/>
              </a:rPr>
              <a:t> Organizational/technical support availability positively influences behavioral intention</a:t>
            </a:r>
            <a:endParaRPr lang="en-US" sz="1000" dirty="0"/>
          </a:p>
        </p:txBody>
      </p:sp>
      <p:pic>
        <p:nvPicPr>
          <p:cNvPr id="17" name="Image 4" descr="preencoded.png"/>
          <p:cNvPicPr>
            <a:picLocks noChangeAspect="1"/>
          </p:cNvPicPr>
          <p:nvPr/>
        </p:nvPicPr>
        <p:blipFill>
          <a:blip r:embed="rId7"/>
          <a:stretch>
            <a:fillRect/>
          </a:stretch>
        </p:blipFill>
        <p:spPr>
          <a:xfrm>
            <a:off x="5141357" y="3982522"/>
            <a:ext cx="4347567" cy="516017"/>
          </a:xfrm>
          <a:prstGeom prst="rect">
            <a:avLst/>
          </a:prstGeom>
        </p:spPr>
      </p:pic>
      <p:sp>
        <p:nvSpPr>
          <p:cNvPr id="18" name="Text 11"/>
          <p:cNvSpPr/>
          <p:nvPr/>
        </p:nvSpPr>
        <p:spPr>
          <a:xfrm>
            <a:off x="5270302" y="4627483"/>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H1e: HM → BI</a:t>
            </a:r>
            <a:endParaRPr lang="en-US" sz="1250" dirty="0"/>
          </a:p>
        </p:txBody>
      </p:sp>
      <p:sp>
        <p:nvSpPr>
          <p:cNvPr id="19" name="Text 12"/>
          <p:cNvSpPr/>
          <p:nvPr/>
        </p:nvSpPr>
        <p:spPr>
          <a:xfrm>
            <a:off x="5270302" y="4906328"/>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Hedonic Motivation:</a:t>
            </a:r>
            <a:r>
              <a:rPr lang="en-US" sz="1000" dirty="0">
                <a:solidFill>
                  <a:srgbClr val="15213F"/>
                </a:solidFill>
                <a:latin typeface="Roboto" pitchFamily="34" charset="0"/>
                <a:ea typeface="Roboto" pitchFamily="34" charset="-122"/>
                <a:cs typeface="Roboto" pitchFamily="34" charset="-120"/>
              </a:rPr>
              <a:t> Enjoyment derived from use positively influences behavioral intention</a:t>
            </a:r>
            <a:endParaRPr lang="en-US" sz="1000" dirty="0"/>
          </a:p>
        </p:txBody>
      </p:sp>
      <p:pic>
        <p:nvPicPr>
          <p:cNvPr id="20" name="Image 5" descr="preencoded.png"/>
          <p:cNvPicPr>
            <a:picLocks noChangeAspect="1"/>
          </p:cNvPicPr>
          <p:nvPr/>
        </p:nvPicPr>
        <p:blipFill>
          <a:blip r:embed="rId8"/>
          <a:stretch>
            <a:fillRect/>
          </a:stretch>
        </p:blipFill>
        <p:spPr>
          <a:xfrm>
            <a:off x="9488924" y="3982522"/>
            <a:ext cx="4347567" cy="516017"/>
          </a:xfrm>
          <a:prstGeom prst="rect">
            <a:avLst/>
          </a:prstGeom>
        </p:spPr>
      </p:pic>
      <p:sp>
        <p:nvSpPr>
          <p:cNvPr id="21" name="Text 13"/>
          <p:cNvSpPr/>
          <p:nvPr/>
        </p:nvSpPr>
        <p:spPr>
          <a:xfrm>
            <a:off x="9617869" y="4627483"/>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H1f: PV → BI</a:t>
            </a:r>
            <a:endParaRPr lang="en-US" sz="1250" dirty="0"/>
          </a:p>
        </p:txBody>
      </p:sp>
      <p:sp>
        <p:nvSpPr>
          <p:cNvPr id="22" name="Text 14"/>
          <p:cNvSpPr/>
          <p:nvPr/>
        </p:nvSpPr>
        <p:spPr>
          <a:xfrm>
            <a:off x="9617869" y="4906328"/>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Price Value:</a:t>
            </a:r>
            <a:r>
              <a:rPr lang="en-US" sz="1000" dirty="0">
                <a:solidFill>
                  <a:srgbClr val="15213F"/>
                </a:solidFill>
                <a:latin typeface="Roboto" pitchFamily="34" charset="0"/>
                <a:ea typeface="Roboto" pitchFamily="34" charset="-122"/>
                <a:cs typeface="Roboto" pitchFamily="34" charset="-120"/>
              </a:rPr>
              <a:t> Perceived worth relative to cost positively influences behavioral intention</a:t>
            </a:r>
            <a:endParaRPr lang="en-US" sz="1000" dirty="0"/>
          </a:p>
        </p:txBody>
      </p:sp>
      <p:pic>
        <p:nvPicPr>
          <p:cNvPr id="23" name="Image 6" descr="preencoded.png"/>
          <p:cNvPicPr>
            <a:picLocks noChangeAspect="1"/>
          </p:cNvPicPr>
          <p:nvPr/>
        </p:nvPicPr>
        <p:blipFill>
          <a:blip r:embed="rId9"/>
          <a:stretch>
            <a:fillRect/>
          </a:stretch>
        </p:blipFill>
        <p:spPr>
          <a:xfrm>
            <a:off x="793790" y="5448181"/>
            <a:ext cx="4347567" cy="516017"/>
          </a:xfrm>
          <a:prstGeom prst="rect">
            <a:avLst/>
          </a:prstGeom>
        </p:spPr>
      </p:pic>
      <p:sp>
        <p:nvSpPr>
          <p:cNvPr id="24" name="Text 15"/>
          <p:cNvSpPr/>
          <p:nvPr/>
        </p:nvSpPr>
        <p:spPr>
          <a:xfrm>
            <a:off x="922734" y="6093142"/>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5213F"/>
                </a:solidFill>
                <a:latin typeface="Roboto Slab" pitchFamily="34" charset="0"/>
                <a:ea typeface="Roboto Slab" pitchFamily="34" charset="-122"/>
                <a:cs typeface="Roboto Slab" pitchFamily="34" charset="-120"/>
              </a:rPr>
              <a:t>H1g: HB → BI</a:t>
            </a:r>
            <a:endParaRPr lang="en-US" sz="1250" dirty="0"/>
          </a:p>
        </p:txBody>
      </p:sp>
      <p:sp>
        <p:nvSpPr>
          <p:cNvPr id="25" name="Text 16"/>
          <p:cNvSpPr/>
          <p:nvPr/>
        </p:nvSpPr>
        <p:spPr>
          <a:xfrm>
            <a:off x="922734" y="6371987"/>
            <a:ext cx="4089678" cy="412909"/>
          </a:xfrm>
          <a:prstGeom prst="rect">
            <a:avLst/>
          </a:prstGeom>
          <a:noFill/>
          <a:ln/>
        </p:spPr>
        <p:txBody>
          <a:bodyPr wrap="square" lIns="0" tIns="0" rIns="0" bIns="0" rtlCol="0" anchor="t"/>
          <a:lstStyle/>
          <a:p>
            <a:pPr marL="0" indent="0" algn="l">
              <a:lnSpc>
                <a:spcPts val="1600"/>
              </a:lnSpc>
              <a:buNone/>
            </a:pPr>
            <a:r>
              <a:rPr lang="en-US" sz="1000" b="1" dirty="0">
                <a:solidFill>
                  <a:srgbClr val="15213F"/>
                </a:solidFill>
                <a:latin typeface="Roboto" pitchFamily="34" charset="0"/>
                <a:ea typeface="Roboto" pitchFamily="34" charset="-122"/>
                <a:cs typeface="Roboto" pitchFamily="34" charset="-120"/>
              </a:rPr>
              <a:t>Habit:</a:t>
            </a:r>
            <a:r>
              <a:rPr lang="en-US" sz="1000" dirty="0">
                <a:solidFill>
                  <a:srgbClr val="15213F"/>
                </a:solidFill>
                <a:latin typeface="Roboto" pitchFamily="34" charset="0"/>
                <a:ea typeface="Roboto" pitchFamily="34" charset="-122"/>
                <a:cs typeface="Roboto" pitchFamily="34" charset="-120"/>
              </a:rPr>
              <a:t> Automaticity of AI use behavior positively influences behavioral intention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135267"/>
            <a:ext cx="6275665"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AI Extension &amp; Moderators</a:t>
            </a:r>
            <a:endParaRPr lang="en-US" sz="3900" dirty="0"/>
          </a:p>
        </p:txBody>
      </p:sp>
      <p:sp>
        <p:nvSpPr>
          <p:cNvPr id="3" name="Text 1"/>
          <p:cNvSpPr/>
          <p:nvPr/>
        </p:nvSpPr>
        <p:spPr>
          <a:xfrm>
            <a:off x="793790" y="2834640"/>
            <a:ext cx="3162538"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Novel Hypotheses (H2–H4)</a:t>
            </a:r>
            <a:endParaRPr lang="en-US" sz="1950" dirty="0"/>
          </a:p>
        </p:txBody>
      </p:sp>
      <p:sp>
        <p:nvSpPr>
          <p:cNvPr id="4" name="Shape 2"/>
          <p:cNvSpPr/>
          <p:nvPr/>
        </p:nvSpPr>
        <p:spPr>
          <a:xfrm>
            <a:off x="793790" y="3442454"/>
            <a:ext cx="4215289" cy="2651760"/>
          </a:xfrm>
          <a:prstGeom prst="roundRect">
            <a:avLst>
              <a:gd name="adj" fmla="val 1123"/>
            </a:avLst>
          </a:prstGeom>
          <a:solidFill>
            <a:srgbClr val="E9ECF2"/>
          </a:solidFill>
          <a:ln/>
        </p:spPr>
        <p:txBody>
          <a:bodyPr/>
          <a:lstStyle/>
          <a:p>
            <a:endParaRPr lang="en-US"/>
          </a:p>
        </p:txBody>
      </p:sp>
      <p:sp>
        <p:nvSpPr>
          <p:cNvPr id="5" name="Text 3"/>
          <p:cNvSpPr/>
          <p:nvPr/>
        </p:nvSpPr>
        <p:spPr>
          <a:xfrm>
            <a:off x="992148" y="3640812"/>
            <a:ext cx="2641997"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H2: AI Trust Extension</a:t>
            </a:r>
            <a:endParaRPr lang="en-US" sz="1950" dirty="0"/>
          </a:p>
        </p:txBody>
      </p:sp>
      <p:sp>
        <p:nvSpPr>
          <p:cNvPr id="6" name="Text 4"/>
          <p:cNvSpPr/>
          <p:nvPr/>
        </p:nvSpPr>
        <p:spPr>
          <a:xfrm>
            <a:off x="992148" y="4070033"/>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AI Trust → BI (positive)</a:t>
            </a:r>
            <a:endParaRPr lang="en-US" sz="1550" dirty="0"/>
          </a:p>
        </p:txBody>
      </p:sp>
      <p:sp>
        <p:nvSpPr>
          <p:cNvPr id="7" name="Text 5"/>
          <p:cNvSpPr/>
          <p:nvPr/>
        </p:nvSpPr>
        <p:spPr>
          <a:xfrm>
            <a:off x="992148" y="4506635"/>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Tests whether AI Trust predicts adoption beyond UTAUT2's established constructs</a:t>
            </a:r>
            <a:endParaRPr lang="en-US" sz="1550" dirty="0"/>
          </a:p>
        </p:txBody>
      </p:sp>
      <p:sp>
        <p:nvSpPr>
          <p:cNvPr id="8" name="Text 6"/>
          <p:cNvSpPr/>
          <p:nvPr/>
        </p:nvSpPr>
        <p:spPr>
          <a:xfrm>
            <a:off x="992148" y="5260777"/>
            <a:ext cx="3818573" cy="317540"/>
          </a:xfrm>
          <a:prstGeom prst="rect">
            <a:avLst/>
          </a:prstGeom>
          <a:noFill/>
          <a:ln/>
        </p:spPr>
        <p:txBody>
          <a:bodyPr wrap="none" lIns="0" tIns="0" rIns="0" bIns="0" rtlCol="0" anchor="t"/>
          <a:lstStyle/>
          <a:p>
            <a:pPr marL="0" indent="0" algn="l">
              <a:lnSpc>
                <a:spcPts val="2500"/>
              </a:lnSpc>
              <a:buNone/>
            </a:pPr>
            <a:r>
              <a:rPr lang="en-US" sz="1550" i="1" dirty="0">
                <a:solidFill>
                  <a:srgbClr val="15213F"/>
                </a:solidFill>
                <a:latin typeface="Roboto" pitchFamily="34" charset="0"/>
                <a:ea typeface="Roboto" pitchFamily="34" charset="-122"/>
                <a:cs typeface="Roboto" pitchFamily="34" charset="-120"/>
              </a:rPr>
              <a:t>Theoretical basis: Glikson &amp; Woolley (2020)</a:t>
            </a:r>
            <a:endParaRPr lang="en-US" sz="1550" dirty="0"/>
          </a:p>
        </p:txBody>
      </p:sp>
      <p:sp>
        <p:nvSpPr>
          <p:cNvPr id="9" name="Shape 7"/>
          <p:cNvSpPr/>
          <p:nvPr/>
        </p:nvSpPr>
        <p:spPr>
          <a:xfrm>
            <a:off x="5207437" y="3442454"/>
            <a:ext cx="4215408" cy="2651760"/>
          </a:xfrm>
          <a:prstGeom prst="roundRect">
            <a:avLst>
              <a:gd name="adj" fmla="val 1123"/>
            </a:avLst>
          </a:prstGeom>
          <a:solidFill>
            <a:srgbClr val="E9ECF2"/>
          </a:solidFill>
          <a:ln/>
        </p:spPr>
        <p:txBody>
          <a:bodyPr/>
          <a:lstStyle/>
          <a:p>
            <a:endParaRPr lang="en-US"/>
          </a:p>
        </p:txBody>
      </p:sp>
      <p:sp>
        <p:nvSpPr>
          <p:cNvPr id="10" name="Text 8"/>
          <p:cNvSpPr/>
          <p:nvPr/>
        </p:nvSpPr>
        <p:spPr>
          <a:xfrm>
            <a:off x="5405795" y="3640812"/>
            <a:ext cx="317563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H3: Experience Moderation</a:t>
            </a:r>
            <a:endParaRPr lang="en-US" sz="1950" dirty="0"/>
          </a:p>
        </p:txBody>
      </p:sp>
      <p:sp>
        <p:nvSpPr>
          <p:cNvPr id="11" name="Text 9"/>
          <p:cNvSpPr/>
          <p:nvPr/>
        </p:nvSpPr>
        <p:spPr>
          <a:xfrm>
            <a:off x="5405795" y="4070033"/>
            <a:ext cx="3818692"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Experience moderates paths</a:t>
            </a:r>
            <a:endParaRPr lang="en-US" sz="1550" dirty="0"/>
          </a:p>
        </p:txBody>
      </p:sp>
      <p:sp>
        <p:nvSpPr>
          <p:cNvPr id="12" name="Text 10"/>
          <p:cNvSpPr/>
          <p:nvPr/>
        </p:nvSpPr>
        <p:spPr>
          <a:xfrm>
            <a:off x="5405795" y="4506635"/>
            <a:ext cx="3818692"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Tests whether experience level moderates predictor-intention relationships</a:t>
            </a:r>
            <a:endParaRPr lang="en-US" sz="1550" dirty="0"/>
          </a:p>
        </p:txBody>
      </p:sp>
      <p:sp>
        <p:nvSpPr>
          <p:cNvPr id="13" name="Text 11"/>
          <p:cNvSpPr/>
          <p:nvPr/>
        </p:nvSpPr>
        <p:spPr>
          <a:xfrm>
            <a:off x="5405795" y="5260777"/>
            <a:ext cx="3818692" cy="317540"/>
          </a:xfrm>
          <a:prstGeom prst="rect">
            <a:avLst/>
          </a:prstGeom>
          <a:noFill/>
          <a:ln/>
        </p:spPr>
        <p:txBody>
          <a:bodyPr wrap="none" lIns="0" tIns="0" rIns="0" bIns="0" rtlCol="0" anchor="t"/>
          <a:lstStyle/>
          <a:p>
            <a:pPr marL="0" indent="0" algn="l">
              <a:lnSpc>
                <a:spcPts val="2500"/>
              </a:lnSpc>
              <a:buNone/>
            </a:pPr>
            <a:r>
              <a:rPr lang="en-US" sz="1550" i="1" dirty="0">
                <a:solidFill>
                  <a:srgbClr val="15213F"/>
                </a:solidFill>
                <a:latin typeface="Roboto" pitchFamily="34" charset="0"/>
                <a:ea typeface="Roboto" pitchFamily="34" charset="-122"/>
                <a:cs typeface="Roboto" pitchFamily="34" charset="-120"/>
              </a:rPr>
              <a:t>Theoretical basis: Venkatesh et al. (2003)</a:t>
            </a:r>
            <a:endParaRPr lang="en-US" sz="1550" dirty="0"/>
          </a:p>
        </p:txBody>
      </p:sp>
      <p:sp>
        <p:nvSpPr>
          <p:cNvPr id="14" name="Shape 12"/>
          <p:cNvSpPr/>
          <p:nvPr/>
        </p:nvSpPr>
        <p:spPr>
          <a:xfrm>
            <a:off x="9621203" y="3442454"/>
            <a:ext cx="4215289" cy="2651760"/>
          </a:xfrm>
          <a:prstGeom prst="roundRect">
            <a:avLst>
              <a:gd name="adj" fmla="val 1123"/>
            </a:avLst>
          </a:prstGeom>
          <a:solidFill>
            <a:srgbClr val="E9ECF2"/>
          </a:solidFill>
          <a:ln/>
        </p:spPr>
        <p:txBody>
          <a:bodyPr/>
          <a:lstStyle/>
          <a:p>
            <a:endParaRPr lang="en-US"/>
          </a:p>
        </p:txBody>
      </p:sp>
      <p:sp>
        <p:nvSpPr>
          <p:cNvPr id="15" name="Text 13"/>
          <p:cNvSpPr/>
          <p:nvPr/>
        </p:nvSpPr>
        <p:spPr>
          <a:xfrm>
            <a:off x="9819561" y="3640812"/>
            <a:ext cx="3139797"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H4: Population Moderation</a:t>
            </a:r>
            <a:endParaRPr lang="en-US" sz="1950" dirty="0"/>
          </a:p>
        </p:txBody>
      </p:sp>
      <p:sp>
        <p:nvSpPr>
          <p:cNvPr id="16" name="Text 14"/>
          <p:cNvSpPr/>
          <p:nvPr/>
        </p:nvSpPr>
        <p:spPr>
          <a:xfrm>
            <a:off x="9819561" y="4070033"/>
            <a:ext cx="3818573"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Population moderates paths</a:t>
            </a:r>
            <a:endParaRPr lang="en-US" sz="1550" dirty="0"/>
          </a:p>
        </p:txBody>
      </p:sp>
      <p:sp>
        <p:nvSpPr>
          <p:cNvPr id="17" name="Text 15"/>
          <p:cNvSpPr/>
          <p:nvPr/>
        </p:nvSpPr>
        <p:spPr>
          <a:xfrm>
            <a:off x="9819561" y="4506635"/>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Tests whether population type (students vs. professionals) moderates predictor-intention relationships</a:t>
            </a:r>
            <a:endParaRPr lang="en-US" sz="1550" dirty="0"/>
          </a:p>
        </p:txBody>
      </p:sp>
      <p:sp>
        <p:nvSpPr>
          <p:cNvPr id="18" name="Text 16"/>
          <p:cNvSpPr/>
          <p:nvPr/>
        </p:nvSpPr>
        <p:spPr>
          <a:xfrm>
            <a:off x="9819561" y="5578316"/>
            <a:ext cx="3818573"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Theoretical basis: Novel extension</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584002"/>
            <a:ext cx="4713684" cy="589121"/>
          </a:xfrm>
          <a:prstGeom prst="rect">
            <a:avLst/>
          </a:prstGeom>
          <a:noFill/>
          <a:ln/>
        </p:spPr>
        <p:txBody>
          <a:bodyPr wrap="none" lIns="0" tIns="0" rIns="0" bIns="0" rtlCol="0" anchor="t"/>
          <a:lstStyle/>
          <a:p>
            <a:pPr marL="0" indent="0" algn="l">
              <a:lnSpc>
                <a:spcPts val="4600"/>
              </a:lnSpc>
              <a:buNone/>
            </a:pPr>
            <a:r>
              <a:rPr lang="en-US" sz="3700" dirty="0">
                <a:solidFill>
                  <a:srgbClr val="3257B8"/>
                </a:solidFill>
                <a:latin typeface="Roboto Slab" pitchFamily="34" charset="0"/>
                <a:ea typeface="Roboto Slab" pitchFamily="34" charset="-122"/>
                <a:cs typeface="Roboto Slab" pitchFamily="34" charset="-120"/>
              </a:rPr>
              <a:t>Research Design</a:t>
            </a:r>
            <a:endParaRPr lang="en-US" sz="3700" dirty="0"/>
          </a:p>
        </p:txBody>
      </p:sp>
      <p:sp>
        <p:nvSpPr>
          <p:cNvPr id="3" name="Text 1"/>
          <p:cNvSpPr/>
          <p:nvPr/>
        </p:nvSpPr>
        <p:spPr>
          <a:xfrm>
            <a:off x="793790" y="1248489"/>
            <a:ext cx="2577227" cy="294680"/>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Methodology Overview</a:t>
            </a:r>
            <a:endParaRPr lang="en-US" sz="1850" dirty="0"/>
          </a:p>
        </p:txBody>
      </p:sp>
      <p:sp>
        <p:nvSpPr>
          <p:cNvPr id="4" name="Shape 2"/>
          <p:cNvSpPr/>
          <p:nvPr/>
        </p:nvSpPr>
        <p:spPr>
          <a:xfrm>
            <a:off x="793790" y="2037993"/>
            <a:ext cx="6291382" cy="1207532"/>
          </a:xfrm>
          <a:prstGeom prst="roundRect">
            <a:avLst>
              <a:gd name="adj" fmla="val 9087"/>
            </a:avLst>
          </a:prstGeom>
          <a:solidFill>
            <a:srgbClr val="FBFCFE"/>
          </a:solidFill>
          <a:ln w="22860">
            <a:solidFill>
              <a:srgbClr val="CFD2D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70930" y="2037993"/>
            <a:ext cx="91440" cy="1207532"/>
          </a:xfrm>
          <a:prstGeom prst="rect">
            <a:avLst/>
          </a:prstGeom>
        </p:spPr>
      </p:pic>
      <p:sp>
        <p:nvSpPr>
          <p:cNvPr id="6" name="Text 3"/>
          <p:cNvSpPr/>
          <p:nvPr/>
        </p:nvSpPr>
        <p:spPr>
          <a:xfrm>
            <a:off x="1073706" y="2249329"/>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Design</a:t>
            </a:r>
            <a:endParaRPr lang="en-US" sz="1850" dirty="0"/>
          </a:p>
        </p:txBody>
      </p:sp>
      <p:sp>
        <p:nvSpPr>
          <p:cNvPr id="7" name="Text 4"/>
          <p:cNvSpPr/>
          <p:nvPr/>
        </p:nvSpPr>
        <p:spPr>
          <a:xfrm>
            <a:off x="1073706" y="2732484"/>
            <a:ext cx="580013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Cross-sectional, quantitative</a:t>
            </a:r>
            <a:endParaRPr lang="en-US" sz="1450" dirty="0"/>
          </a:p>
        </p:txBody>
      </p:sp>
      <p:sp>
        <p:nvSpPr>
          <p:cNvPr id="8" name="Shape 5"/>
          <p:cNvSpPr/>
          <p:nvPr/>
        </p:nvSpPr>
        <p:spPr>
          <a:xfrm>
            <a:off x="793790" y="3434001"/>
            <a:ext cx="6291382" cy="1207532"/>
          </a:xfrm>
          <a:prstGeom prst="roundRect">
            <a:avLst>
              <a:gd name="adj" fmla="val 9087"/>
            </a:avLst>
          </a:prstGeom>
          <a:solidFill>
            <a:srgbClr val="FBFCFE"/>
          </a:solidFill>
          <a:ln w="22860">
            <a:solidFill>
              <a:srgbClr val="CFD2D8"/>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770930" y="3434001"/>
            <a:ext cx="91440" cy="1207532"/>
          </a:xfrm>
          <a:prstGeom prst="rect">
            <a:avLst/>
          </a:prstGeom>
        </p:spPr>
      </p:pic>
      <p:sp>
        <p:nvSpPr>
          <p:cNvPr id="10" name="Text 6"/>
          <p:cNvSpPr/>
          <p:nvPr/>
        </p:nvSpPr>
        <p:spPr>
          <a:xfrm>
            <a:off x="1073706" y="3645337"/>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Sample</a:t>
            </a:r>
            <a:endParaRPr lang="en-US" sz="1850" dirty="0"/>
          </a:p>
        </p:txBody>
      </p:sp>
      <p:sp>
        <p:nvSpPr>
          <p:cNvPr id="11" name="Text 7"/>
          <p:cNvSpPr/>
          <p:nvPr/>
        </p:nvSpPr>
        <p:spPr>
          <a:xfrm>
            <a:off x="1073706" y="4128492"/>
            <a:ext cx="580013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N = 523 (students + professionals)</a:t>
            </a:r>
            <a:endParaRPr lang="en-US" sz="1450" dirty="0"/>
          </a:p>
        </p:txBody>
      </p:sp>
      <p:sp>
        <p:nvSpPr>
          <p:cNvPr id="12" name="Shape 8"/>
          <p:cNvSpPr/>
          <p:nvPr/>
        </p:nvSpPr>
        <p:spPr>
          <a:xfrm>
            <a:off x="793790" y="4830008"/>
            <a:ext cx="6291382" cy="1207532"/>
          </a:xfrm>
          <a:prstGeom prst="roundRect">
            <a:avLst>
              <a:gd name="adj" fmla="val 9087"/>
            </a:avLst>
          </a:prstGeom>
          <a:solidFill>
            <a:srgbClr val="FBFCFE"/>
          </a:solidFill>
          <a:ln w="22860">
            <a:solidFill>
              <a:srgbClr val="CFD2D8"/>
            </a:solidFill>
            <a:prstDash val="solid"/>
          </a:ln>
        </p:spPr>
        <p:txBody>
          <a:bodyPr/>
          <a:lstStyle/>
          <a:p>
            <a:endParaRPr lang="en-US"/>
          </a:p>
        </p:txBody>
      </p:sp>
      <p:pic>
        <p:nvPicPr>
          <p:cNvPr id="13" name="Image 2" descr="preencoded.png"/>
          <p:cNvPicPr>
            <a:picLocks noChangeAspect="1"/>
          </p:cNvPicPr>
          <p:nvPr/>
        </p:nvPicPr>
        <p:blipFill>
          <a:blip r:embed="rId3"/>
          <a:stretch>
            <a:fillRect/>
          </a:stretch>
        </p:blipFill>
        <p:spPr>
          <a:xfrm>
            <a:off x="770930" y="4830008"/>
            <a:ext cx="91440" cy="1207532"/>
          </a:xfrm>
          <a:prstGeom prst="rect">
            <a:avLst/>
          </a:prstGeom>
        </p:spPr>
      </p:pic>
      <p:sp>
        <p:nvSpPr>
          <p:cNvPr id="14" name="Text 9"/>
          <p:cNvSpPr/>
          <p:nvPr/>
        </p:nvSpPr>
        <p:spPr>
          <a:xfrm>
            <a:off x="1073706" y="5041344"/>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Instrument</a:t>
            </a:r>
            <a:endParaRPr lang="en-US" sz="1850" dirty="0"/>
          </a:p>
        </p:txBody>
      </p:sp>
      <p:sp>
        <p:nvSpPr>
          <p:cNvPr id="15" name="Text 10"/>
          <p:cNvSpPr/>
          <p:nvPr/>
        </p:nvSpPr>
        <p:spPr>
          <a:xfrm>
            <a:off x="1073706" y="5524500"/>
            <a:ext cx="580013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28 items → 16 items (validated)</a:t>
            </a:r>
            <a:endParaRPr lang="en-US" sz="1450" dirty="0"/>
          </a:p>
        </p:txBody>
      </p:sp>
      <p:sp>
        <p:nvSpPr>
          <p:cNvPr id="16" name="Shape 11"/>
          <p:cNvSpPr/>
          <p:nvPr/>
        </p:nvSpPr>
        <p:spPr>
          <a:xfrm>
            <a:off x="793790" y="6226016"/>
            <a:ext cx="6291382" cy="1207532"/>
          </a:xfrm>
          <a:prstGeom prst="roundRect">
            <a:avLst>
              <a:gd name="adj" fmla="val 9087"/>
            </a:avLst>
          </a:prstGeom>
          <a:solidFill>
            <a:srgbClr val="FBFCFE"/>
          </a:solidFill>
          <a:ln w="22860">
            <a:solidFill>
              <a:srgbClr val="CFD2D8"/>
            </a:solidFill>
            <a:prstDash val="solid"/>
          </a:ln>
        </p:spPr>
        <p:txBody>
          <a:bodyPr/>
          <a:lstStyle/>
          <a:p>
            <a:endParaRPr lang="en-US"/>
          </a:p>
        </p:txBody>
      </p:sp>
      <p:pic>
        <p:nvPicPr>
          <p:cNvPr id="17" name="Image 3" descr="preencoded.png"/>
          <p:cNvPicPr>
            <a:picLocks noChangeAspect="1"/>
          </p:cNvPicPr>
          <p:nvPr/>
        </p:nvPicPr>
        <p:blipFill>
          <a:blip r:embed="rId3"/>
          <a:stretch>
            <a:fillRect/>
          </a:stretch>
        </p:blipFill>
        <p:spPr>
          <a:xfrm>
            <a:off x="770930" y="6226016"/>
            <a:ext cx="91440" cy="1207532"/>
          </a:xfrm>
          <a:prstGeom prst="rect">
            <a:avLst/>
          </a:prstGeom>
        </p:spPr>
      </p:pic>
      <p:sp>
        <p:nvSpPr>
          <p:cNvPr id="18" name="Text 12"/>
          <p:cNvSpPr/>
          <p:nvPr/>
        </p:nvSpPr>
        <p:spPr>
          <a:xfrm>
            <a:off x="1073706" y="6437352"/>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Analysis</a:t>
            </a:r>
            <a:endParaRPr lang="en-US" sz="1850" dirty="0"/>
          </a:p>
        </p:txBody>
      </p:sp>
      <p:sp>
        <p:nvSpPr>
          <p:cNvPr id="19" name="Text 13"/>
          <p:cNvSpPr/>
          <p:nvPr/>
        </p:nvSpPr>
        <p:spPr>
          <a:xfrm>
            <a:off x="1073706" y="6920508"/>
            <a:ext cx="580013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EFA → CFA → SEM</a:t>
            </a:r>
            <a:endParaRPr lang="en-US" sz="1450" dirty="0"/>
          </a:p>
        </p:txBody>
      </p:sp>
      <p:sp>
        <p:nvSpPr>
          <p:cNvPr id="20" name="Text 14"/>
          <p:cNvSpPr/>
          <p:nvPr/>
        </p:nvSpPr>
        <p:spPr>
          <a:xfrm>
            <a:off x="7552849" y="1995607"/>
            <a:ext cx="6291382" cy="1206818"/>
          </a:xfrm>
          <a:prstGeom prst="rect">
            <a:avLst/>
          </a:prstGeom>
          <a:noFill/>
          <a:ln/>
        </p:spPr>
        <p:txBody>
          <a:bodyPr wrap="squar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Cross-sectional, quantitative design with N = 523 participants from both academic and professional contexts. Initial instrument contained 28 items across 12 constructs; refined through rigorous psychometric analysis to 16 items across 8 factors.</a:t>
            </a:r>
            <a:endParaRPr lang="en-US" sz="1450" dirty="0"/>
          </a:p>
        </p:txBody>
      </p:sp>
      <p:sp>
        <p:nvSpPr>
          <p:cNvPr id="21" name="Text 15"/>
          <p:cNvSpPr/>
          <p:nvPr/>
        </p:nvSpPr>
        <p:spPr>
          <a:xfrm>
            <a:off x="7552849" y="3372088"/>
            <a:ext cx="6291382" cy="301704"/>
          </a:xfrm>
          <a:prstGeom prst="rect">
            <a:avLst/>
          </a:prstGeom>
          <a:noFill/>
          <a:ln/>
        </p:spPr>
        <p:txBody>
          <a:bodyPr wrap="none" lIns="0" tIns="0" rIns="0" bIns="0" rtlCol="0" anchor="t"/>
          <a:lstStyle/>
          <a:p>
            <a:pPr marL="0" indent="0" algn="l">
              <a:lnSpc>
                <a:spcPts val="2350"/>
              </a:lnSpc>
              <a:buNone/>
            </a:pPr>
            <a:r>
              <a:rPr lang="en-US" sz="1450" b="1" dirty="0">
                <a:solidFill>
                  <a:srgbClr val="15213F"/>
                </a:solidFill>
                <a:latin typeface="Roboto" pitchFamily="34" charset="0"/>
                <a:ea typeface="Roboto" pitchFamily="34" charset="-122"/>
                <a:cs typeface="Roboto" pitchFamily="34" charset="-120"/>
              </a:rPr>
              <a:t>Analysis pipeline</a:t>
            </a:r>
            <a:r>
              <a:rPr lang="en-US" sz="1450" dirty="0">
                <a:solidFill>
                  <a:srgbClr val="15213F"/>
                </a:solidFill>
                <a:latin typeface="Roboto" pitchFamily="34" charset="0"/>
                <a:ea typeface="Roboto" pitchFamily="34" charset="-122"/>
                <a:cs typeface="Roboto" pitchFamily="34" charset="-120"/>
              </a:rPr>
              <a:t> follows instrument development best practices:</a:t>
            </a:r>
            <a:endParaRPr lang="en-US" sz="1450" dirty="0"/>
          </a:p>
        </p:txBody>
      </p:sp>
      <p:sp>
        <p:nvSpPr>
          <p:cNvPr id="22" name="Text 16"/>
          <p:cNvSpPr/>
          <p:nvPr/>
        </p:nvSpPr>
        <p:spPr>
          <a:xfrm>
            <a:off x="7552849" y="3843457"/>
            <a:ext cx="6291382" cy="301704"/>
          </a:xfrm>
          <a:prstGeom prst="rect">
            <a:avLst/>
          </a:prstGeom>
          <a:noFill/>
          <a:ln/>
        </p:spPr>
        <p:txBody>
          <a:bodyPr wrap="none" lIns="0" tIns="0" rIns="0" bIns="0" rtlCol="0" anchor="t"/>
          <a:lstStyle/>
          <a:p>
            <a:pPr marL="342900" indent="-342900" algn="l">
              <a:lnSpc>
                <a:spcPts val="2350"/>
              </a:lnSpc>
              <a:buSzPct val="100000"/>
              <a:buFont typeface="+mj-lt"/>
              <a:buAutoNum type="arabicPeriod"/>
            </a:pPr>
            <a:r>
              <a:rPr lang="en-US" sz="1450" b="1" dirty="0">
                <a:solidFill>
                  <a:srgbClr val="15213F"/>
                </a:solidFill>
                <a:latin typeface="Roboto" pitchFamily="34" charset="0"/>
                <a:ea typeface="Roboto" pitchFamily="34" charset="-122"/>
                <a:cs typeface="Roboto" pitchFamily="34" charset="-120"/>
              </a:rPr>
              <a:t>EFA</a:t>
            </a:r>
            <a:r>
              <a:rPr lang="en-US" sz="1450" dirty="0">
                <a:solidFill>
                  <a:srgbClr val="15213F"/>
                </a:solidFill>
                <a:latin typeface="Roboto" pitchFamily="34" charset="0"/>
                <a:ea typeface="Roboto" pitchFamily="34" charset="-122"/>
                <a:cs typeface="Roboto" pitchFamily="34" charset="-120"/>
              </a:rPr>
              <a:t> (Exploratory Factor Analysis): Structure discovery</a:t>
            </a:r>
            <a:endParaRPr lang="en-US" sz="1450" dirty="0"/>
          </a:p>
        </p:txBody>
      </p:sp>
      <p:sp>
        <p:nvSpPr>
          <p:cNvPr id="23" name="Text 17"/>
          <p:cNvSpPr/>
          <p:nvPr/>
        </p:nvSpPr>
        <p:spPr>
          <a:xfrm>
            <a:off x="7552849" y="4211122"/>
            <a:ext cx="6291382" cy="301704"/>
          </a:xfrm>
          <a:prstGeom prst="rect">
            <a:avLst/>
          </a:prstGeom>
          <a:noFill/>
          <a:ln/>
        </p:spPr>
        <p:txBody>
          <a:bodyPr wrap="none" lIns="0" tIns="0" rIns="0" bIns="0" rtlCol="0" anchor="t"/>
          <a:lstStyle/>
          <a:p>
            <a:pPr marL="342900" indent="-342900" algn="l">
              <a:lnSpc>
                <a:spcPts val="2350"/>
              </a:lnSpc>
              <a:buSzPct val="100000"/>
              <a:buFont typeface="+mj-lt"/>
              <a:buAutoNum type="arabicPeriod" startAt="2"/>
            </a:pPr>
            <a:r>
              <a:rPr lang="en-US" sz="1450" b="1" dirty="0">
                <a:solidFill>
                  <a:srgbClr val="15213F"/>
                </a:solidFill>
                <a:latin typeface="Roboto" pitchFamily="34" charset="0"/>
                <a:ea typeface="Roboto" pitchFamily="34" charset="-122"/>
                <a:cs typeface="Roboto" pitchFamily="34" charset="-120"/>
              </a:rPr>
              <a:t>CFA</a:t>
            </a:r>
            <a:r>
              <a:rPr lang="en-US" sz="1450" dirty="0">
                <a:solidFill>
                  <a:srgbClr val="15213F"/>
                </a:solidFill>
                <a:latin typeface="Roboto" pitchFamily="34" charset="0"/>
                <a:ea typeface="Roboto" pitchFamily="34" charset="-122"/>
                <a:cs typeface="Roboto" pitchFamily="34" charset="-120"/>
              </a:rPr>
              <a:t> (Confirmatory Factor Analysis): Structure validation</a:t>
            </a:r>
            <a:endParaRPr lang="en-US" sz="1450" dirty="0"/>
          </a:p>
        </p:txBody>
      </p:sp>
      <p:sp>
        <p:nvSpPr>
          <p:cNvPr id="24" name="Text 18"/>
          <p:cNvSpPr/>
          <p:nvPr/>
        </p:nvSpPr>
        <p:spPr>
          <a:xfrm>
            <a:off x="7552849" y="4578787"/>
            <a:ext cx="6291382" cy="301704"/>
          </a:xfrm>
          <a:prstGeom prst="rect">
            <a:avLst/>
          </a:prstGeom>
          <a:noFill/>
          <a:ln/>
        </p:spPr>
        <p:txBody>
          <a:bodyPr wrap="none" lIns="0" tIns="0" rIns="0" bIns="0" rtlCol="0" anchor="t"/>
          <a:lstStyle/>
          <a:p>
            <a:pPr marL="342900" indent="-342900" algn="l">
              <a:lnSpc>
                <a:spcPts val="2350"/>
              </a:lnSpc>
              <a:buSzPct val="100000"/>
              <a:buFont typeface="+mj-lt"/>
              <a:buAutoNum type="arabicPeriod" startAt="3"/>
            </a:pPr>
            <a:r>
              <a:rPr lang="en-US" sz="1450" b="1" dirty="0">
                <a:solidFill>
                  <a:srgbClr val="15213F"/>
                </a:solidFill>
                <a:latin typeface="Roboto" pitchFamily="34" charset="0"/>
                <a:ea typeface="Roboto" pitchFamily="34" charset="-122"/>
                <a:cs typeface="Roboto" pitchFamily="34" charset="-120"/>
              </a:rPr>
              <a:t>SEM</a:t>
            </a:r>
            <a:r>
              <a:rPr lang="en-US" sz="1450" dirty="0">
                <a:solidFill>
                  <a:srgbClr val="15213F"/>
                </a:solidFill>
                <a:latin typeface="Roboto" pitchFamily="34" charset="0"/>
                <a:ea typeface="Roboto" pitchFamily="34" charset="-122"/>
                <a:cs typeface="Roboto" pitchFamily="34" charset="-120"/>
              </a:rPr>
              <a:t> (Structural Equation Modeling): Hypothesis testing</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34722"/>
            <a:ext cx="5786318"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Psychometric Validation</a:t>
            </a:r>
            <a:endParaRPr lang="en-US" sz="3900" dirty="0"/>
          </a:p>
        </p:txBody>
      </p:sp>
      <p:sp>
        <p:nvSpPr>
          <p:cNvPr id="3" name="Text 1"/>
          <p:cNvSpPr/>
          <p:nvPr/>
        </p:nvSpPr>
        <p:spPr>
          <a:xfrm>
            <a:off x="793790" y="133409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Model Fit Results</a:t>
            </a:r>
            <a:endParaRPr lang="en-US" sz="1950" dirty="0"/>
          </a:p>
        </p:txBody>
      </p:sp>
      <p:sp>
        <p:nvSpPr>
          <p:cNvPr id="4" name="Text 2"/>
          <p:cNvSpPr/>
          <p:nvPr/>
        </p:nvSpPr>
        <p:spPr>
          <a:xfrm>
            <a:off x="793790" y="194190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Psychometric results demonstrate strong model fit, meeting publication-quality standards across all major indices:</a:t>
            </a:r>
            <a:endParaRPr lang="en-US" sz="1550" dirty="0"/>
          </a:p>
        </p:txBody>
      </p:sp>
      <p:sp>
        <p:nvSpPr>
          <p:cNvPr id="5" name="Shape 3"/>
          <p:cNvSpPr/>
          <p:nvPr/>
        </p:nvSpPr>
        <p:spPr>
          <a:xfrm>
            <a:off x="793790" y="2482691"/>
            <a:ext cx="13042821" cy="2869763"/>
          </a:xfrm>
          <a:prstGeom prst="roundRect">
            <a:avLst>
              <a:gd name="adj" fmla="val 1037"/>
            </a:avLst>
          </a:prstGeom>
          <a:noFill/>
          <a:ln w="7620">
            <a:solidFill>
              <a:srgbClr val="000000">
                <a:alpha val="8000"/>
              </a:srgbClr>
            </a:solidFill>
            <a:prstDash val="solid"/>
          </a:ln>
        </p:spPr>
        <p:txBody>
          <a:bodyPr/>
          <a:lstStyle/>
          <a:p>
            <a:endParaRPr lang="en-US"/>
          </a:p>
        </p:txBody>
      </p:sp>
      <p:sp>
        <p:nvSpPr>
          <p:cNvPr id="6" name="Shape 4"/>
          <p:cNvSpPr/>
          <p:nvPr/>
        </p:nvSpPr>
        <p:spPr>
          <a:xfrm>
            <a:off x="801410" y="2490311"/>
            <a:ext cx="13027581" cy="570905"/>
          </a:xfrm>
          <a:prstGeom prst="rect">
            <a:avLst/>
          </a:prstGeom>
          <a:solidFill>
            <a:srgbClr val="FFFFFF">
              <a:alpha val="4000"/>
            </a:srgbClr>
          </a:solidFill>
          <a:ln/>
        </p:spPr>
        <p:txBody>
          <a:bodyPr/>
          <a:lstStyle/>
          <a:p>
            <a:endParaRPr lang="en-US"/>
          </a:p>
        </p:txBody>
      </p:sp>
      <p:sp>
        <p:nvSpPr>
          <p:cNvPr id="7" name="Text 5"/>
          <p:cNvSpPr/>
          <p:nvPr/>
        </p:nvSpPr>
        <p:spPr>
          <a:xfrm>
            <a:off x="1000006" y="2616994"/>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Metric</a:t>
            </a:r>
            <a:endParaRPr lang="en-US" sz="1550" dirty="0"/>
          </a:p>
        </p:txBody>
      </p:sp>
      <p:sp>
        <p:nvSpPr>
          <p:cNvPr id="8" name="Text 6"/>
          <p:cNvSpPr/>
          <p:nvPr/>
        </p:nvSpPr>
        <p:spPr>
          <a:xfrm>
            <a:off x="4260652" y="2616994"/>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Result</a:t>
            </a:r>
            <a:endParaRPr lang="en-US" sz="1550" dirty="0"/>
          </a:p>
        </p:txBody>
      </p:sp>
      <p:sp>
        <p:nvSpPr>
          <p:cNvPr id="9" name="Text 7"/>
          <p:cNvSpPr/>
          <p:nvPr/>
        </p:nvSpPr>
        <p:spPr>
          <a:xfrm>
            <a:off x="7517487" y="2616994"/>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Threshold</a:t>
            </a:r>
            <a:endParaRPr lang="en-US" sz="1550" dirty="0"/>
          </a:p>
        </p:txBody>
      </p:sp>
      <p:sp>
        <p:nvSpPr>
          <p:cNvPr id="10" name="Text 8"/>
          <p:cNvSpPr/>
          <p:nvPr/>
        </p:nvSpPr>
        <p:spPr>
          <a:xfrm>
            <a:off x="10774323" y="2616994"/>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Reference</a:t>
            </a:r>
            <a:endParaRPr lang="en-US" sz="1550" dirty="0"/>
          </a:p>
        </p:txBody>
      </p:sp>
      <p:sp>
        <p:nvSpPr>
          <p:cNvPr id="11" name="Shape 9"/>
          <p:cNvSpPr/>
          <p:nvPr/>
        </p:nvSpPr>
        <p:spPr>
          <a:xfrm>
            <a:off x="801410" y="3061216"/>
            <a:ext cx="13027581" cy="570905"/>
          </a:xfrm>
          <a:prstGeom prst="rect">
            <a:avLst/>
          </a:prstGeom>
          <a:solidFill>
            <a:srgbClr val="000000">
              <a:alpha val="4000"/>
            </a:srgbClr>
          </a:solidFill>
          <a:ln/>
        </p:spPr>
        <p:txBody>
          <a:bodyPr/>
          <a:lstStyle/>
          <a:p>
            <a:endParaRPr lang="en-US"/>
          </a:p>
        </p:txBody>
      </p:sp>
      <p:sp>
        <p:nvSpPr>
          <p:cNvPr id="12" name="Text 10"/>
          <p:cNvSpPr/>
          <p:nvPr/>
        </p:nvSpPr>
        <p:spPr>
          <a:xfrm>
            <a:off x="1000006" y="318789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CFI</a:t>
            </a:r>
            <a:endParaRPr lang="en-US" sz="1550" dirty="0"/>
          </a:p>
        </p:txBody>
      </p:sp>
      <p:sp>
        <p:nvSpPr>
          <p:cNvPr id="13" name="Text 11"/>
          <p:cNvSpPr/>
          <p:nvPr/>
        </p:nvSpPr>
        <p:spPr>
          <a:xfrm>
            <a:off x="4260652" y="3187898"/>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.975</a:t>
            </a:r>
            <a:endParaRPr lang="en-US" sz="1550" dirty="0"/>
          </a:p>
        </p:txBody>
      </p:sp>
      <p:sp>
        <p:nvSpPr>
          <p:cNvPr id="14" name="Text 12"/>
          <p:cNvSpPr/>
          <p:nvPr/>
        </p:nvSpPr>
        <p:spPr>
          <a:xfrm>
            <a:off x="7517487" y="3187898"/>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&gt; .95</a:t>
            </a:r>
            <a:endParaRPr lang="en-US" sz="1550" dirty="0"/>
          </a:p>
        </p:txBody>
      </p:sp>
      <p:sp>
        <p:nvSpPr>
          <p:cNvPr id="15" name="Text 13"/>
          <p:cNvSpPr/>
          <p:nvPr/>
        </p:nvSpPr>
        <p:spPr>
          <a:xfrm>
            <a:off x="10774323" y="318789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Hu &amp; Bentler (1999)</a:t>
            </a:r>
            <a:endParaRPr lang="en-US" sz="1550" dirty="0"/>
          </a:p>
        </p:txBody>
      </p:sp>
      <p:sp>
        <p:nvSpPr>
          <p:cNvPr id="16" name="Shape 14"/>
          <p:cNvSpPr/>
          <p:nvPr/>
        </p:nvSpPr>
        <p:spPr>
          <a:xfrm>
            <a:off x="801410" y="3632121"/>
            <a:ext cx="13027581" cy="570905"/>
          </a:xfrm>
          <a:prstGeom prst="rect">
            <a:avLst/>
          </a:prstGeom>
          <a:solidFill>
            <a:srgbClr val="FFFFFF">
              <a:alpha val="4000"/>
            </a:srgbClr>
          </a:solidFill>
          <a:ln/>
        </p:spPr>
        <p:txBody>
          <a:bodyPr/>
          <a:lstStyle/>
          <a:p>
            <a:endParaRPr lang="en-US"/>
          </a:p>
        </p:txBody>
      </p:sp>
      <p:sp>
        <p:nvSpPr>
          <p:cNvPr id="17" name="Text 15"/>
          <p:cNvSpPr/>
          <p:nvPr/>
        </p:nvSpPr>
        <p:spPr>
          <a:xfrm>
            <a:off x="1000006" y="3758803"/>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TLI</a:t>
            </a:r>
            <a:endParaRPr lang="en-US" sz="1550" dirty="0"/>
          </a:p>
        </p:txBody>
      </p:sp>
      <p:sp>
        <p:nvSpPr>
          <p:cNvPr id="18" name="Text 16"/>
          <p:cNvSpPr/>
          <p:nvPr/>
        </p:nvSpPr>
        <p:spPr>
          <a:xfrm>
            <a:off x="4260652" y="3758803"/>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.960</a:t>
            </a:r>
            <a:endParaRPr lang="en-US" sz="1550" dirty="0"/>
          </a:p>
        </p:txBody>
      </p:sp>
      <p:sp>
        <p:nvSpPr>
          <p:cNvPr id="19" name="Text 17"/>
          <p:cNvSpPr/>
          <p:nvPr/>
        </p:nvSpPr>
        <p:spPr>
          <a:xfrm>
            <a:off x="7517487" y="3758803"/>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&gt; .95</a:t>
            </a:r>
            <a:endParaRPr lang="en-US" sz="1550" dirty="0"/>
          </a:p>
        </p:txBody>
      </p:sp>
      <p:sp>
        <p:nvSpPr>
          <p:cNvPr id="20" name="Text 18"/>
          <p:cNvSpPr/>
          <p:nvPr/>
        </p:nvSpPr>
        <p:spPr>
          <a:xfrm>
            <a:off x="10774323" y="3758803"/>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Hu &amp; Bentler (1999)</a:t>
            </a:r>
            <a:endParaRPr lang="en-US" sz="1550" dirty="0"/>
          </a:p>
        </p:txBody>
      </p:sp>
      <p:sp>
        <p:nvSpPr>
          <p:cNvPr id="21" name="Shape 19"/>
          <p:cNvSpPr/>
          <p:nvPr/>
        </p:nvSpPr>
        <p:spPr>
          <a:xfrm>
            <a:off x="801410" y="4203025"/>
            <a:ext cx="13027581" cy="570905"/>
          </a:xfrm>
          <a:prstGeom prst="rect">
            <a:avLst/>
          </a:prstGeom>
          <a:solidFill>
            <a:srgbClr val="000000">
              <a:alpha val="4000"/>
            </a:srgbClr>
          </a:solidFill>
          <a:ln/>
        </p:spPr>
        <p:txBody>
          <a:bodyPr/>
          <a:lstStyle/>
          <a:p>
            <a:endParaRPr lang="en-US"/>
          </a:p>
        </p:txBody>
      </p:sp>
      <p:sp>
        <p:nvSpPr>
          <p:cNvPr id="22" name="Text 20"/>
          <p:cNvSpPr/>
          <p:nvPr/>
        </p:nvSpPr>
        <p:spPr>
          <a:xfrm>
            <a:off x="1000006" y="432970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RMSEA</a:t>
            </a:r>
            <a:endParaRPr lang="en-US" sz="1550" dirty="0"/>
          </a:p>
        </p:txBody>
      </p:sp>
      <p:sp>
        <p:nvSpPr>
          <p:cNvPr id="23" name="Text 21"/>
          <p:cNvSpPr/>
          <p:nvPr/>
        </p:nvSpPr>
        <p:spPr>
          <a:xfrm>
            <a:off x="4260652" y="4329708"/>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.065</a:t>
            </a:r>
            <a:endParaRPr lang="en-US" sz="1550" dirty="0"/>
          </a:p>
        </p:txBody>
      </p:sp>
      <p:sp>
        <p:nvSpPr>
          <p:cNvPr id="24" name="Text 22"/>
          <p:cNvSpPr/>
          <p:nvPr/>
        </p:nvSpPr>
        <p:spPr>
          <a:xfrm>
            <a:off x="7517487" y="4329708"/>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&lt; .08</a:t>
            </a:r>
            <a:endParaRPr lang="en-US" sz="1550" dirty="0"/>
          </a:p>
        </p:txBody>
      </p:sp>
      <p:sp>
        <p:nvSpPr>
          <p:cNvPr id="25" name="Text 23"/>
          <p:cNvSpPr/>
          <p:nvPr/>
        </p:nvSpPr>
        <p:spPr>
          <a:xfrm>
            <a:off x="10774323" y="432970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Browne &amp; Cudeck (1993)</a:t>
            </a:r>
            <a:endParaRPr lang="en-US" sz="1550" dirty="0"/>
          </a:p>
        </p:txBody>
      </p:sp>
      <p:sp>
        <p:nvSpPr>
          <p:cNvPr id="26" name="Shape 24"/>
          <p:cNvSpPr/>
          <p:nvPr/>
        </p:nvSpPr>
        <p:spPr>
          <a:xfrm>
            <a:off x="801410" y="4773930"/>
            <a:ext cx="13027581" cy="570905"/>
          </a:xfrm>
          <a:prstGeom prst="rect">
            <a:avLst/>
          </a:prstGeom>
          <a:solidFill>
            <a:srgbClr val="FFFFFF">
              <a:alpha val="4000"/>
            </a:srgbClr>
          </a:solidFill>
          <a:ln/>
        </p:spPr>
        <p:txBody>
          <a:bodyPr/>
          <a:lstStyle/>
          <a:p>
            <a:endParaRPr lang="en-US"/>
          </a:p>
        </p:txBody>
      </p:sp>
      <p:sp>
        <p:nvSpPr>
          <p:cNvPr id="27" name="Text 25"/>
          <p:cNvSpPr/>
          <p:nvPr/>
        </p:nvSpPr>
        <p:spPr>
          <a:xfrm>
            <a:off x="1000006" y="4900613"/>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All α</a:t>
            </a:r>
            <a:endParaRPr lang="en-US" sz="1550" dirty="0"/>
          </a:p>
        </p:txBody>
      </p:sp>
      <p:sp>
        <p:nvSpPr>
          <p:cNvPr id="28" name="Text 26"/>
          <p:cNvSpPr/>
          <p:nvPr/>
        </p:nvSpPr>
        <p:spPr>
          <a:xfrm>
            <a:off x="4260652" y="4900613"/>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&gt; .74</a:t>
            </a:r>
            <a:endParaRPr lang="en-US" sz="1550" dirty="0"/>
          </a:p>
        </p:txBody>
      </p:sp>
      <p:sp>
        <p:nvSpPr>
          <p:cNvPr id="29" name="Text 27"/>
          <p:cNvSpPr/>
          <p:nvPr/>
        </p:nvSpPr>
        <p:spPr>
          <a:xfrm>
            <a:off x="7517487" y="4900613"/>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&gt; .70</a:t>
            </a:r>
            <a:endParaRPr lang="en-US" sz="1550" dirty="0"/>
          </a:p>
        </p:txBody>
      </p:sp>
      <p:sp>
        <p:nvSpPr>
          <p:cNvPr id="30" name="Text 28"/>
          <p:cNvSpPr/>
          <p:nvPr/>
        </p:nvSpPr>
        <p:spPr>
          <a:xfrm>
            <a:off x="10774323" y="4900613"/>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Nunnally (1978)</a:t>
            </a:r>
            <a:endParaRPr lang="en-US" sz="1550" dirty="0"/>
          </a:p>
        </p:txBody>
      </p:sp>
      <p:sp>
        <p:nvSpPr>
          <p:cNvPr id="31" name="Text 29"/>
          <p:cNvSpPr/>
          <p:nvPr/>
        </p:nvSpPr>
        <p:spPr>
          <a:xfrm>
            <a:off x="793790" y="5575697"/>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CFI = .975:</a:t>
            </a:r>
            <a:r>
              <a:rPr lang="en-US" sz="1550" dirty="0">
                <a:solidFill>
                  <a:srgbClr val="15213F"/>
                </a:solidFill>
                <a:latin typeface="Roboto" pitchFamily="34" charset="0"/>
                <a:ea typeface="Roboto" pitchFamily="34" charset="-122"/>
                <a:cs typeface="Roboto" pitchFamily="34" charset="-120"/>
              </a:rPr>
              <a:t> Exceeds .95 excellent threshold</a:t>
            </a:r>
            <a:endParaRPr lang="en-US" sz="1550" dirty="0"/>
          </a:p>
        </p:txBody>
      </p:sp>
      <p:sp>
        <p:nvSpPr>
          <p:cNvPr id="32" name="Text 30"/>
          <p:cNvSpPr/>
          <p:nvPr/>
        </p:nvSpPr>
        <p:spPr>
          <a:xfrm>
            <a:off x="793790" y="5962650"/>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TLI = .960:</a:t>
            </a:r>
            <a:r>
              <a:rPr lang="en-US" sz="1550" dirty="0">
                <a:solidFill>
                  <a:srgbClr val="15213F"/>
                </a:solidFill>
                <a:latin typeface="Roboto" pitchFamily="34" charset="0"/>
                <a:ea typeface="Roboto" pitchFamily="34" charset="-122"/>
                <a:cs typeface="Roboto" pitchFamily="34" charset="-120"/>
              </a:rPr>
              <a:t> Exceeds .95 excellent threshold</a:t>
            </a:r>
            <a:endParaRPr lang="en-US" sz="1550" dirty="0"/>
          </a:p>
        </p:txBody>
      </p:sp>
      <p:sp>
        <p:nvSpPr>
          <p:cNvPr id="33" name="Text 31"/>
          <p:cNvSpPr/>
          <p:nvPr/>
        </p:nvSpPr>
        <p:spPr>
          <a:xfrm>
            <a:off x="793790" y="6349603"/>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RMSEA = .065:</a:t>
            </a:r>
            <a:r>
              <a:rPr lang="en-US" sz="1550" dirty="0">
                <a:solidFill>
                  <a:srgbClr val="15213F"/>
                </a:solidFill>
                <a:latin typeface="Roboto" pitchFamily="34" charset="0"/>
                <a:ea typeface="Roboto" pitchFamily="34" charset="-122"/>
                <a:cs typeface="Roboto" pitchFamily="34" charset="-120"/>
              </a:rPr>
              <a:t> Below .08 acceptable cutoff</a:t>
            </a:r>
            <a:endParaRPr lang="en-US" sz="1550" dirty="0"/>
          </a:p>
        </p:txBody>
      </p:sp>
      <p:sp>
        <p:nvSpPr>
          <p:cNvPr id="34" name="Text 32"/>
          <p:cNvSpPr/>
          <p:nvPr/>
        </p:nvSpPr>
        <p:spPr>
          <a:xfrm>
            <a:off x="793790" y="6736556"/>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All α &gt; .74:</a:t>
            </a:r>
            <a:r>
              <a:rPr lang="en-US" sz="1550" dirty="0">
                <a:solidFill>
                  <a:srgbClr val="15213F"/>
                </a:solidFill>
                <a:latin typeface="Roboto" pitchFamily="34" charset="0"/>
                <a:ea typeface="Roboto" pitchFamily="34" charset="-122"/>
                <a:cs typeface="Roboto" pitchFamily="34" charset="-120"/>
              </a:rPr>
              <a:t> All reliability coefficients exceed .70 threshold</a:t>
            </a:r>
            <a:endParaRPr lang="en-US" sz="1550" dirty="0"/>
          </a:p>
        </p:txBody>
      </p:sp>
      <p:sp>
        <p:nvSpPr>
          <p:cNvPr id="35" name="Text 33"/>
          <p:cNvSpPr/>
          <p:nvPr/>
        </p:nvSpPr>
        <p:spPr>
          <a:xfrm>
            <a:off x="793790" y="7277338"/>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The instrument meets publication-quality psychometric standards.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222415"/>
            <a:ext cx="5238750"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Sample Demographics</a:t>
            </a:r>
            <a:endParaRPr lang="en-US" sz="3900" dirty="0"/>
          </a:p>
        </p:txBody>
      </p:sp>
      <p:sp>
        <p:nvSpPr>
          <p:cNvPr id="3" name="Text 1"/>
          <p:cNvSpPr/>
          <p:nvPr/>
        </p:nvSpPr>
        <p:spPr>
          <a:xfrm>
            <a:off x="793790" y="1921788"/>
            <a:ext cx="4203859"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Participant Characteristics (N = 523)</a:t>
            </a:r>
            <a:endParaRPr lang="en-US" sz="1950" dirty="0"/>
          </a:p>
        </p:txBody>
      </p:sp>
      <p:sp>
        <p:nvSpPr>
          <p:cNvPr id="4" name="Text 2"/>
          <p:cNvSpPr/>
          <p:nvPr/>
        </p:nvSpPr>
        <p:spPr>
          <a:xfrm>
            <a:off x="793790" y="252960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Diverse sample with rigorous quality controls enables robust cross-population analysis and moderation testing:</a:t>
            </a:r>
            <a:endParaRPr lang="en-US" sz="15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070384"/>
            <a:ext cx="496133" cy="496133"/>
          </a:xfrm>
          <a:prstGeom prst="rect">
            <a:avLst/>
          </a:prstGeom>
        </p:spPr>
      </p:pic>
      <p:sp>
        <p:nvSpPr>
          <p:cNvPr id="6" name="Text 3"/>
          <p:cNvSpPr/>
          <p:nvPr/>
        </p:nvSpPr>
        <p:spPr>
          <a:xfrm>
            <a:off x="1537930" y="318813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Population Split</a:t>
            </a:r>
            <a:endParaRPr lang="en-US" sz="1950" dirty="0"/>
          </a:p>
        </p:txBody>
      </p:sp>
      <p:sp>
        <p:nvSpPr>
          <p:cNvPr id="7" name="Text 4"/>
          <p:cNvSpPr/>
          <p:nvPr/>
        </p:nvSpPr>
        <p:spPr>
          <a:xfrm>
            <a:off x="1537930" y="3617357"/>
            <a:ext cx="3438049"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41% academic / 59% professional—enables cross-population invariance testing</a:t>
            </a:r>
            <a:endParaRPr lang="en-US" sz="155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23986" y="3070384"/>
            <a:ext cx="496133" cy="496133"/>
          </a:xfrm>
          <a:prstGeom prst="rect">
            <a:avLst/>
          </a:prstGeom>
        </p:spPr>
      </p:pic>
      <p:sp>
        <p:nvSpPr>
          <p:cNvPr id="9" name="Text 5"/>
          <p:cNvSpPr/>
          <p:nvPr/>
        </p:nvSpPr>
        <p:spPr>
          <a:xfrm>
            <a:off x="5968127" y="318813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Education Range</a:t>
            </a:r>
            <a:endParaRPr lang="en-US" sz="1950" dirty="0"/>
          </a:p>
        </p:txBody>
      </p:sp>
      <p:sp>
        <p:nvSpPr>
          <p:cNvPr id="10" name="Text 6"/>
          <p:cNvSpPr/>
          <p:nvPr/>
        </p:nvSpPr>
        <p:spPr>
          <a:xfrm>
            <a:off x="5968127" y="3617357"/>
            <a:ext cx="3438168"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34% some college, 28% bachelor's, 18% master's—high school to doctoral degrees represented</a:t>
            </a:r>
            <a:endParaRPr lang="en-US" sz="155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4302" y="3070384"/>
            <a:ext cx="496133" cy="496133"/>
          </a:xfrm>
          <a:prstGeom prst="rect">
            <a:avLst/>
          </a:prstGeom>
        </p:spPr>
      </p:pic>
      <p:sp>
        <p:nvSpPr>
          <p:cNvPr id="12" name="Text 7"/>
          <p:cNvSpPr/>
          <p:nvPr/>
        </p:nvSpPr>
        <p:spPr>
          <a:xfrm>
            <a:off x="10398443" y="318813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Experience Variation</a:t>
            </a:r>
            <a:endParaRPr lang="en-US" sz="1950" dirty="0"/>
          </a:p>
        </p:txBody>
      </p:sp>
      <p:sp>
        <p:nvSpPr>
          <p:cNvPr id="13" name="Text 8"/>
          <p:cNvSpPr/>
          <p:nvPr/>
        </p:nvSpPr>
        <p:spPr>
          <a:xfrm>
            <a:off x="10398443" y="3617357"/>
            <a:ext cx="3438168"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37% with 11+ years / 19% with &lt;1 year—enables experience moderation testing</a:t>
            </a:r>
            <a:endParaRPr lang="en-US" sz="1550" dirty="0"/>
          </a:p>
        </p:txBody>
      </p:sp>
      <p:pic>
        <p:nvPicPr>
          <p:cNvPr id="1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3790" y="4966811"/>
            <a:ext cx="496133" cy="496133"/>
          </a:xfrm>
          <a:prstGeom prst="rect">
            <a:avLst/>
          </a:prstGeom>
        </p:spPr>
      </p:pic>
      <p:sp>
        <p:nvSpPr>
          <p:cNvPr id="15" name="Text 9"/>
          <p:cNvSpPr/>
          <p:nvPr/>
        </p:nvSpPr>
        <p:spPr>
          <a:xfrm>
            <a:off x="1537930" y="5084564"/>
            <a:ext cx="3135392"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Leadership Representation</a:t>
            </a:r>
            <a:endParaRPr lang="en-US" sz="1950" dirty="0"/>
          </a:p>
        </p:txBody>
      </p:sp>
      <p:sp>
        <p:nvSpPr>
          <p:cNvPr id="16" name="Text 10"/>
          <p:cNvSpPr/>
          <p:nvPr/>
        </p:nvSpPr>
        <p:spPr>
          <a:xfrm>
            <a:off x="1537930" y="5513784"/>
            <a:ext cx="3438049"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24% in supervisory/executive roles (managers + executives)</a:t>
            </a:r>
            <a:endParaRPr lang="en-US" sz="1550" dirty="0"/>
          </a:p>
        </p:txBody>
      </p:sp>
      <p:pic>
        <p:nvPicPr>
          <p:cNvPr id="17"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23986" y="4966811"/>
            <a:ext cx="496133" cy="496133"/>
          </a:xfrm>
          <a:prstGeom prst="rect">
            <a:avLst/>
          </a:prstGeom>
        </p:spPr>
      </p:pic>
      <p:sp>
        <p:nvSpPr>
          <p:cNvPr id="18" name="Text 11"/>
          <p:cNvSpPr/>
          <p:nvPr/>
        </p:nvSpPr>
        <p:spPr>
          <a:xfrm>
            <a:off x="5968127" y="5084564"/>
            <a:ext cx="2946202"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Disability Representation</a:t>
            </a:r>
            <a:endParaRPr lang="en-US" sz="1950" dirty="0"/>
          </a:p>
        </p:txBody>
      </p:sp>
      <p:sp>
        <p:nvSpPr>
          <p:cNvPr id="19" name="Text 12"/>
          <p:cNvSpPr/>
          <p:nvPr/>
        </p:nvSpPr>
        <p:spPr>
          <a:xfrm>
            <a:off x="5968127" y="5513784"/>
            <a:ext cx="3438168"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13% identify as having a disability—enables accessibility analysis</a:t>
            </a:r>
            <a:endParaRPr lang="en-US" sz="1550" dirty="0"/>
          </a:p>
        </p:txBody>
      </p:sp>
      <p:sp>
        <p:nvSpPr>
          <p:cNvPr id="20" name="Text 13"/>
          <p:cNvSpPr/>
          <p:nvPr/>
        </p:nvSpPr>
        <p:spPr>
          <a:xfrm>
            <a:off x="793790" y="6372106"/>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Recruitment protocol:</a:t>
            </a:r>
            <a:r>
              <a:rPr lang="en-US" sz="1550" dirty="0">
                <a:solidFill>
                  <a:srgbClr val="15213F"/>
                </a:solidFill>
                <a:latin typeface="Roboto" pitchFamily="34" charset="0"/>
                <a:ea typeface="Roboto" pitchFamily="34" charset="-122"/>
                <a:cs typeface="Roboto" pitchFamily="34" charset="-120"/>
              </a:rPr>
              <a:t> Centiment professional research panel with blinded recruitment (topic undisclosed until consent form), multiple embedded attention checks, and exclusion of responses failing quality controls—reduces self-selection bias and ensures data quality (Meade &amp; Craig, 2012).</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13422"/>
            <a:ext cx="8579168" cy="558165"/>
          </a:xfrm>
          <a:prstGeom prst="rect">
            <a:avLst/>
          </a:prstGeom>
          <a:noFill/>
          <a:ln/>
        </p:spPr>
        <p:txBody>
          <a:bodyPr wrap="none" lIns="0" tIns="0" rIns="0" bIns="0" rtlCol="0" anchor="t"/>
          <a:lstStyle/>
          <a:p>
            <a:pPr marL="0" indent="0" algn="l">
              <a:lnSpc>
                <a:spcPts val="4350"/>
              </a:lnSpc>
              <a:buNone/>
            </a:pPr>
            <a:r>
              <a:rPr lang="en-US" sz="3500" dirty="0">
                <a:solidFill>
                  <a:srgbClr val="3257B8"/>
                </a:solidFill>
                <a:latin typeface="Roboto Slab" pitchFamily="34" charset="0"/>
                <a:ea typeface="Roboto Slab" pitchFamily="34" charset="-122"/>
                <a:cs typeface="Roboto Slab" pitchFamily="34" charset="-120"/>
              </a:rPr>
              <a:t>Key Finding #1: What Drives AI Adoption</a:t>
            </a:r>
            <a:endParaRPr lang="en-US" sz="3500" dirty="0"/>
          </a:p>
        </p:txBody>
      </p:sp>
      <p:sp>
        <p:nvSpPr>
          <p:cNvPr id="3" name="Text 1"/>
          <p:cNvSpPr/>
          <p:nvPr/>
        </p:nvSpPr>
        <p:spPr>
          <a:xfrm>
            <a:off x="793790" y="1343025"/>
            <a:ext cx="3575566" cy="278963"/>
          </a:xfrm>
          <a:prstGeom prst="rect">
            <a:avLst/>
          </a:prstGeom>
          <a:noFill/>
          <a:ln/>
        </p:spPr>
        <p:txBody>
          <a:bodyPr wrap="none" lIns="0" tIns="0" rIns="0" bIns="0" rtlCol="0" anchor="t"/>
          <a:lstStyle/>
          <a:p>
            <a:pPr marL="0" indent="0" algn="l">
              <a:lnSpc>
                <a:spcPts val="2150"/>
              </a:lnSpc>
              <a:buNone/>
            </a:pPr>
            <a:r>
              <a:rPr lang="en-US" sz="1750" dirty="0">
                <a:solidFill>
                  <a:srgbClr val="3257B8"/>
                </a:solidFill>
                <a:latin typeface="Roboto Slab" pitchFamily="34" charset="0"/>
                <a:ea typeface="Roboto Slab" pitchFamily="34" charset="-122"/>
                <a:cs typeface="Roboto Slab" pitchFamily="34" charset="-120"/>
              </a:rPr>
              <a:t>Structural Model Results (N = 523)</a:t>
            </a:r>
            <a:endParaRPr lang="en-US" sz="1750" dirty="0"/>
          </a:p>
        </p:txBody>
      </p:sp>
      <p:sp>
        <p:nvSpPr>
          <p:cNvPr id="4" name="Text 2"/>
          <p:cNvSpPr/>
          <p:nvPr/>
        </p:nvSpPr>
        <p:spPr>
          <a:xfrm>
            <a:off x="793790" y="1889879"/>
            <a:ext cx="13042821"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Structural model results showing path coefficients for all predictors of Behavioral Intention. Model explains </a:t>
            </a:r>
            <a:r>
              <a:rPr lang="en-US" sz="1400" b="1" dirty="0">
                <a:solidFill>
                  <a:srgbClr val="15213F"/>
                </a:solidFill>
                <a:latin typeface="Roboto" pitchFamily="34" charset="0"/>
                <a:ea typeface="Roboto" pitchFamily="34" charset="-122"/>
                <a:cs typeface="Roboto" pitchFamily="34" charset="-120"/>
              </a:rPr>
              <a:t>85.2% of variance</a:t>
            </a:r>
            <a:r>
              <a:rPr lang="en-US" sz="1400" dirty="0">
                <a:solidFill>
                  <a:srgbClr val="15213F"/>
                </a:solidFill>
                <a:latin typeface="Roboto" pitchFamily="34" charset="0"/>
                <a:ea typeface="Roboto" pitchFamily="34" charset="-122"/>
                <a:cs typeface="Roboto" pitchFamily="34" charset="-120"/>
              </a:rPr>
              <a:t>—exceptional predictive accuracy.</a:t>
            </a:r>
            <a:endParaRPr lang="en-US" sz="1400" dirty="0"/>
          </a:p>
        </p:txBody>
      </p:sp>
      <p:sp>
        <p:nvSpPr>
          <p:cNvPr id="5" name="Shape 3"/>
          <p:cNvSpPr/>
          <p:nvPr/>
        </p:nvSpPr>
        <p:spPr>
          <a:xfrm>
            <a:off x="793790" y="2376488"/>
            <a:ext cx="13042821" cy="4652963"/>
          </a:xfrm>
          <a:prstGeom prst="roundRect">
            <a:avLst>
              <a:gd name="adj" fmla="val 576"/>
            </a:avLst>
          </a:prstGeom>
          <a:noFill/>
          <a:ln w="7620">
            <a:solidFill>
              <a:srgbClr val="000000">
                <a:alpha val="8000"/>
              </a:srgbClr>
            </a:solidFill>
            <a:prstDash val="solid"/>
          </a:ln>
        </p:spPr>
        <p:txBody>
          <a:bodyPr/>
          <a:lstStyle/>
          <a:p>
            <a:endParaRPr lang="en-US"/>
          </a:p>
        </p:txBody>
      </p:sp>
      <p:sp>
        <p:nvSpPr>
          <p:cNvPr id="6" name="Shape 4"/>
          <p:cNvSpPr/>
          <p:nvPr/>
        </p:nvSpPr>
        <p:spPr>
          <a:xfrm>
            <a:off x="801410" y="2384108"/>
            <a:ext cx="13027581" cy="515303"/>
          </a:xfrm>
          <a:prstGeom prst="rect">
            <a:avLst/>
          </a:prstGeom>
          <a:solidFill>
            <a:srgbClr val="FFFFFF">
              <a:alpha val="4000"/>
            </a:srgbClr>
          </a:solidFill>
          <a:ln/>
        </p:spPr>
        <p:txBody>
          <a:bodyPr/>
          <a:lstStyle/>
          <a:p>
            <a:endParaRPr lang="en-US"/>
          </a:p>
        </p:txBody>
      </p:sp>
      <p:sp>
        <p:nvSpPr>
          <p:cNvPr id="7" name="Text 5"/>
          <p:cNvSpPr/>
          <p:nvPr/>
        </p:nvSpPr>
        <p:spPr>
          <a:xfrm>
            <a:off x="980242" y="2498884"/>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Predictor</a:t>
            </a:r>
            <a:endParaRPr lang="en-US" sz="1400" dirty="0"/>
          </a:p>
        </p:txBody>
      </p:sp>
      <p:sp>
        <p:nvSpPr>
          <p:cNvPr id="8" name="Text 6"/>
          <p:cNvSpPr/>
          <p:nvPr/>
        </p:nvSpPr>
        <p:spPr>
          <a:xfrm>
            <a:off x="5543669" y="2498884"/>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β</a:t>
            </a:r>
            <a:endParaRPr lang="en-US" sz="1400" dirty="0"/>
          </a:p>
        </p:txBody>
      </p:sp>
      <p:sp>
        <p:nvSpPr>
          <p:cNvPr id="9" name="Text 7"/>
          <p:cNvSpPr/>
          <p:nvPr/>
        </p:nvSpPr>
        <p:spPr>
          <a:xfrm>
            <a:off x="7497723" y="2498884"/>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p</a:t>
            </a:r>
            <a:endParaRPr lang="en-US" sz="1400" dirty="0"/>
          </a:p>
        </p:txBody>
      </p:sp>
      <p:sp>
        <p:nvSpPr>
          <p:cNvPr id="10" name="Text 8"/>
          <p:cNvSpPr/>
          <p:nvPr/>
        </p:nvSpPr>
        <p:spPr>
          <a:xfrm>
            <a:off x="9451777" y="2498884"/>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Result</a:t>
            </a:r>
            <a:endParaRPr lang="en-US" sz="1400" dirty="0"/>
          </a:p>
        </p:txBody>
      </p:sp>
      <p:sp>
        <p:nvSpPr>
          <p:cNvPr id="11" name="Shape 9"/>
          <p:cNvSpPr/>
          <p:nvPr/>
        </p:nvSpPr>
        <p:spPr>
          <a:xfrm>
            <a:off x="801410" y="2899410"/>
            <a:ext cx="13027581" cy="515303"/>
          </a:xfrm>
          <a:prstGeom prst="rect">
            <a:avLst/>
          </a:prstGeom>
          <a:solidFill>
            <a:srgbClr val="000000">
              <a:alpha val="4000"/>
            </a:srgbClr>
          </a:solidFill>
          <a:ln/>
        </p:spPr>
        <p:txBody>
          <a:bodyPr/>
          <a:lstStyle/>
          <a:p>
            <a:endParaRPr lang="en-US"/>
          </a:p>
        </p:txBody>
      </p:sp>
      <p:sp>
        <p:nvSpPr>
          <p:cNvPr id="12" name="Text 10"/>
          <p:cNvSpPr/>
          <p:nvPr/>
        </p:nvSpPr>
        <p:spPr>
          <a:xfrm>
            <a:off x="980242" y="3014186"/>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Price Value</a:t>
            </a:r>
            <a:endParaRPr lang="en-US" sz="1400" dirty="0"/>
          </a:p>
        </p:txBody>
      </p:sp>
      <p:sp>
        <p:nvSpPr>
          <p:cNvPr id="13" name="Text 11"/>
          <p:cNvSpPr/>
          <p:nvPr/>
        </p:nvSpPr>
        <p:spPr>
          <a:xfrm>
            <a:off x="5543669" y="3014186"/>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.505</a:t>
            </a:r>
            <a:endParaRPr lang="en-US" sz="1400" dirty="0"/>
          </a:p>
        </p:txBody>
      </p:sp>
      <p:sp>
        <p:nvSpPr>
          <p:cNvPr id="14" name="Text 12"/>
          <p:cNvSpPr/>
          <p:nvPr/>
        </p:nvSpPr>
        <p:spPr>
          <a:xfrm>
            <a:off x="7497723" y="3014186"/>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&lt;.001</a:t>
            </a:r>
            <a:endParaRPr lang="en-US" sz="1400" dirty="0"/>
          </a:p>
        </p:txBody>
      </p:sp>
      <p:sp>
        <p:nvSpPr>
          <p:cNvPr id="15" name="Text 13"/>
          <p:cNvSpPr/>
          <p:nvPr/>
        </p:nvSpPr>
        <p:spPr>
          <a:xfrm>
            <a:off x="9451777" y="3014186"/>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 Strongest</a:t>
            </a:r>
            <a:endParaRPr lang="en-US" sz="1400" dirty="0"/>
          </a:p>
        </p:txBody>
      </p:sp>
      <p:sp>
        <p:nvSpPr>
          <p:cNvPr id="16" name="Shape 14"/>
          <p:cNvSpPr/>
          <p:nvPr/>
        </p:nvSpPr>
        <p:spPr>
          <a:xfrm>
            <a:off x="801410" y="3414713"/>
            <a:ext cx="13027581" cy="515303"/>
          </a:xfrm>
          <a:prstGeom prst="rect">
            <a:avLst/>
          </a:prstGeom>
          <a:solidFill>
            <a:srgbClr val="FFFFFF">
              <a:alpha val="4000"/>
            </a:srgbClr>
          </a:solidFill>
          <a:ln/>
        </p:spPr>
        <p:txBody>
          <a:bodyPr/>
          <a:lstStyle/>
          <a:p>
            <a:endParaRPr lang="en-US"/>
          </a:p>
        </p:txBody>
      </p:sp>
      <p:sp>
        <p:nvSpPr>
          <p:cNvPr id="17" name="Text 15"/>
          <p:cNvSpPr/>
          <p:nvPr/>
        </p:nvSpPr>
        <p:spPr>
          <a:xfrm>
            <a:off x="980242" y="3529489"/>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Hedonic Motivation</a:t>
            </a:r>
            <a:endParaRPr lang="en-US" sz="1400" dirty="0"/>
          </a:p>
        </p:txBody>
      </p:sp>
      <p:sp>
        <p:nvSpPr>
          <p:cNvPr id="18" name="Text 16"/>
          <p:cNvSpPr/>
          <p:nvPr/>
        </p:nvSpPr>
        <p:spPr>
          <a:xfrm>
            <a:off x="5543669" y="3529489"/>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.217</a:t>
            </a:r>
            <a:endParaRPr lang="en-US" sz="1400" dirty="0"/>
          </a:p>
        </p:txBody>
      </p:sp>
      <p:sp>
        <p:nvSpPr>
          <p:cNvPr id="19" name="Text 17"/>
          <p:cNvSpPr/>
          <p:nvPr/>
        </p:nvSpPr>
        <p:spPr>
          <a:xfrm>
            <a:off x="7497723" y="3529489"/>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.014</a:t>
            </a:r>
            <a:endParaRPr lang="en-US" sz="1400" dirty="0"/>
          </a:p>
        </p:txBody>
      </p:sp>
      <p:sp>
        <p:nvSpPr>
          <p:cNvPr id="20" name="Text 18"/>
          <p:cNvSpPr/>
          <p:nvPr/>
        </p:nvSpPr>
        <p:spPr>
          <a:xfrm>
            <a:off x="9451777" y="3529489"/>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 Supported</a:t>
            </a:r>
            <a:endParaRPr lang="en-US" sz="1400" dirty="0"/>
          </a:p>
        </p:txBody>
      </p:sp>
      <p:sp>
        <p:nvSpPr>
          <p:cNvPr id="21" name="Shape 19"/>
          <p:cNvSpPr/>
          <p:nvPr/>
        </p:nvSpPr>
        <p:spPr>
          <a:xfrm>
            <a:off x="801410" y="3930015"/>
            <a:ext cx="13027581" cy="515303"/>
          </a:xfrm>
          <a:prstGeom prst="rect">
            <a:avLst/>
          </a:prstGeom>
          <a:solidFill>
            <a:srgbClr val="000000">
              <a:alpha val="4000"/>
            </a:srgbClr>
          </a:solidFill>
          <a:ln/>
        </p:spPr>
        <p:txBody>
          <a:bodyPr/>
          <a:lstStyle/>
          <a:p>
            <a:endParaRPr lang="en-US"/>
          </a:p>
        </p:txBody>
      </p:sp>
      <p:sp>
        <p:nvSpPr>
          <p:cNvPr id="22" name="Text 20"/>
          <p:cNvSpPr/>
          <p:nvPr/>
        </p:nvSpPr>
        <p:spPr>
          <a:xfrm>
            <a:off x="980242" y="4044791"/>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Social Influence</a:t>
            </a:r>
            <a:endParaRPr lang="en-US" sz="1400" dirty="0"/>
          </a:p>
        </p:txBody>
      </p:sp>
      <p:sp>
        <p:nvSpPr>
          <p:cNvPr id="23" name="Text 21"/>
          <p:cNvSpPr/>
          <p:nvPr/>
        </p:nvSpPr>
        <p:spPr>
          <a:xfrm>
            <a:off x="5543669" y="4044791"/>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.136</a:t>
            </a:r>
            <a:endParaRPr lang="en-US" sz="1400" dirty="0"/>
          </a:p>
        </p:txBody>
      </p:sp>
      <p:sp>
        <p:nvSpPr>
          <p:cNvPr id="24" name="Text 22"/>
          <p:cNvSpPr/>
          <p:nvPr/>
        </p:nvSpPr>
        <p:spPr>
          <a:xfrm>
            <a:off x="7497723" y="4044791"/>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.024</a:t>
            </a:r>
            <a:endParaRPr lang="en-US" sz="1400" dirty="0"/>
          </a:p>
        </p:txBody>
      </p:sp>
      <p:sp>
        <p:nvSpPr>
          <p:cNvPr id="25" name="Text 23"/>
          <p:cNvSpPr/>
          <p:nvPr/>
        </p:nvSpPr>
        <p:spPr>
          <a:xfrm>
            <a:off x="9451777" y="4044791"/>
            <a:ext cx="4198620" cy="285750"/>
          </a:xfrm>
          <a:prstGeom prst="rect">
            <a:avLst/>
          </a:prstGeom>
          <a:noFill/>
          <a:ln/>
        </p:spPr>
        <p:txBody>
          <a:bodyPr wrap="none" lIns="0" tIns="0" rIns="0" bIns="0" rtlCol="0" anchor="t"/>
          <a:lstStyle/>
          <a:p>
            <a:pPr marL="0" indent="0" algn="l">
              <a:lnSpc>
                <a:spcPts val="2250"/>
              </a:lnSpc>
              <a:buNone/>
            </a:pPr>
            <a:r>
              <a:rPr lang="en-US" sz="1400" b="1" dirty="0">
                <a:solidFill>
                  <a:srgbClr val="3257B8"/>
                </a:solidFill>
                <a:latin typeface="Roboto" pitchFamily="34" charset="0"/>
                <a:ea typeface="Roboto" pitchFamily="34" charset="-122"/>
                <a:cs typeface="Roboto" pitchFamily="34" charset="-120"/>
              </a:rPr>
              <a:t>✓ Supported</a:t>
            </a:r>
            <a:endParaRPr lang="en-US" sz="1400" dirty="0"/>
          </a:p>
        </p:txBody>
      </p:sp>
      <p:sp>
        <p:nvSpPr>
          <p:cNvPr id="26" name="Shape 24"/>
          <p:cNvSpPr/>
          <p:nvPr/>
        </p:nvSpPr>
        <p:spPr>
          <a:xfrm>
            <a:off x="801410" y="4445318"/>
            <a:ext cx="13027581" cy="515303"/>
          </a:xfrm>
          <a:prstGeom prst="rect">
            <a:avLst/>
          </a:prstGeom>
          <a:solidFill>
            <a:srgbClr val="FFFFFF">
              <a:alpha val="4000"/>
            </a:srgbClr>
          </a:solidFill>
          <a:ln/>
        </p:spPr>
        <p:txBody>
          <a:bodyPr/>
          <a:lstStyle/>
          <a:p>
            <a:endParaRPr lang="en-US"/>
          </a:p>
        </p:txBody>
      </p:sp>
      <p:sp>
        <p:nvSpPr>
          <p:cNvPr id="27" name="Text 25"/>
          <p:cNvSpPr/>
          <p:nvPr/>
        </p:nvSpPr>
        <p:spPr>
          <a:xfrm>
            <a:off x="980242" y="4560094"/>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AI Trust</a:t>
            </a:r>
            <a:endParaRPr lang="en-US" sz="1400" dirty="0"/>
          </a:p>
        </p:txBody>
      </p:sp>
      <p:sp>
        <p:nvSpPr>
          <p:cNvPr id="28" name="Text 26"/>
          <p:cNvSpPr/>
          <p:nvPr/>
        </p:nvSpPr>
        <p:spPr>
          <a:xfrm>
            <a:off x="5543669" y="4560094"/>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.106</a:t>
            </a:r>
            <a:endParaRPr lang="en-US" sz="1400" dirty="0"/>
          </a:p>
        </p:txBody>
      </p:sp>
      <p:sp>
        <p:nvSpPr>
          <p:cNvPr id="29" name="Text 27"/>
          <p:cNvSpPr/>
          <p:nvPr/>
        </p:nvSpPr>
        <p:spPr>
          <a:xfrm>
            <a:off x="7497723" y="4560094"/>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.064</a:t>
            </a:r>
            <a:endParaRPr lang="en-US" sz="1400" dirty="0"/>
          </a:p>
        </p:txBody>
      </p:sp>
      <p:sp>
        <p:nvSpPr>
          <p:cNvPr id="30" name="Text 28"/>
          <p:cNvSpPr/>
          <p:nvPr/>
        </p:nvSpPr>
        <p:spPr>
          <a:xfrm>
            <a:off x="9451777" y="4560094"/>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 Marginal</a:t>
            </a:r>
            <a:endParaRPr lang="en-US" sz="1400" dirty="0"/>
          </a:p>
        </p:txBody>
      </p:sp>
      <p:sp>
        <p:nvSpPr>
          <p:cNvPr id="31" name="Shape 29"/>
          <p:cNvSpPr/>
          <p:nvPr/>
        </p:nvSpPr>
        <p:spPr>
          <a:xfrm>
            <a:off x="801410" y="4960620"/>
            <a:ext cx="13027581" cy="515303"/>
          </a:xfrm>
          <a:prstGeom prst="rect">
            <a:avLst/>
          </a:prstGeom>
          <a:solidFill>
            <a:srgbClr val="000000">
              <a:alpha val="4000"/>
            </a:srgbClr>
          </a:solidFill>
          <a:ln/>
        </p:spPr>
        <p:txBody>
          <a:bodyPr/>
          <a:lstStyle/>
          <a:p>
            <a:endParaRPr lang="en-US"/>
          </a:p>
        </p:txBody>
      </p:sp>
      <p:sp>
        <p:nvSpPr>
          <p:cNvPr id="32" name="Text 30"/>
          <p:cNvSpPr/>
          <p:nvPr/>
        </p:nvSpPr>
        <p:spPr>
          <a:xfrm>
            <a:off x="980242" y="5075396"/>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Performance Expectancy</a:t>
            </a:r>
            <a:endParaRPr lang="en-US" sz="1400" dirty="0"/>
          </a:p>
        </p:txBody>
      </p:sp>
      <p:sp>
        <p:nvSpPr>
          <p:cNvPr id="33" name="Text 31"/>
          <p:cNvSpPr/>
          <p:nvPr/>
        </p:nvSpPr>
        <p:spPr>
          <a:xfrm>
            <a:off x="5543669" y="5075396"/>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−.028</a:t>
            </a:r>
            <a:endParaRPr lang="en-US" sz="1400" dirty="0"/>
          </a:p>
        </p:txBody>
      </p:sp>
      <p:sp>
        <p:nvSpPr>
          <p:cNvPr id="34" name="Text 32"/>
          <p:cNvSpPr/>
          <p:nvPr/>
        </p:nvSpPr>
        <p:spPr>
          <a:xfrm>
            <a:off x="7497723" y="5075396"/>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.791</a:t>
            </a:r>
            <a:endParaRPr lang="en-US" sz="1400" dirty="0"/>
          </a:p>
        </p:txBody>
      </p:sp>
      <p:sp>
        <p:nvSpPr>
          <p:cNvPr id="35" name="Text 33"/>
          <p:cNvSpPr/>
          <p:nvPr/>
        </p:nvSpPr>
        <p:spPr>
          <a:xfrm>
            <a:off x="9451777" y="5075396"/>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 Not Supported</a:t>
            </a:r>
            <a:endParaRPr lang="en-US" sz="1400" dirty="0"/>
          </a:p>
        </p:txBody>
      </p:sp>
      <p:sp>
        <p:nvSpPr>
          <p:cNvPr id="36" name="Shape 34"/>
          <p:cNvSpPr/>
          <p:nvPr/>
        </p:nvSpPr>
        <p:spPr>
          <a:xfrm>
            <a:off x="801410" y="5475923"/>
            <a:ext cx="13027581" cy="515303"/>
          </a:xfrm>
          <a:prstGeom prst="rect">
            <a:avLst/>
          </a:prstGeom>
          <a:solidFill>
            <a:srgbClr val="FFFFFF">
              <a:alpha val="4000"/>
            </a:srgbClr>
          </a:solidFill>
          <a:ln/>
        </p:spPr>
        <p:txBody>
          <a:bodyPr/>
          <a:lstStyle/>
          <a:p>
            <a:endParaRPr lang="en-US"/>
          </a:p>
        </p:txBody>
      </p:sp>
      <p:sp>
        <p:nvSpPr>
          <p:cNvPr id="37" name="Text 35"/>
          <p:cNvSpPr/>
          <p:nvPr/>
        </p:nvSpPr>
        <p:spPr>
          <a:xfrm>
            <a:off x="980242" y="5590699"/>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Effort Expectancy</a:t>
            </a:r>
            <a:endParaRPr lang="en-US" sz="1400" dirty="0"/>
          </a:p>
        </p:txBody>
      </p:sp>
      <p:sp>
        <p:nvSpPr>
          <p:cNvPr id="38" name="Text 36"/>
          <p:cNvSpPr/>
          <p:nvPr/>
        </p:nvSpPr>
        <p:spPr>
          <a:xfrm>
            <a:off x="5543669" y="5590699"/>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−.008</a:t>
            </a:r>
            <a:endParaRPr lang="en-US" sz="1400" dirty="0"/>
          </a:p>
        </p:txBody>
      </p:sp>
      <p:sp>
        <p:nvSpPr>
          <p:cNvPr id="39" name="Text 37"/>
          <p:cNvSpPr/>
          <p:nvPr/>
        </p:nvSpPr>
        <p:spPr>
          <a:xfrm>
            <a:off x="7497723" y="5590699"/>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.875</a:t>
            </a:r>
            <a:endParaRPr lang="en-US" sz="1400" dirty="0"/>
          </a:p>
        </p:txBody>
      </p:sp>
      <p:sp>
        <p:nvSpPr>
          <p:cNvPr id="40" name="Text 38"/>
          <p:cNvSpPr/>
          <p:nvPr/>
        </p:nvSpPr>
        <p:spPr>
          <a:xfrm>
            <a:off x="9451777" y="5590699"/>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 Not Supported</a:t>
            </a:r>
            <a:endParaRPr lang="en-US" sz="1400" dirty="0"/>
          </a:p>
        </p:txBody>
      </p:sp>
      <p:sp>
        <p:nvSpPr>
          <p:cNvPr id="41" name="Shape 39"/>
          <p:cNvSpPr/>
          <p:nvPr/>
        </p:nvSpPr>
        <p:spPr>
          <a:xfrm>
            <a:off x="801410" y="5991225"/>
            <a:ext cx="13027581" cy="515303"/>
          </a:xfrm>
          <a:prstGeom prst="rect">
            <a:avLst/>
          </a:prstGeom>
          <a:solidFill>
            <a:srgbClr val="000000">
              <a:alpha val="4000"/>
            </a:srgbClr>
          </a:solidFill>
          <a:ln/>
        </p:spPr>
        <p:txBody>
          <a:bodyPr/>
          <a:lstStyle/>
          <a:p>
            <a:endParaRPr lang="en-US"/>
          </a:p>
        </p:txBody>
      </p:sp>
      <p:sp>
        <p:nvSpPr>
          <p:cNvPr id="42" name="Text 40"/>
          <p:cNvSpPr/>
          <p:nvPr/>
        </p:nvSpPr>
        <p:spPr>
          <a:xfrm>
            <a:off x="980242" y="6106001"/>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Facilitating Conditions</a:t>
            </a:r>
            <a:endParaRPr lang="en-US" sz="1400" dirty="0"/>
          </a:p>
        </p:txBody>
      </p:sp>
      <p:sp>
        <p:nvSpPr>
          <p:cNvPr id="43" name="Text 41"/>
          <p:cNvSpPr/>
          <p:nvPr/>
        </p:nvSpPr>
        <p:spPr>
          <a:xfrm>
            <a:off x="5543669" y="6106001"/>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.059</a:t>
            </a:r>
            <a:endParaRPr lang="en-US" sz="1400" dirty="0"/>
          </a:p>
        </p:txBody>
      </p:sp>
      <p:sp>
        <p:nvSpPr>
          <p:cNvPr id="44" name="Text 42"/>
          <p:cNvSpPr/>
          <p:nvPr/>
        </p:nvSpPr>
        <p:spPr>
          <a:xfrm>
            <a:off x="7497723" y="6106001"/>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.338</a:t>
            </a:r>
            <a:endParaRPr lang="en-US" sz="1400" dirty="0"/>
          </a:p>
        </p:txBody>
      </p:sp>
      <p:sp>
        <p:nvSpPr>
          <p:cNvPr id="45" name="Text 43"/>
          <p:cNvSpPr/>
          <p:nvPr/>
        </p:nvSpPr>
        <p:spPr>
          <a:xfrm>
            <a:off x="9451777" y="6106001"/>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 Not Supported</a:t>
            </a:r>
            <a:endParaRPr lang="en-US" sz="1400" dirty="0"/>
          </a:p>
        </p:txBody>
      </p:sp>
      <p:sp>
        <p:nvSpPr>
          <p:cNvPr id="46" name="Shape 44"/>
          <p:cNvSpPr/>
          <p:nvPr/>
        </p:nvSpPr>
        <p:spPr>
          <a:xfrm>
            <a:off x="801410" y="6506528"/>
            <a:ext cx="13027581" cy="515303"/>
          </a:xfrm>
          <a:prstGeom prst="rect">
            <a:avLst/>
          </a:prstGeom>
          <a:solidFill>
            <a:srgbClr val="FFFFFF">
              <a:alpha val="4000"/>
            </a:srgbClr>
          </a:solidFill>
          <a:ln/>
        </p:spPr>
        <p:txBody>
          <a:bodyPr/>
          <a:lstStyle/>
          <a:p>
            <a:endParaRPr lang="en-US"/>
          </a:p>
        </p:txBody>
      </p:sp>
      <p:sp>
        <p:nvSpPr>
          <p:cNvPr id="47" name="Text 45"/>
          <p:cNvSpPr/>
          <p:nvPr/>
        </p:nvSpPr>
        <p:spPr>
          <a:xfrm>
            <a:off x="980242" y="6621304"/>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Habit</a:t>
            </a:r>
            <a:endParaRPr lang="en-US" sz="1400" dirty="0"/>
          </a:p>
        </p:txBody>
      </p:sp>
      <p:sp>
        <p:nvSpPr>
          <p:cNvPr id="48" name="Text 46"/>
          <p:cNvSpPr/>
          <p:nvPr/>
        </p:nvSpPr>
        <p:spPr>
          <a:xfrm>
            <a:off x="5543669" y="6621304"/>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.023</a:t>
            </a:r>
            <a:endParaRPr lang="en-US" sz="1400" dirty="0"/>
          </a:p>
        </p:txBody>
      </p:sp>
      <p:sp>
        <p:nvSpPr>
          <p:cNvPr id="49" name="Text 47"/>
          <p:cNvSpPr/>
          <p:nvPr/>
        </p:nvSpPr>
        <p:spPr>
          <a:xfrm>
            <a:off x="7497723" y="6621304"/>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.631</a:t>
            </a:r>
            <a:endParaRPr lang="en-US" sz="1400" dirty="0"/>
          </a:p>
        </p:txBody>
      </p:sp>
      <p:sp>
        <p:nvSpPr>
          <p:cNvPr id="50" name="Text 48"/>
          <p:cNvSpPr/>
          <p:nvPr/>
        </p:nvSpPr>
        <p:spPr>
          <a:xfrm>
            <a:off x="9451777" y="6621304"/>
            <a:ext cx="4198620"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 Not Supported</a:t>
            </a:r>
            <a:endParaRPr lang="en-US" sz="1400" dirty="0"/>
          </a:p>
        </p:txBody>
      </p:sp>
      <p:sp>
        <p:nvSpPr>
          <p:cNvPr id="51" name="Text 49"/>
          <p:cNvSpPr/>
          <p:nvPr/>
        </p:nvSpPr>
        <p:spPr>
          <a:xfrm>
            <a:off x="793790" y="7230308"/>
            <a:ext cx="13042821"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Model R² = .852</a:t>
            </a:r>
            <a:r>
              <a:rPr lang="en-US" sz="1400" dirty="0">
                <a:solidFill>
                  <a:srgbClr val="15213F"/>
                </a:solidFill>
                <a:latin typeface="Roboto" pitchFamily="34" charset="0"/>
                <a:ea typeface="Roboto" pitchFamily="34" charset="-122"/>
                <a:cs typeface="Roboto" pitchFamily="34" charset="-120"/>
              </a:rPr>
              <a:t> (85.2% variance explained)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445776"/>
            <a:ext cx="9730145"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Key Finding #1: The Value Paradigm Shift</a:t>
            </a:r>
            <a:endParaRPr lang="en-US" sz="3900" dirty="0"/>
          </a:p>
        </p:txBody>
      </p:sp>
      <p:sp>
        <p:nvSpPr>
          <p:cNvPr id="3" name="Text 1"/>
          <p:cNvSpPr/>
          <p:nvPr/>
        </p:nvSpPr>
        <p:spPr>
          <a:xfrm>
            <a:off x="793790" y="2561868"/>
            <a:ext cx="2979658"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What Works (Significant)</a:t>
            </a:r>
            <a:endParaRPr lang="en-US" sz="1950" dirty="0"/>
          </a:p>
        </p:txBody>
      </p:sp>
      <p:sp>
        <p:nvSpPr>
          <p:cNvPr id="4" name="Text 2"/>
          <p:cNvSpPr/>
          <p:nvPr/>
        </p:nvSpPr>
        <p:spPr>
          <a:xfrm>
            <a:off x="793790" y="3070384"/>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257B8"/>
                </a:solidFill>
                <a:latin typeface="Roboto" pitchFamily="34" charset="0"/>
                <a:ea typeface="Roboto" pitchFamily="34" charset="-122"/>
                <a:cs typeface="Roboto" pitchFamily="34" charset="-120"/>
              </a:rPr>
              <a:t>Price Value (β = .505):</a:t>
            </a:r>
            <a:r>
              <a:rPr lang="en-US" sz="1550" dirty="0">
                <a:solidFill>
                  <a:srgbClr val="15213F"/>
                </a:solidFill>
                <a:latin typeface="Roboto" pitchFamily="34" charset="0"/>
                <a:ea typeface="Roboto" pitchFamily="34" charset="-122"/>
                <a:cs typeface="Roboto" pitchFamily="34" charset="-120"/>
              </a:rPr>
              <a:t> Strongest—cost-benefit evaluation dominates adoption decisions</a:t>
            </a:r>
            <a:endParaRPr lang="en-US" sz="1550" dirty="0"/>
          </a:p>
        </p:txBody>
      </p:sp>
      <p:sp>
        <p:nvSpPr>
          <p:cNvPr id="5" name="Text 3"/>
          <p:cNvSpPr/>
          <p:nvPr/>
        </p:nvSpPr>
        <p:spPr>
          <a:xfrm>
            <a:off x="793790" y="377487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257B8"/>
                </a:solidFill>
                <a:latin typeface="Roboto" pitchFamily="34" charset="0"/>
                <a:ea typeface="Roboto" pitchFamily="34" charset="-122"/>
                <a:cs typeface="Roboto" pitchFamily="34" charset="-120"/>
              </a:rPr>
              <a:t>Hedonic Motivation (β = .217):</a:t>
            </a:r>
            <a:r>
              <a:rPr lang="en-US" sz="1550" dirty="0">
                <a:solidFill>
                  <a:srgbClr val="15213F"/>
                </a:solidFill>
                <a:latin typeface="Roboto" pitchFamily="34" charset="0"/>
                <a:ea typeface="Roboto" pitchFamily="34" charset="-122"/>
                <a:cs typeface="Roboto" pitchFamily="34" charset="-120"/>
              </a:rPr>
              <a:t> Second—enjoyment drives sustained adoption</a:t>
            </a:r>
            <a:endParaRPr lang="en-US" sz="1550" dirty="0"/>
          </a:p>
        </p:txBody>
      </p:sp>
      <p:sp>
        <p:nvSpPr>
          <p:cNvPr id="6" name="Text 4"/>
          <p:cNvSpPr/>
          <p:nvPr/>
        </p:nvSpPr>
        <p:spPr>
          <a:xfrm>
            <a:off x="793790" y="4479369"/>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257B8"/>
                </a:solidFill>
                <a:latin typeface="Roboto" pitchFamily="34" charset="0"/>
                <a:ea typeface="Roboto" pitchFamily="34" charset="-122"/>
                <a:cs typeface="Roboto" pitchFamily="34" charset="-120"/>
              </a:rPr>
              <a:t>Social Influence (β = .136):</a:t>
            </a:r>
            <a:r>
              <a:rPr lang="en-US" sz="1550" dirty="0">
                <a:solidFill>
                  <a:srgbClr val="15213F"/>
                </a:solidFill>
                <a:latin typeface="Roboto" pitchFamily="34" charset="0"/>
                <a:ea typeface="Roboto" pitchFamily="34" charset="-122"/>
                <a:cs typeface="Roboto" pitchFamily="34" charset="-120"/>
              </a:rPr>
              <a:t> Third—peer influence matters significantly</a:t>
            </a:r>
            <a:endParaRPr lang="en-US" sz="1550" dirty="0"/>
          </a:p>
        </p:txBody>
      </p:sp>
      <p:sp>
        <p:nvSpPr>
          <p:cNvPr id="7" name="Text 5"/>
          <p:cNvSpPr/>
          <p:nvPr/>
        </p:nvSpPr>
        <p:spPr>
          <a:xfrm>
            <a:off x="793790" y="5183862"/>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15213F"/>
                </a:solidFill>
                <a:latin typeface="Roboto" pitchFamily="34" charset="0"/>
                <a:ea typeface="Roboto" pitchFamily="34" charset="-122"/>
                <a:cs typeface="Roboto" pitchFamily="34" charset="-120"/>
              </a:rPr>
              <a:t>AI Trust (β = .106):</a:t>
            </a:r>
            <a:r>
              <a:rPr lang="en-US" sz="1550" dirty="0">
                <a:solidFill>
                  <a:srgbClr val="15213F"/>
                </a:solidFill>
                <a:latin typeface="Roboto" pitchFamily="34" charset="0"/>
                <a:ea typeface="Roboto" pitchFamily="34" charset="-122"/>
                <a:cs typeface="Roboto" pitchFamily="34" charset="-120"/>
              </a:rPr>
              <a:t> Marginal but diagnostic value retained</a:t>
            </a:r>
            <a:endParaRPr lang="en-US" sz="1550" dirty="0"/>
          </a:p>
        </p:txBody>
      </p:sp>
      <p:sp>
        <p:nvSpPr>
          <p:cNvPr id="8" name="Text 6"/>
          <p:cNvSpPr/>
          <p:nvPr/>
        </p:nvSpPr>
        <p:spPr>
          <a:xfrm>
            <a:off x="7564874" y="2561868"/>
            <a:ext cx="3259336"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What Fails (Not Significant)</a:t>
            </a:r>
            <a:endParaRPr lang="en-US" sz="1950" dirty="0"/>
          </a:p>
        </p:txBody>
      </p:sp>
      <p:sp>
        <p:nvSpPr>
          <p:cNvPr id="9" name="Text 7"/>
          <p:cNvSpPr/>
          <p:nvPr/>
        </p:nvSpPr>
        <p:spPr>
          <a:xfrm>
            <a:off x="7564874" y="307038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Performance Expectancy (productivity gains)</a:t>
            </a:r>
            <a:endParaRPr lang="en-US" sz="1550" dirty="0"/>
          </a:p>
        </p:txBody>
      </p:sp>
      <p:sp>
        <p:nvSpPr>
          <p:cNvPr id="10" name="Text 8"/>
          <p:cNvSpPr/>
          <p:nvPr/>
        </p:nvSpPr>
        <p:spPr>
          <a:xfrm>
            <a:off x="7564874" y="345733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Effort Expectancy (ease of use)</a:t>
            </a:r>
            <a:endParaRPr lang="en-US" sz="1550" dirty="0"/>
          </a:p>
        </p:txBody>
      </p:sp>
      <p:sp>
        <p:nvSpPr>
          <p:cNvPr id="11" name="Text 9"/>
          <p:cNvSpPr/>
          <p:nvPr/>
        </p:nvSpPr>
        <p:spPr>
          <a:xfrm>
            <a:off x="7564874" y="384429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Facilitating Conditions (support/training)</a:t>
            </a:r>
            <a:endParaRPr lang="en-US" sz="1550" dirty="0"/>
          </a:p>
        </p:txBody>
      </p:sp>
      <p:sp>
        <p:nvSpPr>
          <p:cNvPr id="12" name="Text 10"/>
          <p:cNvSpPr/>
          <p:nvPr/>
        </p:nvSpPr>
        <p:spPr>
          <a:xfrm>
            <a:off x="7564874" y="423124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Habit (prior experience)</a:t>
            </a:r>
            <a:endParaRPr lang="en-US" sz="1550" dirty="0"/>
          </a:p>
        </p:txBody>
      </p:sp>
      <p:sp>
        <p:nvSpPr>
          <p:cNvPr id="13" name="Shape 11"/>
          <p:cNvSpPr/>
          <p:nvPr/>
        </p:nvSpPr>
        <p:spPr>
          <a:xfrm>
            <a:off x="793790" y="5893206"/>
            <a:ext cx="13042821" cy="32385"/>
          </a:xfrm>
          <a:prstGeom prst="rect">
            <a:avLst/>
          </a:prstGeom>
          <a:solidFill>
            <a:srgbClr val="15213F">
              <a:alpha val="50000"/>
            </a:srgbClr>
          </a:solidFill>
          <a:ln/>
        </p:spPr>
        <p:txBody>
          <a:bodyPr/>
          <a:lstStyle/>
          <a:p>
            <a:endParaRPr lang="en-US"/>
          </a:p>
        </p:txBody>
      </p:sp>
      <p:sp>
        <p:nvSpPr>
          <p:cNvPr id="14" name="Text 12"/>
          <p:cNvSpPr/>
          <p:nvPr/>
        </p:nvSpPr>
        <p:spPr>
          <a:xfrm>
            <a:off x="793790" y="614874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This pattern represents a </a:t>
            </a:r>
            <a:r>
              <a:rPr lang="en-US" sz="1550" b="1" dirty="0">
                <a:solidFill>
                  <a:srgbClr val="15213F"/>
                </a:solidFill>
                <a:latin typeface="Roboto" pitchFamily="34" charset="0"/>
                <a:ea typeface="Roboto" pitchFamily="34" charset="-122"/>
                <a:cs typeface="Roboto" pitchFamily="34" charset="-120"/>
              </a:rPr>
              <a:t>fundamental departure from 30 years of technology acceptance research</a:t>
            </a:r>
            <a:r>
              <a:rPr lang="en-US" sz="1550" dirty="0">
                <a:solidFill>
                  <a:srgbClr val="15213F"/>
                </a:solidFill>
                <a:latin typeface="Roboto" pitchFamily="34" charset="0"/>
                <a:ea typeface="Roboto" pitchFamily="34" charset="-122"/>
                <a:cs typeface="Roboto" pitchFamily="34" charset="-120"/>
              </a:rPr>
              <a:t>. Traditional UTAUT2 workhorses fail for AI adoption while value-focused and enjoyment-focused factors dominate.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06862"/>
            <a:ext cx="8757404" cy="589121"/>
          </a:xfrm>
          <a:prstGeom prst="rect">
            <a:avLst/>
          </a:prstGeom>
          <a:noFill/>
          <a:ln/>
        </p:spPr>
        <p:txBody>
          <a:bodyPr wrap="none" lIns="0" tIns="0" rIns="0" bIns="0" rtlCol="0" anchor="t"/>
          <a:lstStyle/>
          <a:p>
            <a:pPr marL="0" indent="0" algn="l">
              <a:lnSpc>
                <a:spcPts val="4600"/>
              </a:lnSpc>
              <a:buNone/>
            </a:pPr>
            <a:r>
              <a:rPr lang="en-US" sz="3700" dirty="0">
                <a:solidFill>
                  <a:srgbClr val="3257B8"/>
                </a:solidFill>
                <a:latin typeface="Roboto Slab" pitchFamily="34" charset="0"/>
                <a:ea typeface="Roboto Slab" pitchFamily="34" charset="-122"/>
                <a:cs typeface="Roboto Slab" pitchFamily="34" charset="-120"/>
              </a:rPr>
              <a:t>Key Finding #2: Traditional Drivers Fail</a:t>
            </a:r>
            <a:endParaRPr lang="en-US" sz="3700" dirty="0"/>
          </a:p>
        </p:txBody>
      </p:sp>
      <p:sp>
        <p:nvSpPr>
          <p:cNvPr id="3" name="Text 1"/>
          <p:cNvSpPr/>
          <p:nvPr/>
        </p:nvSpPr>
        <p:spPr>
          <a:xfrm>
            <a:off x="793790" y="1271349"/>
            <a:ext cx="4456152" cy="294680"/>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Why 30 Years of Research Doesn't Apply</a:t>
            </a:r>
            <a:endParaRPr lang="en-US" sz="1850" dirty="0"/>
          </a:p>
        </p:txBody>
      </p:sp>
      <p:sp>
        <p:nvSpPr>
          <p:cNvPr id="4" name="Text 2"/>
          <p:cNvSpPr/>
          <p:nvPr/>
        </p:nvSpPr>
        <p:spPr>
          <a:xfrm>
            <a:off x="1076563" y="2060853"/>
            <a:ext cx="12760047" cy="301704"/>
          </a:xfrm>
          <a:prstGeom prst="rect">
            <a:avLst/>
          </a:prstGeom>
          <a:noFill/>
          <a:ln/>
        </p:spPr>
        <p:txBody>
          <a:bodyPr wrap="none" lIns="0" tIns="0" rIns="0" bIns="0" rtlCol="0" anchor="t"/>
          <a:lstStyle/>
          <a:p>
            <a:pPr marL="0" indent="0" algn="l">
              <a:lnSpc>
                <a:spcPts val="2350"/>
              </a:lnSpc>
              <a:buNone/>
            </a:pPr>
            <a:r>
              <a:rPr lang="en-US" sz="1450" i="1" dirty="0">
                <a:solidFill>
                  <a:srgbClr val="15213F"/>
                </a:solidFill>
                <a:latin typeface="Roboto" pitchFamily="34" charset="0"/>
                <a:ea typeface="Roboto" pitchFamily="34" charset="-122"/>
                <a:cs typeface="Roboto" pitchFamily="34" charset="-120"/>
              </a:rPr>
              <a:t>Contrasts with Blut et al. (2022) meta-analysis of 737,112 users where Performance Expectancy was strongest predictor (ρ = .60)</a:t>
            </a:r>
            <a:endParaRPr lang="en-US" sz="1450" dirty="0"/>
          </a:p>
        </p:txBody>
      </p:sp>
      <p:sp>
        <p:nvSpPr>
          <p:cNvPr id="5" name="Shape 3"/>
          <p:cNvSpPr/>
          <p:nvPr/>
        </p:nvSpPr>
        <p:spPr>
          <a:xfrm>
            <a:off x="793790" y="1848803"/>
            <a:ext cx="22860" cy="725805"/>
          </a:xfrm>
          <a:prstGeom prst="rect">
            <a:avLst/>
          </a:prstGeom>
          <a:solidFill>
            <a:srgbClr val="3257B8"/>
          </a:solidFill>
          <a:ln/>
        </p:spPr>
        <p:txBody>
          <a:bodyPr/>
          <a:lstStyle/>
          <a:p>
            <a:endParaRPr lang="en-US"/>
          </a:p>
        </p:txBody>
      </p:sp>
      <p:sp>
        <p:nvSpPr>
          <p:cNvPr id="6" name="Shape 4"/>
          <p:cNvSpPr/>
          <p:nvPr/>
        </p:nvSpPr>
        <p:spPr>
          <a:xfrm>
            <a:off x="793790" y="2786658"/>
            <a:ext cx="6427113" cy="1916073"/>
          </a:xfrm>
          <a:prstGeom prst="roundRect">
            <a:avLst>
              <a:gd name="adj" fmla="val 1476"/>
            </a:avLst>
          </a:prstGeom>
          <a:solidFill>
            <a:srgbClr val="E9ECF2"/>
          </a:solidFill>
          <a:ln/>
        </p:spPr>
        <p:txBody>
          <a:bodyPr/>
          <a:lstStyle/>
          <a:p>
            <a:endParaRPr lang="en-US"/>
          </a:p>
        </p:txBody>
      </p:sp>
      <p:sp>
        <p:nvSpPr>
          <p:cNvPr id="7" name="Text 5"/>
          <p:cNvSpPr/>
          <p:nvPr/>
        </p:nvSpPr>
        <p:spPr>
          <a:xfrm>
            <a:off x="982266" y="2975134"/>
            <a:ext cx="2803446"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Performance Expectancy</a:t>
            </a:r>
            <a:endParaRPr lang="en-US" sz="1850" dirty="0"/>
          </a:p>
        </p:txBody>
      </p:sp>
      <p:sp>
        <p:nvSpPr>
          <p:cNvPr id="8" name="Text 6"/>
          <p:cNvSpPr/>
          <p:nvPr/>
        </p:nvSpPr>
        <p:spPr>
          <a:xfrm>
            <a:off x="982266" y="3382923"/>
            <a:ext cx="6050161"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"Will this make me productive?"</a:t>
            </a:r>
            <a:endParaRPr lang="en-US" sz="1450" dirty="0"/>
          </a:p>
        </p:txBody>
      </p:sp>
      <p:sp>
        <p:nvSpPr>
          <p:cNvPr id="9" name="Text 7"/>
          <p:cNvSpPr/>
          <p:nvPr/>
        </p:nvSpPr>
        <p:spPr>
          <a:xfrm>
            <a:off x="982266" y="3797737"/>
            <a:ext cx="6050161" cy="301704"/>
          </a:xfrm>
          <a:prstGeom prst="rect">
            <a:avLst/>
          </a:prstGeom>
          <a:noFill/>
          <a:ln/>
        </p:spPr>
        <p:txBody>
          <a:bodyPr wrap="none" lIns="0" tIns="0" rIns="0" bIns="0" rtlCol="0" anchor="t"/>
          <a:lstStyle/>
          <a:p>
            <a:pPr marL="0" indent="0" algn="l">
              <a:lnSpc>
                <a:spcPts val="2350"/>
              </a:lnSpc>
              <a:buNone/>
            </a:pPr>
            <a:r>
              <a:rPr lang="en-US" sz="1450" b="1" dirty="0">
                <a:solidFill>
                  <a:srgbClr val="15213F"/>
                </a:solidFill>
                <a:latin typeface="Roboto" pitchFamily="34" charset="0"/>
                <a:ea typeface="Roboto" pitchFamily="34" charset="-122"/>
                <a:cs typeface="Roboto" pitchFamily="34" charset="-120"/>
              </a:rPr>
              <a:t>NOT Significant</a:t>
            </a:r>
            <a:endParaRPr lang="en-US" sz="1450" dirty="0"/>
          </a:p>
        </p:txBody>
      </p:sp>
      <p:sp>
        <p:nvSpPr>
          <p:cNvPr id="10" name="Text 8"/>
          <p:cNvSpPr/>
          <p:nvPr/>
        </p:nvSpPr>
        <p:spPr>
          <a:xfrm>
            <a:off x="982266" y="4212550"/>
            <a:ext cx="6050161"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Productivity gains don't predict AI adoption</a:t>
            </a:r>
            <a:endParaRPr lang="en-US" sz="1450" dirty="0"/>
          </a:p>
        </p:txBody>
      </p:sp>
      <p:sp>
        <p:nvSpPr>
          <p:cNvPr id="11" name="Shape 9"/>
          <p:cNvSpPr/>
          <p:nvPr/>
        </p:nvSpPr>
        <p:spPr>
          <a:xfrm>
            <a:off x="7409378" y="2786658"/>
            <a:ext cx="6427232" cy="1916073"/>
          </a:xfrm>
          <a:prstGeom prst="roundRect">
            <a:avLst>
              <a:gd name="adj" fmla="val 1476"/>
            </a:avLst>
          </a:prstGeom>
          <a:solidFill>
            <a:srgbClr val="E9ECF2"/>
          </a:solidFill>
          <a:ln/>
        </p:spPr>
        <p:txBody>
          <a:bodyPr/>
          <a:lstStyle/>
          <a:p>
            <a:endParaRPr lang="en-US"/>
          </a:p>
        </p:txBody>
      </p:sp>
      <p:sp>
        <p:nvSpPr>
          <p:cNvPr id="12" name="Text 10"/>
          <p:cNvSpPr/>
          <p:nvPr/>
        </p:nvSpPr>
        <p:spPr>
          <a:xfrm>
            <a:off x="7597854" y="2975134"/>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Effort Expectancy</a:t>
            </a:r>
            <a:endParaRPr lang="en-US" sz="1850" dirty="0"/>
          </a:p>
        </p:txBody>
      </p:sp>
      <p:sp>
        <p:nvSpPr>
          <p:cNvPr id="13" name="Text 11"/>
          <p:cNvSpPr/>
          <p:nvPr/>
        </p:nvSpPr>
        <p:spPr>
          <a:xfrm>
            <a:off x="7597854" y="3382923"/>
            <a:ext cx="605028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"Is this easy to use?"</a:t>
            </a:r>
            <a:endParaRPr lang="en-US" sz="1450" dirty="0"/>
          </a:p>
        </p:txBody>
      </p:sp>
      <p:sp>
        <p:nvSpPr>
          <p:cNvPr id="14" name="Text 12"/>
          <p:cNvSpPr/>
          <p:nvPr/>
        </p:nvSpPr>
        <p:spPr>
          <a:xfrm>
            <a:off x="7597854" y="3797737"/>
            <a:ext cx="6050280" cy="301704"/>
          </a:xfrm>
          <a:prstGeom prst="rect">
            <a:avLst/>
          </a:prstGeom>
          <a:noFill/>
          <a:ln/>
        </p:spPr>
        <p:txBody>
          <a:bodyPr wrap="none" lIns="0" tIns="0" rIns="0" bIns="0" rtlCol="0" anchor="t"/>
          <a:lstStyle/>
          <a:p>
            <a:pPr marL="0" indent="0" algn="l">
              <a:lnSpc>
                <a:spcPts val="2350"/>
              </a:lnSpc>
              <a:buNone/>
            </a:pPr>
            <a:r>
              <a:rPr lang="en-US" sz="1450" b="1" dirty="0">
                <a:solidFill>
                  <a:srgbClr val="15213F"/>
                </a:solidFill>
                <a:latin typeface="Roboto" pitchFamily="34" charset="0"/>
                <a:ea typeface="Roboto" pitchFamily="34" charset="-122"/>
                <a:cs typeface="Roboto" pitchFamily="34" charset="-120"/>
              </a:rPr>
              <a:t>NOT Significant</a:t>
            </a:r>
            <a:endParaRPr lang="en-US" sz="1450" dirty="0"/>
          </a:p>
        </p:txBody>
      </p:sp>
      <p:sp>
        <p:nvSpPr>
          <p:cNvPr id="15" name="Text 13"/>
          <p:cNvSpPr/>
          <p:nvPr/>
        </p:nvSpPr>
        <p:spPr>
          <a:xfrm>
            <a:off x="7597854" y="4212550"/>
            <a:ext cx="605028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Ease of use doesn't predict AI adoption</a:t>
            </a:r>
            <a:endParaRPr lang="en-US" sz="1450" dirty="0"/>
          </a:p>
        </p:txBody>
      </p:sp>
      <p:sp>
        <p:nvSpPr>
          <p:cNvPr id="16" name="Shape 14"/>
          <p:cNvSpPr/>
          <p:nvPr/>
        </p:nvSpPr>
        <p:spPr>
          <a:xfrm>
            <a:off x="793790" y="4891207"/>
            <a:ext cx="6427113" cy="1916073"/>
          </a:xfrm>
          <a:prstGeom prst="roundRect">
            <a:avLst>
              <a:gd name="adj" fmla="val 1476"/>
            </a:avLst>
          </a:prstGeom>
          <a:solidFill>
            <a:srgbClr val="E9ECF2"/>
          </a:solidFill>
          <a:ln/>
        </p:spPr>
        <p:txBody>
          <a:bodyPr/>
          <a:lstStyle/>
          <a:p>
            <a:endParaRPr lang="en-US"/>
          </a:p>
        </p:txBody>
      </p:sp>
      <p:sp>
        <p:nvSpPr>
          <p:cNvPr id="17" name="Text 15"/>
          <p:cNvSpPr/>
          <p:nvPr/>
        </p:nvSpPr>
        <p:spPr>
          <a:xfrm>
            <a:off x="982266" y="5079683"/>
            <a:ext cx="2543770"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Facilitating Conditions</a:t>
            </a:r>
            <a:endParaRPr lang="en-US" sz="1850" dirty="0"/>
          </a:p>
        </p:txBody>
      </p:sp>
      <p:sp>
        <p:nvSpPr>
          <p:cNvPr id="18" name="Text 16"/>
          <p:cNvSpPr/>
          <p:nvPr/>
        </p:nvSpPr>
        <p:spPr>
          <a:xfrm>
            <a:off x="982266" y="5487472"/>
            <a:ext cx="6050161"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"Do I have support?"</a:t>
            </a:r>
            <a:endParaRPr lang="en-US" sz="1450" dirty="0"/>
          </a:p>
        </p:txBody>
      </p:sp>
      <p:sp>
        <p:nvSpPr>
          <p:cNvPr id="19" name="Text 17"/>
          <p:cNvSpPr/>
          <p:nvPr/>
        </p:nvSpPr>
        <p:spPr>
          <a:xfrm>
            <a:off x="982266" y="5902285"/>
            <a:ext cx="6050161" cy="301704"/>
          </a:xfrm>
          <a:prstGeom prst="rect">
            <a:avLst/>
          </a:prstGeom>
          <a:noFill/>
          <a:ln/>
        </p:spPr>
        <p:txBody>
          <a:bodyPr wrap="none" lIns="0" tIns="0" rIns="0" bIns="0" rtlCol="0" anchor="t"/>
          <a:lstStyle/>
          <a:p>
            <a:pPr marL="0" indent="0" algn="l">
              <a:lnSpc>
                <a:spcPts val="2350"/>
              </a:lnSpc>
              <a:buNone/>
            </a:pPr>
            <a:r>
              <a:rPr lang="en-US" sz="1450" b="1" dirty="0">
                <a:solidFill>
                  <a:srgbClr val="15213F"/>
                </a:solidFill>
                <a:latin typeface="Roboto" pitchFamily="34" charset="0"/>
                <a:ea typeface="Roboto" pitchFamily="34" charset="-122"/>
                <a:cs typeface="Roboto" pitchFamily="34" charset="-120"/>
              </a:rPr>
              <a:t>NOT Significant</a:t>
            </a:r>
            <a:endParaRPr lang="en-US" sz="1450" dirty="0"/>
          </a:p>
        </p:txBody>
      </p:sp>
      <p:sp>
        <p:nvSpPr>
          <p:cNvPr id="20" name="Text 18"/>
          <p:cNvSpPr/>
          <p:nvPr/>
        </p:nvSpPr>
        <p:spPr>
          <a:xfrm>
            <a:off x="982266" y="6317099"/>
            <a:ext cx="6050161"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Training/support doesn't predict AI adoption</a:t>
            </a:r>
            <a:endParaRPr lang="en-US" sz="1450" dirty="0"/>
          </a:p>
        </p:txBody>
      </p:sp>
      <p:sp>
        <p:nvSpPr>
          <p:cNvPr id="21" name="Shape 19"/>
          <p:cNvSpPr/>
          <p:nvPr/>
        </p:nvSpPr>
        <p:spPr>
          <a:xfrm>
            <a:off x="7409378" y="4891207"/>
            <a:ext cx="6427232" cy="1916073"/>
          </a:xfrm>
          <a:prstGeom prst="roundRect">
            <a:avLst>
              <a:gd name="adj" fmla="val 1476"/>
            </a:avLst>
          </a:prstGeom>
          <a:solidFill>
            <a:srgbClr val="E9ECF2"/>
          </a:solidFill>
          <a:ln/>
        </p:spPr>
        <p:txBody>
          <a:bodyPr/>
          <a:lstStyle/>
          <a:p>
            <a:endParaRPr lang="en-US"/>
          </a:p>
        </p:txBody>
      </p:sp>
      <p:sp>
        <p:nvSpPr>
          <p:cNvPr id="22" name="Text 20"/>
          <p:cNvSpPr/>
          <p:nvPr/>
        </p:nvSpPr>
        <p:spPr>
          <a:xfrm>
            <a:off x="7597854" y="5079683"/>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15213F"/>
                </a:solidFill>
                <a:latin typeface="Roboto Slab" pitchFamily="34" charset="0"/>
                <a:ea typeface="Roboto Slab" pitchFamily="34" charset="-122"/>
                <a:cs typeface="Roboto Slab" pitchFamily="34" charset="-120"/>
              </a:rPr>
              <a:t>Habit</a:t>
            </a:r>
            <a:endParaRPr lang="en-US" sz="1850" dirty="0"/>
          </a:p>
        </p:txBody>
      </p:sp>
      <p:sp>
        <p:nvSpPr>
          <p:cNvPr id="23" name="Text 21"/>
          <p:cNvSpPr/>
          <p:nvPr/>
        </p:nvSpPr>
        <p:spPr>
          <a:xfrm>
            <a:off x="7597854" y="5487472"/>
            <a:ext cx="605028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"Have I used this before?"</a:t>
            </a:r>
            <a:endParaRPr lang="en-US" sz="1450" dirty="0"/>
          </a:p>
        </p:txBody>
      </p:sp>
      <p:sp>
        <p:nvSpPr>
          <p:cNvPr id="24" name="Text 22"/>
          <p:cNvSpPr/>
          <p:nvPr/>
        </p:nvSpPr>
        <p:spPr>
          <a:xfrm>
            <a:off x="7597854" y="5902285"/>
            <a:ext cx="6050280" cy="301704"/>
          </a:xfrm>
          <a:prstGeom prst="rect">
            <a:avLst/>
          </a:prstGeom>
          <a:noFill/>
          <a:ln/>
        </p:spPr>
        <p:txBody>
          <a:bodyPr wrap="none" lIns="0" tIns="0" rIns="0" bIns="0" rtlCol="0" anchor="t"/>
          <a:lstStyle/>
          <a:p>
            <a:pPr marL="0" indent="0" algn="l">
              <a:lnSpc>
                <a:spcPts val="2350"/>
              </a:lnSpc>
              <a:buNone/>
            </a:pPr>
            <a:r>
              <a:rPr lang="en-US" sz="1450" b="1" dirty="0">
                <a:solidFill>
                  <a:srgbClr val="15213F"/>
                </a:solidFill>
                <a:latin typeface="Roboto" pitchFamily="34" charset="0"/>
                <a:ea typeface="Roboto" pitchFamily="34" charset="-122"/>
                <a:cs typeface="Roboto" pitchFamily="34" charset="-120"/>
              </a:rPr>
              <a:t>NOT Significant</a:t>
            </a:r>
            <a:endParaRPr lang="en-US" sz="1450" dirty="0"/>
          </a:p>
        </p:txBody>
      </p:sp>
      <p:sp>
        <p:nvSpPr>
          <p:cNvPr id="25" name="Text 23"/>
          <p:cNvSpPr/>
          <p:nvPr/>
        </p:nvSpPr>
        <p:spPr>
          <a:xfrm>
            <a:off x="7597854" y="6317099"/>
            <a:ext cx="6050280" cy="301704"/>
          </a:xfrm>
          <a:prstGeom prst="rect">
            <a:avLst/>
          </a:prstGeom>
          <a:noFill/>
          <a:ln/>
        </p:spPr>
        <p:txBody>
          <a:bodyPr wrap="non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Prior experience doesn't predict AI adoption</a:t>
            </a:r>
            <a:endParaRPr lang="en-US" sz="1450" dirty="0"/>
          </a:p>
        </p:txBody>
      </p:sp>
      <p:sp>
        <p:nvSpPr>
          <p:cNvPr id="26" name="Text 24"/>
          <p:cNvSpPr/>
          <p:nvPr/>
        </p:nvSpPr>
        <p:spPr>
          <a:xfrm>
            <a:off x="793790" y="7019330"/>
            <a:ext cx="13042821" cy="603409"/>
          </a:xfrm>
          <a:prstGeom prst="rect">
            <a:avLst/>
          </a:prstGeom>
          <a:noFill/>
          <a:ln/>
        </p:spPr>
        <p:txBody>
          <a:bodyPr wrap="square" lIns="0" tIns="0" rIns="0" bIns="0" rtlCol="0" anchor="t"/>
          <a:lstStyle/>
          <a:p>
            <a:pPr marL="0" indent="0" algn="l">
              <a:lnSpc>
                <a:spcPts val="2350"/>
              </a:lnSpc>
              <a:buNone/>
            </a:pPr>
            <a:r>
              <a:rPr lang="en-US" sz="1450" dirty="0">
                <a:solidFill>
                  <a:srgbClr val="15213F"/>
                </a:solidFill>
                <a:latin typeface="Roboto" pitchFamily="34" charset="0"/>
                <a:ea typeface="Roboto" pitchFamily="34" charset="-122"/>
                <a:cs typeface="Roboto" pitchFamily="34" charset="-120"/>
              </a:rPr>
              <a:t>Performance Expectancy has been the dominant predictor for 30 years across PCs, email, smartphones, and enterprise software. </a:t>
            </a:r>
            <a:r>
              <a:rPr lang="en-US" sz="1450" b="1" dirty="0">
                <a:solidFill>
                  <a:srgbClr val="15213F"/>
                </a:solidFill>
                <a:latin typeface="Roboto" pitchFamily="34" charset="0"/>
                <a:ea typeface="Roboto" pitchFamily="34" charset="-122"/>
                <a:cs typeface="Roboto" pitchFamily="34" charset="-120"/>
              </a:rPr>
              <a:t>For AI: not significant.</a:t>
            </a:r>
            <a:r>
              <a:rPr lang="en-US" sz="1450" dirty="0">
                <a:solidFill>
                  <a:srgbClr val="15213F"/>
                </a:solidFill>
                <a:latin typeface="Roboto" pitchFamily="34" charset="0"/>
                <a:ea typeface="Roboto" pitchFamily="34" charset="-122"/>
                <a:cs typeface="Roboto" pitchFamily="34" charset="-120"/>
              </a:rPr>
              <a:t> Same pattern for Effort Expectancy, Facilitating Conditions, and Habit.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186577"/>
            <a:ext cx="8331637"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Key Finding #2: The Paradigm Shift</a:t>
            </a:r>
            <a:endParaRPr lang="en-US" sz="3900" dirty="0"/>
          </a:p>
        </p:txBody>
      </p:sp>
      <p:sp>
        <p:nvSpPr>
          <p:cNvPr id="3" name="Text 1"/>
          <p:cNvSpPr/>
          <p:nvPr/>
        </p:nvSpPr>
        <p:spPr>
          <a:xfrm>
            <a:off x="793790" y="1885950"/>
            <a:ext cx="3807262"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Traditional Tech vs. AI Adoption</a:t>
            </a:r>
            <a:endParaRPr lang="en-US" sz="1950" dirty="0"/>
          </a:p>
        </p:txBody>
      </p:sp>
      <p:pic>
        <p:nvPicPr>
          <p:cNvPr id="4" name="Image 0" descr="preencoded.png"/>
          <p:cNvPicPr>
            <a:picLocks noChangeAspect="1"/>
          </p:cNvPicPr>
          <p:nvPr/>
        </p:nvPicPr>
        <p:blipFill>
          <a:blip r:embed="rId3"/>
          <a:stretch>
            <a:fillRect/>
          </a:stretch>
        </p:blipFill>
        <p:spPr>
          <a:xfrm>
            <a:off x="793790" y="2493764"/>
            <a:ext cx="6521410" cy="793790"/>
          </a:xfrm>
          <a:prstGeom prst="rect">
            <a:avLst/>
          </a:prstGeom>
        </p:spPr>
      </p:pic>
      <p:sp>
        <p:nvSpPr>
          <p:cNvPr id="5" name="Text 2"/>
          <p:cNvSpPr/>
          <p:nvPr/>
        </p:nvSpPr>
        <p:spPr>
          <a:xfrm>
            <a:off x="992148" y="34859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Traditional Tech</a:t>
            </a:r>
            <a:endParaRPr lang="en-US" sz="1950" dirty="0"/>
          </a:p>
        </p:txBody>
      </p:sp>
      <p:sp>
        <p:nvSpPr>
          <p:cNvPr id="6" name="Text 3"/>
          <p:cNvSpPr/>
          <p:nvPr/>
        </p:nvSpPr>
        <p:spPr>
          <a:xfrm>
            <a:off x="992148" y="3915132"/>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"Will this make me productive?"</a:t>
            </a:r>
            <a:endParaRPr lang="en-US" sz="1550" dirty="0"/>
          </a:p>
        </p:txBody>
      </p:sp>
      <p:sp>
        <p:nvSpPr>
          <p:cNvPr id="7" name="Text 4"/>
          <p:cNvSpPr/>
          <p:nvPr/>
        </p:nvSpPr>
        <p:spPr>
          <a:xfrm>
            <a:off x="992148" y="4351734"/>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Feature-focused evaluation</a:t>
            </a:r>
            <a:endParaRPr lang="en-US" sz="1550" dirty="0"/>
          </a:p>
        </p:txBody>
      </p:sp>
      <p:sp>
        <p:nvSpPr>
          <p:cNvPr id="8" name="Text 5"/>
          <p:cNvSpPr/>
          <p:nvPr/>
        </p:nvSpPr>
        <p:spPr>
          <a:xfrm>
            <a:off x="992148" y="4788337"/>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Training solves adoption barriers</a:t>
            </a:r>
            <a:endParaRPr lang="en-US" sz="1550" dirty="0"/>
          </a:p>
        </p:txBody>
      </p:sp>
      <p:pic>
        <p:nvPicPr>
          <p:cNvPr id="9" name="Image 1" descr="preencoded.png"/>
          <p:cNvPicPr>
            <a:picLocks noChangeAspect="1"/>
          </p:cNvPicPr>
          <p:nvPr/>
        </p:nvPicPr>
        <p:blipFill>
          <a:blip r:embed="rId4"/>
          <a:stretch>
            <a:fillRect/>
          </a:stretch>
        </p:blipFill>
        <p:spPr>
          <a:xfrm>
            <a:off x="7315200" y="2493764"/>
            <a:ext cx="6521410" cy="793790"/>
          </a:xfrm>
          <a:prstGeom prst="rect">
            <a:avLst/>
          </a:prstGeom>
        </p:spPr>
      </p:pic>
      <p:sp>
        <p:nvSpPr>
          <p:cNvPr id="10" name="Text 6"/>
          <p:cNvSpPr/>
          <p:nvPr/>
        </p:nvSpPr>
        <p:spPr>
          <a:xfrm>
            <a:off x="7513558" y="348591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AI Adoption</a:t>
            </a:r>
            <a:endParaRPr lang="en-US" sz="1950" dirty="0"/>
          </a:p>
        </p:txBody>
      </p:sp>
      <p:sp>
        <p:nvSpPr>
          <p:cNvPr id="11" name="Text 7"/>
          <p:cNvSpPr/>
          <p:nvPr/>
        </p:nvSpPr>
        <p:spPr>
          <a:xfrm>
            <a:off x="7513558" y="3915132"/>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"Is this worth my total investment?"</a:t>
            </a:r>
            <a:endParaRPr lang="en-US" sz="1550" dirty="0"/>
          </a:p>
        </p:txBody>
      </p:sp>
      <p:sp>
        <p:nvSpPr>
          <p:cNvPr id="12" name="Text 8"/>
          <p:cNvSpPr/>
          <p:nvPr/>
        </p:nvSpPr>
        <p:spPr>
          <a:xfrm>
            <a:off x="7513558" y="4351734"/>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Value-focused evaluation</a:t>
            </a:r>
            <a:endParaRPr lang="en-US" sz="1550" dirty="0"/>
          </a:p>
        </p:txBody>
      </p:sp>
      <p:sp>
        <p:nvSpPr>
          <p:cNvPr id="13" name="Text 9"/>
          <p:cNvSpPr/>
          <p:nvPr/>
        </p:nvSpPr>
        <p:spPr>
          <a:xfrm>
            <a:off x="7513558" y="4788337"/>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Trust enables adoption decisions</a:t>
            </a:r>
            <a:endParaRPr lang="en-US" sz="1550" dirty="0"/>
          </a:p>
        </p:txBody>
      </p:sp>
      <p:sp>
        <p:nvSpPr>
          <p:cNvPr id="14" name="Shape 10"/>
          <p:cNvSpPr/>
          <p:nvPr/>
        </p:nvSpPr>
        <p:spPr>
          <a:xfrm>
            <a:off x="793790" y="5626625"/>
            <a:ext cx="13042821" cy="32385"/>
          </a:xfrm>
          <a:prstGeom prst="rect">
            <a:avLst/>
          </a:prstGeom>
          <a:solidFill>
            <a:srgbClr val="15213F">
              <a:alpha val="50000"/>
            </a:srgbClr>
          </a:solidFill>
          <a:ln/>
        </p:spPr>
        <p:txBody>
          <a:bodyPr/>
          <a:lstStyle/>
          <a:p>
            <a:endParaRPr lang="en-US"/>
          </a:p>
        </p:txBody>
      </p:sp>
      <p:sp>
        <p:nvSpPr>
          <p:cNvPr id="15" name="Shape 11"/>
          <p:cNvSpPr/>
          <p:nvPr/>
        </p:nvSpPr>
        <p:spPr>
          <a:xfrm>
            <a:off x="793790" y="5882164"/>
            <a:ext cx="13042821" cy="1160740"/>
          </a:xfrm>
          <a:prstGeom prst="roundRect">
            <a:avLst>
              <a:gd name="adj" fmla="val 2565"/>
            </a:avLst>
          </a:prstGeom>
          <a:solidFill>
            <a:srgbClr val="C3CFEF"/>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92148" y="6177439"/>
            <a:ext cx="248007" cy="198358"/>
          </a:xfrm>
          <a:prstGeom prst="rect">
            <a:avLst/>
          </a:prstGeom>
        </p:spPr>
      </p:pic>
      <p:sp>
        <p:nvSpPr>
          <p:cNvPr id="17" name="Text 12"/>
          <p:cNvSpPr/>
          <p:nvPr/>
        </p:nvSpPr>
        <p:spPr>
          <a:xfrm>
            <a:off x="1438513" y="6130052"/>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Roboto" pitchFamily="34" charset="0"/>
                <a:ea typeface="Roboto" pitchFamily="34" charset="-122"/>
                <a:cs typeface="Roboto" pitchFamily="34" charset="-120"/>
              </a:rPr>
              <a:t>Critical Insight:</a:t>
            </a:r>
            <a:r>
              <a:rPr lang="en-US" sz="1550" dirty="0">
                <a:solidFill>
                  <a:srgbClr val="000000"/>
                </a:solidFill>
                <a:latin typeface="Roboto" pitchFamily="34" charset="0"/>
                <a:ea typeface="Roboto" pitchFamily="34" charset="-122"/>
                <a:cs typeface="Roboto" pitchFamily="34" charset="-120"/>
              </a:rPr>
              <a:t> Organizations approaching AI adoption with traditional playbooks will fail. AI requires fundamentally different change management strategies—demonstrating value rather than capabilities, and building trust before exposing features.</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1056323"/>
            <a:ext cx="8239363"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Key Finding #3: User Segmentation</a:t>
            </a:r>
            <a:endParaRPr lang="en-US" sz="3900" dirty="0"/>
          </a:p>
        </p:txBody>
      </p:sp>
      <p:sp>
        <p:nvSpPr>
          <p:cNvPr id="3" name="Text 1"/>
          <p:cNvSpPr/>
          <p:nvPr/>
        </p:nvSpPr>
        <p:spPr>
          <a:xfrm>
            <a:off x="793790" y="1755696"/>
            <a:ext cx="3926324"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Four Distinct AI Adoption Profiles</a:t>
            </a:r>
            <a:endParaRPr lang="en-US" sz="1950" dirty="0"/>
          </a:p>
        </p:txBody>
      </p:sp>
      <p:sp>
        <p:nvSpPr>
          <p:cNvPr id="4" name="Text 2"/>
          <p:cNvSpPr/>
          <p:nvPr/>
        </p:nvSpPr>
        <p:spPr>
          <a:xfrm>
            <a:off x="793790" y="2363510"/>
            <a:ext cx="13042821" cy="317540"/>
          </a:xfrm>
          <a:prstGeom prst="rect">
            <a:avLst/>
          </a:prstGeom>
          <a:noFill/>
          <a:ln/>
        </p:spPr>
        <p:txBody>
          <a:bodyPr wrap="none" lIns="0" tIns="0" rIns="0" bIns="0" rtlCol="0" anchor="t"/>
          <a:lstStyle/>
          <a:p>
            <a:pPr marL="0" indent="0" algn="l">
              <a:lnSpc>
                <a:spcPts val="2500"/>
              </a:lnSpc>
              <a:buNone/>
            </a:pPr>
            <a:r>
              <a:rPr lang="en-US" sz="1550" i="1" dirty="0">
                <a:solidFill>
                  <a:srgbClr val="15213F"/>
                </a:solidFill>
                <a:latin typeface="Roboto" pitchFamily="34" charset="0"/>
                <a:ea typeface="Roboto" pitchFamily="34" charset="-122"/>
                <a:cs typeface="Roboto" pitchFamily="34" charset="-120"/>
              </a:rPr>
              <a:t>K-means cluster analysis (k = 4, silhouette = .31)</a:t>
            </a:r>
            <a:endParaRPr lang="en-US" sz="1550" dirty="0"/>
          </a:p>
        </p:txBody>
      </p:sp>
      <p:sp>
        <p:nvSpPr>
          <p:cNvPr id="5" name="Text 3"/>
          <p:cNvSpPr/>
          <p:nvPr/>
        </p:nvSpPr>
        <p:spPr>
          <a:xfrm>
            <a:off x="793790" y="290429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Four distinct user segments identified via cluster analysis on standardized UTAUT construct scores. Each segment has unique characteristics requiring different intervention strategies.</a:t>
            </a:r>
            <a:endParaRPr lang="en-US" sz="1550" dirty="0"/>
          </a:p>
        </p:txBody>
      </p:sp>
      <p:sp>
        <p:nvSpPr>
          <p:cNvPr id="6" name="Shape 4"/>
          <p:cNvSpPr/>
          <p:nvPr/>
        </p:nvSpPr>
        <p:spPr>
          <a:xfrm>
            <a:off x="793790" y="3762613"/>
            <a:ext cx="13042821" cy="2869763"/>
          </a:xfrm>
          <a:prstGeom prst="roundRect">
            <a:avLst>
              <a:gd name="adj" fmla="val 1037"/>
            </a:avLst>
          </a:prstGeom>
          <a:noFill/>
          <a:ln w="7620">
            <a:solidFill>
              <a:srgbClr val="000000">
                <a:alpha val="8000"/>
              </a:srgbClr>
            </a:solidFill>
            <a:prstDash val="solid"/>
          </a:ln>
        </p:spPr>
        <p:txBody>
          <a:bodyPr/>
          <a:lstStyle/>
          <a:p>
            <a:endParaRPr lang="en-US"/>
          </a:p>
        </p:txBody>
      </p:sp>
      <p:sp>
        <p:nvSpPr>
          <p:cNvPr id="7" name="Shape 5"/>
          <p:cNvSpPr/>
          <p:nvPr/>
        </p:nvSpPr>
        <p:spPr>
          <a:xfrm>
            <a:off x="801410" y="3770233"/>
            <a:ext cx="13027581" cy="570905"/>
          </a:xfrm>
          <a:prstGeom prst="rect">
            <a:avLst/>
          </a:prstGeom>
          <a:solidFill>
            <a:srgbClr val="FFFFFF">
              <a:alpha val="4000"/>
            </a:srgbClr>
          </a:solidFill>
          <a:ln/>
        </p:spPr>
        <p:txBody>
          <a:bodyPr/>
          <a:lstStyle/>
          <a:p>
            <a:endParaRPr lang="en-US"/>
          </a:p>
        </p:txBody>
      </p:sp>
      <p:sp>
        <p:nvSpPr>
          <p:cNvPr id="8" name="Text 6"/>
          <p:cNvSpPr/>
          <p:nvPr/>
        </p:nvSpPr>
        <p:spPr>
          <a:xfrm>
            <a:off x="1000125" y="3896916"/>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Segment</a:t>
            </a:r>
            <a:endParaRPr lang="en-US" sz="1550" dirty="0"/>
          </a:p>
        </p:txBody>
      </p:sp>
      <p:sp>
        <p:nvSpPr>
          <p:cNvPr id="9" name="Text 7"/>
          <p:cNvSpPr/>
          <p:nvPr/>
        </p:nvSpPr>
        <p:spPr>
          <a:xfrm>
            <a:off x="4260771" y="3896916"/>
            <a:ext cx="1549717"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t>
            </a:r>
            <a:endParaRPr lang="en-US" sz="1550" dirty="0"/>
          </a:p>
        </p:txBody>
      </p:sp>
      <p:sp>
        <p:nvSpPr>
          <p:cNvPr id="10" name="Text 8"/>
          <p:cNvSpPr/>
          <p:nvPr/>
        </p:nvSpPr>
        <p:spPr>
          <a:xfrm>
            <a:off x="6214824" y="3896916"/>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Trust</a:t>
            </a:r>
            <a:endParaRPr lang="en-US" sz="1550" dirty="0"/>
          </a:p>
        </p:txBody>
      </p:sp>
      <p:sp>
        <p:nvSpPr>
          <p:cNvPr id="11" name="Text 9"/>
          <p:cNvSpPr/>
          <p:nvPr/>
        </p:nvSpPr>
        <p:spPr>
          <a:xfrm>
            <a:off x="8820269" y="3896916"/>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Anxiety</a:t>
            </a:r>
            <a:endParaRPr lang="en-US" sz="1550" dirty="0"/>
          </a:p>
        </p:txBody>
      </p:sp>
      <p:sp>
        <p:nvSpPr>
          <p:cNvPr id="12" name="Text 10"/>
          <p:cNvSpPr/>
          <p:nvPr/>
        </p:nvSpPr>
        <p:spPr>
          <a:xfrm>
            <a:off x="11425714" y="3896916"/>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Intent</a:t>
            </a:r>
            <a:endParaRPr lang="en-US" sz="1550" dirty="0"/>
          </a:p>
        </p:txBody>
      </p:sp>
      <p:sp>
        <p:nvSpPr>
          <p:cNvPr id="13" name="Shape 11"/>
          <p:cNvSpPr/>
          <p:nvPr/>
        </p:nvSpPr>
        <p:spPr>
          <a:xfrm>
            <a:off x="801410" y="4341138"/>
            <a:ext cx="13027581" cy="570905"/>
          </a:xfrm>
          <a:prstGeom prst="rect">
            <a:avLst/>
          </a:prstGeom>
          <a:solidFill>
            <a:srgbClr val="000000">
              <a:alpha val="4000"/>
            </a:srgbClr>
          </a:solidFill>
          <a:ln/>
        </p:spPr>
        <p:txBody>
          <a:bodyPr/>
          <a:lstStyle/>
          <a:p>
            <a:endParaRPr lang="en-US"/>
          </a:p>
        </p:txBody>
      </p:sp>
      <p:sp>
        <p:nvSpPr>
          <p:cNvPr id="14" name="Text 12"/>
          <p:cNvSpPr/>
          <p:nvPr/>
        </p:nvSpPr>
        <p:spPr>
          <a:xfrm>
            <a:off x="1000125" y="4467820"/>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AI Enthusiasts</a:t>
            </a:r>
            <a:endParaRPr lang="en-US" sz="1550" dirty="0"/>
          </a:p>
        </p:txBody>
      </p:sp>
      <p:sp>
        <p:nvSpPr>
          <p:cNvPr id="15" name="Text 13"/>
          <p:cNvSpPr/>
          <p:nvPr/>
        </p:nvSpPr>
        <p:spPr>
          <a:xfrm>
            <a:off x="4260771" y="4467820"/>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16%</a:t>
            </a:r>
            <a:endParaRPr lang="en-US" sz="1550" dirty="0"/>
          </a:p>
        </p:txBody>
      </p:sp>
      <p:sp>
        <p:nvSpPr>
          <p:cNvPr id="16" name="Text 14"/>
          <p:cNvSpPr/>
          <p:nvPr/>
        </p:nvSpPr>
        <p:spPr>
          <a:xfrm>
            <a:off x="6214824" y="4467820"/>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+1.37σ</a:t>
            </a:r>
            <a:endParaRPr lang="en-US" sz="1550" dirty="0"/>
          </a:p>
        </p:txBody>
      </p:sp>
      <p:sp>
        <p:nvSpPr>
          <p:cNvPr id="17" name="Text 15"/>
          <p:cNvSpPr/>
          <p:nvPr/>
        </p:nvSpPr>
        <p:spPr>
          <a:xfrm>
            <a:off x="8820269" y="4467820"/>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−0.86σ</a:t>
            </a:r>
            <a:endParaRPr lang="en-US" sz="1550" dirty="0"/>
          </a:p>
        </p:txBody>
      </p:sp>
      <p:sp>
        <p:nvSpPr>
          <p:cNvPr id="18" name="Text 16"/>
          <p:cNvSpPr/>
          <p:nvPr/>
        </p:nvSpPr>
        <p:spPr>
          <a:xfrm>
            <a:off x="11425714" y="4467820"/>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+1.32σ</a:t>
            </a:r>
            <a:endParaRPr lang="en-US" sz="1550" dirty="0"/>
          </a:p>
        </p:txBody>
      </p:sp>
      <p:sp>
        <p:nvSpPr>
          <p:cNvPr id="19" name="Shape 17"/>
          <p:cNvSpPr/>
          <p:nvPr/>
        </p:nvSpPr>
        <p:spPr>
          <a:xfrm>
            <a:off x="801410" y="4912043"/>
            <a:ext cx="13027581" cy="570905"/>
          </a:xfrm>
          <a:prstGeom prst="rect">
            <a:avLst/>
          </a:prstGeom>
          <a:solidFill>
            <a:srgbClr val="FFFFFF">
              <a:alpha val="4000"/>
            </a:srgbClr>
          </a:solidFill>
          <a:ln/>
        </p:spPr>
        <p:txBody>
          <a:bodyPr/>
          <a:lstStyle/>
          <a:p>
            <a:endParaRPr lang="en-US"/>
          </a:p>
        </p:txBody>
      </p:sp>
      <p:sp>
        <p:nvSpPr>
          <p:cNvPr id="20" name="Text 18"/>
          <p:cNvSpPr/>
          <p:nvPr/>
        </p:nvSpPr>
        <p:spPr>
          <a:xfrm>
            <a:off x="1000125" y="5038725"/>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Cautious Adopters</a:t>
            </a:r>
            <a:endParaRPr lang="en-US" sz="1550" dirty="0"/>
          </a:p>
        </p:txBody>
      </p:sp>
      <p:sp>
        <p:nvSpPr>
          <p:cNvPr id="21" name="Text 19"/>
          <p:cNvSpPr/>
          <p:nvPr/>
        </p:nvSpPr>
        <p:spPr>
          <a:xfrm>
            <a:off x="4260771" y="5038725"/>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30%</a:t>
            </a:r>
            <a:endParaRPr lang="en-US" sz="1550" dirty="0"/>
          </a:p>
        </p:txBody>
      </p:sp>
      <p:sp>
        <p:nvSpPr>
          <p:cNvPr id="22" name="Text 20"/>
          <p:cNvSpPr/>
          <p:nvPr/>
        </p:nvSpPr>
        <p:spPr>
          <a:xfrm>
            <a:off x="6214824" y="5038725"/>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+0.86σ</a:t>
            </a:r>
            <a:endParaRPr lang="en-US" sz="1550" dirty="0"/>
          </a:p>
        </p:txBody>
      </p:sp>
      <p:sp>
        <p:nvSpPr>
          <p:cNvPr id="23" name="Text 21"/>
          <p:cNvSpPr/>
          <p:nvPr/>
        </p:nvSpPr>
        <p:spPr>
          <a:xfrm>
            <a:off x="8820269" y="5038725"/>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+0.84σ</a:t>
            </a:r>
            <a:endParaRPr lang="en-US" sz="1550" dirty="0"/>
          </a:p>
        </p:txBody>
      </p:sp>
      <p:sp>
        <p:nvSpPr>
          <p:cNvPr id="24" name="Text 22"/>
          <p:cNvSpPr/>
          <p:nvPr/>
        </p:nvSpPr>
        <p:spPr>
          <a:xfrm>
            <a:off x="11425714" y="5038725"/>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+0.88σ</a:t>
            </a:r>
            <a:endParaRPr lang="en-US" sz="1550" dirty="0"/>
          </a:p>
        </p:txBody>
      </p:sp>
      <p:sp>
        <p:nvSpPr>
          <p:cNvPr id="25" name="Shape 23"/>
          <p:cNvSpPr/>
          <p:nvPr/>
        </p:nvSpPr>
        <p:spPr>
          <a:xfrm>
            <a:off x="801410" y="5482947"/>
            <a:ext cx="13027581" cy="570905"/>
          </a:xfrm>
          <a:prstGeom prst="rect">
            <a:avLst/>
          </a:prstGeom>
          <a:solidFill>
            <a:srgbClr val="000000">
              <a:alpha val="4000"/>
            </a:srgbClr>
          </a:solidFill>
          <a:ln/>
        </p:spPr>
        <p:txBody>
          <a:bodyPr/>
          <a:lstStyle/>
          <a:p>
            <a:endParaRPr lang="en-US"/>
          </a:p>
        </p:txBody>
      </p:sp>
      <p:sp>
        <p:nvSpPr>
          <p:cNvPr id="26" name="Text 24"/>
          <p:cNvSpPr/>
          <p:nvPr/>
        </p:nvSpPr>
        <p:spPr>
          <a:xfrm>
            <a:off x="1000125" y="5609630"/>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Moderate Users</a:t>
            </a:r>
            <a:endParaRPr lang="en-US" sz="1550" dirty="0"/>
          </a:p>
        </p:txBody>
      </p:sp>
      <p:sp>
        <p:nvSpPr>
          <p:cNvPr id="27" name="Text 25"/>
          <p:cNvSpPr/>
          <p:nvPr/>
        </p:nvSpPr>
        <p:spPr>
          <a:xfrm>
            <a:off x="4260771" y="5609630"/>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37%</a:t>
            </a:r>
            <a:endParaRPr lang="en-US" sz="1550" dirty="0"/>
          </a:p>
        </p:txBody>
      </p:sp>
      <p:sp>
        <p:nvSpPr>
          <p:cNvPr id="28" name="Text 26"/>
          <p:cNvSpPr/>
          <p:nvPr/>
        </p:nvSpPr>
        <p:spPr>
          <a:xfrm>
            <a:off x="6214824" y="5609630"/>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+0.01σ</a:t>
            </a:r>
            <a:endParaRPr lang="en-US" sz="1550" dirty="0"/>
          </a:p>
        </p:txBody>
      </p:sp>
      <p:sp>
        <p:nvSpPr>
          <p:cNvPr id="29" name="Text 27"/>
          <p:cNvSpPr/>
          <p:nvPr/>
        </p:nvSpPr>
        <p:spPr>
          <a:xfrm>
            <a:off x="8820269" y="5609630"/>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+0.42σ</a:t>
            </a:r>
            <a:endParaRPr lang="en-US" sz="1550" dirty="0"/>
          </a:p>
        </p:txBody>
      </p:sp>
      <p:sp>
        <p:nvSpPr>
          <p:cNvPr id="30" name="Text 28"/>
          <p:cNvSpPr/>
          <p:nvPr/>
        </p:nvSpPr>
        <p:spPr>
          <a:xfrm>
            <a:off x="11425714" y="5609630"/>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−0.07σ</a:t>
            </a:r>
            <a:endParaRPr lang="en-US" sz="1550" dirty="0"/>
          </a:p>
        </p:txBody>
      </p:sp>
      <p:sp>
        <p:nvSpPr>
          <p:cNvPr id="31" name="Shape 29"/>
          <p:cNvSpPr/>
          <p:nvPr/>
        </p:nvSpPr>
        <p:spPr>
          <a:xfrm>
            <a:off x="801410" y="6053852"/>
            <a:ext cx="13027581" cy="570905"/>
          </a:xfrm>
          <a:prstGeom prst="rect">
            <a:avLst/>
          </a:prstGeom>
          <a:solidFill>
            <a:srgbClr val="FFFFFF">
              <a:alpha val="4000"/>
            </a:srgbClr>
          </a:solidFill>
          <a:ln/>
        </p:spPr>
        <p:txBody>
          <a:bodyPr/>
          <a:lstStyle/>
          <a:p>
            <a:endParaRPr lang="en-US"/>
          </a:p>
        </p:txBody>
      </p:sp>
      <p:sp>
        <p:nvSpPr>
          <p:cNvPr id="32" name="Text 30"/>
          <p:cNvSpPr/>
          <p:nvPr/>
        </p:nvSpPr>
        <p:spPr>
          <a:xfrm>
            <a:off x="1000125" y="6180534"/>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Anxious Avoiders</a:t>
            </a:r>
            <a:endParaRPr lang="en-US" sz="1550" dirty="0"/>
          </a:p>
        </p:txBody>
      </p:sp>
      <p:sp>
        <p:nvSpPr>
          <p:cNvPr id="33" name="Text 31"/>
          <p:cNvSpPr/>
          <p:nvPr/>
        </p:nvSpPr>
        <p:spPr>
          <a:xfrm>
            <a:off x="4260771" y="6180534"/>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17%</a:t>
            </a:r>
            <a:endParaRPr lang="en-US" sz="1550" dirty="0"/>
          </a:p>
        </p:txBody>
      </p:sp>
      <p:sp>
        <p:nvSpPr>
          <p:cNvPr id="34" name="Text 32"/>
          <p:cNvSpPr/>
          <p:nvPr/>
        </p:nvSpPr>
        <p:spPr>
          <a:xfrm>
            <a:off x="6214824" y="6180534"/>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−1.49σ</a:t>
            </a:r>
            <a:endParaRPr lang="en-US" sz="1550" dirty="0"/>
          </a:p>
        </p:txBody>
      </p:sp>
      <p:sp>
        <p:nvSpPr>
          <p:cNvPr id="35" name="Text 33"/>
          <p:cNvSpPr/>
          <p:nvPr/>
        </p:nvSpPr>
        <p:spPr>
          <a:xfrm>
            <a:off x="8820269" y="6180534"/>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+0.76σ</a:t>
            </a:r>
            <a:endParaRPr lang="en-US" sz="1550" dirty="0"/>
          </a:p>
        </p:txBody>
      </p:sp>
      <p:sp>
        <p:nvSpPr>
          <p:cNvPr id="36" name="Text 34"/>
          <p:cNvSpPr/>
          <p:nvPr/>
        </p:nvSpPr>
        <p:spPr>
          <a:xfrm>
            <a:off x="11425714" y="6180534"/>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−1.53σ</a:t>
            </a:r>
            <a:endParaRPr lang="en-US" sz="1550" dirty="0"/>
          </a:p>
        </p:txBody>
      </p:sp>
      <p:sp>
        <p:nvSpPr>
          <p:cNvPr id="37" name="Text 35"/>
          <p:cNvSpPr/>
          <p:nvPr/>
        </p:nvSpPr>
        <p:spPr>
          <a:xfrm>
            <a:off x="793790" y="6855619"/>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Cluster analysis based on standardized UTAUT construct scores, adapting Rogers (2003) innovation adoption categories.</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88670" y="542211"/>
            <a:ext cx="6584990" cy="492919"/>
          </a:xfrm>
          <a:prstGeom prst="rect">
            <a:avLst/>
          </a:prstGeom>
          <a:noFill/>
          <a:ln/>
        </p:spPr>
        <p:txBody>
          <a:bodyPr wrap="none" lIns="0" tIns="0" rIns="0" bIns="0" rtlCol="0" anchor="t"/>
          <a:lstStyle/>
          <a:p>
            <a:pPr marL="0" indent="0" algn="l">
              <a:lnSpc>
                <a:spcPts val="3850"/>
              </a:lnSpc>
              <a:buNone/>
            </a:pPr>
            <a:r>
              <a:rPr lang="en-US" sz="3100" dirty="0">
                <a:solidFill>
                  <a:srgbClr val="3257B8"/>
                </a:solidFill>
                <a:latin typeface="Roboto Slab" pitchFamily="34" charset="0"/>
                <a:ea typeface="Roboto Slab" pitchFamily="34" charset="-122"/>
                <a:cs typeface="Roboto Slab" pitchFamily="34" charset="-120"/>
              </a:rPr>
              <a:t>Key Finding #3: Segment Strategies</a:t>
            </a:r>
            <a:endParaRPr lang="en-US" sz="3100" dirty="0"/>
          </a:p>
        </p:txBody>
      </p:sp>
      <p:sp>
        <p:nvSpPr>
          <p:cNvPr id="3" name="Text 1"/>
          <p:cNvSpPr/>
          <p:nvPr/>
        </p:nvSpPr>
        <p:spPr>
          <a:xfrm>
            <a:off x="788670" y="1098113"/>
            <a:ext cx="3261836" cy="246459"/>
          </a:xfrm>
          <a:prstGeom prst="rect">
            <a:avLst/>
          </a:prstGeom>
          <a:noFill/>
          <a:ln/>
        </p:spPr>
        <p:txBody>
          <a:bodyPr wrap="none" lIns="0" tIns="0" rIns="0" bIns="0" rtlCol="0" anchor="t"/>
          <a:lstStyle/>
          <a:p>
            <a:pPr marL="0" indent="0" algn="l">
              <a:lnSpc>
                <a:spcPts val="1900"/>
              </a:lnSpc>
              <a:buNone/>
            </a:pPr>
            <a:r>
              <a:rPr lang="en-US" sz="1550" dirty="0">
                <a:solidFill>
                  <a:srgbClr val="3257B8"/>
                </a:solidFill>
                <a:latin typeface="Roboto Slab" pitchFamily="34" charset="0"/>
                <a:ea typeface="Roboto Slab" pitchFamily="34" charset="-122"/>
                <a:cs typeface="Roboto Slab" pitchFamily="34" charset="-120"/>
              </a:rPr>
              <a:t>Targeted Interventions by Segment</a:t>
            </a:r>
            <a:endParaRPr lang="en-US" sz="1550" dirty="0"/>
          </a:p>
        </p:txBody>
      </p:sp>
      <p:sp>
        <p:nvSpPr>
          <p:cNvPr id="4" name="Shape 2"/>
          <p:cNvSpPr/>
          <p:nvPr/>
        </p:nvSpPr>
        <p:spPr>
          <a:xfrm>
            <a:off x="788670" y="1581150"/>
            <a:ext cx="13053060" cy="1301353"/>
          </a:xfrm>
          <a:prstGeom prst="roundRect">
            <a:avLst>
              <a:gd name="adj" fmla="val 1818"/>
            </a:avLst>
          </a:prstGeom>
          <a:solidFill>
            <a:srgbClr val="FBFCFE"/>
          </a:solidFill>
          <a:ln w="22860">
            <a:solidFill>
              <a:srgbClr val="CFD2D8"/>
            </a:solidFill>
            <a:prstDash val="solid"/>
          </a:ln>
        </p:spPr>
        <p:txBody>
          <a:bodyPr/>
          <a:lstStyle/>
          <a:p>
            <a:endParaRPr lang="en-US"/>
          </a:p>
        </p:txBody>
      </p:sp>
      <p:sp>
        <p:nvSpPr>
          <p:cNvPr id="5" name="Shape 3"/>
          <p:cNvSpPr/>
          <p:nvPr/>
        </p:nvSpPr>
        <p:spPr>
          <a:xfrm>
            <a:off x="811530" y="1604010"/>
            <a:ext cx="630912" cy="1255633"/>
          </a:xfrm>
          <a:prstGeom prst="rect">
            <a:avLst/>
          </a:prstGeom>
          <a:solidFill>
            <a:srgbClr val="E9ECF2"/>
          </a:solidFill>
          <a:ln/>
        </p:spPr>
        <p:txBody>
          <a:bodyPr/>
          <a:lstStyle/>
          <a:p>
            <a:endParaRPr lang="en-US"/>
          </a:p>
        </p:txBody>
      </p:sp>
      <p:sp>
        <p:nvSpPr>
          <p:cNvPr id="6" name="Text 4"/>
          <p:cNvSpPr/>
          <p:nvPr/>
        </p:nvSpPr>
        <p:spPr>
          <a:xfrm>
            <a:off x="1600081" y="1761649"/>
            <a:ext cx="1971913" cy="246459"/>
          </a:xfrm>
          <a:prstGeom prst="rect">
            <a:avLst/>
          </a:prstGeom>
          <a:noFill/>
          <a:ln/>
        </p:spPr>
        <p:txBody>
          <a:bodyPr wrap="none" lIns="0" tIns="0" rIns="0" bIns="0" rtlCol="0" anchor="t"/>
          <a:lstStyle/>
          <a:p>
            <a:pPr marL="0" indent="0" algn="l">
              <a:lnSpc>
                <a:spcPts val="1900"/>
              </a:lnSpc>
              <a:buNone/>
            </a:pPr>
            <a:r>
              <a:rPr lang="en-US" sz="1550" dirty="0">
                <a:solidFill>
                  <a:srgbClr val="15213F"/>
                </a:solidFill>
                <a:latin typeface="Roboto Slab" pitchFamily="34" charset="0"/>
                <a:ea typeface="Roboto Slab" pitchFamily="34" charset="-122"/>
                <a:cs typeface="Roboto Slab" pitchFamily="34" charset="-120"/>
              </a:rPr>
              <a:t>AI Enthusiasts (16%)</a:t>
            </a:r>
            <a:endParaRPr lang="en-US" sz="1550" dirty="0"/>
          </a:p>
        </p:txBody>
      </p:sp>
      <p:sp>
        <p:nvSpPr>
          <p:cNvPr id="7" name="Text 5"/>
          <p:cNvSpPr/>
          <p:nvPr/>
        </p:nvSpPr>
        <p:spPr>
          <a:xfrm>
            <a:off x="1600081" y="2102644"/>
            <a:ext cx="12061150" cy="252413"/>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Strategy: Champions</a:t>
            </a:r>
            <a:endParaRPr lang="en-US" sz="1200" dirty="0"/>
          </a:p>
        </p:txBody>
      </p:sp>
      <p:sp>
        <p:nvSpPr>
          <p:cNvPr id="8" name="Text 6"/>
          <p:cNvSpPr/>
          <p:nvPr/>
        </p:nvSpPr>
        <p:spPr>
          <a:xfrm>
            <a:off x="1600081" y="2449592"/>
            <a:ext cx="12061150" cy="252413"/>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Give early access to new tools, enable evangelization, leverage as internal advocates. These users will drive organic adoption through peer influence.</a:t>
            </a:r>
            <a:endParaRPr lang="en-US" sz="1200" dirty="0"/>
          </a:p>
        </p:txBody>
      </p:sp>
      <p:sp>
        <p:nvSpPr>
          <p:cNvPr id="9" name="Shape 7"/>
          <p:cNvSpPr/>
          <p:nvPr/>
        </p:nvSpPr>
        <p:spPr>
          <a:xfrm>
            <a:off x="788670" y="3040142"/>
            <a:ext cx="13053060" cy="1301353"/>
          </a:xfrm>
          <a:prstGeom prst="roundRect">
            <a:avLst>
              <a:gd name="adj" fmla="val 1818"/>
            </a:avLst>
          </a:prstGeom>
          <a:solidFill>
            <a:srgbClr val="FBFCFE"/>
          </a:solidFill>
          <a:ln w="22860">
            <a:solidFill>
              <a:srgbClr val="CFD2D8"/>
            </a:solidFill>
            <a:prstDash val="solid"/>
          </a:ln>
        </p:spPr>
        <p:txBody>
          <a:bodyPr/>
          <a:lstStyle/>
          <a:p>
            <a:endParaRPr lang="en-US"/>
          </a:p>
        </p:txBody>
      </p:sp>
      <p:sp>
        <p:nvSpPr>
          <p:cNvPr id="10" name="Shape 8"/>
          <p:cNvSpPr/>
          <p:nvPr/>
        </p:nvSpPr>
        <p:spPr>
          <a:xfrm>
            <a:off x="811530" y="3063002"/>
            <a:ext cx="630912" cy="1255633"/>
          </a:xfrm>
          <a:prstGeom prst="rect">
            <a:avLst/>
          </a:prstGeom>
          <a:solidFill>
            <a:srgbClr val="E9ECF2"/>
          </a:solidFill>
          <a:ln/>
        </p:spPr>
        <p:txBody>
          <a:bodyPr/>
          <a:lstStyle/>
          <a:p>
            <a:endParaRPr lang="en-US"/>
          </a:p>
        </p:txBody>
      </p:sp>
      <p:sp>
        <p:nvSpPr>
          <p:cNvPr id="11" name="Text 9"/>
          <p:cNvSpPr/>
          <p:nvPr/>
        </p:nvSpPr>
        <p:spPr>
          <a:xfrm>
            <a:off x="1600081" y="3220641"/>
            <a:ext cx="2231231" cy="246459"/>
          </a:xfrm>
          <a:prstGeom prst="rect">
            <a:avLst/>
          </a:prstGeom>
          <a:noFill/>
          <a:ln/>
        </p:spPr>
        <p:txBody>
          <a:bodyPr wrap="none" lIns="0" tIns="0" rIns="0" bIns="0" rtlCol="0" anchor="t"/>
          <a:lstStyle/>
          <a:p>
            <a:pPr marL="0" indent="0" algn="l">
              <a:lnSpc>
                <a:spcPts val="1900"/>
              </a:lnSpc>
              <a:buNone/>
            </a:pPr>
            <a:r>
              <a:rPr lang="en-US" sz="1550" dirty="0">
                <a:solidFill>
                  <a:srgbClr val="15213F"/>
                </a:solidFill>
                <a:latin typeface="Roboto Slab" pitchFamily="34" charset="0"/>
                <a:ea typeface="Roboto Slab" pitchFamily="34" charset="-122"/>
                <a:cs typeface="Roboto Slab" pitchFamily="34" charset="-120"/>
              </a:rPr>
              <a:t>Cautious Adopters (30%)</a:t>
            </a:r>
            <a:endParaRPr lang="en-US" sz="1550" dirty="0"/>
          </a:p>
        </p:txBody>
      </p:sp>
      <p:sp>
        <p:nvSpPr>
          <p:cNvPr id="12" name="Text 10"/>
          <p:cNvSpPr/>
          <p:nvPr/>
        </p:nvSpPr>
        <p:spPr>
          <a:xfrm>
            <a:off x="1600081" y="3561636"/>
            <a:ext cx="12061150" cy="252413"/>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Strategy: Proof Points</a:t>
            </a:r>
            <a:endParaRPr lang="en-US" sz="1200" dirty="0"/>
          </a:p>
        </p:txBody>
      </p:sp>
      <p:sp>
        <p:nvSpPr>
          <p:cNvPr id="13" name="Text 11"/>
          <p:cNvSpPr/>
          <p:nvPr/>
        </p:nvSpPr>
        <p:spPr>
          <a:xfrm>
            <a:off x="1600081" y="3908584"/>
            <a:ext cx="12061150" cy="252413"/>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Provide case studies, ROI calculators, low-commitment pilots. These users need evidence before committing—show them the value.</a:t>
            </a:r>
            <a:endParaRPr lang="en-US" sz="1200" dirty="0"/>
          </a:p>
        </p:txBody>
      </p:sp>
      <p:sp>
        <p:nvSpPr>
          <p:cNvPr id="14" name="Shape 12"/>
          <p:cNvSpPr/>
          <p:nvPr/>
        </p:nvSpPr>
        <p:spPr>
          <a:xfrm>
            <a:off x="788670" y="4499134"/>
            <a:ext cx="13053060" cy="1301353"/>
          </a:xfrm>
          <a:prstGeom prst="roundRect">
            <a:avLst>
              <a:gd name="adj" fmla="val 1818"/>
            </a:avLst>
          </a:prstGeom>
          <a:solidFill>
            <a:srgbClr val="FBFCFE"/>
          </a:solidFill>
          <a:ln w="22860">
            <a:solidFill>
              <a:srgbClr val="CFD2D8"/>
            </a:solidFill>
            <a:prstDash val="solid"/>
          </a:ln>
        </p:spPr>
        <p:txBody>
          <a:bodyPr/>
          <a:lstStyle/>
          <a:p>
            <a:endParaRPr lang="en-US"/>
          </a:p>
        </p:txBody>
      </p:sp>
      <p:sp>
        <p:nvSpPr>
          <p:cNvPr id="15" name="Shape 13"/>
          <p:cNvSpPr/>
          <p:nvPr/>
        </p:nvSpPr>
        <p:spPr>
          <a:xfrm>
            <a:off x="811530" y="4521994"/>
            <a:ext cx="630912" cy="1255633"/>
          </a:xfrm>
          <a:prstGeom prst="rect">
            <a:avLst/>
          </a:prstGeom>
          <a:solidFill>
            <a:srgbClr val="E9ECF2"/>
          </a:solidFill>
          <a:ln/>
        </p:spPr>
        <p:txBody>
          <a:bodyPr/>
          <a:lstStyle/>
          <a:p>
            <a:endParaRPr lang="en-US"/>
          </a:p>
        </p:txBody>
      </p:sp>
      <p:sp>
        <p:nvSpPr>
          <p:cNvPr id="16" name="Text 14"/>
          <p:cNvSpPr/>
          <p:nvPr/>
        </p:nvSpPr>
        <p:spPr>
          <a:xfrm>
            <a:off x="1600081" y="4679633"/>
            <a:ext cx="1989296" cy="246459"/>
          </a:xfrm>
          <a:prstGeom prst="rect">
            <a:avLst/>
          </a:prstGeom>
          <a:noFill/>
          <a:ln/>
        </p:spPr>
        <p:txBody>
          <a:bodyPr wrap="none" lIns="0" tIns="0" rIns="0" bIns="0" rtlCol="0" anchor="t"/>
          <a:lstStyle/>
          <a:p>
            <a:pPr marL="0" indent="0" algn="l">
              <a:lnSpc>
                <a:spcPts val="1900"/>
              </a:lnSpc>
              <a:buNone/>
            </a:pPr>
            <a:r>
              <a:rPr lang="en-US" sz="1550" dirty="0">
                <a:solidFill>
                  <a:srgbClr val="15213F"/>
                </a:solidFill>
                <a:latin typeface="Roboto Slab" pitchFamily="34" charset="0"/>
                <a:ea typeface="Roboto Slab" pitchFamily="34" charset="-122"/>
                <a:cs typeface="Roboto Slab" pitchFamily="34" charset="-120"/>
              </a:rPr>
              <a:t>Moderate Users (37%)</a:t>
            </a:r>
            <a:endParaRPr lang="en-US" sz="1550" dirty="0"/>
          </a:p>
        </p:txBody>
      </p:sp>
      <p:sp>
        <p:nvSpPr>
          <p:cNvPr id="17" name="Text 15"/>
          <p:cNvSpPr/>
          <p:nvPr/>
        </p:nvSpPr>
        <p:spPr>
          <a:xfrm>
            <a:off x="1600081" y="5020628"/>
            <a:ext cx="12061150" cy="252413"/>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Strategy: Reduce Friction</a:t>
            </a:r>
            <a:endParaRPr lang="en-US" sz="1200" dirty="0"/>
          </a:p>
        </p:txBody>
      </p:sp>
      <p:sp>
        <p:nvSpPr>
          <p:cNvPr id="18" name="Text 16"/>
          <p:cNvSpPr/>
          <p:nvPr/>
        </p:nvSpPr>
        <p:spPr>
          <a:xfrm>
            <a:off x="1600081" y="5367576"/>
            <a:ext cx="12061150" cy="252413"/>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Demonstrate peer adoption, leverage social influence, make adoption the path of least resistance. These users follow the crowd.</a:t>
            </a:r>
            <a:endParaRPr lang="en-US" sz="1200" dirty="0"/>
          </a:p>
        </p:txBody>
      </p:sp>
      <p:sp>
        <p:nvSpPr>
          <p:cNvPr id="19" name="Shape 17"/>
          <p:cNvSpPr/>
          <p:nvPr/>
        </p:nvSpPr>
        <p:spPr>
          <a:xfrm>
            <a:off x="788670" y="5958126"/>
            <a:ext cx="13053060" cy="1301353"/>
          </a:xfrm>
          <a:prstGeom prst="roundRect">
            <a:avLst>
              <a:gd name="adj" fmla="val 1818"/>
            </a:avLst>
          </a:prstGeom>
          <a:solidFill>
            <a:srgbClr val="FBFCFE"/>
          </a:solidFill>
          <a:ln w="22860">
            <a:solidFill>
              <a:srgbClr val="CFD2D8"/>
            </a:solidFill>
            <a:prstDash val="solid"/>
          </a:ln>
        </p:spPr>
        <p:txBody>
          <a:bodyPr/>
          <a:lstStyle/>
          <a:p>
            <a:endParaRPr lang="en-US"/>
          </a:p>
        </p:txBody>
      </p:sp>
      <p:sp>
        <p:nvSpPr>
          <p:cNvPr id="20" name="Shape 18"/>
          <p:cNvSpPr/>
          <p:nvPr/>
        </p:nvSpPr>
        <p:spPr>
          <a:xfrm>
            <a:off x="811530" y="5980986"/>
            <a:ext cx="630912" cy="1255633"/>
          </a:xfrm>
          <a:prstGeom prst="rect">
            <a:avLst/>
          </a:prstGeom>
          <a:solidFill>
            <a:srgbClr val="E9ECF2"/>
          </a:solidFill>
          <a:ln/>
        </p:spPr>
        <p:txBody>
          <a:bodyPr/>
          <a:lstStyle/>
          <a:p>
            <a:endParaRPr lang="en-US"/>
          </a:p>
        </p:txBody>
      </p:sp>
      <p:sp>
        <p:nvSpPr>
          <p:cNvPr id="21" name="Text 19"/>
          <p:cNvSpPr/>
          <p:nvPr/>
        </p:nvSpPr>
        <p:spPr>
          <a:xfrm>
            <a:off x="1600081" y="6138624"/>
            <a:ext cx="2153960" cy="246459"/>
          </a:xfrm>
          <a:prstGeom prst="rect">
            <a:avLst/>
          </a:prstGeom>
          <a:noFill/>
          <a:ln/>
        </p:spPr>
        <p:txBody>
          <a:bodyPr wrap="none" lIns="0" tIns="0" rIns="0" bIns="0" rtlCol="0" anchor="t"/>
          <a:lstStyle/>
          <a:p>
            <a:pPr marL="0" indent="0" algn="l">
              <a:lnSpc>
                <a:spcPts val="1900"/>
              </a:lnSpc>
              <a:buNone/>
            </a:pPr>
            <a:r>
              <a:rPr lang="en-US" sz="1550" dirty="0">
                <a:solidFill>
                  <a:srgbClr val="15213F"/>
                </a:solidFill>
                <a:latin typeface="Roboto Slab" pitchFamily="34" charset="0"/>
                <a:ea typeface="Roboto Slab" pitchFamily="34" charset="-122"/>
                <a:cs typeface="Roboto Slab" pitchFamily="34" charset="-120"/>
              </a:rPr>
              <a:t>Anxious Avoiders (17%)</a:t>
            </a:r>
            <a:endParaRPr lang="en-US" sz="1550" dirty="0"/>
          </a:p>
        </p:txBody>
      </p:sp>
      <p:sp>
        <p:nvSpPr>
          <p:cNvPr id="22" name="Text 20"/>
          <p:cNvSpPr/>
          <p:nvPr/>
        </p:nvSpPr>
        <p:spPr>
          <a:xfrm>
            <a:off x="1600081" y="6479619"/>
            <a:ext cx="12061150" cy="252413"/>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Strategy: Trust-First</a:t>
            </a:r>
            <a:endParaRPr lang="en-US" sz="1200" dirty="0"/>
          </a:p>
        </p:txBody>
      </p:sp>
      <p:sp>
        <p:nvSpPr>
          <p:cNvPr id="23" name="Text 21"/>
          <p:cNvSpPr/>
          <p:nvPr/>
        </p:nvSpPr>
        <p:spPr>
          <a:xfrm>
            <a:off x="1600081" y="6826568"/>
            <a:ext cx="12061150" cy="252413"/>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Address anxiety before features; trust-building required. Feature demonstrations are useless until trust is established.</a:t>
            </a:r>
            <a:endParaRPr lang="en-US" sz="1200" dirty="0"/>
          </a:p>
        </p:txBody>
      </p:sp>
      <p:sp>
        <p:nvSpPr>
          <p:cNvPr id="24" name="Text 22"/>
          <p:cNvSpPr/>
          <p:nvPr/>
        </p:nvSpPr>
        <p:spPr>
          <a:xfrm>
            <a:off x="788670" y="7436882"/>
            <a:ext cx="13053060" cy="252413"/>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AIRS-16 scores enable segment identification for targeted interventions instead of one-size-fits-all training programs. Each segment requires fundamentally different approaches.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2081927"/>
            <a:ext cx="5927527"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Moderator #1: Experience</a:t>
            </a:r>
            <a:endParaRPr lang="en-US" sz="3900" dirty="0"/>
          </a:p>
        </p:txBody>
      </p:sp>
      <p:sp>
        <p:nvSpPr>
          <p:cNvPr id="3" name="Text 1"/>
          <p:cNvSpPr/>
          <p:nvPr/>
        </p:nvSpPr>
        <p:spPr>
          <a:xfrm>
            <a:off x="793790" y="2781300"/>
            <a:ext cx="5002887"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Experience Moderates Hedonic Motivation</a:t>
            </a:r>
            <a:endParaRPr lang="en-US" sz="1950" dirty="0"/>
          </a:p>
        </p:txBody>
      </p:sp>
      <p:sp>
        <p:nvSpPr>
          <p:cNvPr id="4" name="Shape 2"/>
          <p:cNvSpPr/>
          <p:nvPr/>
        </p:nvSpPr>
        <p:spPr>
          <a:xfrm>
            <a:off x="793790" y="3612356"/>
            <a:ext cx="6279356" cy="1727954"/>
          </a:xfrm>
          <a:prstGeom prst="roundRect">
            <a:avLst>
              <a:gd name="adj" fmla="val 1723"/>
            </a:avLst>
          </a:prstGeom>
          <a:noFill/>
          <a:ln w="7620">
            <a:solidFill>
              <a:srgbClr val="000000">
                <a:alpha val="8000"/>
              </a:srgbClr>
            </a:solidFill>
            <a:prstDash val="solid"/>
          </a:ln>
        </p:spPr>
        <p:txBody>
          <a:bodyPr/>
          <a:lstStyle/>
          <a:p>
            <a:endParaRPr lang="en-US"/>
          </a:p>
        </p:txBody>
      </p:sp>
      <p:sp>
        <p:nvSpPr>
          <p:cNvPr id="5" name="Shape 3"/>
          <p:cNvSpPr/>
          <p:nvPr/>
        </p:nvSpPr>
        <p:spPr>
          <a:xfrm>
            <a:off x="801410" y="3619976"/>
            <a:ext cx="6264116" cy="570905"/>
          </a:xfrm>
          <a:prstGeom prst="rect">
            <a:avLst/>
          </a:prstGeom>
          <a:solidFill>
            <a:srgbClr val="FFFFFF">
              <a:alpha val="4000"/>
            </a:srgbClr>
          </a:solidFill>
          <a:ln/>
        </p:spPr>
        <p:txBody>
          <a:bodyPr/>
          <a:lstStyle/>
          <a:p>
            <a:endParaRPr lang="en-US"/>
          </a:p>
        </p:txBody>
      </p:sp>
      <p:sp>
        <p:nvSpPr>
          <p:cNvPr id="6" name="Text 4"/>
          <p:cNvSpPr/>
          <p:nvPr/>
        </p:nvSpPr>
        <p:spPr>
          <a:xfrm>
            <a:off x="999887" y="3746659"/>
            <a:ext cx="2731532"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Interaction</a:t>
            </a:r>
            <a:endParaRPr lang="en-US" sz="1550" dirty="0"/>
          </a:p>
        </p:txBody>
      </p:sp>
      <p:sp>
        <p:nvSpPr>
          <p:cNvPr id="7" name="Text 5"/>
          <p:cNvSpPr/>
          <p:nvPr/>
        </p:nvSpPr>
        <p:spPr>
          <a:xfrm>
            <a:off x="4135755" y="3746659"/>
            <a:ext cx="84843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β</a:t>
            </a:r>
            <a:endParaRPr lang="en-US" sz="1550" dirty="0"/>
          </a:p>
        </p:txBody>
      </p:sp>
      <p:sp>
        <p:nvSpPr>
          <p:cNvPr id="8" name="Text 6"/>
          <p:cNvSpPr/>
          <p:nvPr/>
        </p:nvSpPr>
        <p:spPr>
          <a:xfrm>
            <a:off x="5388531" y="3746659"/>
            <a:ext cx="1478637"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a:t>
            </a:r>
            <a:endParaRPr lang="en-US" sz="1550" dirty="0"/>
          </a:p>
        </p:txBody>
      </p:sp>
      <p:sp>
        <p:nvSpPr>
          <p:cNvPr id="9" name="Shape 7"/>
          <p:cNvSpPr/>
          <p:nvPr/>
        </p:nvSpPr>
        <p:spPr>
          <a:xfrm>
            <a:off x="801410" y="4190881"/>
            <a:ext cx="6264116" cy="570905"/>
          </a:xfrm>
          <a:prstGeom prst="rect">
            <a:avLst/>
          </a:prstGeom>
          <a:solidFill>
            <a:srgbClr val="000000">
              <a:alpha val="4000"/>
            </a:srgbClr>
          </a:solidFill>
          <a:ln/>
        </p:spPr>
        <p:txBody>
          <a:bodyPr/>
          <a:lstStyle/>
          <a:p>
            <a:endParaRPr lang="en-US"/>
          </a:p>
        </p:txBody>
      </p:sp>
      <p:sp>
        <p:nvSpPr>
          <p:cNvPr id="10" name="Text 8"/>
          <p:cNvSpPr/>
          <p:nvPr/>
        </p:nvSpPr>
        <p:spPr>
          <a:xfrm>
            <a:off x="999887" y="4317563"/>
            <a:ext cx="2731532"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HM × Experience</a:t>
            </a:r>
            <a:endParaRPr lang="en-US" sz="1550" dirty="0"/>
          </a:p>
        </p:txBody>
      </p:sp>
      <p:sp>
        <p:nvSpPr>
          <p:cNvPr id="11" name="Text 9"/>
          <p:cNvSpPr/>
          <p:nvPr/>
        </p:nvSpPr>
        <p:spPr>
          <a:xfrm>
            <a:off x="4135755" y="4317563"/>
            <a:ext cx="848439"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.136</a:t>
            </a:r>
            <a:endParaRPr lang="en-US" sz="1550" dirty="0"/>
          </a:p>
        </p:txBody>
      </p:sp>
      <p:sp>
        <p:nvSpPr>
          <p:cNvPr id="12" name="Text 10"/>
          <p:cNvSpPr/>
          <p:nvPr/>
        </p:nvSpPr>
        <p:spPr>
          <a:xfrm>
            <a:off x="5388531" y="4317563"/>
            <a:ext cx="1478637"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.009</a:t>
            </a:r>
            <a:endParaRPr lang="en-US" sz="1550" dirty="0"/>
          </a:p>
        </p:txBody>
      </p:sp>
      <p:sp>
        <p:nvSpPr>
          <p:cNvPr id="13" name="Shape 11"/>
          <p:cNvSpPr/>
          <p:nvPr/>
        </p:nvSpPr>
        <p:spPr>
          <a:xfrm>
            <a:off x="801410" y="4761786"/>
            <a:ext cx="6264116" cy="570905"/>
          </a:xfrm>
          <a:prstGeom prst="rect">
            <a:avLst/>
          </a:prstGeom>
          <a:solidFill>
            <a:srgbClr val="FFFFFF">
              <a:alpha val="4000"/>
            </a:srgbClr>
          </a:solidFill>
          <a:ln/>
        </p:spPr>
        <p:txBody>
          <a:bodyPr/>
          <a:lstStyle/>
          <a:p>
            <a:endParaRPr lang="en-US"/>
          </a:p>
        </p:txBody>
      </p:sp>
      <p:sp>
        <p:nvSpPr>
          <p:cNvPr id="14" name="Text 12"/>
          <p:cNvSpPr/>
          <p:nvPr/>
        </p:nvSpPr>
        <p:spPr>
          <a:xfrm>
            <a:off x="999887" y="4888468"/>
            <a:ext cx="2731532"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PE × Experience</a:t>
            </a:r>
            <a:endParaRPr lang="en-US" sz="1550" dirty="0"/>
          </a:p>
        </p:txBody>
      </p:sp>
      <p:sp>
        <p:nvSpPr>
          <p:cNvPr id="15" name="Text 13"/>
          <p:cNvSpPr/>
          <p:nvPr/>
        </p:nvSpPr>
        <p:spPr>
          <a:xfrm>
            <a:off x="4135755" y="4888468"/>
            <a:ext cx="84843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.112</a:t>
            </a:r>
            <a:endParaRPr lang="en-US" sz="1550" dirty="0"/>
          </a:p>
        </p:txBody>
      </p:sp>
      <p:sp>
        <p:nvSpPr>
          <p:cNvPr id="16" name="Text 14"/>
          <p:cNvSpPr/>
          <p:nvPr/>
        </p:nvSpPr>
        <p:spPr>
          <a:xfrm>
            <a:off x="5388531" y="4888468"/>
            <a:ext cx="147863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.055</a:t>
            </a:r>
            <a:endParaRPr lang="en-US" sz="1550" dirty="0"/>
          </a:p>
        </p:txBody>
      </p:sp>
      <p:sp>
        <p:nvSpPr>
          <p:cNvPr id="17" name="Text 15"/>
          <p:cNvSpPr/>
          <p:nvPr/>
        </p:nvSpPr>
        <p:spPr>
          <a:xfrm>
            <a:off x="7564874" y="3567708"/>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Interpretation:</a:t>
            </a:r>
            <a:r>
              <a:rPr lang="en-US" sz="1550" dirty="0">
                <a:solidFill>
                  <a:srgbClr val="15213F"/>
                </a:solidFill>
                <a:latin typeface="Roboto" pitchFamily="34" charset="0"/>
                <a:ea typeface="Roboto" pitchFamily="34" charset="-122"/>
                <a:cs typeface="Roboto" pitchFamily="34" charset="-120"/>
              </a:rPr>
              <a:t> The HM × Experience interaction is significant (p = .009). Experienced professionals (4+ years) weight enjoyment </a:t>
            </a:r>
            <a:r>
              <a:rPr lang="en-US" sz="1550" i="1" dirty="0">
                <a:solidFill>
                  <a:srgbClr val="15213F"/>
                </a:solidFill>
                <a:latin typeface="Roboto" pitchFamily="34" charset="0"/>
                <a:ea typeface="Roboto" pitchFamily="34" charset="-122"/>
                <a:cs typeface="Roboto" pitchFamily="34" charset="-120"/>
              </a:rPr>
              <a:t>more</a:t>
            </a:r>
            <a:r>
              <a:rPr lang="en-US" sz="1550" dirty="0">
                <a:solidFill>
                  <a:srgbClr val="15213F"/>
                </a:solidFill>
                <a:latin typeface="Roboto" pitchFamily="34" charset="0"/>
                <a:ea typeface="Roboto" pitchFamily="34" charset="-122"/>
                <a:cs typeface="Roboto" pitchFamily="34" charset="-120"/>
              </a:rPr>
              <a:t> heavily in adoption decisions, not less.</a:t>
            </a:r>
            <a:endParaRPr lang="en-US" sz="1550" dirty="0"/>
          </a:p>
        </p:txBody>
      </p:sp>
      <p:sp>
        <p:nvSpPr>
          <p:cNvPr id="18" name="Text 16"/>
          <p:cNvSpPr/>
          <p:nvPr/>
        </p:nvSpPr>
        <p:spPr>
          <a:xfrm>
            <a:off x="7564874" y="4698921"/>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This is a counterintuitive finding—we expected experienced users to be more pragmatic. Possible explanation: experienced professionals have learned that if a tool isn't enjoyable, sustained use is unlikely. Enjoyment predicts long-term adoption commitment.</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726996"/>
            <a:ext cx="5905738"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Moderator #2: Population</a:t>
            </a:r>
            <a:endParaRPr lang="en-US" sz="3900" dirty="0"/>
          </a:p>
        </p:txBody>
      </p:sp>
      <p:sp>
        <p:nvSpPr>
          <p:cNvPr id="3" name="Text 1"/>
          <p:cNvSpPr/>
          <p:nvPr/>
        </p:nvSpPr>
        <p:spPr>
          <a:xfrm>
            <a:off x="793790" y="1426369"/>
            <a:ext cx="2651760"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Population Differences</a:t>
            </a:r>
            <a:endParaRPr lang="en-US" sz="1950" dirty="0"/>
          </a:p>
        </p:txBody>
      </p:sp>
      <p:sp>
        <p:nvSpPr>
          <p:cNvPr id="4" name="Text 2"/>
          <p:cNvSpPr/>
          <p:nvPr/>
        </p:nvSpPr>
        <p:spPr>
          <a:xfrm>
            <a:off x="793790" y="203418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Dramatic difference in Hedonic Motivation path across populations reveals fundamental cultural differences in how academics and professionals evaluate AI tools.</a:t>
            </a:r>
            <a:endParaRPr lang="en-US" sz="1550" dirty="0"/>
          </a:p>
        </p:txBody>
      </p:sp>
      <p:sp>
        <p:nvSpPr>
          <p:cNvPr id="5" name="Shape 3"/>
          <p:cNvSpPr/>
          <p:nvPr/>
        </p:nvSpPr>
        <p:spPr>
          <a:xfrm>
            <a:off x="793790" y="2892504"/>
            <a:ext cx="13042821" cy="1157049"/>
          </a:xfrm>
          <a:prstGeom prst="roundRect">
            <a:avLst>
              <a:gd name="adj" fmla="val 2573"/>
            </a:avLst>
          </a:prstGeom>
          <a:noFill/>
          <a:ln w="7620">
            <a:solidFill>
              <a:srgbClr val="000000">
                <a:alpha val="8000"/>
              </a:srgbClr>
            </a:solidFill>
            <a:prstDash val="solid"/>
          </a:ln>
        </p:spPr>
        <p:txBody>
          <a:bodyPr/>
          <a:lstStyle/>
          <a:p>
            <a:endParaRPr lang="en-US"/>
          </a:p>
        </p:txBody>
      </p:sp>
      <p:sp>
        <p:nvSpPr>
          <p:cNvPr id="6" name="Shape 4"/>
          <p:cNvSpPr/>
          <p:nvPr/>
        </p:nvSpPr>
        <p:spPr>
          <a:xfrm>
            <a:off x="801410" y="2900124"/>
            <a:ext cx="13027581" cy="570905"/>
          </a:xfrm>
          <a:prstGeom prst="rect">
            <a:avLst/>
          </a:prstGeom>
          <a:solidFill>
            <a:srgbClr val="FFFFFF">
              <a:alpha val="4000"/>
            </a:srgbClr>
          </a:solidFill>
          <a:ln/>
        </p:spPr>
        <p:txBody>
          <a:bodyPr/>
          <a:lstStyle/>
          <a:p>
            <a:endParaRPr lang="en-US"/>
          </a:p>
        </p:txBody>
      </p:sp>
      <p:sp>
        <p:nvSpPr>
          <p:cNvPr id="7" name="Text 5"/>
          <p:cNvSpPr/>
          <p:nvPr/>
        </p:nvSpPr>
        <p:spPr>
          <a:xfrm>
            <a:off x="1000125" y="3026807"/>
            <a:ext cx="3507700"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Path</a:t>
            </a:r>
            <a:endParaRPr lang="en-US" sz="1550" dirty="0"/>
          </a:p>
        </p:txBody>
      </p:sp>
      <p:sp>
        <p:nvSpPr>
          <p:cNvPr id="8" name="Text 6"/>
          <p:cNvSpPr/>
          <p:nvPr/>
        </p:nvSpPr>
        <p:spPr>
          <a:xfrm>
            <a:off x="4912162" y="3026807"/>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Academic β</a:t>
            </a:r>
            <a:endParaRPr lang="en-US" sz="1550" dirty="0"/>
          </a:p>
        </p:txBody>
      </p:sp>
      <p:sp>
        <p:nvSpPr>
          <p:cNvPr id="9" name="Text 7"/>
          <p:cNvSpPr/>
          <p:nvPr/>
        </p:nvSpPr>
        <p:spPr>
          <a:xfrm>
            <a:off x="7517606" y="3026807"/>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Professional β</a:t>
            </a:r>
            <a:endParaRPr lang="en-US" sz="1550" dirty="0"/>
          </a:p>
        </p:txBody>
      </p:sp>
      <p:sp>
        <p:nvSpPr>
          <p:cNvPr id="10" name="Text 8"/>
          <p:cNvSpPr/>
          <p:nvPr/>
        </p:nvSpPr>
        <p:spPr>
          <a:xfrm>
            <a:off x="10123051" y="3026807"/>
            <a:ext cx="1549717"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Δβ</a:t>
            </a:r>
            <a:endParaRPr lang="en-US" sz="1550" dirty="0"/>
          </a:p>
        </p:txBody>
      </p:sp>
      <p:sp>
        <p:nvSpPr>
          <p:cNvPr id="11" name="Text 9"/>
          <p:cNvSpPr/>
          <p:nvPr/>
        </p:nvSpPr>
        <p:spPr>
          <a:xfrm>
            <a:off x="12077105" y="3026807"/>
            <a:ext cx="155352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a:t>
            </a:r>
            <a:endParaRPr lang="en-US" sz="1550" dirty="0"/>
          </a:p>
        </p:txBody>
      </p:sp>
      <p:sp>
        <p:nvSpPr>
          <p:cNvPr id="12" name="Shape 10"/>
          <p:cNvSpPr/>
          <p:nvPr/>
        </p:nvSpPr>
        <p:spPr>
          <a:xfrm>
            <a:off x="801410" y="3471029"/>
            <a:ext cx="13027581" cy="570905"/>
          </a:xfrm>
          <a:prstGeom prst="rect">
            <a:avLst/>
          </a:prstGeom>
          <a:solidFill>
            <a:srgbClr val="000000">
              <a:alpha val="4000"/>
            </a:srgbClr>
          </a:solidFill>
          <a:ln/>
        </p:spPr>
        <p:txBody>
          <a:bodyPr/>
          <a:lstStyle/>
          <a:p>
            <a:endParaRPr lang="en-US"/>
          </a:p>
        </p:txBody>
      </p:sp>
      <p:sp>
        <p:nvSpPr>
          <p:cNvPr id="13" name="Text 11"/>
          <p:cNvSpPr/>
          <p:nvPr/>
        </p:nvSpPr>
        <p:spPr>
          <a:xfrm>
            <a:off x="1000125" y="3597712"/>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HM → BI</a:t>
            </a:r>
            <a:endParaRPr lang="en-US" sz="1550" dirty="0"/>
          </a:p>
        </p:txBody>
      </p:sp>
      <p:sp>
        <p:nvSpPr>
          <p:cNvPr id="14" name="Text 12"/>
          <p:cNvSpPr/>
          <p:nvPr/>
        </p:nvSpPr>
        <p:spPr>
          <a:xfrm>
            <a:off x="4912162" y="3597712"/>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.449</a:t>
            </a:r>
            <a:endParaRPr lang="en-US" sz="1550" dirty="0"/>
          </a:p>
        </p:txBody>
      </p:sp>
      <p:sp>
        <p:nvSpPr>
          <p:cNvPr id="15" name="Text 13"/>
          <p:cNvSpPr/>
          <p:nvPr/>
        </p:nvSpPr>
        <p:spPr>
          <a:xfrm>
            <a:off x="7517606" y="3597712"/>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−.301</a:t>
            </a:r>
            <a:endParaRPr lang="en-US" sz="1550" dirty="0"/>
          </a:p>
        </p:txBody>
      </p:sp>
      <p:sp>
        <p:nvSpPr>
          <p:cNvPr id="16" name="Text 14"/>
          <p:cNvSpPr/>
          <p:nvPr/>
        </p:nvSpPr>
        <p:spPr>
          <a:xfrm>
            <a:off x="10123051" y="3597712"/>
            <a:ext cx="1549717"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−.750</a:t>
            </a:r>
            <a:endParaRPr lang="en-US" sz="1550" dirty="0"/>
          </a:p>
        </p:txBody>
      </p:sp>
      <p:sp>
        <p:nvSpPr>
          <p:cNvPr id="17" name="Text 15"/>
          <p:cNvSpPr/>
          <p:nvPr/>
        </p:nvSpPr>
        <p:spPr>
          <a:xfrm>
            <a:off x="12077105" y="3597712"/>
            <a:ext cx="1553528"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.041</a:t>
            </a:r>
            <a:endParaRPr lang="en-US" sz="1550" dirty="0"/>
          </a:p>
        </p:txBody>
      </p:sp>
      <p:sp>
        <p:nvSpPr>
          <p:cNvPr id="18" name="Shape 16"/>
          <p:cNvSpPr/>
          <p:nvPr/>
        </p:nvSpPr>
        <p:spPr>
          <a:xfrm>
            <a:off x="793790" y="4371944"/>
            <a:ext cx="13042821" cy="32385"/>
          </a:xfrm>
          <a:prstGeom prst="rect">
            <a:avLst/>
          </a:prstGeom>
          <a:solidFill>
            <a:srgbClr val="15213F">
              <a:alpha val="50000"/>
            </a:srgbClr>
          </a:solidFill>
          <a:ln/>
        </p:spPr>
        <p:txBody>
          <a:bodyPr/>
          <a:lstStyle/>
          <a:p>
            <a:endParaRPr lang="en-US"/>
          </a:p>
        </p:txBody>
      </p:sp>
      <p:sp>
        <p:nvSpPr>
          <p:cNvPr id="19" name="Text 17"/>
          <p:cNvSpPr/>
          <p:nvPr/>
        </p:nvSpPr>
        <p:spPr>
          <a:xfrm>
            <a:off x="793790" y="48258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Academics</a:t>
            </a:r>
            <a:endParaRPr lang="en-US" sz="1950" dirty="0"/>
          </a:p>
        </p:txBody>
      </p:sp>
      <p:sp>
        <p:nvSpPr>
          <p:cNvPr id="20" name="Text 18"/>
          <p:cNvSpPr/>
          <p:nvPr/>
        </p:nvSpPr>
        <p:spPr>
          <a:xfrm>
            <a:off x="793790" y="5334357"/>
            <a:ext cx="6279356"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β = </a:t>
            </a:r>
            <a:r>
              <a:rPr lang="en-US" sz="1550" b="1" dirty="0">
                <a:solidFill>
                  <a:srgbClr val="3257B8"/>
                </a:solidFill>
                <a:latin typeface="Roboto" pitchFamily="34" charset="0"/>
                <a:ea typeface="Roboto" pitchFamily="34" charset="-122"/>
                <a:cs typeface="Roboto" pitchFamily="34" charset="-120"/>
              </a:rPr>
              <a:t>.449</a:t>
            </a:r>
            <a:r>
              <a:rPr lang="en-US" sz="1550" dirty="0">
                <a:solidFill>
                  <a:srgbClr val="15213F"/>
                </a:solidFill>
                <a:latin typeface="Roboto" pitchFamily="34" charset="0"/>
                <a:ea typeface="Roboto" pitchFamily="34" charset="-122"/>
                <a:cs typeface="Roboto" pitchFamily="34" charset="-120"/>
              </a:rPr>
              <a:t> (highly positive)</a:t>
            </a:r>
            <a:endParaRPr lang="en-US" sz="1550" dirty="0"/>
          </a:p>
        </p:txBody>
      </p:sp>
      <p:sp>
        <p:nvSpPr>
          <p:cNvPr id="21" name="Text 19"/>
          <p:cNvSpPr/>
          <p:nvPr/>
        </p:nvSpPr>
        <p:spPr>
          <a:xfrm>
            <a:off x="793790" y="5830491"/>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Enjoyment drives adoption—academic contexts value tool enjoyment and exploration</a:t>
            </a:r>
            <a:endParaRPr lang="en-US" sz="1550" dirty="0"/>
          </a:p>
        </p:txBody>
      </p:sp>
      <p:sp>
        <p:nvSpPr>
          <p:cNvPr id="22" name="Text 20"/>
          <p:cNvSpPr/>
          <p:nvPr/>
        </p:nvSpPr>
        <p:spPr>
          <a:xfrm>
            <a:off x="7564874" y="482584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Professionals</a:t>
            </a:r>
            <a:endParaRPr lang="en-US" sz="1950" dirty="0"/>
          </a:p>
        </p:txBody>
      </p:sp>
      <p:sp>
        <p:nvSpPr>
          <p:cNvPr id="23" name="Text 21"/>
          <p:cNvSpPr/>
          <p:nvPr/>
        </p:nvSpPr>
        <p:spPr>
          <a:xfrm>
            <a:off x="7564874" y="5334357"/>
            <a:ext cx="6279356"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β = </a:t>
            </a:r>
            <a:r>
              <a:rPr lang="en-US" sz="1550" b="1" dirty="0">
                <a:solidFill>
                  <a:srgbClr val="15213F"/>
                </a:solidFill>
                <a:latin typeface="Roboto" pitchFamily="34" charset="0"/>
                <a:ea typeface="Roboto" pitchFamily="34" charset="-122"/>
                <a:cs typeface="Roboto" pitchFamily="34" charset="-120"/>
              </a:rPr>
              <a:t>−.301</a:t>
            </a:r>
            <a:r>
              <a:rPr lang="en-US" sz="1550" dirty="0">
                <a:solidFill>
                  <a:srgbClr val="15213F"/>
                </a:solidFill>
                <a:latin typeface="Roboto" pitchFamily="34" charset="0"/>
                <a:ea typeface="Roboto" pitchFamily="34" charset="-122"/>
                <a:cs typeface="Roboto" pitchFamily="34" charset="-120"/>
              </a:rPr>
              <a:t> (negative)</a:t>
            </a:r>
            <a:endParaRPr lang="en-US" sz="1550" dirty="0"/>
          </a:p>
        </p:txBody>
      </p:sp>
      <p:sp>
        <p:nvSpPr>
          <p:cNvPr id="24" name="Text 22"/>
          <p:cNvSpPr/>
          <p:nvPr/>
        </p:nvSpPr>
        <p:spPr>
          <a:xfrm>
            <a:off x="7564874" y="5830491"/>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Enjoyment may signal unseriousness—professional contexts may have cultural norms that work tools shouldn't be "fun"</a:t>
            </a:r>
            <a:endParaRPr lang="en-US" sz="1550" dirty="0"/>
          </a:p>
        </p:txBody>
      </p:sp>
      <p:sp>
        <p:nvSpPr>
          <p:cNvPr id="25" name="Text 23"/>
          <p:cNvSpPr/>
          <p:nvPr/>
        </p:nvSpPr>
        <p:spPr>
          <a:xfrm>
            <a:off x="793790" y="6867406"/>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Interpretation:</a:t>
            </a:r>
            <a:r>
              <a:rPr lang="en-US" sz="1550" dirty="0">
                <a:solidFill>
                  <a:srgbClr val="15213F"/>
                </a:solidFill>
                <a:latin typeface="Roboto" pitchFamily="34" charset="0"/>
                <a:ea typeface="Roboto" pitchFamily="34" charset="-122"/>
                <a:cs typeface="Roboto" pitchFamily="34" charset="-120"/>
              </a:rPr>
              <a:t> This finding has direct implications for audience-specific AI messaging strategies. What works in academic contexts may backfire in professional contexts.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628055"/>
            <a:ext cx="4798695" cy="527090"/>
          </a:xfrm>
          <a:prstGeom prst="rect">
            <a:avLst/>
          </a:prstGeom>
          <a:noFill/>
          <a:ln/>
        </p:spPr>
        <p:txBody>
          <a:bodyPr wrap="none" lIns="0" tIns="0" rIns="0" bIns="0" rtlCol="0" anchor="t"/>
          <a:lstStyle/>
          <a:p>
            <a:pPr marL="0" indent="0" algn="l">
              <a:lnSpc>
                <a:spcPts val="4150"/>
              </a:lnSpc>
              <a:buNone/>
            </a:pPr>
            <a:r>
              <a:rPr lang="en-US" sz="3300" dirty="0">
                <a:solidFill>
                  <a:srgbClr val="3257B8"/>
                </a:solidFill>
                <a:latin typeface="Roboto Slab" pitchFamily="34" charset="0"/>
                <a:ea typeface="Roboto Slab" pitchFamily="34" charset="-122"/>
                <a:cs typeface="Roboto Slab" pitchFamily="34" charset="-120"/>
              </a:rPr>
              <a:t>The AIRS-16 Instrument</a:t>
            </a:r>
            <a:endParaRPr lang="en-US" sz="3300" dirty="0"/>
          </a:p>
        </p:txBody>
      </p:sp>
      <p:sp>
        <p:nvSpPr>
          <p:cNvPr id="3" name="Text 1"/>
          <p:cNvSpPr/>
          <p:nvPr/>
        </p:nvSpPr>
        <p:spPr>
          <a:xfrm>
            <a:off x="793790" y="1222534"/>
            <a:ext cx="4247555" cy="263485"/>
          </a:xfrm>
          <a:prstGeom prst="rect">
            <a:avLst/>
          </a:prstGeom>
          <a:noFill/>
          <a:ln/>
        </p:spPr>
        <p:txBody>
          <a:bodyPr wrap="none" lIns="0" tIns="0" rIns="0" bIns="0" rtlCol="0" anchor="t"/>
          <a:lstStyle/>
          <a:p>
            <a:pPr marL="0" indent="0" algn="l">
              <a:lnSpc>
                <a:spcPts val="2050"/>
              </a:lnSpc>
              <a:buNone/>
            </a:pPr>
            <a:r>
              <a:rPr lang="en-US" sz="1650" dirty="0">
                <a:solidFill>
                  <a:srgbClr val="3257B8"/>
                </a:solidFill>
                <a:latin typeface="Roboto Slab" pitchFamily="34" charset="0"/>
                <a:ea typeface="Roboto Slab" pitchFamily="34" charset="-122"/>
                <a:cs typeface="Roboto Slab" pitchFamily="34" charset="-120"/>
              </a:rPr>
              <a:t>Validated 8-Factor, 16-Item Diagnostic Tool</a:t>
            </a:r>
            <a:endParaRPr lang="en-US" sz="1650" dirty="0"/>
          </a:p>
        </p:txBody>
      </p:sp>
      <p:sp>
        <p:nvSpPr>
          <p:cNvPr id="4" name="Shape 2"/>
          <p:cNvSpPr/>
          <p:nvPr/>
        </p:nvSpPr>
        <p:spPr>
          <a:xfrm>
            <a:off x="793790" y="1739027"/>
            <a:ext cx="13042821" cy="4403288"/>
          </a:xfrm>
          <a:prstGeom prst="roundRect">
            <a:avLst>
              <a:gd name="adj" fmla="val 575"/>
            </a:avLst>
          </a:prstGeom>
          <a:noFill/>
          <a:ln w="7620">
            <a:solidFill>
              <a:srgbClr val="000000">
                <a:alpha val="8000"/>
              </a:srgbClr>
            </a:solidFill>
            <a:prstDash val="solid"/>
          </a:ln>
        </p:spPr>
        <p:txBody>
          <a:bodyPr/>
          <a:lstStyle/>
          <a:p>
            <a:endParaRPr lang="en-US"/>
          </a:p>
        </p:txBody>
      </p:sp>
      <p:sp>
        <p:nvSpPr>
          <p:cNvPr id="5" name="Shape 3"/>
          <p:cNvSpPr/>
          <p:nvPr/>
        </p:nvSpPr>
        <p:spPr>
          <a:xfrm>
            <a:off x="801410" y="1746647"/>
            <a:ext cx="13027581" cy="487561"/>
          </a:xfrm>
          <a:prstGeom prst="rect">
            <a:avLst/>
          </a:prstGeom>
          <a:solidFill>
            <a:srgbClr val="FFFFFF">
              <a:alpha val="4000"/>
            </a:srgbClr>
          </a:solidFill>
          <a:ln/>
        </p:spPr>
        <p:txBody>
          <a:bodyPr/>
          <a:lstStyle/>
          <a:p>
            <a:endParaRPr lang="en-US"/>
          </a:p>
        </p:txBody>
      </p:sp>
      <p:sp>
        <p:nvSpPr>
          <p:cNvPr id="6" name="Text 4"/>
          <p:cNvSpPr/>
          <p:nvPr/>
        </p:nvSpPr>
        <p:spPr>
          <a:xfrm>
            <a:off x="970240" y="1855470"/>
            <a:ext cx="4218623" cy="269915"/>
          </a:xfrm>
          <a:prstGeom prst="rect">
            <a:avLst/>
          </a:prstGeom>
          <a:noFill/>
          <a:ln/>
        </p:spPr>
        <p:txBody>
          <a:bodyPr wrap="none" lIns="0" tIns="0" rIns="0" bIns="0" rtlCol="0" anchor="t"/>
          <a:lstStyle/>
          <a:p>
            <a:pPr marL="0" indent="0" algn="l">
              <a:lnSpc>
                <a:spcPts val="2100"/>
              </a:lnSpc>
              <a:buNone/>
            </a:pPr>
            <a:r>
              <a:rPr lang="en-US" sz="1300" b="1" dirty="0">
                <a:solidFill>
                  <a:srgbClr val="15213F"/>
                </a:solidFill>
                <a:latin typeface="Roboto" pitchFamily="34" charset="0"/>
                <a:ea typeface="Roboto" pitchFamily="34" charset="-122"/>
                <a:cs typeface="Roboto" pitchFamily="34" charset="-120"/>
              </a:rPr>
              <a:t>Factor</a:t>
            </a:r>
            <a:endParaRPr lang="en-US" sz="1300" dirty="0"/>
          </a:p>
        </p:txBody>
      </p:sp>
      <p:sp>
        <p:nvSpPr>
          <p:cNvPr id="7" name="Text 5"/>
          <p:cNvSpPr/>
          <p:nvPr/>
        </p:nvSpPr>
        <p:spPr>
          <a:xfrm>
            <a:off x="5533668" y="1855470"/>
            <a:ext cx="1609249" cy="269915"/>
          </a:xfrm>
          <a:prstGeom prst="rect">
            <a:avLst/>
          </a:prstGeom>
          <a:noFill/>
          <a:ln/>
        </p:spPr>
        <p:txBody>
          <a:bodyPr wrap="none" lIns="0" tIns="0" rIns="0" bIns="0" rtlCol="0" anchor="t"/>
          <a:lstStyle/>
          <a:p>
            <a:pPr marL="0" indent="0" algn="l">
              <a:lnSpc>
                <a:spcPts val="2100"/>
              </a:lnSpc>
              <a:buNone/>
            </a:pPr>
            <a:r>
              <a:rPr lang="en-US" sz="1300" b="1" dirty="0">
                <a:solidFill>
                  <a:srgbClr val="15213F"/>
                </a:solidFill>
                <a:latin typeface="Roboto" pitchFamily="34" charset="0"/>
                <a:ea typeface="Roboto" pitchFamily="34" charset="-122"/>
                <a:cs typeface="Roboto" pitchFamily="34" charset="-120"/>
              </a:rPr>
              <a:t>Items</a:t>
            </a:r>
            <a:endParaRPr lang="en-US" sz="1300" dirty="0"/>
          </a:p>
        </p:txBody>
      </p:sp>
      <p:sp>
        <p:nvSpPr>
          <p:cNvPr id="8" name="Text 6"/>
          <p:cNvSpPr/>
          <p:nvPr/>
        </p:nvSpPr>
        <p:spPr>
          <a:xfrm>
            <a:off x="7487722" y="1855470"/>
            <a:ext cx="1609249" cy="269915"/>
          </a:xfrm>
          <a:prstGeom prst="rect">
            <a:avLst/>
          </a:prstGeom>
          <a:noFill/>
          <a:ln/>
        </p:spPr>
        <p:txBody>
          <a:bodyPr wrap="none" lIns="0" tIns="0" rIns="0" bIns="0" rtlCol="0" anchor="t"/>
          <a:lstStyle/>
          <a:p>
            <a:pPr marL="0" indent="0" algn="l">
              <a:lnSpc>
                <a:spcPts val="2100"/>
              </a:lnSpc>
              <a:buNone/>
            </a:pPr>
            <a:r>
              <a:rPr lang="en-US" sz="1300" b="1" dirty="0">
                <a:solidFill>
                  <a:srgbClr val="15213F"/>
                </a:solidFill>
                <a:latin typeface="Roboto" pitchFamily="34" charset="0"/>
                <a:ea typeface="Roboto" pitchFamily="34" charset="-122"/>
                <a:cs typeface="Roboto" pitchFamily="34" charset="-120"/>
              </a:rPr>
              <a:t>α</a:t>
            </a:r>
            <a:endParaRPr lang="en-US" sz="1300" dirty="0"/>
          </a:p>
        </p:txBody>
      </p:sp>
      <p:sp>
        <p:nvSpPr>
          <p:cNvPr id="9" name="Text 7"/>
          <p:cNvSpPr/>
          <p:nvPr/>
        </p:nvSpPr>
        <p:spPr>
          <a:xfrm>
            <a:off x="9441775" y="1855470"/>
            <a:ext cx="4218623" cy="269915"/>
          </a:xfrm>
          <a:prstGeom prst="rect">
            <a:avLst/>
          </a:prstGeom>
          <a:noFill/>
          <a:ln/>
        </p:spPr>
        <p:txBody>
          <a:bodyPr wrap="none" lIns="0" tIns="0" rIns="0" bIns="0" rtlCol="0" anchor="t"/>
          <a:lstStyle/>
          <a:p>
            <a:pPr marL="0" indent="0" algn="l">
              <a:lnSpc>
                <a:spcPts val="2100"/>
              </a:lnSpc>
              <a:buNone/>
            </a:pPr>
            <a:r>
              <a:rPr lang="en-US" sz="1300" b="1" dirty="0">
                <a:solidFill>
                  <a:srgbClr val="15213F"/>
                </a:solidFill>
                <a:latin typeface="Roboto" pitchFamily="34" charset="0"/>
                <a:ea typeface="Roboto" pitchFamily="34" charset="-122"/>
                <a:cs typeface="Roboto" pitchFamily="34" charset="-120"/>
              </a:rPr>
              <a:t>Purpose</a:t>
            </a:r>
            <a:endParaRPr lang="en-US" sz="1300" dirty="0"/>
          </a:p>
        </p:txBody>
      </p:sp>
      <p:sp>
        <p:nvSpPr>
          <p:cNvPr id="10" name="Shape 8"/>
          <p:cNvSpPr/>
          <p:nvPr/>
        </p:nvSpPr>
        <p:spPr>
          <a:xfrm>
            <a:off x="801410" y="2234208"/>
            <a:ext cx="13027581" cy="487561"/>
          </a:xfrm>
          <a:prstGeom prst="rect">
            <a:avLst/>
          </a:prstGeom>
          <a:solidFill>
            <a:srgbClr val="000000">
              <a:alpha val="4000"/>
            </a:srgbClr>
          </a:solidFill>
          <a:ln/>
        </p:spPr>
        <p:txBody>
          <a:bodyPr/>
          <a:lstStyle/>
          <a:p>
            <a:endParaRPr lang="en-US"/>
          </a:p>
        </p:txBody>
      </p:sp>
      <p:sp>
        <p:nvSpPr>
          <p:cNvPr id="11" name="Text 9"/>
          <p:cNvSpPr/>
          <p:nvPr/>
        </p:nvSpPr>
        <p:spPr>
          <a:xfrm>
            <a:off x="970240" y="2343031"/>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Performance Expectancy</a:t>
            </a:r>
            <a:endParaRPr lang="en-US" sz="1300" dirty="0"/>
          </a:p>
        </p:txBody>
      </p:sp>
      <p:sp>
        <p:nvSpPr>
          <p:cNvPr id="12" name="Text 10"/>
          <p:cNvSpPr/>
          <p:nvPr/>
        </p:nvSpPr>
        <p:spPr>
          <a:xfrm>
            <a:off x="5533668" y="2343031"/>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13" name="Text 11"/>
          <p:cNvSpPr/>
          <p:nvPr/>
        </p:nvSpPr>
        <p:spPr>
          <a:xfrm>
            <a:off x="7487722" y="2343031"/>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.80</a:t>
            </a:r>
            <a:endParaRPr lang="en-US" sz="1300" dirty="0"/>
          </a:p>
        </p:txBody>
      </p:sp>
      <p:sp>
        <p:nvSpPr>
          <p:cNvPr id="14" name="Text 12"/>
          <p:cNvSpPr/>
          <p:nvPr/>
        </p:nvSpPr>
        <p:spPr>
          <a:xfrm>
            <a:off x="9441775" y="2343031"/>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Productivity beliefs</a:t>
            </a:r>
            <a:endParaRPr lang="en-US" sz="1300" dirty="0"/>
          </a:p>
        </p:txBody>
      </p:sp>
      <p:sp>
        <p:nvSpPr>
          <p:cNvPr id="15" name="Shape 13"/>
          <p:cNvSpPr/>
          <p:nvPr/>
        </p:nvSpPr>
        <p:spPr>
          <a:xfrm>
            <a:off x="801410" y="2721769"/>
            <a:ext cx="13027581" cy="487561"/>
          </a:xfrm>
          <a:prstGeom prst="rect">
            <a:avLst/>
          </a:prstGeom>
          <a:solidFill>
            <a:srgbClr val="FFFFFF">
              <a:alpha val="4000"/>
            </a:srgbClr>
          </a:solidFill>
          <a:ln/>
        </p:spPr>
        <p:txBody>
          <a:bodyPr/>
          <a:lstStyle/>
          <a:p>
            <a:endParaRPr lang="en-US"/>
          </a:p>
        </p:txBody>
      </p:sp>
      <p:sp>
        <p:nvSpPr>
          <p:cNvPr id="16" name="Text 14"/>
          <p:cNvSpPr/>
          <p:nvPr/>
        </p:nvSpPr>
        <p:spPr>
          <a:xfrm>
            <a:off x="970240" y="2830592"/>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Effort Expectancy</a:t>
            </a:r>
            <a:endParaRPr lang="en-US" sz="1300" dirty="0"/>
          </a:p>
        </p:txBody>
      </p:sp>
      <p:sp>
        <p:nvSpPr>
          <p:cNvPr id="17" name="Text 15"/>
          <p:cNvSpPr/>
          <p:nvPr/>
        </p:nvSpPr>
        <p:spPr>
          <a:xfrm>
            <a:off x="5533668" y="2830592"/>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18" name="Text 16"/>
          <p:cNvSpPr/>
          <p:nvPr/>
        </p:nvSpPr>
        <p:spPr>
          <a:xfrm>
            <a:off x="7487722" y="2830592"/>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.86</a:t>
            </a:r>
            <a:endParaRPr lang="en-US" sz="1300" dirty="0"/>
          </a:p>
        </p:txBody>
      </p:sp>
      <p:sp>
        <p:nvSpPr>
          <p:cNvPr id="19" name="Text 17"/>
          <p:cNvSpPr/>
          <p:nvPr/>
        </p:nvSpPr>
        <p:spPr>
          <a:xfrm>
            <a:off x="9441775" y="2830592"/>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Ease of use</a:t>
            </a:r>
            <a:endParaRPr lang="en-US" sz="1300" dirty="0"/>
          </a:p>
        </p:txBody>
      </p:sp>
      <p:sp>
        <p:nvSpPr>
          <p:cNvPr id="20" name="Shape 18"/>
          <p:cNvSpPr/>
          <p:nvPr/>
        </p:nvSpPr>
        <p:spPr>
          <a:xfrm>
            <a:off x="801410" y="3209330"/>
            <a:ext cx="13027581" cy="487561"/>
          </a:xfrm>
          <a:prstGeom prst="rect">
            <a:avLst/>
          </a:prstGeom>
          <a:solidFill>
            <a:srgbClr val="000000">
              <a:alpha val="4000"/>
            </a:srgbClr>
          </a:solidFill>
          <a:ln/>
        </p:spPr>
        <p:txBody>
          <a:bodyPr/>
          <a:lstStyle/>
          <a:p>
            <a:endParaRPr lang="en-US"/>
          </a:p>
        </p:txBody>
      </p:sp>
      <p:sp>
        <p:nvSpPr>
          <p:cNvPr id="21" name="Text 19"/>
          <p:cNvSpPr/>
          <p:nvPr/>
        </p:nvSpPr>
        <p:spPr>
          <a:xfrm>
            <a:off x="970240" y="3318153"/>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Social Influence</a:t>
            </a:r>
            <a:endParaRPr lang="en-US" sz="1300" dirty="0"/>
          </a:p>
        </p:txBody>
      </p:sp>
      <p:sp>
        <p:nvSpPr>
          <p:cNvPr id="22" name="Text 20"/>
          <p:cNvSpPr/>
          <p:nvPr/>
        </p:nvSpPr>
        <p:spPr>
          <a:xfrm>
            <a:off x="5533668" y="3318153"/>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23" name="Text 21"/>
          <p:cNvSpPr/>
          <p:nvPr/>
        </p:nvSpPr>
        <p:spPr>
          <a:xfrm>
            <a:off x="7487722" y="3318153"/>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.75</a:t>
            </a:r>
            <a:endParaRPr lang="en-US" sz="1300" dirty="0"/>
          </a:p>
        </p:txBody>
      </p:sp>
      <p:sp>
        <p:nvSpPr>
          <p:cNvPr id="24" name="Text 22"/>
          <p:cNvSpPr/>
          <p:nvPr/>
        </p:nvSpPr>
        <p:spPr>
          <a:xfrm>
            <a:off x="9441775" y="3318153"/>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Peer/org influence</a:t>
            </a:r>
            <a:endParaRPr lang="en-US" sz="1300" dirty="0"/>
          </a:p>
        </p:txBody>
      </p:sp>
      <p:sp>
        <p:nvSpPr>
          <p:cNvPr id="25" name="Shape 23"/>
          <p:cNvSpPr/>
          <p:nvPr/>
        </p:nvSpPr>
        <p:spPr>
          <a:xfrm>
            <a:off x="801410" y="3696891"/>
            <a:ext cx="13027581" cy="487561"/>
          </a:xfrm>
          <a:prstGeom prst="rect">
            <a:avLst/>
          </a:prstGeom>
          <a:solidFill>
            <a:srgbClr val="FFFFFF">
              <a:alpha val="4000"/>
            </a:srgbClr>
          </a:solidFill>
          <a:ln/>
        </p:spPr>
        <p:txBody>
          <a:bodyPr/>
          <a:lstStyle/>
          <a:p>
            <a:endParaRPr lang="en-US"/>
          </a:p>
        </p:txBody>
      </p:sp>
      <p:sp>
        <p:nvSpPr>
          <p:cNvPr id="26" name="Text 24"/>
          <p:cNvSpPr/>
          <p:nvPr/>
        </p:nvSpPr>
        <p:spPr>
          <a:xfrm>
            <a:off x="970240" y="3805714"/>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Facilitating Conditions</a:t>
            </a:r>
            <a:endParaRPr lang="en-US" sz="1300" dirty="0"/>
          </a:p>
        </p:txBody>
      </p:sp>
      <p:sp>
        <p:nvSpPr>
          <p:cNvPr id="27" name="Text 25"/>
          <p:cNvSpPr/>
          <p:nvPr/>
        </p:nvSpPr>
        <p:spPr>
          <a:xfrm>
            <a:off x="5533668" y="3805714"/>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28" name="Text 26"/>
          <p:cNvSpPr/>
          <p:nvPr/>
        </p:nvSpPr>
        <p:spPr>
          <a:xfrm>
            <a:off x="7487722" y="3805714"/>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.74</a:t>
            </a:r>
            <a:endParaRPr lang="en-US" sz="1300" dirty="0"/>
          </a:p>
        </p:txBody>
      </p:sp>
      <p:sp>
        <p:nvSpPr>
          <p:cNvPr id="29" name="Text 27"/>
          <p:cNvSpPr/>
          <p:nvPr/>
        </p:nvSpPr>
        <p:spPr>
          <a:xfrm>
            <a:off x="9441775" y="3805714"/>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Support availability</a:t>
            </a:r>
            <a:endParaRPr lang="en-US" sz="1300" dirty="0"/>
          </a:p>
        </p:txBody>
      </p:sp>
      <p:sp>
        <p:nvSpPr>
          <p:cNvPr id="30" name="Shape 28"/>
          <p:cNvSpPr/>
          <p:nvPr/>
        </p:nvSpPr>
        <p:spPr>
          <a:xfrm>
            <a:off x="801410" y="4184452"/>
            <a:ext cx="13027581" cy="487561"/>
          </a:xfrm>
          <a:prstGeom prst="rect">
            <a:avLst/>
          </a:prstGeom>
          <a:solidFill>
            <a:srgbClr val="000000">
              <a:alpha val="4000"/>
            </a:srgbClr>
          </a:solidFill>
          <a:ln/>
        </p:spPr>
        <p:txBody>
          <a:bodyPr/>
          <a:lstStyle/>
          <a:p>
            <a:endParaRPr lang="en-US"/>
          </a:p>
        </p:txBody>
      </p:sp>
      <p:sp>
        <p:nvSpPr>
          <p:cNvPr id="31" name="Text 29"/>
          <p:cNvSpPr/>
          <p:nvPr/>
        </p:nvSpPr>
        <p:spPr>
          <a:xfrm>
            <a:off x="970240" y="4293275"/>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Hedonic Motivation</a:t>
            </a:r>
            <a:endParaRPr lang="en-US" sz="1300" dirty="0"/>
          </a:p>
        </p:txBody>
      </p:sp>
      <p:sp>
        <p:nvSpPr>
          <p:cNvPr id="32" name="Text 30"/>
          <p:cNvSpPr/>
          <p:nvPr/>
        </p:nvSpPr>
        <p:spPr>
          <a:xfrm>
            <a:off x="5533668" y="4293275"/>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33" name="Text 31"/>
          <p:cNvSpPr/>
          <p:nvPr/>
        </p:nvSpPr>
        <p:spPr>
          <a:xfrm>
            <a:off x="7487722" y="4293275"/>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.86</a:t>
            </a:r>
            <a:endParaRPr lang="en-US" sz="1300" dirty="0"/>
          </a:p>
        </p:txBody>
      </p:sp>
      <p:sp>
        <p:nvSpPr>
          <p:cNvPr id="34" name="Text 32"/>
          <p:cNvSpPr/>
          <p:nvPr/>
        </p:nvSpPr>
        <p:spPr>
          <a:xfrm>
            <a:off x="9441775" y="4293275"/>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Enjoyment</a:t>
            </a:r>
            <a:endParaRPr lang="en-US" sz="1300" dirty="0"/>
          </a:p>
        </p:txBody>
      </p:sp>
      <p:sp>
        <p:nvSpPr>
          <p:cNvPr id="35" name="Shape 33"/>
          <p:cNvSpPr/>
          <p:nvPr/>
        </p:nvSpPr>
        <p:spPr>
          <a:xfrm>
            <a:off x="801410" y="4672013"/>
            <a:ext cx="13027581" cy="487561"/>
          </a:xfrm>
          <a:prstGeom prst="rect">
            <a:avLst/>
          </a:prstGeom>
          <a:solidFill>
            <a:srgbClr val="FFFFFF">
              <a:alpha val="4000"/>
            </a:srgbClr>
          </a:solidFill>
          <a:ln/>
        </p:spPr>
        <p:txBody>
          <a:bodyPr/>
          <a:lstStyle/>
          <a:p>
            <a:endParaRPr lang="en-US"/>
          </a:p>
        </p:txBody>
      </p:sp>
      <p:sp>
        <p:nvSpPr>
          <p:cNvPr id="36" name="Text 34"/>
          <p:cNvSpPr/>
          <p:nvPr/>
        </p:nvSpPr>
        <p:spPr>
          <a:xfrm>
            <a:off x="970240" y="4780836"/>
            <a:ext cx="4218623" cy="269915"/>
          </a:xfrm>
          <a:prstGeom prst="rect">
            <a:avLst/>
          </a:prstGeom>
          <a:noFill/>
          <a:ln/>
        </p:spPr>
        <p:txBody>
          <a:bodyPr wrap="none" lIns="0" tIns="0" rIns="0" bIns="0" rtlCol="0" anchor="t"/>
          <a:lstStyle/>
          <a:p>
            <a:pPr marL="0" indent="0" algn="l">
              <a:lnSpc>
                <a:spcPts val="2100"/>
              </a:lnSpc>
              <a:buNone/>
            </a:pPr>
            <a:r>
              <a:rPr lang="en-US" sz="1300" b="1" dirty="0">
                <a:solidFill>
                  <a:srgbClr val="3257B8"/>
                </a:solidFill>
                <a:latin typeface="Roboto" pitchFamily="34" charset="0"/>
                <a:ea typeface="Roboto" pitchFamily="34" charset="-122"/>
                <a:cs typeface="Roboto" pitchFamily="34" charset="-120"/>
              </a:rPr>
              <a:t>Price Value</a:t>
            </a:r>
            <a:endParaRPr lang="en-US" sz="1300" dirty="0"/>
          </a:p>
        </p:txBody>
      </p:sp>
      <p:sp>
        <p:nvSpPr>
          <p:cNvPr id="37" name="Text 35"/>
          <p:cNvSpPr/>
          <p:nvPr/>
        </p:nvSpPr>
        <p:spPr>
          <a:xfrm>
            <a:off x="5533668" y="4780836"/>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38" name="Text 36"/>
          <p:cNvSpPr/>
          <p:nvPr/>
        </p:nvSpPr>
        <p:spPr>
          <a:xfrm>
            <a:off x="7487722" y="4780836"/>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.88</a:t>
            </a:r>
            <a:endParaRPr lang="en-US" sz="1300" dirty="0"/>
          </a:p>
        </p:txBody>
      </p:sp>
      <p:sp>
        <p:nvSpPr>
          <p:cNvPr id="39" name="Text 37"/>
          <p:cNvSpPr/>
          <p:nvPr/>
        </p:nvSpPr>
        <p:spPr>
          <a:xfrm>
            <a:off x="9441775" y="4780836"/>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Worth vs. cost</a:t>
            </a:r>
            <a:endParaRPr lang="en-US" sz="1300" dirty="0"/>
          </a:p>
        </p:txBody>
      </p:sp>
      <p:sp>
        <p:nvSpPr>
          <p:cNvPr id="40" name="Shape 38"/>
          <p:cNvSpPr/>
          <p:nvPr/>
        </p:nvSpPr>
        <p:spPr>
          <a:xfrm>
            <a:off x="801410" y="5159573"/>
            <a:ext cx="13027581" cy="487561"/>
          </a:xfrm>
          <a:prstGeom prst="rect">
            <a:avLst/>
          </a:prstGeom>
          <a:solidFill>
            <a:srgbClr val="000000">
              <a:alpha val="4000"/>
            </a:srgbClr>
          </a:solidFill>
          <a:ln/>
        </p:spPr>
        <p:txBody>
          <a:bodyPr/>
          <a:lstStyle/>
          <a:p>
            <a:endParaRPr lang="en-US"/>
          </a:p>
        </p:txBody>
      </p:sp>
      <p:sp>
        <p:nvSpPr>
          <p:cNvPr id="41" name="Text 39"/>
          <p:cNvSpPr/>
          <p:nvPr/>
        </p:nvSpPr>
        <p:spPr>
          <a:xfrm>
            <a:off x="970240" y="5268397"/>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Habit</a:t>
            </a:r>
            <a:endParaRPr lang="en-US" sz="1300" dirty="0"/>
          </a:p>
        </p:txBody>
      </p:sp>
      <p:sp>
        <p:nvSpPr>
          <p:cNvPr id="42" name="Text 40"/>
          <p:cNvSpPr/>
          <p:nvPr/>
        </p:nvSpPr>
        <p:spPr>
          <a:xfrm>
            <a:off x="5533668" y="5268397"/>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43" name="Text 41"/>
          <p:cNvSpPr/>
          <p:nvPr/>
        </p:nvSpPr>
        <p:spPr>
          <a:xfrm>
            <a:off x="7487722" y="5268397"/>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.91</a:t>
            </a:r>
            <a:endParaRPr lang="en-US" sz="1300" dirty="0"/>
          </a:p>
        </p:txBody>
      </p:sp>
      <p:sp>
        <p:nvSpPr>
          <p:cNvPr id="44" name="Text 42"/>
          <p:cNvSpPr/>
          <p:nvPr/>
        </p:nvSpPr>
        <p:spPr>
          <a:xfrm>
            <a:off x="9441775" y="5268397"/>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Behavioral patterns</a:t>
            </a:r>
            <a:endParaRPr lang="en-US" sz="1300" dirty="0"/>
          </a:p>
        </p:txBody>
      </p:sp>
      <p:sp>
        <p:nvSpPr>
          <p:cNvPr id="45" name="Shape 43"/>
          <p:cNvSpPr/>
          <p:nvPr/>
        </p:nvSpPr>
        <p:spPr>
          <a:xfrm>
            <a:off x="801410" y="5647134"/>
            <a:ext cx="13027581" cy="487561"/>
          </a:xfrm>
          <a:prstGeom prst="rect">
            <a:avLst/>
          </a:prstGeom>
          <a:solidFill>
            <a:srgbClr val="FFFFFF">
              <a:alpha val="4000"/>
            </a:srgbClr>
          </a:solidFill>
          <a:ln/>
        </p:spPr>
        <p:txBody>
          <a:bodyPr/>
          <a:lstStyle/>
          <a:p>
            <a:endParaRPr lang="en-US"/>
          </a:p>
        </p:txBody>
      </p:sp>
      <p:sp>
        <p:nvSpPr>
          <p:cNvPr id="46" name="Text 44"/>
          <p:cNvSpPr/>
          <p:nvPr/>
        </p:nvSpPr>
        <p:spPr>
          <a:xfrm>
            <a:off x="970240" y="5755958"/>
            <a:ext cx="4218623" cy="269915"/>
          </a:xfrm>
          <a:prstGeom prst="rect">
            <a:avLst/>
          </a:prstGeom>
          <a:noFill/>
          <a:ln/>
        </p:spPr>
        <p:txBody>
          <a:bodyPr wrap="none" lIns="0" tIns="0" rIns="0" bIns="0" rtlCol="0" anchor="t"/>
          <a:lstStyle/>
          <a:p>
            <a:pPr marL="0" indent="0" algn="l">
              <a:lnSpc>
                <a:spcPts val="2100"/>
              </a:lnSpc>
              <a:buNone/>
            </a:pPr>
            <a:r>
              <a:rPr lang="en-US" sz="1300" b="1" dirty="0">
                <a:solidFill>
                  <a:srgbClr val="3257B8"/>
                </a:solidFill>
                <a:latin typeface="Roboto" pitchFamily="34" charset="0"/>
                <a:ea typeface="Roboto" pitchFamily="34" charset="-122"/>
                <a:cs typeface="Roboto" pitchFamily="34" charset="-120"/>
              </a:rPr>
              <a:t>AI Trust</a:t>
            </a:r>
            <a:endParaRPr lang="en-US" sz="1300" dirty="0"/>
          </a:p>
        </p:txBody>
      </p:sp>
      <p:sp>
        <p:nvSpPr>
          <p:cNvPr id="47" name="Text 45"/>
          <p:cNvSpPr/>
          <p:nvPr/>
        </p:nvSpPr>
        <p:spPr>
          <a:xfrm>
            <a:off x="5533668" y="5755958"/>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2</a:t>
            </a:r>
            <a:endParaRPr lang="en-US" sz="1300" dirty="0"/>
          </a:p>
        </p:txBody>
      </p:sp>
      <p:sp>
        <p:nvSpPr>
          <p:cNvPr id="48" name="Text 46"/>
          <p:cNvSpPr/>
          <p:nvPr/>
        </p:nvSpPr>
        <p:spPr>
          <a:xfrm>
            <a:off x="7487722" y="5755958"/>
            <a:ext cx="1609249"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.89</a:t>
            </a:r>
            <a:endParaRPr lang="en-US" sz="1300" dirty="0"/>
          </a:p>
        </p:txBody>
      </p:sp>
      <p:sp>
        <p:nvSpPr>
          <p:cNvPr id="49" name="Text 47"/>
          <p:cNvSpPr/>
          <p:nvPr/>
        </p:nvSpPr>
        <p:spPr>
          <a:xfrm>
            <a:off x="9441775" y="5755958"/>
            <a:ext cx="4218623" cy="269915"/>
          </a:xfrm>
          <a:prstGeom prst="rect">
            <a:avLst/>
          </a:prstGeom>
          <a:noFill/>
          <a:ln/>
        </p:spPr>
        <p:txBody>
          <a:bodyPr wrap="non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AI-specific trust</a:t>
            </a:r>
            <a:endParaRPr lang="en-US" sz="1300" dirty="0"/>
          </a:p>
        </p:txBody>
      </p:sp>
      <p:sp>
        <p:nvSpPr>
          <p:cNvPr id="50" name="Text 48"/>
          <p:cNvSpPr/>
          <p:nvPr/>
        </p:nvSpPr>
        <p:spPr>
          <a:xfrm>
            <a:off x="793790" y="6332101"/>
            <a:ext cx="13042821" cy="269915"/>
          </a:xfrm>
          <a:prstGeom prst="rect">
            <a:avLst/>
          </a:prstGeom>
          <a:noFill/>
          <a:ln/>
        </p:spPr>
        <p:txBody>
          <a:bodyPr wrap="none" lIns="0" tIns="0" rIns="0" bIns="0" rtlCol="0" anchor="t"/>
          <a:lstStyle/>
          <a:p>
            <a:pPr marL="0" indent="0" algn="l">
              <a:lnSpc>
                <a:spcPts val="2100"/>
              </a:lnSpc>
              <a:buNone/>
            </a:pPr>
            <a:r>
              <a:rPr lang="en-US" sz="1300" b="1" dirty="0">
                <a:solidFill>
                  <a:srgbClr val="15213F"/>
                </a:solidFill>
                <a:latin typeface="Roboto" pitchFamily="34" charset="0"/>
                <a:ea typeface="Roboto" pitchFamily="34" charset="-122"/>
                <a:cs typeface="Roboto" pitchFamily="34" charset="-120"/>
              </a:rPr>
              <a:t>Administration:</a:t>
            </a:r>
            <a:r>
              <a:rPr lang="en-US" sz="1300" dirty="0">
                <a:solidFill>
                  <a:srgbClr val="15213F"/>
                </a:solidFill>
                <a:latin typeface="Roboto" pitchFamily="34" charset="0"/>
                <a:ea typeface="Roboto" pitchFamily="34" charset="-122"/>
                <a:cs typeface="Roboto" pitchFamily="34" charset="-120"/>
              </a:rPr>
              <a:t> ~3 minutes | </a:t>
            </a:r>
            <a:r>
              <a:rPr lang="en-US" sz="1300" b="1" dirty="0">
                <a:solidFill>
                  <a:srgbClr val="15213F"/>
                </a:solidFill>
                <a:latin typeface="Roboto" pitchFamily="34" charset="0"/>
                <a:ea typeface="Roboto" pitchFamily="34" charset="-122"/>
                <a:cs typeface="Roboto" pitchFamily="34" charset="-120"/>
              </a:rPr>
              <a:t>Diagnostic output:</a:t>
            </a:r>
            <a:r>
              <a:rPr lang="en-US" sz="1300" dirty="0">
                <a:solidFill>
                  <a:srgbClr val="15213F"/>
                </a:solidFill>
                <a:latin typeface="Roboto" pitchFamily="34" charset="0"/>
                <a:ea typeface="Roboto" pitchFamily="34" charset="-122"/>
                <a:cs typeface="Roboto" pitchFamily="34" charset="-120"/>
              </a:rPr>
              <a:t> Identifies specific barriers</a:t>
            </a:r>
            <a:endParaRPr lang="en-US" sz="1300" dirty="0"/>
          </a:p>
        </p:txBody>
      </p:sp>
      <p:sp>
        <p:nvSpPr>
          <p:cNvPr id="51" name="Text 49"/>
          <p:cNvSpPr/>
          <p:nvPr/>
        </p:nvSpPr>
        <p:spPr>
          <a:xfrm>
            <a:off x="793790" y="6791801"/>
            <a:ext cx="13042821" cy="809744"/>
          </a:xfrm>
          <a:prstGeom prst="rect">
            <a:avLst/>
          </a:prstGeom>
          <a:noFill/>
          <a:ln/>
        </p:spPr>
        <p:txBody>
          <a:bodyPr wrap="square" lIns="0" tIns="0" rIns="0" bIns="0" rtlCol="0" anchor="t"/>
          <a:lstStyle/>
          <a:p>
            <a:pPr marL="0" indent="0" algn="l">
              <a:lnSpc>
                <a:spcPts val="2100"/>
              </a:lnSpc>
              <a:buNone/>
            </a:pPr>
            <a:r>
              <a:rPr lang="en-US" sz="1300" dirty="0">
                <a:solidFill>
                  <a:srgbClr val="15213F"/>
                </a:solidFill>
                <a:latin typeface="Roboto" pitchFamily="34" charset="0"/>
                <a:ea typeface="Roboto" pitchFamily="34" charset="-122"/>
                <a:cs typeface="Roboto" pitchFamily="34" charset="-120"/>
              </a:rPr>
              <a:t>Organizations can administer the assessment, score it, and identify specific barriers: Low Price Value → Value demonstration intervention; Low Social Influence → Champion recruitment; Low Trust → Trust-building intervention first. AIRS-16 moves organizations from guessing about adoption barriers to diagnosing them with validated measurement.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1213366"/>
            <a:ext cx="6005274"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Theoretical Contributions</a:t>
            </a:r>
            <a:endParaRPr lang="en-US" sz="3900" dirty="0"/>
          </a:p>
        </p:txBody>
      </p:sp>
      <p:sp>
        <p:nvSpPr>
          <p:cNvPr id="3" name="Text 1"/>
          <p:cNvSpPr/>
          <p:nvPr/>
        </p:nvSpPr>
        <p:spPr>
          <a:xfrm>
            <a:off x="793790" y="1912739"/>
            <a:ext cx="5050393"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Advancing Technology Acceptance Theory</a:t>
            </a:r>
            <a:endParaRPr lang="en-US" sz="1950" dirty="0"/>
          </a:p>
        </p:txBody>
      </p:sp>
      <p:sp>
        <p:nvSpPr>
          <p:cNvPr id="4" name="Text 2"/>
          <p:cNvSpPr/>
          <p:nvPr/>
        </p:nvSpPr>
        <p:spPr>
          <a:xfrm>
            <a:off x="793790" y="252055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01</a:t>
            </a:r>
            <a:endParaRPr lang="en-US" sz="1550" dirty="0"/>
          </a:p>
        </p:txBody>
      </p:sp>
      <p:pic>
        <p:nvPicPr>
          <p:cNvPr id="5" name="Image 0" descr="preencoded.png"/>
          <p:cNvPicPr>
            <a:picLocks noChangeAspect="1"/>
          </p:cNvPicPr>
          <p:nvPr/>
        </p:nvPicPr>
        <p:blipFill>
          <a:blip r:embed="rId3"/>
          <a:stretch>
            <a:fillRect/>
          </a:stretch>
        </p:blipFill>
        <p:spPr>
          <a:xfrm>
            <a:off x="793790" y="2834878"/>
            <a:ext cx="6422231" cy="22860"/>
          </a:xfrm>
          <a:prstGeom prst="rect">
            <a:avLst/>
          </a:prstGeom>
        </p:spPr>
      </p:pic>
      <p:sp>
        <p:nvSpPr>
          <p:cNvPr id="6" name="Text 3"/>
          <p:cNvSpPr/>
          <p:nvPr/>
        </p:nvSpPr>
        <p:spPr>
          <a:xfrm>
            <a:off x="793790" y="2979777"/>
            <a:ext cx="2729627"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Value-Dominant Model</a:t>
            </a:r>
            <a:endParaRPr lang="en-US" sz="1950" dirty="0"/>
          </a:p>
        </p:txBody>
      </p:sp>
      <p:sp>
        <p:nvSpPr>
          <p:cNvPr id="7" name="Text 4"/>
          <p:cNvSpPr/>
          <p:nvPr/>
        </p:nvSpPr>
        <p:spPr>
          <a:xfrm>
            <a:off x="793790" y="3408998"/>
            <a:ext cx="6422231"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Price Value (β = .505) dominates Performance Expectancy—challenges established TAM/UTAUT findings (Davis, 1989; Venkatesh et al., 2003, 2012). AI is evaluated through cost-benefit lens, not productivity lens. This reverses 30 years of technology acceptance findings.</a:t>
            </a:r>
            <a:endParaRPr lang="en-US" sz="1550" dirty="0"/>
          </a:p>
        </p:txBody>
      </p:sp>
      <p:sp>
        <p:nvSpPr>
          <p:cNvPr id="8" name="Text 5"/>
          <p:cNvSpPr/>
          <p:nvPr/>
        </p:nvSpPr>
        <p:spPr>
          <a:xfrm>
            <a:off x="7414379" y="252055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02</a:t>
            </a:r>
            <a:endParaRPr lang="en-US" sz="1550" dirty="0"/>
          </a:p>
        </p:txBody>
      </p:sp>
      <p:pic>
        <p:nvPicPr>
          <p:cNvPr id="9" name="Image 1" descr="preencoded.png"/>
          <p:cNvPicPr>
            <a:picLocks noChangeAspect="1"/>
          </p:cNvPicPr>
          <p:nvPr/>
        </p:nvPicPr>
        <p:blipFill>
          <a:blip r:embed="rId3"/>
          <a:stretch>
            <a:fillRect/>
          </a:stretch>
        </p:blipFill>
        <p:spPr>
          <a:xfrm>
            <a:off x="7414379" y="2834878"/>
            <a:ext cx="6422231" cy="22860"/>
          </a:xfrm>
          <a:prstGeom prst="rect">
            <a:avLst/>
          </a:prstGeom>
        </p:spPr>
      </p:pic>
      <p:sp>
        <p:nvSpPr>
          <p:cNvPr id="10" name="Text 6"/>
          <p:cNvSpPr/>
          <p:nvPr/>
        </p:nvSpPr>
        <p:spPr>
          <a:xfrm>
            <a:off x="7414379" y="2979777"/>
            <a:ext cx="3193733"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Established Constructs Fail</a:t>
            </a:r>
            <a:endParaRPr lang="en-US" sz="1950" dirty="0"/>
          </a:p>
        </p:txBody>
      </p:sp>
      <p:sp>
        <p:nvSpPr>
          <p:cNvPr id="11" name="Text 7"/>
          <p:cNvSpPr/>
          <p:nvPr/>
        </p:nvSpPr>
        <p:spPr>
          <a:xfrm>
            <a:off x="7414379" y="3408998"/>
            <a:ext cx="6422231"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Performance Expectancy, Effort Expectancy, Facilitating Conditions, Habit: No predictive power for AI. Not just weaker—not significant at all. Challenges core assumptions about technology adoption drivers; may require AI-specific theoretical frameworks.</a:t>
            </a:r>
            <a:endParaRPr lang="en-US" sz="1550" dirty="0"/>
          </a:p>
        </p:txBody>
      </p:sp>
      <p:sp>
        <p:nvSpPr>
          <p:cNvPr id="12" name="Text 8"/>
          <p:cNvSpPr/>
          <p:nvPr/>
        </p:nvSpPr>
        <p:spPr>
          <a:xfrm>
            <a:off x="793790" y="502634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03</a:t>
            </a:r>
            <a:endParaRPr lang="en-US" sz="1550" dirty="0"/>
          </a:p>
        </p:txBody>
      </p:sp>
      <p:pic>
        <p:nvPicPr>
          <p:cNvPr id="13" name="Image 2" descr="preencoded.png"/>
          <p:cNvPicPr>
            <a:picLocks noChangeAspect="1"/>
          </p:cNvPicPr>
          <p:nvPr/>
        </p:nvPicPr>
        <p:blipFill>
          <a:blip r:embed="rId3"/>
          <a:stretch>
            <a:fillRect/>
          </a:stretch>
        </p:blipFill>
        <p:spPr>
          <a:xfrm>
            <a:off x="793790" y="5320784"/>
            <a:ext cx="6422231" cy="22860"/>
          </a:xfrm>
          <a:prstGeom prst="rect">
            <a:avLst/>
          </a:prstGeom>
        </p:spPr>
      </p:pic>
      <p:sp>
        <p:nvSpPr>
          <p:cNvPr id="14" name="Text 9"/>
          <p:cNvSpPr/>
          <p:nvPr/>
        </p:nvSpPr>
        <p:spPr>
          <a:xfrm>
            <a:off x="793790" y="5485567"/>
            <a:ext cx="3381018"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AI Trust as Diagnostic Factor</a:t>
            </a:r>
            <a:endParaRPr lang="en-US" sz="1950" dirty="0"/>
          </a:p>
        </p:txBody>
      </p:sp>
      <p:sp>
        <p:nvSpPr>
          <p:cNvPr id="15" name="Text 10"/>
          <p:cNvSpPr/>
          <p:nvPr/>
        </p:nvSpPr>
        <p:spPr>
          <a:xfrm>
            <a:off x="793790" y="5914787"/>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Marginal predictive effect (p = .064) but essential diagnostic value. Enables targeted intervention design. Retained in instrument for diagnostic value—enables identification of trust deficits.</a:t>
            </a:r>
            <a:endParaRPr lang="en-US" sz="1550" dirty="0"/>
          </a:p>
        </p:txBody>
      </p:sp>
      <p:sp>
        <p:nvSpPr>
          <p:cNvPr id="16" name="Text 11"/>
          <p:cNvSpPr/>
          <p:nvPr/>
        </p:nvSpPr>
        <p:spPr>
          <a:xfrm>
            <a:off x="7414379" y="5026343"/>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Slab Light" pitchFamily="34" charset="0"/>
                <a:ea typeface="Roboto Slab Light" pitchFamily="34" charset="-122"/>
                <a:cs typeface="Roboto Slab Light" pitchFamily="34" charset="-120"/>
              </a:rPr>
              <a:t>04</a:t>
            </a:r>
            <a:endParaRPr lang="en-US" sz="1550" dirty="0"/>
          </a:p>
        </p:txBody>
      </p:sp>
      <p:pic>
        <p:nvPicPr>
          <p:cNvPr id="17" name="Image 3" descr="preencoded.png"/>
          <p:cNvPicPr>
            <a:picLocks noChangeAspect="1"/>
          </p:cNvPicPr>
          <p:nvPr/>
        </p:nvPicPr>
        <p:blipFill>
          <a:blip r:embed="rId3"/>
          <a:stretch>
            <a:fillRect/>
          </a:stretch>
        </p:blipFill>
        <p:spPr>
          <a:xfrm>
            <a:off x="7414379" y="5320784"/>
            <a:ext cx="6422231" cy="22860"/>
          </a:xfrm>
          <a:prstGeom prst="rect">
            <a:avLst/>
          </a:prstGeom>
        </p:spPr>
      </p:pic>
      <p:sp>
        <p:nvSpPr>
          <p:cNvPr id="18" name="Text 12"/>
          <p:cNvSpPr/>
          <p:nvPr/>
        </p:nvSpPr>
        <p:spPr>
          <a:xfrm>
            <a:off x="7414379" y="5485567"/>
            <a:ext cx="3323987"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Measurement Advancement</a:t>
            </a:r>
            <a:endParaRPr lang="en-US" sz="1950" dirty="0"/>
          </a:p>
        </p:txBody>
      </p:sp>
      <p:sp>
        <p:nvSpPr>
          <p:cNvPr id="19" name="Text 13"/>
          <p:cNvSpPr/>
          <p:nvPr/>
        </p:nvSpPr>
        <p:spPr>
          <a:xfrm>
            <a:off x="7414379" y="5914787"/>
            <a:ext cx="642223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First psychometrically validated AI adoption instrument. 8-factor structure with strong psychometrics (CFI = .975). Configural invariance across populations. 85.2% predictive accuracy.</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631031"/>
            <a:ext cx="5408890"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Practical Contributions</a:t>
            </a:r>
            <a:endParaRPr lang="en-US" sz="3900" dirty="0"/>
          </a:p>
        </p:txBody>
      </p:sp>
      <p:sp>
        <p:nvSpPr>
          <p:cNvPr id="3" name="Text 1"/>
          <p:cNvSpPr/>
          <p:nvPr/>
        </p:nvSpPr>
        <p:spPr>
          <a:xfrm>
            <a:off x="793790" y="1330404"/>
            <a:ext cx="4358283"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Actionable Insights for Organizations</a:t>
            </a:r>
            <a:endParaRPr lang="en-US" sz="1950" dirty="0"/>
          </a:p>
        </p:txBody>
      </p:sp>
      <p:sp>
        <p:nvSpPr>
          <p:cNvPr id="4" name="Shape 2"/>
          <p:cNvSpPr/>
          <p:nvPr/>
        </p:nvSpPr>
        <p:spPr>
          <a:xfrm>
            <a:off x="793790" y="1938218"/>
            <a:ext cx="6422231" cy="2889766"/>
          </a:xfrm>
          <a:prstGeom prst="roundRect">
            <a:avLst>
              <a:gd name="adj" fmla="val 1030"/>
            </a:avLst>
          </a:prstGeom>
          <a:solidFill>
            <a:srgbClr val="E9ECF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992148" y="2136577"/>
            <a:ext cx="595313" cy="595313"/>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5859" y="2300168"/>
            <a:ext cx="267891" cy="267891"/>
          </a:xfrm>
          <a:prstGeom prst="rect">
            <a:avLst/>
          </a:prstGeom>
        </p:spPr>
      </p:pic>
      <p:sp>
        <p:nvSpPr>
          <p:cNvPr id="7" name="Text 3"/>
          <p:cNvSpPr/>
          <p:nvPr/>
        </p:nvSpPr>
        <p:spPr>
          <a:xfrm>
            <a:off x="992148" y="2930247"/>
            <a:ext cx="3866912"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Lead with Value, Not Capabilities</a:t>
            </a:r>
            <a:endParaRPr lang="en-US" sz="1950" dirty="0"/>
          </a:p>
        </p:txBody>
      </p:sp>
      <p:sp>
        <p:nvSpPr>
          <p:cNvPr id="8" name="Text 4"/>
          <p:cNvSpPr/>
          <p:nvPr/>
        </p:nvSpPr>
        <p:spPr>
          <a:xfrm>
            <a:off x="992148" y="3359468"/>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Demonstrate ROI before features. Address total cost: time, disruption, learning curve. Replace feature lists with ROI demonstration. Users are asking "Is this worth it?"</a:t>
            </a:r>
            <a:endParaRPr lang="en-US" sz="1550" dirty="0"/>
          </a:p>
        </p:txBody>
      </p:sp>
      <p:sp>
        <p:nvSpPr>
          <p:cNvPr id="9" name="Shape 5"/>
          <p:cNvSpPr/>
          <p:nvPr/>
        </p:nvSpPr>
        <p:spPr>
          <a:xfrm>
            <a:off x="7414379" y="1938218"/>
            <a:ext cx="6422231" cy="2889766"/>
          </a:xfrm>
          <a:prstGeom prst="roundRect">
            <a:avLst>
              <a:gd name="adj" fmla="val 1030"/>
            </a:avLst>
          </a:prstGeom>
          <a:solidFill>
            <a:srgbClr val="E9ECF2"/>
          </a:solidFill>
          <a:ln/>
        </p:spPr>
        <p:txBody>
          <a:bodyPr/>
          <a:lstStyle/>
          <a:p>
            <a:endParaRPr lang="en-US"/>
          </a:p>
        </p:txBody>
      </p:sp>
      <p:pic>
        <p:nvPicPr>
          <p:cNvPr id="10" name="Image 2" descr="preencoded.png"/>
          <p:cNvPicPr>
            <a:picLocks noChangeAspect="1"/>
          </p:cNvPicPr>
          <p:nvPr/>
        </p:nvPicPr>
        <p:blipFill>
          <a:blip r:embed="rId6"/>
          <a:stretch>
            <a:fillRect/>
          </a:stretch>
        </p:blipFill>
        <p:spPr>
          <a:xfrm>
            <a:off x="7612737" y="2136577"/>
            <a:ext cx="595313" cy="595313"/>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76448" y="2300168"/>
            <a:ext cx="267891" cy="267891"/>
          </a:xfrm>
          <a:prstGeom prst="rect">
            <a:avLst/>
          </a:prstGeom>
        </p:spPr>
      </p:pic>
      <p:sp>
        <p:nvSpPr>
          <p:cNvPr id="12" name="Text 6"/>
          <p:cNvSpPr/>
          <p:nvPr/>
        </p:nvSpPr>
        <p:spPr>
          <a:xfrm>
            <a:off x="7612737" y="2930247"/>
            <a:ext cx="3288268"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Segment-Specific Strategies</a:t>
            </a:r>
            <a:endParaRPr lang="en-US" sz="1950" dirty="0"/>
          </a:p>
        </p:txBody>
      </p:sp>
      <p:sp>
        <p:nvSpPr>
          <p:cNvPr id="13" name="Text 7"/>
          <p:cNvSpPr/>
          <p:nvPr/>
        </p:nvSpPr>
        <p:spPr>
          <a:xfrm>
            <a:off x="7612737" y="3359468"/>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Don't treat all users the same. Four distinct profiles with different needs: 16% enthusiasts (leverage as champions), 30% need proof (provide evidence), 37% follow crowd (show peer adoption), 17% have trust barriers (address before features).</a:t>
            </a:r>
            <a:endParaRPr lang="en-US" sz="1550" dirty="0"/>
          </a:p>
        </p:txBody>
      </p:sp>
      <p:sp>
        <p:nvSpPr>
          <p:cNvPr id="14" name="Shape 8"/>
          <p:cNvSpPr/>
          <p:nvPr/>
        </p:nvSpPr>
        <p:spPr>
          <a:xfrm>
            <a:off x="793790" y="5026343"/>
            <a:ext cx="6422231" cy="2572226"/>
          </a:xfrm>
          <a:prstGeom prst="roundRect">
            <a:avLst>
              <a:gd name="adj" fmla="val 1157"/>
            </a:avLst>
          </a:prstGeom>
          <a:solidFill>
            <a:srgbClr val="E9ECF2"/>
          </a:solidFill>
          <a:ln/>
        </p:spPr>
        <p:txBody>
          <a:bodyPr/>
          <a:lstStyle/>
          <a:p>
            <a:endParaRPr lang="en-US"/>
          </a:p>
        </p:txBody>
      </p:sp>
      <p:pic>
        <p:nvPicPr>
          <p:cNvPr id="15" name="Image 4" descr="preencoded.png"/>
          <p:cNvPicPr>
            <a:picLocks noChangeAspect="1"/>
          </p:cNvPicPr>
          <p:nvPr/>
        </p:nvPicPr>
        <p:blipFill>
          <a:blip r:embed="rId9"/>
          <a:stretch>
            <a:fillRect/>
          </a:stretch>
        </p:blipFill>
        <p:spPr>
          <a:xfrm>
            <a:off x="992148" y="5224701"/>
            <a:ext cx="595313" cy="595313"/>
          </a:xfrm>
          <a:prstGeom prst="rect">
            <a:avLst/>
          </a:prstGeom>
        </p:spPr>
      </p:pic>
      <p:pic>
        <p:nvPicPr>
          <p:cNvPr id="16"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55859" y="5388293"/>
            <a:ext cx="267891" cy="267891"/>
          </a:xfrm>
          <a:prstGeom prst="rect">
            <a:avLst/>
          </a:prstGeom>
        </p:spPr>
      </p:pic>
      <p:sp>
        <p:nvSpPr>
          <p:cNvPr id="17" name="Text 9"/>
          <p:cNvSpPr/>
          <p:nvPr/>
        </p:nvSpPr>
        <p:spPr>
          <a:xfrm>
            <a:off x="992148" y="6018371"/>
            <a:ext cx="2720816"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Diagnostic Assessment</a:t>
            </a:r>
            <a:endParaRPr lang="en-US" sz="1950" dirty="0"/>
          </a:p>
        </p:txBody>
      </p:sp>
      <p:sp>
        <p:nvSpPr>
          <p:cNvPr id="18" name="Text 10"/>
          <p:cNvSpPr/>
          <p:nvPr/>
        </p:nvSpPr>
        <p:spPr>
          <a:xfrm>
            <a:off x="992148" y="6447592"/>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3-minute assessment identifies barriers. Targeted interventions vs. one-size-fits-all training. AIRS-16 enables targeted resource allocation instead of blanket programs.</a:t>
            </a:r>
            <a:endParaRPr lang="en-US" sz="1550" dirty="0"/>
          </a:p>
        </p:txBody>
      </p:sp>
      <p:sp>
        <p:nvSpPr>
          <p:cNvPr id="19" name="Shape 11"/>
          <p:cNvSpPr/>
          <p:nvPr/>
        </p:nvSpPr>
        <p:spPr>
          <a:xfrm>
            <a:off x="7414379" y="5026343"/>
            <a:ext cx="6422231" cy="2572226"/>
          </a:xfrm>
          <a:prstGeom prst="roundRect">
            <a:avLst>
              <a:gd name="adj" fmla="val 1157"/>
            </a:avLst>
          </a:prstGeom>
          <a:solidFill>
            <a:srgbClr val="E9ECF2"/>
          </a:solidFill>
          <a:ln/>
        </p:spPr>
        <p:txBody>
          <a:bodyPr/>
          <a:lstStyle/>
          <a:p>
            <a:endParaRPr lang="en-US"/>
          </a:p>
        </p:txBody>
      </p:sp>
      <p:pic>
        <p:nvPicPr>
          <p:cNvPr id="20" name="Image 6" descr="preencoded.png"/>
          <p:cNvPicPr>
            <a:picLocks noChangeAspect="1"/>
          </p:cNvPicPr>
          <p:nvPr/>
        </p:nvPicPr>
        <p:blipFill>
          <a:blip r:embed="rId12"/>
          <a:stretch>
            <a:fillRect/>
          </a:stretch>
        </p:blipFill>
        <p:spPr>
          <a:xfrm>
            <a:off x="7612737" y="5224701"/>
            <a:ext cx="595313" cy="595313"/>
          </a:xfrm>
          <a:prstGeom prst="rect">
            <a:avLst/>
          </a:prstGeom>
        </p:spPr>
      </p:pic>
      <p:pic>
        <p:nvPicPr>
          <p:cNvPr id="21"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76448" y="5388293"/>
            <a:ext cx="267891" cy="267891"/>
          </a:xfrm>
          <a:prstGeom prst="rect">
            <a:avLst/>
          </a:prstGeom>
        </p:spPr>
      </p:pic>
      <p:sp>
        <p:nvSpPr>
          <p:cNvPr id="22" name="Text 12"/>
          <p:cNvSpPr/>
          <p:nvPr/>
        </p:nvSpPr>
        <p:spPr>
          <a:xfrm>
            <a:off x="7612737" y="601837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Trust as Prerequisite</a:t>
            </a:r>
            <a:endParaRPr lang="en-US" sz="1950" dirty="0"/>
          </a:p>
        </p:txBody>
      </p:sp>
      <p:sp>
        <p:nvSpPr>
          <p:cNvPr id="23" name="Text 13"/>
          <p:cNvSpPr/>
          <p:nvPr/>
        </p:nvSpPr>
        <p:spPr>
          <a:xfrm>
            <a:off x="7612737" y="6447592"/>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17% have trust barriers blocking adoption. Trust-building must precede feature exposure. Feature demonstrations are useless until trust is established. Diagnose trust barriers and address first.</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1105733"/>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Study Limitations</a:t>
            </a:r>
            <a:endParaRPr lang="en-US" sz="3900" dirty="0"/>
          </a:p>
        </p:txBody>
      </p:sp>
      <p:sp>
        <p:nvSpPr>
          <p:cNvPr id="3" name="Text 1"/>
          <p:cNvSpPr/>
          <p:nvPr/>
        </p:nvSpPr>
        <p:spPr>
          <a:xfrm>
            <a:off x="793790" y="180510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Study Boundaries</a:t>
            </a:r>
            <a:endParaRPr lang="en-US" sz="1950" dirty="0"/>
          </a:p>
        </p:txBody>
      </p:sp>
      <p:sp>
        <p:nvSpPr>
          <p:cNvPr id="4" name="Shape 2"/>
          <p:cNvSpPr/>
          <p:nvPr/>
        </p:nvSpPr>
        <p:spPr>
          <a:xfrm>
            <a:off x="793790" y="2412921"/>
            <a:ext cx="13042821" cy="4710827"/>
          </a:xfrm>
          <a:prstGeom prst="roundRect">
            <a:avLst>
              <a:gd name="adj" fmla="val 632"/>
            </a:avLst>
          </a:prstGeom>
          <a:noFill/>
          <a:ln w="7620">
            <a:solidFill>
              <a:srgbClr val="000000">
                <a:alpha val="8000"/>
              </a:srgbClr>
            </a:solidFill>
            <a:prstDash val="solid"/>
          </a:ln>
        </p:spPr>
        <p:txBody>
          <a:bodyPr/>
          <a:lstStyle/>
          <a:p>
            <a:endParaRPr lang="en-US"/>
          </a:p>
        </p:txBody>
      </p:sp>
      <p:sp>
        <p:nvSpPr>
          <p:cNvPr id="5" name="Shape 3"/>
          <p:cNvSpPr/>
          <p:nvPr/>
        </p:nvSpPr>
        <p:spPr>
          <a:xfrm>
            <a:off x="801410" y="2420541"/>
            <a:ext cx="13027581" cy="570905"/>
          </a:xfrm>
          <a:prstGeom prst="rect">
            <a:avLst/>
          </a:prstGeom>
          <a:solidFill>
            <a:srgbClr val="FFFFFF">
              <a:alpha val="4000"/>
            </a:srgbClr>
          </a:solidFill>
          <a:ln/>
        </p:spPr>
        <p:txBody>
          <a:bodyPr/>
          <a:lstStyle/>
          <a:p>
            <a:endParaRPr lang="en-US"/>
          </a:p>
        </p:txBody>
      </p:sp>
      <p:sp>
        <p:nvSpPr>
          <p:cNvPr id="6" name="Text 4"/>
          <p:cNvSpPr/>
          <p:nvPr/>
        </p:nvSpPr>
        <p:spPr>
          <a:xfrm>
            <a:off x="999887" y="2547223"/>
            <a:ext cx="3507700"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Limitation</a:t>
            </a:r>
            <a:endParaRPr lang="en-US" sz="1550" dirty="0"/>
          </a:p>
        </p:txBody>
      </p:sp>
      <p:sp>
        <p:nvSpPr>
          <p:cNvPr id="7" name="Text 5"/>
          <p:cNvSpPr/>
          <p:nvPr/>
        </p:nvSpPr>
        <p:spPr>
          <a:xfrm>
            <a:off x="4911923" y="2547223"/>
            <a:ext cx="87187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Mitigation</a:t>
            </a:r>
            <a:endParaRPr lang="en-US" sz="1550" dirty="0"/>
          </a:p>
        </p:txBody>
      </p:sp>
      <p:sp>
        <p:nvSpPr>
          <p:cNvPr id="8" name="Shape 6"/>
          <p:cNvSpPr/>
          <p:nvPr/>
        </p:nvSpPr>
        <p:spPr>
          <a:xfrm>
            <a:off x="801410" y="2991445"/>
            <a:ext cx="13027581" cy="888444"/>
          </a:xfrm>
          <a:prstGeom prst="rect">
            <a:avLst/>
          </a:prstGeom>
          <a:solidFill>
            <a:srgbClr val="000000">
              <a:alpha val="4000"/>
            </a:srgbClr>
          </a:solidFill>
          <a:ln/>
        </p:spPr>
        <p:txBody>
          <a:bodyPr/>
          <a:lstStyle/>
          <a:p>
            <a:endParaRPr lang="en-US"/>
          </a:p>
        </p:txBody>
      </p:sp>
      <p:sp>
        <p:nvSpPr>
          <p:cNvPr id="9" name="Text 7"/>
          <p:cNvSpPr/>
          <p:nvPr/>
        </p:nvSpPr>
        <p:spPr>
          <a:xfrm>
            <a:off x="999887" y="3118128"/>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Cross-sectional design</a:t>
            </a:r>
            <a:endParaRPr lang="en-US" sz="1550" dirty="0"/>
          </a:p>
        </p:txBody>
      </p:sp>
      <p:sp>
        <p:nvSpPr>
          <p:cNvPr id="10" name="Text 8"/>
          <p:cNvSpPr/>
          <p:nvPr/>
        </p:nvSpPr>
        <p:spPr>
          <a:xfrm>
            <a:off x="4911923" y="3118128"/>
            <a:ext cx="8718709"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Cannot establish causality; shows correlation, not causation. Longitudinal research needed to establish causal relationships.</a:t>
            </a:r>
            <a:endParaRPr lang="en-US" sz="1550" dirty="0"/>
          </a:p>
        </p:txBody>
      </p:sp>
      <p:sp>
        <p:nvSpPr>
          <p:cNvPr id="11" name="Shape 9"/>
          <p:cNvSpPr/>
          <p:nvPr/>
        </p:nvSpPr>
        <p:spPr>
          <a:xfrm>
            <a:off x="801410" y="3879890"/>
            <a:ext cx="13027581" cy="888444"/>
          </a:xfrm>
          <a:prstGeom prst="rect">
            <a:avLst/>
          </a:prstGeom>
          <a:solidFill>
            <a:srgbClr val="FFFFFF">
              <a:alpha val="4000"/>
            </a:srgbClr>
          </a:solidFill>
          <a:ln/>
        </p:spPr>
        <p:txBody>
          <a:bodyPr/>
          <a:lstStyle/>
          <a:p>
            <a:endParaRPr lang="en-US"/>
          </a:p>
        </p:txBody>
      </p:sp>
      <p:sp>
        <p:nvSpPr>
          <p:cNvPr id="12" name="Text 10"/>
          <p:cNvSpPr/>
          <p:nvPr/>
        </p:nvSpPr>
        <p:spPr>
          <a:xfrm>
            <a:off x="999887" y="4006572"/>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Self-reported measures</a:t>
            </a:r>
            <a:endParaRPr lang="en-US" sz="1550" dirty="0"/>
          </a:p>
        </p:txBody>
      </p:sp>
      <p:sp>
        <p:nvSpPr>
          <p:cNvPr id="13" name="Text 11"/>
          <p:cNvSpPr/>
          <p:nvPr/>
        </p:nvSpPr>
        <p:spPr>
          <a:xfrm>
            <a:off x="4911923" y="4006572"/>
            <a:ext cx="8718709"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Standard in adoption research but not behavioral; however, behavioral intention validated against actual AI usage (ρ = .69)—strong evidence that stated intentions predict actual behavior.</a:t>
            </a:r>
            <a:endParaRPr lang="en-US" sz="1550" dirty="0"/>
          </a:p>
        </p:txBody>
      </p:sp>
      <p:sp>
        <p:nvSpPr>
          <p:cNvPr id="14" name="Shape 12"/>
          <p:cNvSpPr/>
          <p:nvPr/>
        </p:nvSpPr>
        <p:spPr>
          <a:xfrm>
            <a:off x="801410" y="4768334"/>
            <a:ext cx="13027581" cy="570905"/>
          </a:xfrm>
          <a:prstGeom prst="rect">
            <a:avLst/>
          </a:prstGeom>
          <a:solidFill>
            <a:srgbClr val="000000">
              <a:alpha val="4000"/>
            </a:srgbClr>
          </a:solidFill>
          <a:ln/>
        </p:spPr>
        <p:txBody>
          <a:bodyPr/>
          <a:lstStyle/>
          <a:p>
            <a:endParaRPr lang="en-US"/>
          </a:p>
        </p:txBody>
      </p:sp>
      <p:sp>
        <p:nvSpPr>
          <p:cNvPr id="15" name="Text 13"/>
          <p:cNvSpPr/>
          <p:nvPr/>
        </p:nvSpPr>
        <p:spPr>
          <a:xfrm>
            <a:off x="999887" y="4895017"/>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Convenience sample</a:t>
            </a:r>
            <a:endParaRPr lang="en-US" sz="1550" dirty="0"/>
          </a:p>
        </p:txBody>
      </p:sp>
      <p:sp>
        <p:nvSpPr>
          <p:cNvPr id="16" name="Text 14"/>
          <p:cNvSpPr/>
          <p:nvPr/>
        </p:nvSpPr>
        <p:spPr>
          <a:xfrm>
            <a:off x="4911923" y="4895017"/>
            <a:ext cx="87187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Through Centiment professional panel; demographics diverse and quality controls rigorous.</a:t>
            </a:r>
            <a:endParaRPr lang="en-US" sz="1550" dirty="0"/>
          </a:p>
        </p:txBody>
      </p:sp>
      <p:sp>
        <p:nvSpPr>
          <p:cNvPr id="17" name="Shape 15"/>
          <p:cNvSpPr/>
          <p:nvPr/>
        </p:nvSpPr>
        <p:spPr>
          <a:xfrm>
            <a:off x="801410" y="5339239"/>
            <a:ext cx="13027581" cy="888444"/>
          </a:xfrm>
          <a:prstGeom prst="rect">
            <a:avLst/>
          </a:prstGeom>
          <a:solidFill>
            <a:srgbClr val="FFFFFF">
              <a:alpha val="4000"/>
            </a:srgbClr>
          </a:solidFill>
          <a:ln/>
        </p:spPr>
        <p:txBody>
          <a:bodyPr/>
          <a:lstStyle/>
          <a:p>
            <a:endParaRPr lang="en-US"/>
          </a:p>
        </p:txBody>
      </p:sp>
      <p:sp>
        <p:nvSpPr>
          <p:cNvPr id="18" name="Text 16"/>
          <p:cNvSpPr/>
          <p:nvPr/>
        </p:nvSpPr>
        <p:spPr>
          <a:xfrm>
            <a:off x="999887" y="5465921"/>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US-based</a:t>
            </a:r>
            <a:endParaRPr lang="en-US" sz="1550" dirty="0"/>
          </a:p>
        </p:txBody>
      </p:sp>
      <p:sp>
        <p:nvSpPr>
          <p:cNvPr id="19" name="Text 17"/>
          <p:cNvSpPr/>
          <p:nvPr/>
        </p:nvSpPr>
        <p:spPr>
          <a:xfrm>
            <a:off x="4911923" y="5465921"/>
            <a:ext cx="8718709"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Cultural factors might change relationships; German professionals may respond differently than American counterparts. Cross-cultural replication recommended.</a:t>
            </a:r>
            <a:endParaRPr lang="en-US" sz="1550" dirty="0"/>
          </a:p>
        </p:txBody>
      </p:sp>
      <p:sp>
        <p:nvSpPr>
          <p:cNvPr id="20" name="Shape 18"/>
          <p:cNvSpPr/>
          <p:nvPr/>
        </p:nvSpPr>
        <p:spPr>
          <a:xfrm>
            <a:off x="801410" y="6227683"/>
            <a:ext cx="13027581" cy="888444"/>
          </a:xfrm>
          <a:prstGeom prst="rect">
            <a:avLst/>
          </a:prstGeom>
          <a:solidFill>
            <a:srgbClr val="000000">
              <a:alpha val="4000"/>
            </a:srgbClr>
          </a:solidFill>
          <a:ln/>
        </p:spPr>
        <p:txBody>
          <a:bodyPr/>
          <a:lstStyle/>
          <a:p>
            <a:endParaRPr lang="en-US"/>
          </a:p>
        </p:txBody>
      </p:sp>
      <p:sp>
        <p:nvSpPr>
          <p:cNvPr id="21" name="Text 19"/>
          <p:cNvSpPr/>
          <p:nvPr/>
        </p:nvSpPr>
        <p:spPr>
          <a:xfrm>
            <a:off x="999887" y="6354366"/>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Dropped constructs</a:t>
            </a:r>
            <a:endParaRPr lang="en-US" sz="1550" dirty="0"/>
          </a:p>
        </p:txBody>
      </p:sp>
      <p:sp>
        <p:nvSpPr>
          <p:cNvPr id="22" name="Text 20"/>
          <p:cNvSpPr/>
          <p:nvPr/>
        </p:nvSpPr>
        <p:spPr>
          <a:xfrm>
            <a:off x="4911923" y="6354366"/>
            <a:ext cx="8718709"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4 constructs failed (α &lt; .60); redesign needed for Voluntariness, Explainability, Ethical Risk, AI Anxiety.</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962025"/>
            <a:ext cx="5325785"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Constructs That Failed</a:t>
            </a:r>
            <a:endParaRPr lang="en-US" sz="3900" dirty="0"/>
          </a:p>
        </p:txBody>
      </p:sp>
      <p:sp>
        <p:nvSpPr>
          <p:cNvPr id="3" name="Text 1"/>
          <p:cNvSpPr/>
          <p:nvPr/>
        </p:nvSpPr>
        <p:spPr>
          <a:xfrm>
            <a:off x="793790" y="1661398"/>
            <a:ext cx="4334470"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AI-Specific Measurement Challenges</a:t>
            </a:r>
            <a:endParaRPr lang="en-US" sz="1950" dirty="0"/>
          </a:p>
        </p:txBody>
      </p:sp>
      <p:sp>
        <p:nvSpPr>
          <p:cNvPr id="4" name="Text 2"/>
          <p:cNvSpPr/>
          <p:nvPr/>
        </p:nvSpPr>
        <p:spPr>
          <a:xfrm>
            <a:off x="793790" y="226921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Four AI-specific constructs failed psychometrically (all reliability below acceptable thresholds). These are measurement challenges requiring better operationalization, not theoretical failures—the constructs matter and require better measurement.</a:t>
            </a:r>
            <a:endParaRPr lang="en-US" sz="1550" dirty="0"/>
          </a:p>
        </p:txBody>
      </p:sp>
      <p:sp>
        <p:nvSpPr>
          <p:cNvPr id="5" name="Shape 3"/>
          <p:cNvSpPr/>
          <p:nvPr/>
        </p:nvSpPr>
        <p:spPr>
          <a:xfrm>
            <a:off x="793790" y="3127534"/>
            <a:ext cx="13042821" cy="4139922"/>
          </a:xfrm>
          <a:prstGeom prst="roundRect">
            <a:avLst>
              <a:gd name="adj" fmla="val 719"/>
            </a:avLst>
          </a:prstGeom>
          <a:noFill/>
          <a:ln w="7620">
            <a:solidFill>
              <a:srgbClr val="000000">
                <a:alpha val="8000"/>
              </a:srgbClr>
            </a:solidFill>
            <a:prstDash val="solid"/>
          </a:ln>
        </p:spPr>
        <p:txBody>
          <a:bodyPr/>
          <a:lstStyle/>
          <a:p>
            <a:endParaRPr lang="en-US"/>
          </a:p>
        </p:txBody>
      </p:sp>
      <p:sp>
        <p:nvSpPr>
          <p:cNvPr id="6" name="Shape 4"/>
          <p:cNvSpPr/>
          <p:nvPr/>
        </p:nvSpPr>
        <p:spPr>
          <a:xfrm>
            <a:off x="801410" y="3135154"/>
            <a:ext cx="13027581" cy="570905"/>
          </a:xfrm>
          <a:prstGeom prst="rect">
            <a:avLst/>
          </a:prstGeom>
          <a:solidFill>
            <a:srgbClr val="FFFFFF">
              <a:alpha val="4000"/>
            </a:srgbClr>
          </a:solidFill>
          <a:ln/>
        </p:spPr>
        <p:txBody>
          <a:bodyPr/>
          <a:lstStyle/>
          <a:p>
            <a:endParaRPr lang="en-US"/>
          </a:p>
        </p:txBody>
      </p:sp>
      <p:sp>
        <p:nvSpPr>
          <p:cNvPr id="7" name="Text 5"/>
          <p:cNvSpPr/>
          <p:nvPr/>
        </p:nvSpPr>
        <p:spPr>
          <a:xfrm>
            <a:off x="1000006" y="3261836"/>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Construct</a:t>
            </a:r>
            <a:endParaRPr lang="en-US" sz="1550" dirty="0"/>
          </a:p>
        </p:txBody>
      </p:sp>
      <p:sp>
        <p:nvSpPr>
          <p:cNvPr id="8" name="Text 6"/>
          <p:cNvSpPr/>
          <p:nvPr/>
        </p:nvSpPr>
        <p:spPr>
          <a:xfrm>
            <a:off x="3609261" y="3261836"/>
            <a:ext cx="1549717"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α</a:t>
            </a:r>
            <a:endParaRPr lang="en-US" sz="1550" dirty="0"/>
          </a:p>
        </p:txBody>
      </p:sp>
      <p:sp>
        <p:nvSpPr>
          <p:cNvPr id="9" name="Text 7"/>
          <p:cNvSpPr/>
          <p:nvPr/>
        </p:nvSpPr>
        <p:spPr>
          <a:xfrm>
            <a:off x="5563314" y="3261836"/>
            <a:ext cx="4155281"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Issue</a:t>
            </a:r>
            <a:endParaRPr lang="en-US" sz="1550" dirty="0"/>
          </a:p>
        </p:txBody>
      </p:sp>
      <p:sp>
        <p:nvSpPr>
          <p:cNvPr id="10" name="Text 8"/>
          <p:cNvSpPr/>
          <p:nvPr/>
        </p:nvSpPr>
        <p:spPr>
          <a:xfrm>
            <a:off x="10122932" y="3261836"/>
            <a:ext cx="3507700"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Future Direction</a:t>
            </a:r>
            <a:endParaRPr lang="en-US" sz="1550" dirty="0"/>
          </a:p>
        </p:txBody>
      </p:sp>
      <p:sp>
        <p:nvSpPr>
          <p:cNvPr id="11" name="Shape 9"/>
          <p:cNvSpPr/>
          <p:nvPr/>
        </p:nvSpPr>
        <p:spPr>
          <a:xfrm>
            <a:off x="801410" y="3706058"/>
            <a:ext cx="13027581" cy="888444"/>
          </a:xfrm>
          <a:prstGeom prst="rect">
            <a:avLst/>
          </a:prstGeom>
          <a:solidFill>
            <a:srgbClr val="000000">
              <a:alpha val="4000"/>
            </a:srgbClr>
          </a:solidFill>
          <a:ln/>
        </p:spPr>
        <p:txBody>
          <a:bodyPr/>
          <a:lstStyle/>
          <a:p>
            <a:endParaRPr lang="en-US"/>
          </a:p>
        </p:txBody>
      </p:sp>
      <p:sp>
        <p:nvSpPr>
          <p:cNvPr id="12" name="Text 10"/>
          <p:cNvSpPr/>
          <p:nvPr/>
        </p:nvSpPr>
        <p:spPr>
          <a:xfrm>
            <a:off x="1000006" y="3832741"/>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Voluntariness</a:t>
            </a:r>
            <a:endParaRPr lang="en-US" sz="1550" dirty="0"/>
          </a:p>
        </p:txBody>
      </p:sp>
      <p:sp>
        <p:nvSpPr>
          <p:cNvPr id="13" name="Text 11"/>
          <p:cNvSpPr/>
          <p:nvPr/>
        </p:nvSpPr>
        <p:spPr>
          <a:xfrm>
            <a:off x="3609261" y="3832741"/>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.301</a:t>
            </a:r>
            <a:endParaRPr lang="en-US" sz="1550" dirty="0"/>
          </a:p>
        </p:txBody>
      </p:sp>
      <p:sp>
        <p:nvSpPr>
          <p:cNvPr id="14" name="Text 12"/>
          <p:cNvSpPr/>
          <p:nvPr/>
        </p:nvSpPr>
        <p:spPr>
          <a:xfrm>
            <a:off x="5563314" y="3832741"/>
            <a:ext cx="415528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Items conceptually conflicted (mandatory vs. choice)</a:t>
            </a:r>
            <a:endParaRPr lang="en-US" sz="1550" dirty="0"/>
          </a:p>
        </p:txBody>
      </p:sp>
      <p:sp>
        <p:nvSpPr>
          <p:cNvPr id="15" name="Text 13"/>
          <p:cNvSpPr/>
          <p:nvPr/>
        </p:nvSpPr>
        <p:spPr>
          <a:xfrm>
            <a:off x="10122932" y="3832741"/>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Reframe as "perceived pressure"</a:t>
            </a:r>
            <a:endParaRPr lang="en-US" sz="1550" dirty="0"/>
          </a:p>
        </p:txBody>
      </p:sp>
      <p:sp>
        <p:nvSpPr>
          <p:cNvPr id="16" name="Shape 14"/>
          <p:cNvSpPr/>
          <p:nvPr/>
        </p:nvSpPr>
        <p:spPr>
          <a:xfrm>
            <a:off x="801410" y="4594503"/>
            <a:ext cx="13027581" cy="888444"/>
          </a:xfrm>
          <a:prstGeom prst="rect">
            <a:avLst/>
          </a:prstGeom>
          <a:solidFill>
            <a:srgbClr val="FFFFFF">
              <a:alpha val="4000"/>
            </a:srgbClr>
          </a:solidFill>
          <a:ln/>
        </p:spPr>
        <p:txBody>
          <a:bodyPr/>
          <a:lstStyle/>
          <a:p>
            <a:endParaRPr lang="en-US"/>
          </a:p>
        </p:txBody>
      </p:sp>
      <p:sp>
        <p:nvSpPr>
          <p:cNvPr id="17" name="Text 15"/>
          <p:cNvSpPr/>
          <p:nvPr/>
        </p:nvSpPr>
        <p:spPr>
          <a:xfrm>
            <a:off x="1000006" y="4721185"/>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Explainability</a:t>
            </a:r>
            <a:endParaRPr lang="en-US" sz="1550" dirty="0"/>
          </a:p>
        </p:txBody>
      </p:sp>
      <p:sp>
        <p:nvSpPr>
          <p:cNvPr id="18" name="Text 16"/>
          <p:cNvSpPr/>
          <p:nvPr/>
        </p:nvSpPr>
        <p:spPr>
          <a:xfrm>
            <a:off x="3609261" y="4721185"/>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.503</a:t>
            </a:r>
            <a:endParaRPr lang="en-US" sz="1550" dirty="0"/>
          </a:p>
        </p:txBody>
      </p:sp>
      <p:sp>
        <p:nvSpPr>
          <p:cNvPr id="19" name="Text 17"/>
          <p:cNvSpPr/>
          <p:nvPr/>
        </p:nvSpPr>
        <p:spPr>
          <a:xfrm>
            <a:off x="5563314" y="4721185"/>
            <a:ext cx="415528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AI explanation is multi-dimensional; items too broad</a:t>
            </a:r>
            <a:endParaRPr lang="en-US" sz="1550" dirty="0"/>
          </a:p>
        </p:txBody>
      </p:sp>
      <p:sp>
        <p:nvSpPr>
          <p:cNvPr id="20" name="Text 18"/>
          <p:cNvSpPr/>
          <p:nvPr/>
        </p:nvSpPr>
        <p:spPr>
          <a:xfrm>
            <a:off x="10122932" y="4721185"/>
            <a:ext cx="3507700"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Decompose into transparency, interpretability, auditability</a:t>
            </a:r>
            <a:endParaRPr lang="en-US" sz="1550" dirty="0"/>
          </a:p>
        </p:txBody>
      </p:sp>
      <p:sp>
        <p:nvSpPr>
          <p:cNvPr id="21" name="Shape 19"/>
          <p:cNvSpPr/>
          <p:nvPr/>
        </p:nvSpPr>
        <p:spPr>
          <a:xfrm>
            <a:off x="801410" y="5482947"/>
            <a:ext cx="13027581" cy="888444"/>
          </a:xfrm>
          <a:prstGeom prst="rect">
            <a:avLst/>
          </a:prstGeom>
          <a:solidFill>
            <a:srgbClr val="000000">
              <a:alpha val="4000"/>
            </a:srgbClr>
          </a:solidFill>
          <a:ln/>
        </p:spPr>
        <p:txBody>
          <a:bodyPr/>
          <a:lstStyle/>
          <a:p>
            <a:endParaRPr lang="en-US"/>
          </a:p>
        </p:txBody>
      </p:sp>
      <p:sp>
        <p:nvSpPr>
          <p:cNvPr id="22" name="Text 20"/>
          <p:cNvSpPr/>
          <p:nvPr/>
        </p:nvSpPr>
        <p:spPr>
          <a:xfrm>
            <a:off x="1000006" y="5609630"/>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Ethical Risk</a:t>
            </a:r>
            <a:endParaRPr lang="en-US" sz="1550" dirty="0"/>
          </a:p>
        </p:txBody>
      </p:sp>
      <p:sp>
        <p:nvSpPr>
          <p:cNvPr id="23" name="Text 21"/>
          <p:cNvSpPr/>
          <p:nvPr/>
        </p:nvSpPr>
        <p:spPr>
          <a:xfrm>
            <a:off x="3609261" y="5609630"/>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.582</a:t>
            </a:r>
            <a:endParaRPr lang="en-US" sz="1550" dirty="0"/>
          </a:p>
        </p:txBody>
      </p:sp>
      <p:sp>
        <p:nvSpPr>
          <p:cNvPr id="24" name="Text 22"/>
          <p:cNvSpPr/>
          <p:nvPr/>
        </p:nvSpPr>
        <p:spPr>
          <a:xfrm>
            <a:off x="5563314" y="5609630"/>
            <a:ext cx="415528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Near threshold; items conflated personal vs. societal ethics</a:t>
            </a:r>
            <a:endParaRPr lang="en-US" sz="1550" dirty="0"/>
          </a:p>
        </p:txBody>
      </p:sp>
      <p:sp>
        <p:nvSpPr>
          <p:cNvPr id="25" name="Text 23"/>
          <p:cNvSpPr/>
          <p:nvPr/>
        </p:nvSpPr>
        <p:spPr>
          <a:xfrm>
            <a:off x="10122932" y="5609630"/>
            <a:ext cx="3507700"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Separate individual ethical concerns from societal</a:t>
            </a:r>
            <a:endParaRPr lang="en-US" sz="1550" dirty="0"/>
          </a:p>
        </p:txBody>
      </p:sp>
      <p:sp>
        <p:nvSpPr>
          <p:cNvPr id="26" name="Shape 24"/>
          <p:cNvSpPr/>
          <p:nvPr/>
        </p:nvSpPr>
        <p:spPr>
          <a:xfrm>
            <a:off x="801410" y="6371392"/>
            <a:ext cx="13027581" cy="888444"/>
          </a:xfrm>
          <a:prstGeom prst="rect">
            <a:avLst/>
          </a:prstGeom>
          <a:solidFill>
            <a:srgbClr val="FFFFFF">
              <a:alpha val="4000"/>
            </a:srgbClr>
          </a:solidFill>
          <a:ln/>
        </p:spPr>
        <p:txBody>
          <a:bodyPr/>
          <a:lstStyle/>
          <a:p>
            <a:endParaRPr lang="en-US"/>
          </a:p>
        </p:txBody>
      </p:sp>
      <p:sp>
        <p:nvSpPr>
          <p:cNvPr id="27" name="Text 25"/>
          <p:cNvSpPr/>
          <p:nvPr/>
        </p:nvSpPr>
        <p:spPr>
          <a:xfrm>
            <a:off x="1000006" y="6498074"/>
            <a:ext cx="2204918"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AI Anxiety</a:t>
            </a:r>
            <a:endParaRPr lang="en-US" sz="1550" dirty="0"/>
          </a:p>
        </p:txBody>
      </p:sp>
      <p:sp>
        <p:nvSpPr>
          <p:cNvPr id="28" name="Text 26"/>
          <p:cNvSpPr/>
          <p:nvPr/>
        </p:nvSpPr>
        <p:spPr>
          <a:xfrm>
            <a:off x="3609261" y="6498074"/>
            <a:ext cx="1549717"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.423</a:t>
            </a:r>
            <a:endParaRPr lang="en-US" sz="1550" dirty="0"/>
          </a:p>
        </p:txBody>
      </p:sp>
      <p:sp>
        <p:nvSpPr>
          <p:cNvPr id="29" name="Text 27"/>
          <p:cNvSpPr/>
          <p:nvPr/>
        </p:nvSpPr>
        <p:spPr>
          <a:xfrm>
            <a:off x="5563314" y="6498074"/>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Overlapped with general technology anxiety</a:t>
            </a:r>
            <a:endParaRPr lang="en-US" sz="1550" dirty="0"/>
          </a:p>
        </p:txBody>
      </p:sp>
      <p:sp>
        <p:nvSpPr>
          <p:cNvPr id="30" name="Text 28"/>
          <p:cNvSpPr/>
          <p:nvPr/>
        </p:nvSpPr>
        <p:spPr>
          <a:xfrm>
            <a:off x="10122932" y="6498074"/>
            <a:ext cx="3507700"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Distinguish AI-specific anxiety from general tech anxiety</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652826"/>
            <a:ext cx="6486644"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Future Research: Validation</a:t>
            </a:r>
            <a:endParaRPr lang="en-US" sz="3900" dirty="0"/>
          </a:p>
        </p:txBody>
      </p:sp>
      <p:sp>
        <p:nvSpPr>
          <p:cNvPr id="3" name="Text 1"/>
          <p:cNvSpPr/>
          <p:nvPr/>
        </p:nvSpPr>
        <p:spPr>
          <a:xfrm>
            <a:off x="793790" y="2352199"/>
            <a:ext cx="3944064"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Recommended Next Steps (Part 1)</a:t>
            </a:r>
            <a:endParaRPr lang="en-US" sz="1950" dirty="0"/>
          </a:p>
        </p:txBody>
      </p:sp>
      <p:sp>
        <p:nvSpPr>
          <p:cNvPr id="4" name="Shape 2"/>
          <p:cNvSpPr/>
          <p:nvPr/>
        </p:nvSpPr>
        <p:spPr>
          <a:xfrm>
            <a:off x="1091446" y="3753802"/>
            <a:ext cx="3917513" cy="198358"/>
          </a:xfrm>
          <a:prstGeom prst="roundRect">
            <a:avLst>
              <a:gd name="adj" fmla="val 15009"/>
            </a:avLst>
          </a:prstGeom>
          <a:solidFill>
            <a:srgbClr val="E9ECF2"/>
          </a:solidFill>
          <a:ln/>
        </p:spPr>
        <p:txBody>
          <a:bodyPr/>
          <a:lstStyle/>
          <a:p>
            <a:endParaRPr lang="en-US"/>
          </a:p>
        </p:txBody>
      </p:sp>
      <p:sp>
        <p:nvSpPr>
          <p:cNvPr id="5" name="Shape 3"/>
          <p:cNvSpPr/>
          <p:nvPr/>
        </p:nvSpPr>
        <p:spPr>
          <a:xfrm>
            <a:off x="793790" y="3555325"/>
            <a:ext cx="595313" cy="595313"/>
          </a:xfrm>
          <a:prstGeom prst="roundRect">
            <a:avLst>
              <a:gd name="adj" fmla="val 76800"/>
            </a:avLst>
          </a:prstGeom>
          <a:solidFill>
            <a:srgbClr val="E9ECF2"/>
          </a:solidFill>
          <a:ln/>
        </p:spPr>
        <p:txBody>
          <a:bodyPr/>
          <a:lstStyle/>
          <a:p>
            <a:endParaRPr lang="en-US"/>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2618" y="3704153"/>
            <a:ext cx="297656" cy="297656"/>
          </a:xfrm>
          <a:prstGeom prst="rect">
            <a:avLst/>
          </a:prstGeom>
        </p:spPr>
      </p:pic>
      <p:sp>
        <p:nvSpPr>
          <p:cNvPr id="7" name="Text 4"/>
          <p:cNvSpPr/>
          <p:nvPr/>
        </p:nvSpPr>
        <p:spPr>
          <a:xfrm>
            <a:off x="992148" y="4348996"/>
            <a:ext cx="2794516"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Longitudinal Validation</a:t>
            </a:r>
            <a:endParaRPr lang="en-US" sz="1950" dirty="0"/>
          </a:p>
        </p:txBody>
      </p:sp>
      <p:sp>
        <p:nvSpPr>
          <p:cNvPr id="8" name="Text 5"/>
          <p:cNvSpPr/>
          <p:nvPr/>
        </p:nvSpPr>
        <p:spPr>
          <a:xfrm>
            <a:off x="992148" y="4778216"/>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Track actual adoption behavior over time. Test intention-behavior relationship. Do high behavioral intention scores predict actual adoption at 6 months?</a:t>
            </a:r>
            <a:endParaRPr lang="en-US" sz="1550" dirty="0"/>
          </a:p>
        </p:txBody>
      </p:sp>
      <p:sp>
        <p:nvSpPr>
          <p:cNvPr id="9" name="Shape 6"/>
          <p:cNvSpPr/>
          <p:nvPr/>
        </p:nvSpPr>
        <p:spPr>
          <a:xfrm>
            <a:off x="5505093" y="3456146"/>
            <a:ext cx="3917633" cy="198358"/>
          </a:xfrm>
          <a:prstGeom prst="roundRect">
            <a:avLst>
              <a:gd name="adj" fmla="val 15009"/>
            </a:avLst>
          </a:prstGeom>
          <a:solidFill>
            <a:srgbClr val="E9ECF2"/>
          </a:solidFill>
          <a:ln/>
        </p:spPr>
        <p:txBody>
          <a:bodyPr/>
          <a:lstStyle/>
          <a:p>
            <a:endParaRPr lang="en-US"/>
          </a:p>
        </p:txBody>
      </p:sp>
      <p:sp>
        <p:nvSpPr>
          <p:cNvPr id="10" name="Shape 7"/>
          <p:cNvSpPr/>
          <p:nvPr/>
        </p:nvSpPr>
        <p:spPr>
          <a:xfrm>
            <a:off x="5207437" y="3257669"/>
            <a:ext cx="595313" cy="595313"/>
          </a:xfrm>
          <a:prstGeom prst="roundRect">
            <a:avLst>
              <a:gd name="adj" fmla="val 76800"/>
            </a:avLst>
          </a:prstGeom>
          <a:solidFill>
            <a:srgbClr val="E9ECF2"/>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56265" y="3406497"/>
            <a:ext cx="297656" cy="297656"/>
          </a:xfrm>
          <a:prstGeom prst="rect">
            <a:avLst/>
          </a:prstGeom>
        </p:spPr>
      </p:pic>
      <p:sp>
        <p:nvSpPr>
          <p:cNvPr id="12" name="Text 8"/>
          <p:cNvSpPr/>
          <p:nvPr/>
        </p:nvSpPr>
        <p:spPr>
          <a:xfrm>
            <a:off x="5405795" y="4051340"/>
            <a:ext cx="3818692" cy="620316"/>
          </a:xfrm>
          <a:prstGeom prst="rect">
            <a:avLst/>
          </a:prstGeom>
          <a:noFill/>
          <a:ln/>
        </p:spPr>
        <p:txBody>
          <a:bodyPr wrap="squar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AI-Specific Construct Development</a:t>
            </a:r>
            <a:endParaRPr lang="en-US" sz="1950" dirty="0"/>
          </a:p>
        </p:txBody>
      </p:sp>
      <p:sp>
        <p:nvSpPr>
          <p:cNvPr id="13" name="Text 9"/>
          <p:cNvSpPr/>
          <p:nvPr/>
        </p:nvSpPr>
        <p:spPr>
          <a:xfrm>
            <a:off x="5405795" y="4790718"/>
            <a:ext cx="3818692" cy="1587698"/>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Redesign failed constructs (Explainability, Ethical Risk, AI Anxiety, Voluntariness) with better measurement. Venkatesh (2021) identified nine AI challenges; four addressed here, five remain.</a:t>
            </a:r>
            <a:endParaRPr lang="en-US" sz="1550" dirty="0"/>
          </a:p>
        </p:txBody>
      </p:sp>
      <p:sp>
        <p:nvSpPr>
          <p:cNvPr id="14" name="Shape 10"/>
          <p:cNvSpPr/>
          <p:nvPr/>
        </p:nvSpPr>
        <p:spPr>
          <a:xfrm>
            <a:off x="9918859" y="3158490"/>
            <a:ext cx="3917513" cy="198358"/>
          </a:xfrm>
          <a:prstGeom prst="roundRect">
            <a:avLst>
              <a:gd name="adj" fmla="val 15009"/>
            </a:avLst>
          </a:prstGeom>
          <a:solidFill>
            <a:srgbClr val="E9ECF2"/>
          </a:solidFill>
          <a:ln/>
        </p:spPr>
        <p:txBody>
          <a:bodyPr/>
          <a:lstStyle/>
          <a:p>
            <a:endParaRPr lang="en-US"/>
          </a:p>
        </p:txBody>
      </p:sp>
      <p:sp>
        <p:nvSpPr>
          <p:cNvPr id="15" name="Shape 11"/>
          <p:cNvSpPr/>
          <p:nvPr/>
        </p:nvSpPr>
        <p:spPr>
          <a:xfrm>
            <a:off x="9621203" y="2960013"/>
            <a:ext cx="595313" cy="595313"/>
          </a:xfrm>
          <a:prstGeom prst="roundRect">
            <a:avLst>
              <a:gd name="adj" fmla="val 76800"/>
            </a:avLst>
          </a:prstGeom>
          <a:solidFill>
            <a:srgbClr val="E9ECF2"/>
          </a:solidFill>
          <a:ln/>
        </p:spPr>
        <p:txBody>
          <a:bodyPr/>
          <a:lstStyle/>
          <a:p>
            <a:endParaRPr lang="en-US"/>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70031" y="3108841"/>
            <a:ext cx="297656" cy="297656"/>
          </a:xfrm>
          <a:prstGeom prst="rect">
            <a:avLst/>
          </a:prstGeom>
        </p:spPr>
      </p:pic>
      <p:sp>
        <p:nvSpPr>
          <p:cNvPr id="17" name="Text 12"/>
          <p:cNvSpPr/>
          <p:nvPr/>
        </p:nvSpPr>
        <p:spPr>
          <a:xfrm>
            <a:off x="9819561" y="375368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Intervention Testing</a:t>
            </a:r>
            <a:endParaRPr lang="en-US" sz="1950" dirty="0"/>
          </a:p>
        </p:txBody>
      </p:sp>
      <p:sp>
        <p:nvSpPr>
          <p:cNvPr id="18" name="Text 13"/>
          <p:cNvSpPr/>
          <p:nvPr/>
        </p:nvSpPr>
        <p:spPr>
          <a:xfrm>
            <a:off x="9819561" y="4182904"/>
            <a:ext cx="3818573" cy="1905238"/>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Experimental validation of segment-specific strategies. Randomize organizations to targeted vs. generic interventions and measure adoption outcomes. ROI of targeted vs. generic adoption programs.</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2413159"/>
            <a:ext cx="6540937"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Future Research: Expansion</a:t>
            </a:r>
            <a:endParaRPr lang="en-US" sz="3900" dirty="0"/>
          </a:p>
        </p:txBody>
      </p:sp>
      <p:sp>
        <p:nvSpPr>
          <p:cNvPr id="3" name="Text 1"/>
          <p:cNvSpPr/>
          <p:nvPr/>
        </p:nvSpPr>
        <p:spPr>
          <a:xfrm>
            <a:off x="793790" y="3112532"/>
            <a:ext cx="3978831"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Recommended Next Steps (Part 2)</a:t>
            </a:r>
            <a:endParaRPr lang="en-US" sz="1950" dirty="0"/>
          </a:p>
        </p:txBody>
      </p:sp>
      <p:sp>
        <p:nvSpPr>
          <p:cNvPr id="4" name="Shape 2"/>
          <p:cNvSpPr/>
          <p:nvPr/>
        </p:nvSpPr>
        <p:spPr>
          <a:xfrm>
            <a:off x="793790" y="3720346"/>
            <a:ext cx="6422231" cy="2096095"/>
          </a:xfrm>
          <a:prstGeom prst="roundRect">
            <a:avLst>
              <a:gd name="adj" fmla="val 1420"/>
            </a:avLst>
          </a:prstGeom>
          <a:solidFill>
            <a:srgbClr val="E9ECF2"/>
          </a:solidFill>
          <a:ln/>
        </p:spPr>
        <p:txBody>
          <a:bodyPr/>
          <a:lstStyle/>
          <a:p>
            <a:endParaRPr lang="en-US"/>
          </a:p>
        </p:txBody>
      </p:sp>
      <p:sp>
        <p:nvSpPr>
          <p:cNvPr id="5" name="Text 3"/>
          <p:cNvSpPr/>
          <p:nvPr/>
        </p:nvSpPr>
        <p:spPr>
          <a:xfrm>
            <a:off x="992148" y="3918704"/>
            <a:ext cx="3076456"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Cross-Cultural Replication</a:t>
            </a:r>
            <a:endParaRPr lang="en-US" sz="1950" dirty="0"/>
          </a:p>
        </p:txBody>
      </p:sp>
      <p:sp>
        <p:nvSpPr>
          <p:cNvPr id="6" name="Text 4"/>
          <p:cNvSpPr/>
          <p:nvPr/>
        </p:nvSpPr>
        <p:spPr>
          <a:xfrm>
            <a:off x="992148" y="4347924"/>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Test measurement invariance across cultures. Examine cultural moderators of adoption drivers. Does Price Value dominate in collectivist cultures? Does Social Influence operate differently? Global validation needed.</a:t>
            </a:r>
            <a:endParaRPr lang="en-US" sz="1550" dirty="0"/>
          </a:p>
        </p:txBody>
      </p:sp>
      <p:sp>
        <p:nvSpPr>
          <p:cNvPr id="7" name="Shape 5"/>
          <p:cNvSpPr/>
          <p:nvPr/>
        </p:nvSpPr>
        <p:spPr>
          <a:xfrm>
            <a:off x="7414379" y="3720346"/>
            <a:ext cx="6422231" cy="2096095"/>
          </a:xfrm>
          <a:prstGeom prst="roundRect">
            <a:avLst>
              <a:gd name="adj" fmla="val 1420"/>
            </a:avLst>
          </a:prstGeom>
          <a:solidFill>
            <a:srgbClr val="E9ECF2"/>
          </a:solidFill>
          <a:ln/>
        </p:spPr>
        <p:txBody>
          <a:bodyPr/>
          <a:lstStyle/>
          <a:p>
            <a:endParaRPr lang="en-US"/>
          </a:p>
        </p:txBody>
      </p:sp>
      <p:sp>
        <p:nvSpPr>
          <p:cNvPr id="8" name="Text 6"/>
          <p:cNvSpPr/>
          <p:nvPr/>
        </p:nvSpPr>
        <p:spPr>
          <a:xfrm>
            <a:off x="7612737" y="3918704"/>
            <a:ext cx="331279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Domain-Specific Adaptation</a:t>
            </a:r>
            <a:endParaRPr lang="en-US" sz="1950" dirty="0"/>
          </a:p>
        </p:txBody>
      </p:sp>
      <p:sp>
        <p:nvSpPr>
          <p:cNvPr id="9" name="Text 7"/>
          <p:cNvSpPr/>
          <p:nvPr/>
        </p:nvSpPr>
        <p:spPr>
          <a:xfrm>
            <a:off x="7612737" y="4347924"/>
            <a:ext cx="6025515"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Healthcare, finance, education contexts. Regulated vs. unregulated AI applications. AI in healthcare has different considerations than AI in marketing. The instrument may require domain-specific modules.</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1221224"/>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Conclusion</a:t>
            </a:r>
            <a:endParaRPr lang="en-US" sz="3900" dirty="0"/>
          </a:p>
        </p:txBody>
      </p:sp>
      <p:sp>
        <p:nvSpPr>
          <p:cNvPr id="3" name="Text 1"/>
          <p:cNvSpPr/>
          <p:nvPr/>
        </p:nvSpPr>
        <p:spPr>
          <a:xfrm>
            <a:off x="793790" y="1920597"/>
            <a:ext cx="3110032"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Summary of Contributions</a:t>
            </a:r>
            <a:endParaRPr lang="en-US" sz="1950" dirty="0"/>
          </a:p>
        </p:txBody>
      </p:sp>
      <p:sp>
        <p:nvSpPr>
          <p:cNvPr id="4" name="Text 2"/>
          <p:cNvSpPr/>
          <p:nvPr/>
        </p:nvSpPr>
        <p:spPr>
          <a:xfrm>
            <a:off x="793790" y="27267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Theoretical</a:t>
            </a:r>
            <a:endParaRPr lang="en-US" sz="1950" dirty="0"/>
          </a:p>
        </p:txBody>
      </p:sp>
      <p:sp>
        <p:nvSpPr>
          <p:cNvPr id="5" name="Text 3"/>
          <p:cNvSpPr/>
          <p:nvPr/>
        </p:nvSpPr>
        <p:spPr>
          <a:xfrm>
            <a:off x="793790" y="3235285"/>
            <a:ext cx="3979664"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Value-dominant model challenges 30 years of technology acceptance research</a:t>
            </a:r>
            <a:endParaRPr lang="en-US" sz="1550" dirty="0"/>
          </a:p>
        </p:txBody>
      </p:sp>
      <p:sp>
        <p:nvSpPr>
          <p:cNvPr id="6" name="Text 4"/>
          <p:cNvSpPr/>
          <p:nvPr/>
        </p:nvSpPr>
        <p:spPr>
          <a:xfrm>
            <a:off x="793790" y="3939778"/>
            <a:ext cx="3979664"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AI Trust as diagnostic extension to UTAUT2</a:t>
            </a:r>
            <a:endParaRPr lang="en-US" sz="1550" dirty="0"/>
          </a:p>
        </p:txBody>
      </p:sp>
      <p:sp>
        <p:nvSpPr>
          <p:cNvPr id="7" name="Text 5"/>
          <p:cNvSpPr/>
          <p:nvPr/>
        </p:nvSpPr>
        <p:spPr>
          <a:xfrm>
            <a:off x="793790" y="4644271"/>
            <a:ext cx="3979664"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Evidence that traditional drivers (PE, EE, FC, Habit) fail for AI</a:t>
            </a:r>
            <a:endParaRPr lang="en-US" sz="1550" dirty="0"/>
          </a:p>
        </p:txBody>
      </p:sp>
      <p:sp>
        <p:nvSpPr>
          <p:cNvPr id="8" name="Text 6"/>
          <p:cNvSpPr/>
          <p:nvPr/>
        </p:nvSpPr>
        <p:spPr>
          <a:xfrm>
            <a:off x="5265182" y="27267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Methodological</a:t>
            </a:r>
            <a:endParaRPr lang="en-US" sz="1950" dirty="0"/>
          </a:p>
        </p:txBody>
      </p:sp>
      <p:sp>
        <p:nvSpPr>
          <p:cNvPr id="9" name="Text 7"/>
          <p:cNvSpPr/>
          <p:nvPr/>
        </p:nvSpPr>
        <p:spPr>
          <a:xfrm>
            <a:off x="5265182" y="3235285"/>
            <a:ext cx="3979664"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AIRS-16: First validated AI adoption readiness instrument</a:t>
            </a:r>
            <a:endParaRPr lang="en-US" sz="1550" dirty="0"/>
          </a:p>
        </p:txBody>
      </p:sp>
      <p:sp>
        <p:nvSpPr>
          <p:cNvPr id="10" name="Text 8"/>
          <p:cNvSpPr/>
          <p:nvPr/>
        </p:nvSpPr>
        <p:spPr>
          <a:xfrm>
            <a:off x="5265182" y="3939778"/>
            <a:ext cx="3979664"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8-factor structure with strong psychometrics (CFI = .975)</a:t>
            </a:r>
            <a:endParaRPr lang="en-US" sz="1550" dirty="0"/>
          </a:p>
        </p:txBody>
      </p:sp>
      <p:sp>
        <p:nvSpPr>
          <p:cNvPr id="11" name="Text 9"/>
          <p:cNvSpPr/>
          <p:nvPr/>
        </p:nvSpPr>
        <p:spPr>
          <a:xfrm>
            <a:off x="5265182" y="4644271"/>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85.2% predictive accuracy</a:t>
            </a:r>
            <a:endParaRPr lang="en-US" sz="1550" dirty="0"/>
          </a:p>
        </p:txBody>
      </p:sp>
      <p:sp>
        <p:nvSpPr>
          <p:cNvPr id="12" name="Text 10"/>
          <p:cNvSpPr/>
          <p:nvPr/>
        </p:nvSpPr>
        <p:spPr>
          <a:xfrm>
            <a:off x="9736574" y="272676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Practical</a:t>
            </a:r>
            <a:endParaRPr lang="en-US" sz="1950" dirty="0"/>
          </a:p>
        </p:txBody>
      </p:sp>
      <p:sp>
        <p:nvSpPr>
          <p:cNvPr id="13" name="Text 11"/>
          <p:cNvSpPr/>
          <p:nvPr/>
        </p:nvSpPr>
        <p:spPr>
          <a:xfrm>
            <a:off x="9736574" y="3235285"/>
            <a:ext cx="4115038"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4 distinct user segments with targeted strategies</a:t>
            </a:r>
            <a:endParaRPr lang="en-US" sz="1550" dirty="0"/>
          </a:p>
        </p:txBody>
      </p:sp>
      <p:sp>
        <p:nvSpPr>
          <p:cNvPr id="14" name="Text 12"/>
          <p:cNvSpPr/>
          <p:nvPr/>
        </p:nvSpPr>
        <p:spPr>
          <a:xfrm>
            <a:off x="9736574" y="3939778"/>
            <a:ext cx="4115038"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Diagnostic tool for organizational assessment</a:t>
            </a:r>
            <a:endParaRPr lang="en-US" sz="1550" dirty="0"/>
          </a:p>
        </p:txBody>
      </p:sp>
      <p:sp>
        <p:nvSpPr>
          <p:cNvPr id="15" name="Text 13"/>
          <p:cNvSpPr/>
          <p:nvPr/>
        </p:nvSpPr>
        <p:spPr>
          <a:xfrm>
            <a:off x="9736574" y="4644271"/>
            <a:ext cx="4115038"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15213F"/>
                </a:solidFill>
                <a:latin typeface="Roboto" pitchFamily="34" charset="0"/>
                <a:ea typeface="Roboto" pitchFamily="34" charset="-122"/>
                <a:cs typeface="Roboto" pitchFamily="34" charset="-120"/>
              </a:rPr>
              <a:t>Evidence-based recommendations for AI implementation</a:t>
            </a:r>
            <a:endParaRPr lang="en-US" sz="1550" dirty="0"/>
          </a:p>
        </p:txBody>
      </p:sp>
      <p:sp>
        <p:nvSpPr>
          <p:cNvPr id="16" name="Shape 14"/>
          <p:cNvSpPr/>
          <p:nvPr/>
        </p:nvSpPr>
        <p:spPr>
          <a:xfrm>
            <a:off x="793790" y="5671154"/>
            <a:ext cx="13042821" cy="32385"/>
          </a:xfrm>
          <a:prstGeom prst="rect">
            <a:avLst/>
          </a:prstGeom>
          <a:solidFill>
            <a:srgbClr val="15213F">
              <a:alpha val="50000"/>
            </a:srgbClr>
          </a:solidFill>
          <a:ln/>
        </p:spPr>
        <p:txBody>
          <a:bodyPr/>
          <a:lstStyle/>
          <a:p>
            <a:endParaRPr lang="en-US"/>
          </a:p>
        </p:txBody>
      </p:sp>
      <p:sp>
        <p:nvSpPr>
          <p:cNvPr id="17" name="Text 15"/>
          <p:cNvSpPr/>
          <p:nvPr/>
        </p:nvSpPr>
        <p:spPr>
          <a:xfrm>
            <a:off x="1091446" y="6149935"/>
            <a:ext cx="12745164"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Core insight:</a:t>
            </a:r>
            <a:r>
              <a:rPr lang="en-US" sz="1550" dirty="0">
                <a:solidFill>
                  <a:srgbClr val="15213F"/>
                </a:solidFill>
                <a:latin typeface="Roboto" pitchFamily="34" charset="0"/>
                <a:ea typeface="Roboto" pitchFamily="34" charset="-122"/>
                <a:cs typeface="Roboto" pitchFamily="34" charset="-120"/>
              </a:rPr>
              <a:t> Organizations don't have an AI technology problem—they have an AI adoption problem. Understanding and diagnosing that adoption problem is the first step to solving it.</a:t>
            </a:r>
            <a:endParaRPr lang="en-US" sz="1550" dirty="0"/>
          </a:p>
        </p:txBody>
      </p:sp>
      <p:sp>
        <p:nvSpPr>
          <p:cNvPr id="18" name="Shape 16"/>
          <p:cNvSpPr/>
          <p:nvPr/>
        </p:nvSpPr>
        <p:spPr>
          <a:xfrm>
            <a:off x="793790" y="5926693"/>
            <a:ext cx="22860" cy="1081564"/>
          </a:xfrm>
          <a:prstGeom prst="rect">
            <a:avLst/>
          </a:prstGeom>
          <a:solidFill>
            <a:srgbClr val="3257B8"/>
          </a:solid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1182648"/>
            <a:ext cx="641592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Key Numbers to Remember</a:t>
            </a:r>
            <a:endParaRPr lang="en-US" sz="3900" dirty="0"/>
          </a:p>
        </p:txBody>
      </p:sp>
      <p:sp>
        <p:nvSpPr>
          <p:cNvPr id="3" name="Text 1"/>
          <p:cNvSpPr/>
          <p:nvPr/>
        </p:nvSpPr>
        <p:spPr>
          <a:xfrm>
            <a:off x="793790" y="2298740"/>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523</a:t>
            </a:r>
            <a:endParaRPr lang="en-US" sz="5150" dirty="0"/>
          </a:p>
        </p:txBody>
      </p:sp>
      <p:sp>
        <p:nvSpPr>
          <p:cNvPr id="4" name="Text 2"/>
          <p:cNvSpPr/>
          <p:nvPr/>
        </p:nvSpPr>
        <p:spPr>
          <a:xfrm>
            <a:off x="1090613" y="3201710"/>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Sample Size</a:t>
            </a:r>
            <a:endParaRPr lang="en-US" sz="1950" dirty="0"/>
          </a:p>
        </p:txBody>
      </p:sp>
      <p:sp>
        <p:nvSpPr>
          <p:cNvPr id="5" name="Text 3"/>
          <p:cNvSpPr/>
          <p:nvPr/>
        </p:nvSpPr>
        <p:spPr>
          <a:xfrm>
            <a:off x="793790" y="3630930"/>
            <a:ext cx="3074670" cy="95261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Diverse participants from academic and professional contexts</a:t>
            </a:r>
            <a:endParaRPr lang="en-US" sz="1550" dirty="0"/>
          </a:p>
        </p:txBody>
      </p:sp>
      <p:sp>
        <p:nvSpPr>
          <p:cNvPr id="6" name="Text 4"/>
          <p:cNvSpPr/>
          <p:nvPr/>
        </p:nvSpPr>
        <p:spPr>
          <a:xfrm>
            <a:off x="4116467" y="2298740"/>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.505</a:t>
            </a:r>
            <a:endParaRPr lang="en-US" sz="5150" dirty="0"/>
          </a:p>
        </p:txBody>
      </p:sp>
      <p:sp>
        <p:nvSpPr>
          <p:cNvPr id="7" name="Text 5"/>
          <p:cNvSpPr/>
          <p:nvPr/>
        </p:nvSpPr>
        <p:spPr>
          <a:xfrm>
            <a:off x="4413290" y="3201710"/>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Strongest Predictor</a:t>
            </a:r>
            <a:endParaRPr lang="en-US" sz="1950" dirty="0"/>
          </a:p>
        </p:txBody>
      </p:sp>
      <p:sp>
        <p:nvSpPr>
          <p:cNvPr id="8" name="Text 6"/>
          <p:cNvSpPr/>
          <p:nvPr/>
        </p:nvSpPr>
        <p:spPr>
          <a:xfrm>
            <a:off x="4116467" y="3630930"/>
            <a:ext cx="3074670"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Price Value β coefficient—dominates all other factors</a:t>
            </a:r>
            <a:endParaRPr lang="en-US" sz="1550" dirty="0"/>
          </a:p>
        </p:txBody>
      </p:sp>
      <p:sp>
        <p:nvSpPr>
          <p:cNvPr id="9" name="Text 7"/>
          <p:cNvSpPr/>
          <p:nvPr/>
        </p:nvSpPr>
        <p:spPr>
          <a:xfrm>
            <a:off x="7439144" y="2298740"/>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.852</a:t>
            </a:r>
            <a:endParaRPr lang="en-US" sz="5150" dirty="0"/>
          </a:p>
        </p:txBody>
      </p:sp>
      <p:sp>
        <p:nvSpPr>
          <p:cNvPr id="10" name="Text 8"/>
          <p:cNvSpPr/>
          <p:nvPr/>
        </p:nvSpPr>
        <p:spPr>
          <a:xfrm>
            <a:off x="7735967" y="3201710"/>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Variance Explained</a:t>
            </a:r>
            <a:endParaRPr lang="en-US" sz="1950" dirty="0"/>
          </a:p>
        </p:txBody>
      </p:sp>
      <p:sp>
        <p:nvSpPr>
          <p:cNvPr id="11" name="Text 9"/>
          <p:cNvSpPr/>
          <p:nvPr/>
        </p:nvSpPr>
        <p:spPr>
          <a:xfrm>
            <a:off x="7439144" y="3630930"/>
            <a:ext cx="3074670"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85.2% predictive accuracy—exceptional model performance</a:t>
            </a:r>
            <a:endParaRPr lang="en-US" sz="1550" dirty="0"/>
          </a:p>
        </p:txBody>
      </p:sp>
      <p:sp>
        <p:nvSpPr>
          <p:cNvPr id="12" name="Text 10"/>
          <p:cNvSpPr/>
          <p:nvPr/>
        </p:nvSpPr>
        <p:spPr>
          <a:xfrm>
            <a:off x="10761821" y="2298740"/>
            <a:ext cx="3074789"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.975</a:t>
            </a:r>
            <a:endParaRPr lang="en-US" sz="5150" dirty="0"/>
          </a:p>
        </p:txBody>
      </p:sp>
      <p:sp>
        <p:nvSpPr>
          <p:cNvPr id="13" name="Text 11"/>
          <p:cNvSpPr/>
          <p:nvPr/>
        </p:nvSpPr>
        <p:spPr>
          <a:xfrm>
            <a:off x="11058763" y="3201710"/>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Model Fit (CFI)</a:t>
            </a:r>
            <a:endParaRPr lang="en-US" sz="1950" dirty="0"/>
          </a:p>
        </p:txBody>
      </p:sp>
      <p:sp>
        <p:nvSpPr>
          <p:cNvPr id="14" name="Text 12"/>
          <p:cNvSpPr/>
          <p:nvPr/>
        </p:nvSpPr>
        <p:spPr>
          <a:xfrm>
            <a:off x="10761821" y="3630930"/>
            <a:ext cx="3074789"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Excellent psychometric quality—exceeds publication standards</a:t>
            </a:r>
            <a:endParaRPr lang="en-US" sz="1550" dirty="0"/>
          </a:p>
        </p:txBody>
      </p:sp>
      <p:sp>
        <p:nvSpPr>
          <p:cNvPr id="15" name="Text 13"/>
          <p:cNvSpPr/>
          <p:nvPr/>
        </p:nvSpPr>
        <p:spPr>
          <a:xfrm>
            <a:off x="2455069" y="5079563"/>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4</a:t>
            </a:r>
            <a:endParaRPr lang="en-US" sz="5150" dirty="0"/>
          </a:p>
        </p:txBody>
      </p:sp>
      <p:sp>
        <p:nvSpPr>
          <p:cNvPr id="16" name="Text 14"/>
          <p:cNvSpPr/>
          <p:nvPr/>
        </p:nvSpPr>
        <p:spPr>
          <a:xfrm>
            <a:off x="2751892" y="598253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User Segments</a:t>
            </a:r>
            <a:endParaRPr lang="en-US" sz="1950" dirty="0"/>
          </a:p>
        </p:txBody>
      </p:sp>
      <p:sp>
        <p:nvSpPr>
          <p:cNvPr id="17" name="Text 15"/>
          <p:cNvSpPr/>
          <p:nvPr/>
        </p:nvSpPr>
        <p:spPr>
          <a:xfrm>
            <a:off x="2455069" y="6411754"/>
            <a:ext cx="3074670"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Distinct typologies requiring different intervention strategies</a:t>
            </a:r>
            <a:endParaRPr lang="en-US" sz="1550" dirty="0"/>
          </a:p>
        </p:txBody>
      </p:sp>
      <p:sp>
        <p:nvSpPr>
          <p:cNvPr id="18" name="Text 16"/>
          <p:cNvSpPr/>
          <p:nvPr/>
        </p:nvSpPr>
        <p:spPr>
          <a:xfrm>
            <a:off x="5777746" y="5079563"/>
            <a:ext cx="3074789"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16</a:t>
            </a:r>
            <a:endParaRPr lang="en-US" sz="5150" dirty="0"/>
          </a:p>
        </p:txBody>
      </p:sp>
      <p:sp>
        <p:nvSpPr>
          <p:cNvPr id="19" name="Text 17"/>
          <p:cNvSpPr/>
          <p:nvPr/>
        </p:nvSpPr>
        <p:spPr>
          <a:xfrm>
            <a:off x="6074688" y="598253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Final Items</a:t>
            </a:r>
            <a:endParaRPr lang="en-US" sz="1950" dirty="0"/>
          </a:p>
        </p:txBody>
      </p:sp>
      <p:sp>
        <p:nvSpPr>
          <p:cNvPr id="20" name="Text 18"/>
          <p:cNvSpPr/>
          <p:nvPr/>
        </p:nvSpPr>
        <p:spPr>
          <a:xfrm>
            <a:off x="5777746" y="6411754"/>
            <a:ext cx="3074789"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Validated instrument length—3-minute administration time</a:t>
            </a:r>
            <a:endParaRPr lang="en-US" sz="1550" dirty="0"/>
          </a:p>
        </p:txBody>
      </p:sp>
      <p:sp>
        <p:nvSpPr>
          <p:cNvPr id="21" name="Text 19"/>
          <p:cNvSpPr/>
          <p:nvPr/>
        </p:nvSpPr>
        <p:spPr>
          <a:xfrm>
            <a:off x="9100542" y="5079563"/>
            <a:ext cx="3074670" cy="654963"/>
          </a:xfrm>
          <a:prstGeom prst="rect">
            <a:avLst/>
          </a:prstGeom>
          <a:noFill/>
          <a:ln/>
        </p:spPr>
        <p:txBody>
          <a:bodyPr wrap="none" lIns="0" tIns="0" rIns="0" bIns="0" rtlCol="0" anchor="t"/>
          <a:lstStyle/>
          <a:p>
            <a:pPr marL="0" indent="0" algn="ctr">
              <a:lnSpc>
                <a:spcPts val="5150"/>
              </a:lnSpc>
              <a:buNone/>
            </a:pPr>
            <a:r>
              <a:rPr lang="en-US" sz="5150" dirty="0">
                <a:solidFill>
                  <a:srgbClr val="15213F"/>
                </a:solidFill>
                <a:latin typeface="Roboto Slab" pitchFamily="34" charset="0"/>
                <a:ea typeface="Roboto Slab" pitchFamily="34" charset="-122"/>
                <a:cs typeface="Roboto Slab" pitchFamily="34" charset="-120"/>
              </a:rPr>
              <a:t>8</a:t>
            </a:r>
            <a:endParaRPr lang="en-US" sz="5150" dirty="0"/>
          </a:p>
        </p:txBody>
      </p:sp>
      <p:sp>
        <p:nvSpPr>
          <p:cNvPr id="22" name="Text 20"/>
          <p:cNvSpPr/>
          <p:nvPr/>
        </p:nvSpPr>
        <p:spPr>
          <a:xfrm>
            <a:off x="9397365" y="5982533"/>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15213F"/>
                </a:solidFill>
                <a:latin typeface="Roboto Slab" pitchFamily="34" charset="0"/>
                <a:ea typeface="Roboto Slab" pitchFamily="34" charset="-122"/>
                <a:cs typeface="Roboto Slab" pitchFamily="34" charset="-120"/>
              </a:rPr>
              <a:t>Validated Factors</a:t>
            </a:r>
            <a:endParaRPr lang="en-US" sz="1950" dirty="0"/>
          </a:p>
        </p:txBody>
      </p:sp>
      <p:sp>
        <p:nvSpPr>
          <p:cNvPr id="23" name="Text 21"/>
          <p:cNvSpPr/>
          <p:nvPr/>
        </p:nvSpPr>
        <p:spPr>
          <a:xfrm>
            <a:off x="9100542" y="6411754"/>
            <a:ext cx="3074670" cy="635079"/>
          </a:xfrm>
          <a:prstGeom prst="rect">
            <a:avLst/>
          </a:prstGeom>
          <a:noFill/>
          <a:ln/>
        </p:spPr>
        <p:txBody>
          <a:bodyPr wrap="square" lIns="0" tIns="0" rIns="0" bIns="0" rtlCol="0" anchor="t"/>
          <a:lstStyle/>
          <a:p>
            <a:pPr marL="0" indent="0" algn="ctr">
              <a:lnSpc>
                <a:spcPts val="2500"/>
              </a:lnSpc>
              <a:buNone/>
            </a:pPr>
            <a:r>
              <a:rPr lang="en-US" sz="1550" dirty="0">
                <a:solidFill>
                  <a:srgbClr val="15213F"/>
                </a:solidFill>
                <a:latin typeface="Roboto" pitchFamily="34" charset="0"/>
                <a:ea typeface="Roboto" pitchFamily="34" charset="-122"/>
                <a:cs typeface="Roboto" pitchFamily="34" charset="-120"/>
              </a:rPr>
              <a:t>Constructs with strong reliability (all α &gt; .74)</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1310402"/>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Thank You</a:t>
            </a:r>
            <a:endParaRPr lang="en-US" sz="3900" dirty="0"/>
          </a:p>
        </p:txBody>
      </p:sp>
      <p:sp>
        <p:nvSpPr>
          <p:cNvPr id="3" name="Text 1"/>
          <p:cNvSpPr/>
          <p:nvPr/>
        </p:nvSpPr>
        <p:spPr>
          <a:xfrm>
            <a:off x="793790" y="2228136"/>
            <a:ext cx="9923621" cy="1240393"/>
          </a:xfrm>
          <a:prstGeom prst="rect">
            <a:avLst/>
          </a:prstGeom>
          <a:noFill/>
          <a:ln/>
        </p:spPr>
        <p:txBody>
          <a:bodyPr wrap="none" lIns="0" tIns="0" rIns="0" bIns="0" rtlCol="0" anchor="t"/>
          <a:lstStyle/>
          <a:p>
            <a:pPr marL="0" indent="0" algn="l">
              <a:lnSpc>
                <a:spcPts val="9750"/>
              </a:lnSpc>
              <a:buNone/>
            </a:pPr>
            <a:r>
              <a:rPr lang="en-US" sz="7800" dirty="0">
                <a:solidFill>
                  <a:srgbClr val="3257B8"/>
                </a:solidFill>
                <a:latin typeface="Roboto Slab" pitchFamily="34" charset="0"/>
                <a:ea typeface="Roboto Slab" pitchFamily="34" charset="-122"/>
                <a:cs typeface="Roboto Slab" pitchFamily="34" charset="-120"/>
              </a:rPr>
              <a:t>Questions?</a:t>
            </a:r>
            <a:endParaRPr lang="en-US" sz="7800" dirty="0"/>
          </a:p>
        </p:txBody>
      </p:sp>
      <p:sp>
        <p:nvSpPr>
          <p:cNvPr id="4" name="Text 2"/>
          <p:cNvSpPr/>
          <p:nvPr/>
        </p:nvSpPr>
        <p:spPr>
          <a:xfrm>
            <a:off x="793790" y="3766185"/>
            <a:ext cx="13042821" cy="95261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Fabio Correa</a:t>
            </a:r>
            <a:r>
              <a:rPr lang="en-US" sz="1550" dirty="0">
                <a:solidFill>
                  <a:srgbClr val="15213F"/>
                </a:solidFill>
                <a:latin typeface="Roboto" pitchFamily="34" charset="0"/>
                <a:ea typeface="Roboto" pitchFamily="34" charset="-122"/>
                <a:cs typeface="Roboto" pitchFamily="34" charset="-120"/>
              </a:rPr>
              <a:t>Doctor of Business Administration Candidate</a:t>
            </a:r>
            <a:endParaRPr lang="en-US" sz="1550" dirty="0"/>
          </a:p>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Touro University Worldwide</a:t>
            </a:r>
            <a:endParaRPr lang="en-US" sz="1550" dirty="0"/>
          </a:p>
        </p:txBody>
      </p:sp>
      <p:sp>
        <p:nvSpPr>
          <p:cNvPr id="5" name="Shape 3"/>
          <p:cNvSpPr/>
          <p:nvPr/>
        </p:nvSpPr>
        <p:spPr>
          <a:xfrm>
            <a:off x="793790" y="5041195"/>
            <a:ext cx="13042821" cy="32385"/>
          </a:xfrm>
          <a:prstGeom prst="rect">
            <a:avLst/>
          </a:prstGeom>
          <a:solidFill>
            <a:srgbClr val="15213F">
              <a:alpha val="50000"/>
            </a:srgbClr>
          </a:solidFill>
          <a:ln/>
        </p:spPr>
        <p:txBody>
          <a:bodyPr/>
          <a:lstStyle/>
          <a:p>
            <a:endParaRPr lang="en-US"/>
          </a:p>
        </p:txBody>
      </p:sp>
      <p:sp>
        <p:nvSpPr>
          <p:cNvPr id="6" name="Text 4"/>
          <p:cNvSpPr/>
          <p:nvPr/>
        </p:nvSpPr>
        <p:spPr>
          <a:xfrm>
            <a:off x="1091446" y="5519976"/>
            <a:ext cx="12745164" cy="317540"/>
          </a:xfrm>
          <a:prstGeom prst="rect">
            <a:avLst/>
          </a:prstGeom>
          <a:noFill/>
          <a:ln/>
        </p:spPr>
        <p:txBody>
          <a:bodyPr wrap="none" lIns="0" tIns="0" rIns="0" bIns="0" rtlCol="0" anchor="t"/>
          <a:lstStyle/>
          <a:p>
            <a:pPr marL="0" indent="0" algn="l">
              <a:lnSpc>
                <a:spcPts val="2500"/>
              </a:lnSpc>
              <a:buNone/>
            </a:pPr>
            <a:r>
              <a:rPr lang="en-US" sz="1550" i="1" dirty="0">
                <a:solidFill>
                  <a:srgbClr val="15213F"/>
                </a:solidFill>
                <a:latin typeface="Roboto" pitchFamily="34" charset="0"/>
                <a:ea typeface="Roboto" pitchFamily="34" charset="-122"/>
                <a:cs typeface="Roboto" pitchFamily="34" charset="-120"/>
              </a:rPr>
              <a:t>"Organizations don't have an AI technology problem—they have an AI adoption problem."</a:t>
            </a:r>
            <a:endParaRPr lang="en-US" sz="1550" dirty="0"/>
          </a:p>
        </p:txBody>
      </p:sp>
      <p:sp>
        <p:nvSpPr>
          <p:cNvPr id="7" name="Shape 5"/>
          <p:cNvSpPr/>
          <p:nvPr/>
        </p:nvSpPr>
        <p:spPr>
          <a:xfrm>
            <a:off x="793790" y="5296733"/>
            <a:ext cx="22860" cy="764024"/>
          </a:xfrm>
          <a:prstGeom prst="rect">
            <a:avLst/>
          </a:prstGeom>
          <a:solidFill>
            <a:srgbClr val="3257B8"/>
          </a:solidFill>
          <a:ln/>
        </p:spPr>
        <p:txBody>
          <a:bodyPr/>
          <a:lstStyle/>
          <a:p>
            <a:endParaRPr lang="en-US"/>
          </a:p>
        </p:txBody>
      </p:sp>
      <p:sp>
        <p:nvSpPr>
          <p:cNvPr id="8" name="Text 6"/>
          <p:cNvSpPr/>
          <p:nvPr/>
        </p:nvSpPr>
        <p:spPr>
          <a:xfrm>
            <a:off x="793790" y="628400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Understanding and diagnosing that adoption problem is the first step to solving it. This research provides the diagnostic tools to make that understanding possible.</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711875"/>
            <a:ext cx="396942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Backup Slide B1</a:t>
            </a:r>
            <a:endParaRPr lang="en-US" sz="3100" dirty="0"/>
          </a:p>
        </p:txBody>
      </p:sp>
      <p:sp>
        <p:nvSpPr>
          <p:cNvPr id="3" name="Text 1"/>
          <p:cNvSpPr/>
          <p:nvPr/>
        </p:nvSpPr>
        <p:spPr>
          <a:xfrm>
            <a:off x="793790" y="1271468"/>
            <a:ext cx="2770703" cy="248007"/>
          </a:xfrm>
          <a:prstGeom prst="rect">
            <a:avLst/>
          </a:prstGeom>
          <a:noFill/>
          <a:ln/>
        </p:spPr>
        <p:txBody>
          <a:bodyPr wrap="none" lIns="0" tIns="0" rIns="0" bIns="0" rtlCol="0" anchor="t"/>
          <a:lstStyle/>
          <a:p>
            <a:pPr marL="0" indent="0" algn="l">
              <a:lnSpc>
                <a:spcPts val="1950"/>
              </a:lnSpc>
              <a:buNone/>
            </a:pPr>
            <a:r>
              <a:rPr lang="en-US" sz="1550" dirty="0">
                <a:solidFill>
                  <a:srgbClr val="3257B8"/>
                </a:solidFill>
                <a:latin typeface="Roboto Slab" pitchFamily="34" charset="0"/>
                <a:ea typeface="Roboto Slab" pitchFamily="34" charset="-122"/>
                <a:cs typeface="Roboto Slab" pitchFamily="34" charset="-120"/>
              </a:rPr>
              <a:t>Full Hypothesis Results Table</a:t>
            </a:r>
            <a:endParaRPr lang="en-US" sz="1550" dirty="0"/>
          </a:p>
        </p:txBody>
      </p:sp>
      <p:sp>
        <p:nvSpPr>
          <p:cNvPr id="4" name="Shape 2"/>
          <p:cNvSpPr/>
          <p:nvPr/>
        </p:nvSpPr>
        <p:spPr>
          <a:xfrm>
            <a:off x="793790" y="1757601"/>
            <a:ext cx="13042821" cy="5073253"/>
          </a:xfrm>
          <a:prstGeom prst="roundRect">
            <a:avLst>
              <a:gd name="adj" fmla="val 469"/>
            </a:avLst>
          </a:prstGeom>
          <a:noFill/>
          <a:ln w="7620">
            <a:solidFill>
              <a:srgbClr val="000000">
                <a:alpha val="8000"/>
              </a:srgbClr>
            </a:solidFill>
            <a:prstDash val="solid"/>
          </a:ln>
        </p:spPr>
        <p:txBody>
          <a:bodyPr/>
          <a:lstStyle/>
          <a:p>
            <a:endParaRPr lang="en-US"/>
          </a:p>
        </p:txBody>
      </p:sp>
      <p:sp>
        <p:nvSpPr>
          <p:cNvPr id="5" name="Shape 3"/>
          <p:cNvSpPr/>
          <p:nvPr/>
        </p:nvSpPr>
        <p:spPr>
          <a:xfrm>
            <a:off x="801410" y="1765221"/>
            <a:ext cx="13027581" cy="459819"/>
          </a:xfrm>
          <a:prstGeom prst="rect">
            <a:avLst/>
          </a:prstGeom>
          <a:solidFill>
            <a:srgbClr val="FFFFFF">
              <a:alpha val="4000"/>
            </a:srgbClr>
          </a:solidFill>
          <a:ln/>
        </p:spPr>
        <p:txBody>
          <a:bodyPr/>
          <a:lstStyle/>
          <a:p>
            <a:endParaRPr lang="en-US"/>
          </a:p>
        </p:txBody>
      </p:sp>
      <p:sp>
        <p:nvSpPr>
          <p:cNvPr id="6" name="Text 4"/>
          <p:cNvSpPr/>
          <p:nvPr/>
        </p:nvSpPr>
        <p:spPr>
          <a:xfrm>
            <a:off x="960358" y="1868091"/>
            <a:ext cx="763905" cy="254079"/>
          </a:xfrm>
          <a:prstGeom prst="rect">
            <a:avLst/>
          </a:prstGeom>
          <a:noFill/>
          <a:ln/>
        </p:spPr>
        <p:txBody>
          <a:bodyPr wrap="non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H</a:t>
            </a:r>
            <a:endParaRPr lang="en-US" sz="1250" dirty="0"/>
          </a:p>
        </p:txBody>
      </p:sp>
      <p:sp>
        <p:nvSpPr>
          <p:cNvPr id="7" name="Text 5"/>
          <p:cNvSpPr/>
          <p:nvPr/>
        </p:nvSpPr>
        <p:spPr>
          <a:xfrm>
            <a:off x="2049304" y="1868091"/>
            <a:ext cx="2714268" cy="254079"/>
          </a:xfrm>
          <a:prstGeom prst="rect">
            <a:avLst/>
          </a:prstGeom>
          <a:noFill/>
          <a:ln/>
        </p:spPr>
        <p:txBody>
          <a:bodyPr wrap="non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Path</a:t>
            </a:r>
            <a:endParaRPr lang="en-US" sz="1250" dirty="0"/>
          </a:p>
        </p:txBody>
      </p:sp>
      <p:sp>
        <p:nvSpPr>
          <p:cNvPr id="8" name="Text 6"/>
          <p:cNvSpPr/>
          <p:nvPr/>
        </p:nvSpPr>
        <p:spPr>
          <a:xfrm>
            <a:off x="5088612" y="1868091"/>
            <a:ext cx="1411486" cy="254079"/>
          </a:xfrm>
          <a:prstGeom prst="rect">
            <a:avLst/>
          </a:prstGeom>
          <a:noFill/>
          <a:ln/>
        </p:spPr>
        <p:txBody>
          <a:bodyPr wrap="non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β</a:t>
            </a:r>
            <a:endParaRPr lang="en-US" sz="1250" dirty="0"/>
          </a:p>
        </p:txBody>
      </p:sp>
      <p:sp>
        <p:nvSpPr>
          <p:cNvPr id="9" name="Text 7"/>
          <p:cNvSpPr/>
          <p:nvPr/>
        </p:nvSpPr>
        <p:spPr>
          <a:xfrm>
            <a:off x="6825139" y="1868091"/>
            <a:ext cx="1411486" cy="254079"/>
          </a:xfrm>
          <a:prstGeom prst="rect">
            <a:avLst/>
          </a:prstGeom>
          <a:noFill/>
          <a:ln/>
        </p:spPr>
        <p:txBody>
          <a:bodyPr wrap="non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p</a:t>
            </a:r>
            <a:endParaRPr lang="en-US" sz="1250" dirty="0"/>
          </a:p>
        </p:txBody>
      </p:sp>
      <p:sp>
        <p:nvSpPr>
          <p:cNvPr id="10" name="Text 8"/>
          <p:cNvSpPr/>
          <p:nvPr/>
        </p:nvSpPr>
        <p:spPr>
          <a:xfrm>
            <a:off x="8561665" y="1868091"/>
            <a:ext cx="2715578" cy="254079"/>
          </a:xfrm>
          <a:prstGeom prst="rect">
            <a:avLst/>
          </a:prstGeom>
          <a:noFill/>
          <a:ln/>
        </p:spPr>
        <p:txBody>
          <a:bodyPr wrap="non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95% CI</a:t>
            </a:r>
            <a:endParaRPr lang="en-US" sz="1250" dirty="0"/>
          </a:p>
        </p:txBody>
      </p:sp>
      <p:sp>
        <p:nvSpPr>
          <p:cNvPr id="11" name="Text 9"/>
          <p:cNvSpPr/>
          <p:nvPr/>
        </p:nvSpPr>
        <p:spPr>
          <a:xfrm>
            <a:off x="11602283" y="1868091"/>
            <a:ext cx="2067997" cy="254079"/>
          </a:xfrm>
          <a:prstGeom prst="rect">
            <a:avLst/>
          </a:prstGeom>
          <a:noFill/>
          <a:ln/>
        </p:spPr>
        <p:txBody>
          <a:bodyPr wrap="none" lIns="0" tIns="0" rIns="0" bIns="0" rtlCol="0" anchor="t"/>
          <a:lstStyle/>
          <a:p>
            <a:pPr marL="0" indent="0" algn="l">
              <a:lnSpc>
                <a:spcPts val="2000"/>
              </a:lnSpc>
              <a:buNone/>
            </a:pPr>
            <a:r>
              <a:rPr lang="en-US" sz="1250" b="1" dirty="0">
                <a:solidFill>
                  <a:srgbClr val="15213F"/>
                </a:solidFill>
                <a:latin typeface="Roboto" pitchFamily="34" charset="0"/>
                <a:ea typeface="Roboto" pitchFamily="34" charset="-122"/>
                <a:cs typeface="Roboto" pitchFamily="34" charset="-120"/>
              </a:rPr>
              <a:t>Result</a:t>
            </a:r>
            <a:endParaRPr lang="en-US" sz="1250" dirty="0"/>
          </a:p>
        </p:txBody>
      </p:sp>
      <p:sp>
        <p:nvSpPr>
          <p:cNvPr id="12" name="Shape 10"/>
          <p:cNvSpPr/>
          <p:nvPr/>
        </p:nvSpPr>
        <p:spPr>
          <a:xfrm>
            <a:off x="801410" y="2225040"/>
            <a:ext cx="13027581" cy="459819"/>
          </a:xfrm>
          <a:prstGeom prst="rect">
            <a:avLst/>
          </a:prstGeom>
          <a:solidFill>
            <a:srgbClr val="000000">
              <a:alpha val="4000"/>
            </a:srgbClr>
          </a:solidFill>
          <a:ln/>
        </p:spPr>
        <p:txBody>
          <a:bodyPr/>
          <a:lstStyle/>
          <a:p>
            <a:endParaRPr lang="en-US"/>
          </a:p>
        </p:txBody>
      </p:sp>
      <p:sp>
        <p:nvSpPr>
          <p:cNvPr id="13" name="Text 11"/>
          <p:cNvSpPr/>
          <p:nvPr/>
        </p:nvSpPr>
        <p:spPr>
          <a:xfrm>
            <a:off x="960358" y="2327910"/>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H1a</a:t>
            </a:r>
            <a:endParaRPr lang="en-US" sz="1250" dirty="0"/>
          </a:p>
        </p:txBody>
      </p:sp>
      <p:sp>
        <p:nvSpPr>
          <p:cNvPr id="14" name="Text 12"/>
          <p:cNvSpPr/>
          <p:nvPr/>
        </p:nvSpPr>
        <p:spPr>
          <a:xfrm>
            <a:off x="2049304" y="2327910"/>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PE → BI</a:t>
            </a:r>
            <a:endParaRPr lang="en-US" sz="1250" dirty="0"/>
          </a:p>
        </p:txBody>
      </p:sp>
      <p:sp>
        <p:nvSpPr>
          <p:cNvPr id="15" name="Text 13"/>
          <p:cNvSpPr/>
          <p:nvPr/>
        </p:nvSpPr>
        <p:spPr>
          <a:xfrm>
            <a:off x="5088612" y="2327910"/>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−.028</a:t>
            </a:r>
            <a:endParaRPr lang="en-US" sz="1250" dirty="0"/>
          </a:p>
        </p:txBody>
      </p:sp>
      <p:sp>
        <p:nvSpPr>
          <p:cNvPr id="16" name="Text 14"/>
          <p:cNvSpPr/>
          <p:nvPr/>
        </p:nvSpPr>
        <p:spPr>
          <a:xfrm>
            <a:off x="6825139" y="2327910"/>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.791</a:t>
            </a:r>
            <a:endParaRPr lang="en-US" sz="1250" dirty="0"/>
          </a:p>
        </p:txBody>
      </p:sp>
      <p:sp>
        <p:nvSpPr>
          <p:cNvPr id="17" name="Text 15"/>
          <p:cNvSpPr/>
          <p:nvPr/>
        </p:nvSpPr>
        <p:spPr>
          <a:xfrm>
            <a:off x="8561665" y="2327910"/>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[−.234, .178]</a:t>
            </a:r>
            <a:endParaRPr lang="en-US" sz="1250" dirty="0"/>
          </a:p>
        </p:txBody>
      </p:sp>
      <p:sp>
        <p:nvSpPr>
          <p:cNvPr id="18" name="Text 16"/>
          <p:cNvSpPr/>
          <p:nvPr/>
        </p:nvSpPr>
        <p:spPr>
          <a:xfrm>
            <a:off x="11602283" y="2327910"/>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 Not Supported</a:t>
            </a:r>
            <a:endParaRPr lang="en-US" sz="1250" dirty="0"/>
          </a:p>
        </p:txBody>
      </p:sp>
      <p:sp>
        <p:nvSpPr>
          <p:cNvPr id="19" name="Shape 17"/>
          <p:cNvSpPr/>
          <p:nvPr/>
        </p:nvSpPr>
        <p:spPr>
          <a:xfrm>
            <a:off x="801410" y="2684859"/>
            <a:ext cx="13027581" cy="459819"/>
          </a:xfrm>
          <a:prstGeom prst="rect">
            <a:avLst/>
          </a:prstGeom>
          <a:solidFill>
            <a:srgbClr val="FFFFFF">
              <a:alpha val="4000"/>
            </a:srgbClr>
          </a:solidFill>
          <a:ln/>
        </p:spPr>
        <p:txBody>
          <a:bodyPr/>
          <a:lstStyle/>
          <a:p>
            <a:endParaRPr lang="en-US"/>
          </a:p>
        </p:txBody>
      </p:sp>
      <p:sp>
        <p:nvSpPr>
          <p:cNvPr id="20" name="Text 18"/>
          <p:cNvSpPr/>
          <p:nvPr/>
        </p:nvSpPr>
        <p:spPr>
          <a:xfrm>
            <a:off x="960358" y="2787729"/>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H1b</a:t>
            </a:r>
            <a:endParaRPr lang="en-US" sz="1250" dirty="0"/>
          </a:p>
        </p:txBody>
      </p:sp>
      <p:sp>
        <p:nvSpPr>
          <p:cNvPr id="21" name="Text 19"/>
          <p:cNvSpPr/>
          <p:nvPr/>
        </p:nvSpPr>
        <p:spPr>
          <a:xfrm>
            <a:off x="2049304" y="2787729"/>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EE → BI</a:t>
            </a:r>
            <a:endParaRPr lang="en-US" sz="1250" dirty="0"/>
          </a:p>
        </p:txBody>
      </p:sp>
      <p:sp>
        <p:nvSpPr>
          <p:cNvPr id="22" name="Text 20"/>
          <p:cNvSpPr/>
          <p:nvPr/>
        </p:nvSpPr>
        <p:spPr>
          <a:xfrm>
            <a:off x="5088612" y="2787729"/>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−.008</a:t>
            </a:r>
            <a:endParaRPr lang="en-US" sz="1250" dirty="0"/>
          </a:p>
        </p:txBody>
      </p:sp>
      <p:sp>
        <p:nvSpPr>
          <p:cNvPr id="23" name="Text 21"/>
          <p:cNvSpPr/>
          <p:nvPr/>
        </p:nvSpPr>
        <p:spPr>
          <a:xfrm>
            <a:off x="6825139" y="2787729"/>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.875</a:t>
            </a:r>
            <a:endParaRPr lang="en-US" sz="1250" dirty="0"/>
          </a:p>
        </p:txBody>
      </p:sp>
      <p:sp>
        <p:nvSpPr>
          <p:cNvPr id="24" name="Text 22"/>
          <p:cNvSpPr/>
          <p:nvPr/>
        </p:nvSpPr>
        <p:spPr>
          <a:xfrm>
            <a:off x="8561665" y="2787729"/>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[−.108, .092]</a:t>
            </a:r>
            <a:endParaRPr lang="en-US" sz="1250" dirty="0"/>
          </a:p>
        </p:txBody>
      </p:sp>
      <p:sp>
        <p:nvSpPr>
          <p:cNvPr id="25" name="Text 23"/>
          <p:cNvSpPr/>
          <p:nvPr/>
        </p:nvSpPr>
        <p:spPr>
          <a:xfrm>
            <a:off x="11602283" y="2787729"/>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 Not Supported</a:t>
            </a:r>
            <a:endParaRPr lang="en-US" sz="1250" dirty="0"/>
          </a:p>
        </p:txBody>
      </p:sp>
      <p:sp>
        <p:nvSpPr>
          <p:cNvPr id="26" name="Shape 24"/>
          <p:cNvSpPr/>
          <p:nvPr/>
        </p:nvSpPr>
        <p:spPr>
          <a:xfrm>
            <a:off x="801410" y="3144679"/>
            <a:ext cx="13027581" cy="459819"/>
          </a:xfrm>
          <a:prstGeom prst="rect">
            <a:avLst/>
          </a:prstGeom>
          <a:solidFill>
            <a:srgbClr val="000000">
              <a:alpha val="4000"/>
            </a:srgbClr>
          </a:solidFill>
          <a:ln/>
        </p:spPr>
        <p:txBody>
          <a:bodyPr/>
          <a:lstStyle/>
          <a:p>
            <a:endParaRPr lang="en-US"/>
          </a:p>
        </p:txBody>
      </p:sp>
      <p:sp>
        <p:nvSpPr>
          <p:cNvPr id="27" name="Text 25"/>
          <p:cNvSpPr/>
          <p:nvPr/>
        </p:nvSpPr>
        <p:spPr>
          <a:xfrm>
            <a:off x="960358" y="3247549"/>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H1c</a:t>
            </a:r>
            <a:endParaRPr lang="en-US" sz="1250" dirty="0"/>
          </a:p>
        </p:txBody>
      </p:sp>
      <p:sp>
        <p:nvSpPr>
          <p:cNvPr id="28" name="Text 26"/>
          <p:cNvSpPr/>
          <p:nvPr/>
        </p:nvSpPr>
        <p:spPr>
          <a:xfrm>
            <a:off x="2049304" y="3247549"/>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SI → BI</a:t>
            </a:r>
            <a:endParaRPr lang="en-US" sz="1250" dirty="0"/>
          </a:p>
        </p:txBody>
      </p:sp>
      <p:sp>
        <p:nvSpPr>
          <p:cNvPr id="29" name="Text 27"/>
          <p:cNvSpPr/>
          <p:nvPr/>
        </p:nvSpPr>
        <p:spPr>
          <a:xfrm>
            <a:off x="5088612" y="3247549"/>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.136</a:t>
            </a:r>
            <a:endParaRPr lang="en-US" sz="1250" dirty="0"/>
          </a:p>
        </p:txBody>
      </p:sp>
      <p:sp>
        <p:nvSpPr>
          <p:cNvPr id="30" name="Text 28"/>
          <p:cNvSpPr/>
          <p:nvPr/>
        </p:nvSpPr>
        <p:spPr>
          <a:xfrm>
            <a:off x="6825139" y="3247549"/>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.024</a:t>
            </a:r>
            <a:endParaRPr lang="en-US" sz="1250" dirty="0"/>
          </a:p>
        </p:txBody>
      </p:sp>
      <p:sp>
        <p:nvSpPr>
          <p:cNvPr id="31" name="Text 29"/>
          <p:cNvSpPr/>
          <p:nvPr/>
        </p:nvSpPr>
        <p:spPr>
          <a:xfrm>
            <a:off x="8561665" y="3247549"/>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[.018, .254]</a:t>
            </a:r>
            <a:endParaRPr lang="en-US" sz="1250" dirty="0"/>
          </a:p>
        </p:txBody>
      </p:sp>
      <p:sp>
        <p:nvSpPr>
          <p:cNvPr id="32" name="Text 30"/>
          <p:cNvSpPr/>
          <p:nvPr/>
        </p:nvSpPr>
        <p:spPr>
          <a:xfrm>
            <a:off x="11602283" y="3247549"/>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3257B8"/>
                </a:solidFill>
                <a:latin typeface="Roboto" pitchFamily="34" charset="0"/>
                <a:ea typeface="Roboto" pitchFamily="34" charset="-122"/>
                <a:cs typeface="Roboto" pitchFamily="34" charset="-120"/>
              </a:rPr>
              <a:t>✓ Supported</a:t>
            </a:r>
            <a:endParaRPr lang="en-US" sz="1250" dirty="0"/>
          </a:p>
        </p:txBody>
      </p:sp>
      <p:sp>
        <p:nvSpPr>
          <p:cNvPr id="33" name="Shape 31"/>
          <p:cNvSpPr/>
          <p:nvPr/>
        </p:nvSpPr>
        <p:spPr>
          <a:xfrm>
            <a:off x="801410" y="3604498"/>
            <a:ext cx="13027581" cy="459819"/>
          </a:xfrm>
          <a:prstGeom prst="rect">
            <a:avLst/>
          </a:prstGeom>
          <a:solidFill>
            <a:srgbClr val="FFFFFF">
              <a:alpha val="4000"/>
            </a:srgbClr>
          </a:solidFill>
          <a:ln/>
        </p:spPr>
        <p:txBody>
          <a:bodyPr/>
          <a:lstStyle/>
          <a:p>
            <a:endParaRPr lang="en-US"/>
          </a:p>
        </p:txBody>
      </p:sp>
      <p:sp>
        <p:nvSpPr>
          <p:cNvPr id="34" name="Text 32"/>
          <p:cNvSpPr/>
          <p:nvPr/>
        </p:nvSpPr>
        <p:spPr>
          <a:xfrm>
            <a:off x="960358" y="3707368"/>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H1d</a:t>
            </a:r>
            <a:endParaRPr lang="en-US" sz="1250" dirty="0"/>
          </a:p>
        </p:txBody>
      </p:sp>
      <p:sp>
        <p:nvSpPr>
          <p:cNvPr id="35" name="Text 33"/>
          <p:cNvSpPr/>
          <p:nvPr/>
        </p:nvSpPr>
        <p:spPr>
          <a:xfrm>
            <a:off x="2049304" y="3707368"/>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FC → BI</a:t>
            </a:r>
            <a:endParaRPr lang="en-US" sz="1250" dirty="0"/>
          </a:p>
        </p:txBody>
      </p:sp>
      <p:sp>
        <p:nvSpPr>
          <p:cNvPr id="36" name="Text 34"/>
          <p:cNvSpPr/>
          <p:nvPr/>
        </p:nvSpPr>
        <p:spPr>
          <a:xfrm>
            <a:off x="5088612" y="3707368"/>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.059</a:t>
            </a:r>
            <a:endParaRPr lang="en-US" sz="1250" dirty="0"/>
          </a:p>
        </p:txBody>
      </p:sp>
      <p:sp>
        <p:nvSpPr>
          <p:cNvPr id="37" name="Text 35"/>
          <p:cNvSpPr/>
          <p:nvPr/>
        </p:nvSpPr>
        <p:spPr>
          <a:xfrm>
            <a:off x="6825139" y="3707368"/>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.338</a:t>
            </a:r>
            <a:endParaRPr lang="en-US" sz="1250" dirty="0"/>
          </a:p>
        </p:txBody>
      </p:sp>
      <p:sp>
        <p:nvSpPr>
          <p:cNvPr id="38" name="Text 36"/>
          <p:cNvSpPr/>
          <p:nvPr/>
        </p:nvSpPr>
        <p:spPr>
          <a:xfrm>
            <a:off x="8561665" y="3707368"/>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[−.062, .180]</a:t>
            </a:r>
            <a:endParaRPr lang="en-US" sz="1250" dirty="0"/>
          </a:p>
        </p:txBody>
      </p:sp>
      <p:sp>
        <p:nvSpPr>
          <p:cNvPr id="39" name="Text 37"/>
          <p:cNvSpPr/>
          <p:nvPr/>
        </p:nvSpPr>
        <p:spPr>
          <a:xfrm>
            <a:off x="11602283" y="3707368"/>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 Not Supported</a:t>
            </a:r>
            <a:endParaRPr lang="en-US" sz="1250" dirty="0"/>
          </a:p>
        </p:txBody>
      </p:sp>
      <p:sp>
        <p:nvSpPr>
          <p:cNvPr id="40" name="Shape 38"/>
          <p:cNvSpPr/>
          <p:nvPr/>
        </p:nvSpPr>
        <p:spPr>
          <a:xfrm>
            <a:off x="801410" y="4064318"/>
            <a:ext cx="13027581" cy="459819"/>
          </a:xfrm>
          <a:prstGeom prst="rect">
            <a:avLst/>
          </a:prstGeom>
          <a:solidFill>
            <a:srgbClr val="000000">
              <a:alpha val="4000"/>
            </a:srgbClr>
          </a:solidFill>
          <a:ln/>
        </p:spPr>
        <p:txBody>
          <a:bodyPr/>
          <a:lstStyle/>
          <a:p>
            <a:endParaRPr lang="en-US"/>
          </a:p>
        </p:txBody>
      </p:sp>
      <p:sp>
        <p:nvSpPr>
          <p:cNvPr id="41" name="Text 39"/>
          <p:cNvSpPr/>
          <p:nvPr/>
        </p:nvSpPr>
        <p:spPr>
          <a:xfrm>
            <a:off x="960358" y="4167188"/>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H1e</a:t>
            </a:r>
            <a:endParaRPr lang="en-US" sz="1250" dirty="0"/>
          </a:p>
        </p:txBody>
      </p:sp>
      <p:sp>
        <p:nvSpPr>
          <p:cNvPr id="42" name="Text 40"/>
          <p:cNvSpPr/>
          <p:nvPr/>
        </p:nvSpPr>
        <p:spPr>
          <a:xfrm>
            <a:off x="2049304" y="4167188"/>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HM → BI</a:t>
            </a:r>
            <a:endParaRPr lang="en-US" sz="1250" dirty="0"/>
          </a:p>
        </p:txBody>
      </p:sp>
      <p:sp>
        <p:nvSpPr>
          <p:cNvPr id="43" name="Text 41"/>
          <p:cNvSpPr/>
          <p:nvPr/>
        </p:nvSpPr>
        <p:spPr>
          <a:xfrm>
            <a:off x="5088612" y="4167188"/>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.217</a:t>
            </a:r>
            <a:endParaRPr lang="en-US" sz="1250" dirty="0"/>
          </a:p>
        </p:txBody>
      </p:sp>
      <p:sp>
        <p:nvSpPr>
          <p:cNvPr id="44" name="Text 42"/>
          <p:cNvSpPr/>
          <p:nvPr/>
        </p:nvSpPr>
        <p:spPr>
          <a:xfrm>
            <a:off x="6825139" y="4167188"/>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.014</a:t>
            </a:r>
            <a:endParaRPr lang="en-US" sz="1250" dirty="0"/>
          </a:p>
        </p:txBody>
      </p:sp>
      <p:sp>
        <p:nvSpPr>
          <p:cNvPr id="45" name="Text 43"/>
          <p:cNvSpPr/>
          <p:nvPr/>
        </p:nvSpPr>
        <p:spPr>
          <a:xfrm>
            <a:off x="8561665" y="4167188"/>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[.044, .390]</a:t>
            </a:r>
            <a:endParaRPr lang="en-US" sz="1250" dirty="0"/>
          </a:p>
        </p:txBody>
      </p:sp>
      <p:sp>
        <p:nvSpPr>
          <p:cNvPr id="46" name="Text 44"/>
          <p:cNvSpPr/>
          <p:nvPr/>
        </p:nvSpPr>
        <p:spPr>
          <a:xfrm>
            <a:off x="11602283" y="4167188"/>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3257B8"/>
                </a:solidFill>
                <a:latin typeface="Roboto" pitchFamily="34" charset="0"/>
                <a:ea typeface="Roboto" pitchFamily="34" charset="-122"/>
                <a:cs typeface="Roboto" pitchFamily="34" charset="-120"/>
              </a:rPr>
              <a:t>✓ Supported</a:t>
            </a:r>
            <a:endParaRPr lang="en-US" sz="1250" dirty="0"/>
          </a:p>
        </p:txBody>
      </p:sp>
      <p:sp>
        <p:nvSpPr>
          <p:cNvPr id="47" name="Shape 45"/>
          <p:cNvSpPr/>
          <p:nvPr/>
        </p:nvSpPr>
        <p:spPr>
          <a:xfrm>
            <a:off x="801410" y="4524137"/>
            <a:ext cx="13027581" cy="459819"/>
          </a:xfrm>
          <a:prstGeom prst="rect">
            <a:avLst/>
          </a:prstGeom>
          <a:solidFill>
            <a:srgbClr val="FFFFFF">
              <a:alpha val="4000"/>
            </a:srgbClr>
          </a:solidFill>
          <a:ln/>
        </p:spPr>
        <p:txBody>
          <a:bodyPr/>
          <a:lstStyle/>
          <a:p>
            <a:endParaRPr lang="en-US"/>
          </a:p>
        </p:txBody>
      </p:sp>
      <p:sp>
        <p:nvSpPr>
          <p:cNvPr id="48" name="Text 46"/>
          <p:cNvSpPr/>
          <p:nvPr/>
        </p:nvSpPr>
        <p:spPr>
          <a:xfrm>
            <a:off x="960358" y="4627007"/>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H1f</a:t>
            </a:r>
            <a:endParaRPr lang="en-US" sz="1250" dirty="0"/>
          </a:p>
        </p:txBody>
      </p:sp>
      <p:sp>
        <p:nvSpPr>
          <p:cNvPr id="49" name="Text 47"/>
          <p:cNvSpPr/>
          <p:nvPr/>
        </p:nvSpPr>
        <p:spPr>
          <a:xfrm>
            <a:off x="2049304" y="4627007"/>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PV → BI</a:t>
            </a:r>
            <a:endParaRPr lang="en-US" sz="1250" dirty="0"/>
          </a:p>
        </p:txBody>
      </p:sp>
      <p:sp>
        <p:nvSpPr>
          <p:cNvPr id="50" name="Text 48"/>
          <p:cNvSpPr/>
          <p:nvPr/>
        </p:nvSpPr>
        <p:spPr>
          <a:xfrm>
            <a:off x="5088612" y="4627007"/>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.505</a:t>
            </a:r>
            <a:endParaRPr lang="en-US" sz="1250" dirty="0"/>
          </a:p>
        </p:txBody>
      </p:sp>
      <p:sp>
        <p:nvSpPr>
          <p:cNvPr id="51" name="Text 49"/>
          <p:cNvSpPr/>
          <p:nvPr/>
        </p:nvSpPr>
        <p:spPr>
          <a:xfrm>
            <a:off x="6825139" y="4627007"/>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&lt;.001</a:t>
            </a:r>
            <a:endParaRPr lang="en-US" sz="1250" dirty="0"/>
          </a:p>
        </p:txBody>
      </p:sp>
      <p:sp>
        <p:nvSpPr>
          <p:cNvPr id="52" name="Text 50"/>
          <p:cNvSpPr/>
          <p:nvPr/>
        </p:nvSpPr>
        <p:spPr>
          <a:xfrm>
            <a:off x="8561665" y="4627007"/>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[.352, .658]</a:t>
            </a:r>
            <a:endParaRPr lang="en-US" sz="1250" dirty="0"/>
          </a:p>
        </p:txBody>
      </p:sp>
      <p:sp>
        <p:nvSpPr>
          <p:cNvPr id="53" name="Text 51"/>
          <p:cNvSpPr/>
          <p:nvPr/>
        </p:nvSpPr>
        <p:spPr>
          <a:xfrm>
            <a:off x="11602283" y="4627007"/>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3257B8"/>
                </a:solidFill>
                <a:latin typeface="Roboto" pitchFamily="34" charset="0"/>
                <a:ea typeface="Roboto" pitchFamily="34" charset="-122"/>
                <a:cs typeface="Roboto" pitchFamily="34" charset="-120"/>
              </a:rPr>
              <a:t>✓ Supported (Strongest)</a:t>
            </a:r>
            <a:endParaRPr lang="en-US" sz="1250" dirty="0"/>
          </a:p>
        </p:txBody>
      </p:sp>
      <p:sp>
        <p:nvSpPr>
          <p:cNvPr id="54" name="Shape 52"/>
          <p:cNvSpPr/>
          <p:nvPr/>
        </p:nvSpPr>
        <p:spPr>
          <a:xfrm>
            <a:off x="801410" y="4983956"/>
            <a:ext cx="13027581" cy="459819"/>
          </a:xfrm>
          <a:prstGeom prst="rect">
            <a:avLst/>
          </a:prstGeom>
          <a:solidFill>
            <a:srgbClr val="000000">
              <a:alpha val="4000"/>
            </a:srgbClr>
          </a:solidFill>
          <a:ln/>
        </p:spPr>
        <p:txBody>
          <a:bodyPr/>
          <a:lstStyle/>
          <a:p>
            <a:endParaRPr lang="en-US"/>
          </a:p>
        </p:txBody>
      </p:sp>
      <p:sp>
        <p:nvSpPr>
          <p:cNvPr id="55" name="Text 53"/>
          <p:cNvSpPr/>
          <p:nvPr/>
        </p:nvSpPr>
        <p:spPr>
          <a:xfrm>
            <a:off x="960358" y="5086826"/>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H1g</a:t>
            </a:r>
            <a:endParaRPr lang="en-US" sz="1250" dirty="0"/>
          </a:p>
        </p:txBody>
      </p:sp>
      <p:sp>
        <p:nvSpPr>
          <p:cNvPr id="56" name="Text 54"/>
          <p:cNvSpPr/>
          <p:nvPr/>
        </p:nvSpPr>
        <p:spPr>
          <a:xfrm>
            <a:off x="2049304" y="5086826"/>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HB → BI</a:t>
            </a:r>
            <a:endParaRPr lang="en-US" sz="1250" dirty="0"/>
          </a:p>
        </p:txBody>
      </p:sp>
      <p:sp>
        <p:nvSpPr>
          <p:cNvPr id="57" name="Text 55"/>
          <p:cNvSpPr/>
          <p:nvPr/>
        </p:nvSpPr>
        <p:spPr>
          <a:xfrm>
            <a:off x="5088612" y="5086826"/>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.023</a:t>
            </a:r>
            <a:endParaRPr lang="en-US" sz="1250" dirty="0"/>
          </a:p>
        </p:txBody>
      </p:sp>
      <p:sp>
        <p:nvSpPr>
          <p:cNvPr id="58" name="Text 56"/>
          <p:cNvSpPr/>
          <p:nvPr/>
        </p:nvSpPr>
        <p:spPr>
          <a:xfrm>
            <a:off x="6825139" y="5086826"/>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.631</a:t>
            </a:r>
            <a:endParaRPr lang="en-US" sz="1250" dirty="0"/>
          </a:p>
        </p:txBody>
      </p:sp>
      <p:sp>
        <p:nvSpPr>
          <p:cNvPr id="59" name="Text 57"/>
          <p:cNvSpPr/>
          <p:nvPr/>
        </p:nvSpPr>
        <p:spPr>
          <a:xfrm>
            <a:off x="8561665" y="5086826"/>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[−.071, .117]</a:t>
            </a:r>
            <a:endParaRPr lang="en-US" sz="1250" dirty="0"/>
          </a:p>
        </p:txBody>
      </p:sp>
      <p:sp>
        <p:nvSpPr>
          <p:cNvPr id="60" name="Text 58"/>
          <p:cNvSpPr/>
          <p:nvPr/>
        </p:nvSpPr>
        <p:spPr>
          <a:xfrm>
            <a:off x="11602283" y="5086826"/>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 Not Supported</a:t>
            </a:r>
            <a:endParaRPr lang="en-US" sz="1250" dirty="0"/>
          </a:p>
        </p:txBody>
      </p:sp>
      <p:sp>
        <p:nvSpPr>
          <p:cNvPr id="61" name="Shape 59"/>
          <p:cNvSpPr/>
          <p:nvPr/>
        </p:nvSpPr>
        <p:spPr>
          <a:xfrm>
            <a:off x="801410" y="5443776"/>
            <a:ext cx="13027581" cy="459819"/>
          </a:xfrm>
          <a:prstGeom prst="rect">
            <a:avLst/>
          </a:prstGeom>
          <a:solidFill>
            <a:srgbClr val="FFFFFF">
              <a:alpha val="4000"/>
            </a:srgbClr>
          </a:solidFill>
          <a:ln/>
        </p:spPr>
        <p:txBody>
          <a:bodyPr/>
          <a:lstStyle/>
          <a:p>
            <a:endParaRPr lang="en-US"/>
          </a:p>
        </p:txBody>
      </p:sp>
      <p:sp>
        <p:nvSpPr>
          <p:cNvPr id="62" name="Text 60"/>
          <p:cNvSpPr/>
          <p:nvPr/>
        </p:nvSpPr>
        <p:spPr>
          <a:xfrm>
            <a:off x="960358" y="5546646"/>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H2</a:t>
            </a:r>
            <a:endParaRPr lang="en-US" sz="1250" dirty="0"/>
          </a:p>
        </p:txBody>
      </p:sp>
      <p:sp>
        <p:nvSpPr>
          <p:cNvPr id="63" name="Text 61"/>
          <p:cNvSpPr/>
          <p:nvPr/>
        </p:nvSpPr>
        <p:spPr>
          <a:xfrm>
            <a:off x="2049304" y="5546646"/>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TR → BI</a:t>
            </a:r>
            <a:endParaRPr lang="en-US" sz="1250" dirty="0"/>
          </a:p>
        </p:txBody>
      </p:sp>
      <p:sp>
        <p:nvSpPr>
          <p:cNvPr id="64" name="Text 62"/>
          <p:cNvSpPr/>
          <p:nvPr/>
        </p:nvSpPr>
        <p:spPr>
          <a:xfrm>
            <a:off x="5088612" y="5546646"/>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.106</a:t>
            </a:r>
            <a:endParaRPr lang="en-US" sz="1250" dirty="0"/>
          </a:p>
        </p:txBody>
      </p:sp>
      <p:sp>
        <p:nvSpPr>
          <p:cNvPr id="65" name="Text 63"/>
          <p:cNvSpPr/>
          <p:nvPr/>
        </p:nvSpPr>
        <p:spPr>
          <a:xfrm>
            <a:off x="6825139" y="5546646"/>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.064</a:t>
            </a:r>
            <a:endParaRPr lang="en-US" sz="1250" dirty="0"/>
          </a:p>
        </p:txBody>
      </p:sp>
      <p:sp>
        <p:nvSpPr>
          <p:cNvPr id="66" name="Text 64"/>
          <p:cNvSpPr/>
          <p:nvPr/>
        </p:nvSpPr>
        <p:spPr>
          <a:xfrm>
            <a:off x="8561665" y="5546646"/>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[−.006, .218]</a:t>
            </a:r>
            <a:endParaRPr lang="en-US" sz="1250" dirty="0"/>
          </a:p>
        </p:txBody>
      </p:sp>
      <p:sp>
        <p:nvSpPr>
          <p:cNvPr id="67" name="Text 65"/>
          <p:cNvSpPr/>
          <p:nvPr/>
        </p:nvSpPr>
        <p:spPr>
          <a:xfrm>
            <a:off x="11602283" y="5546646"/>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 Marginal</a:t>
            </a:r>
            <a:endParaRPr lang="en-US" sz="1250" dirty="0"/>
          </a:p>
        </p:txBody>
      </p:sp>
      <p:sp>
        <p:nvSpPr>
          <p:cNvPr id="68" name="Shape 66"/>
          <p:cNvSpPr/>
          <p:nvPr/>
        </p:nvSpPr>
        <p:spPr>
          <a:xfrm>
            <a:off x="801410" y="5903595"/>
            <a:ext cx="13027581" cy="459819"/>
          </a:xfrm>
          <a:prstGeom prst="rect">
            <a:avLst/>
          </a:prstGeom>
          <a:solidFill>
            <a:srgbClr val="000000">
              <a:alpha val="4000"/>
            </a:srgbClr>
          </a:solidFill>
          <a:ln/>
        </p:spPr>
        <p:txBody>
          <a:bodyPr/>
          <a:lstStyle/>
          <a:p>
            <a:endParaRPr lang="en-US"/>
          </a:p>
        </p:txBody>
      </p:sp>
      <p:sp>
        <p:nvSpPr>
          <p:cNvPr id="69" name="Text 67"/>
          <p:cNvSpPr/>
          <p:nvPr/>
        </p:nvSpPr>
        <p:spPr>
          <a:xfrm>
            <a:off x="960358" y="6006465"/>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H3</a:t>
            </a:r>
            <a:endParaRPr lang="en-US" sz="1250" dirty="0"/>
          </a:p>
        </p:txBody>
      </p:sp>
      <p:sp>
        <p:nvSpPr>
          <p:cNvPr id="70" name="Text 68"/>
          <p:cNvSpPr/>
          <p:nvPr/>
        </p:nvSpPr>
        <p:spPr>
          <a:xfrm>
            <a:off x="2049304" y="6006465"/>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Experience mod</a:t>
            </a:r>
            <a:endParaRPr lang="en-US" sz="1250" dirty="0"/>
          </a:p>
        </p:txBody>
      </p:sp>
      <p:sp>
        <p:nvSpPr>
          <p:cNvPr id="71" name="Text 69"/>
          <p:cNvSpPr/>
          <p:nvPr/>
        </p:nvSpPr>
        <p:spPr>
          <a:xfrm>
            <a:off x="5088612" y="6006465"/>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.136</a:t>
            </a:r>
            <a:endParaRPr lang="en-US" sz="1250" dirty="0"/>
          </a:p>
        </p:txBody>
      </p:sp>
      <p:sp>
        <p:nvSpPr>
          <p:cNvPr id="72" name="Text 70"/>
          <p:cNvSpPr/>
          <p:nvPr/>
        </p:nvSpPr>
        <p:spPr>
          <a:xfrm>
            <a:off x="6825139" y="6006465"/>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.009</a:t>
            </a:r>
            <a:endParaRPr lang="en-US" sz="1250" dirty="0"/>
          </a:p>
        </p:txBody>
      </p:sp>
      <p:sp>
        <p:nvSpPr>
          <p:cNvPr id="73" name="Text 71"/>
          <p:cNvSpPr/>
          <p:nvPr/>
        </p:nvSpPr>
        <p:spPr>
          <a:xfrm>
            <a:off x="8561665" y="6006465"/>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74" name="Text 72"/>
          <p:cNvSpPr/>
          <p:nvPr/>
        </p:nvSpPr>
        <p:spPr>
          <a:xfrm>
            <a:off x="11602283" y="6006465"/>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3257B8"/>
                </a:solidFill>
                <a:latin typeface="Roboto" pitchFamily="34" charset="0"/>
                <a:ea typeface="Roboto" pitchFamily="34" charset="-122"/>
                <a:cs typeface="Roboto" pitchFamily="34" charset="-120"/>
              </a:rPr>
              <a:t>✓ Partial (HM)</a:t>
            </a:r>
            <a:endParaRPr lang="en-US" sz="1250" dirty="0"/>
          </a:p>
        </p:txBody>
      </p:sp>
      <p:sp>
        <p:nvSpPr>
          <p:cNvPr id="75" name="Shape 73"/>
          <p:cNvSpPr/>
          <p:nvPr/>
        </p:nvSpPr>
        <p:spPr>
          <a:xfrm>
            <a:off x="801410" y="6363414"/>
            <a:ext cx="13027581" cy="459819"/>
          </a:xfrm>
          <a:prstGeom prst="rect">
            <a:avLst/>
          </a:prstGeom>
          <a:solidFill>
            <a:srgbClr val="FFFFFF">
              <a:alpha val="4000"/>
            </a:srgbClr>
          </a:solidFill>
          <a:ln/>
        </p:spPr>
        <p:txBody>
          <a:bodyPr/>
          <a:lstStyle/>
          <a:p>
            <a:endParaRPr lang="en-US"/>
          </a:p>
        </p:txBody>
      </p:sp>
      <p:sp>
        <p:nvSpPr>
          <p:cNvPr id="76" name="Text 74"/>
          <p:cNvSpPr/>
          <p:nvPr/>
        </p:nvSpPr>
        <p:spPr>
          <a:xfrm>
            <a:off x="960358" y="6466284"/>
            <a:ext cx="763905"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H4</a:t>
            </a:r>
            <a:endParaRPr lang="en-US" sz="1250" dirty="0"/>
          </a:p>
        </p:txBody>
      </p:sp>
      <p:sp>
        <p:nvSpPr>
          <p:cNvPr id="77" name="Text 75"/>
          <p:cNvSpPr/>
          <p:nvPr/>
        </p:nvSpPr>
        <p:spPr>
          <a:xfrm>
            <a:off x="2049304" y="6466284"/>
            <a:ext cx="271426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Population mod</a:t>
            </a:r>
            <a:endParaRPr lang="en-US" sz="1250" dirty="0"/>
          </a:p>
        </p:txBody>
      </p:sp>
      <p:sp>
        <p:nvSpPr>
          <p:cNvPr id="78" name="Text 76"/>
          <p:cNvSpPr/>
          <p:nvPr/>
        </p:nvSpPr>
        <p:spPr>
          <a:xfrm>
            <a:off x="5088612" y="6466284"/>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−.750</a:t>
            </a:r>
            <a:endParaRPr lang="en-US" sz="1250" dirty="0"/>
          </a:p>
        </p:txBody>
      </p:sp>
      <p:sp>
        <p:nvSpPr>
          <p:cNvPr id="79" name="Text 77"/>
          <p:cNvSpPr/>
          <p:nvPr/>
        </p:nvSpPr>
        <p:spPr>
          <a:xfrm>
            <a:off x="6825139" y="6466284"/>
            <a:ext cx="1411486"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.041</a:t>
            </a:r>
            <a:endParaRPr lang="en-US" sz="1250" dirty="0"/>
          </a:p>
        </p:txBody>
      </p:sp>
      <p:sp>
        <p:nvSpPr>
          <p:cNvPr id="80" name="Text 78"/>
          <p:cNvSpPr/>
          <p:nvPr/>
        </p:nvSpPr>
        <p:spPr>
          <a:xfrm>
            <a:off x="8561665" y="6466284"/>
            <a:ext cx="2715578" cy="254079"/>
          </a:xfrm>
          <a:prstGeom prst="rect">
            <a:avLst/>
          </a:prstGeom>
          <a:noFill/>
          <a:ln/>
        </p:spPr>
        <p:txBody>
          <a:bodyPr wrap="non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a:t>
            </a:r>
            <a:endParaRPr lang="en-US" sz="1250" dirty="0"/>
          </a:p>
        </p:txBody>
      </p:sp>
      <p:sp>
        <p:nvSpPr>
          <p:cNvPr id="81" name="Text 79"/>
          <p:cNvSpPr/>
          <p:nvPr/>
        </p:nvSpPr>
        <p:spPr>
          <a:xfrm>
            <a:off x="11602283" y="6466284"/>
            <a:ext cx="2067997" cy="254079"/>
          </a:xfrm>
          <a:prstGeom prst="rect">
            <a:avLst/>
          </a:prstGeom>
          <a:noFill/>
          <a:ln/>
        </p:spPr>
        <p:txBody>
          <a:bodyPr wrap="none" lIns="0" tIns="0" rIns="0" bIns="0" rtlCol="0" anchor="t"/>
          <a:lstStyle/>
          <a:p>
            <a:pPr marL="0" indent="0" algn="l">
              <a:lnSpc>
                <a:spcPts val="2000"/>
              </a:lnSpc>
              <a:buNone/>
            </a:pPr>
            <a:r>
              <a:rPr lang="en-US" sz="1250" dirty="0">
                <a:solidFill>
                  <a:srgbClr val="3257B8"/>
                </a:solidFill>
                <a:latin typeface="Roboto" pitchFamily="34" charset="0"/>
                <a:ea typeface="Roboto" pitchFamily="34" charset="-122"/>
                <a:cs typeface="Roboto" pitchFamily="34" charset="-120"/>
              </a:rPr>
              <a:t>✓ Partial (HM)</a:t>
            </a:r>
            <a:endParaRPr lang="en-US" sz="1250" dirty="0"/>
          </a:p>
        </p:txBody>
      </p:sp>
      <p:sp>
        <p:nvSpPr>
          <p:cNvPr id="82" name="Text 80"/>
          <p:cNvSpPr/>
          <p:nvPr/>
        </p:nvSpPr>
        <p:spPr>
          <a:xfrm>
            <a:off x="793790" y="7009448"/>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15213F"/>
                </a:solidFill>
                <a:latin typeface="Roboto" pitchFamily="34" charset="0"/>
                <a:ea typeface="Roboto" pitchFamily="34" charset="-122"/>
                <a:cs typeface="Roboto" pitchFamily="34" charset="-120"/>
              </a:rPr>
              <a:t>Complete hypothesis results with confidence intervals. The three supported UTAUT2 hypotheses (Social Influence, Hedonic Motivation, Price Value) all have confidence intervals that do not cross zero. Non-significant paths all have wide intervals crossing zero, confirming lack of effect.</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990600"/>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Backup Slide B2</a:t>
            </a:r>
            <a:endParaRPr lang="en-US" sz="3900" dirty="0"/>
          </a:p>
        </p:txBody>
      </p:sp>
      <p:sp>
        <p:nvSpPr>
          <p:cNvPr id="3" name="Text 1"/>
          <p:cNvSpPr/>
          <p:nvPr/>
        </p:nvSpPr>
        <p:spPr>
          <a:xfrm>
            <a:off x="793790" y="1689973"/>
            <a:ext cx="3513296"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Model Fit Indices Comparison</a:t>
            </a:r>
            <a:endParaRPr lang="en-US" sz="1950" dirty="0"/>
          </a:p>
        </p:txBody>
      </p:sp>
      <p:sp>
        <p:nvSpPr>
          <p:cNvPr id="4" name="Shape 2"/>
          <p:cNvSpPr/>
          <p:nvPr/>
        </p:nvSpPr>
        <p:spPr>
          <a:xfrm>
            <a:off x="793790" y="2297787"/>
            <a:ext cx="13042821" cy="2869763"/>
          </a:xfrm>
          <a:prstGeom prst="roundRect">
            <a:avLst>
              <a:gd name="adj" fmla="val 1037"/>
            </a:avLst>
          </a:prstGeom>
          <a:noFill/>
          <a:ln w="7620">
            <a:solidFill>
              <a:srgbClr val="000000">
                <a:alpha val="8000"/>
              </a:srgbClr>
            </a:solidFill>
            <a:prstDash val="solid"/>
          </a:ln>
        </p:spPr>
        <p:txBody>
          <a:bodyPr/>
          <a:lstStyle/>
          <a:p>
            <a:endParaRPr lang="en-US"/>
          </a:p>
        </p:txBody>
      </p:sp>
      <p:sp>
        <p:nvSpPr>
          <p:cNvPr id="5" name="Shape 3"/>
          <p:cNvSpPr/>
          <p:nvPr/>
        </p:nvSpPr>
        <p:spPr>
          <a:xfrm>
            <a:off x="801410" y="2305407"/>
            <a:ext cx="13027581" cy="570905"/>
          </a:xfrm>
          <a:prstGeom prst="rect">
            <a:avLst/>
          </a:prstGeom>
          <a:solidFill>
            <a:srgbClr val="FFFFFF">
              <a:alpha val="4000"/>
            </a:srgbClr>
          </a:solidFill>
          <a:ln/>
        </p:spPr>
        <p:txBody>
          <a:bodyPr/>
          <a:lstStyle/>
          <a:p>
            <a:endParaRPr lang="en-US"/>
          </a:p>
        </p:txBody>
      </p:sp>
      <p:sp>
        <p:nvSpPr>
          <p:cNvPr id="6" name="Text 4"/>
          <p:cNvSpPr/>
          <p:nvPr/>
        </p:nvSpPr>
        <p:spPr>
          <a:xfrm>
            <a:off x="1000006" y="2432090"/>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Index</a:t>
            </a:r>
            <a:endParaRPr lang="en-US" sz="1550" dirty="0"/>
          </a:p>
        </p:txBody>
      </p:sp>
      <p:sp>
        <p:nvSpPr>
          <p:cNvPr id="7" name="Text 5"/>
          <p:cNvSpPr/>
          <p:nvPr/>
        </p:nvSpPr>
        <p:spPr>
          <a:xfrm>
            <a:off x="4260652" y="2432090"/>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Obtained</a:t>
            </a:r>
            <a:endParaRPr lang="en-US" sz="1550" dirty="0"/>
          </a:p>
        </p:txBody>
      </p:sp>
      <p:sp>
        <p:nvSpPr>
          <p:cNvPr id="8" name="Text 6"/>
          <p:cNvSpPr/>
          <p:nvPr/>
        </p:nvSpPr>
        <p:spPr>
          <a:xfrm>
            <a:off x="7517487" y="2432090"/>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Excellent</a:t>
            </a:r>
            <a:endParaRPr lang="en-US" sz="1550" dirty="0"/>
          </a:p>
        </p:txBody>
      </p:sp>
      <p:sp>
        <p:nvSpPr>
          <p:cNvPr id="9" name="Text 7"/>
          <p:cNvSpPr/>
          <p:nvPr/>
        </p:nvSpPr>
        <p:spPr>
          <a:xfrm>
            <a:off x="10774323" y="2432090"/>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Acceptable</a:t>
            </a:r>
            <a:endParaRPr lang="en-US" sz="1550" dirty="0"/>
          </a:p>
        </p:txBody>
      </p:sp>
      <p:sp>
        <p:nvSpPr>
          <p:cNvPr id="10" name="Shape 8"/>
          <p:cNvSpPr/>
          <p:nvPr/>
        </p:nvSpPr>
        <p:spPr>
          <a:xfrm>
            <a:off x="801410" y="2876312"/>
            <a:ext cx="13027581" cy="570905"/>
          </a:xfrm>
          <a:prstGeom prst="rect">
            <a:avLst/>
          </a:prstGeom>
          <a:solidFill>
            <a:srgbClr val="000000">
              <a:alpha val="4000"/>
            </a:srgbClr>
          </a:solidFill>
          <a:ln/>
        </p:spPr>
        <p:txBody>
          <a:bodyPr/>
          <a:lstStyle/>
          <a:p>
            <a:endParaRPr lang="en-US"/>
          </a:p>
        </p:txBody>
      </p:sp>
      <p:sp>
        <p:nvSpPr>
          <p:cNvPr id="11" name="Text 9"/>
          <p:cNvSpPr/>
          <p:nvPr/>
        </p:nvSpPr>
        <p:spPr>
          <a:xfrm>
            <a:off x="1000006" y="3002994"/>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CFI</a:t>
            </a:r>
            <a:endParaRPr lang="en-US" sz="1550" dirty="0"/>
          </a:p>
        </p:txBody>
      </p:sp>
      <p:sp>
        <p:nvSpPr>
          <p:cNvPr id="12" name="Text 10"/>
          <p:cNvSpPr/>
          <p:nvPr/>
        </p:nvSpPr>
        <p:spPr>
          <a:xfrm>
            <a:off x="4260652" y="3002994"/>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.975</a:t>
            </a:r>
            <a:endParaRPr lang="en-US" sz="1550" dirty="0"/>
          </a:p>
        </p:txBody>
      </p:sp>
      <p:sp>
        <p:nvSpPr>
          <p:cNvPr id="13" name="Text 11"/>
          <p:cNvSpPr/>
          <p:nvPr/>
        </p:nvSpPr>
        <p:spPr>
          <a:xfrm>
            <a:off x="7517487" y="3002994"/>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.95</a:t>
            </a:r>
            <a:endParaRPr lang="en-US" sz="1550" dirty="0"/>
          </a:p>
        </p:txBody>
      </p:sp>
      <p:sp>
        <p:nvSpPr>
          <p:cNvPr id="14" name="Text 12"/>
          <p:cNvSpPr/>
          <p:nvPr/>
        </p:nvSpPr>
        <p:spPr>
          <a:xfrm>
            <a:off x="10774323" y="3002994"/>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.90</a:t>
            </a:r>
            <a:endParaRPr lang="en-US" sz="1550" dirty="0"/>
          </a:p>
        </p:txBody>
      </p:sp>
      <p:sp>
        <p:nvSpPr>
          <p:cNvPr id="15" name="Shape 13"/>
          <p:cNvSpPr/>
          <p:nvPr/>
        </p:nvSpPr>
        <p:spPr>
          <a:xfrm>
            <a:off x="801410" y="3447217"/>
            <a:ext cx="13027581" cy="570905"/>
          </a:xfrm>
          <a:prstGeom prst="rect">
            <a:avLst/>
          </a:prstGeom>
          <a:solidFill>
            <a:srgbClr val="FFFFFF">
              <a:alpha val="4000"/>
            </a:srgbClr>
          </a:solidFill>
          <a:ln/>
        </p:spPr>
        <p:txBody>
          <a:bodyPr/>
          <a:lstStyle/>
          <a:p>
            <a:endParaRPr lang="en-US"/>
          </a:p>
        </p:txBody>
      </p:sp>
      <p:sp>
        <p:nvSpPr>
          <p:cNvPr id="16" name="Text 14"/>
          <p:cNvSpPr/>
          <p:nvPr/>
        </p:nvSpPr>
        <p:spPr>
          <a:xfrm>
            <a:off x="1000006" y="3573899"/>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TLI</a:t>
            </a:r>
            <a:endParaRPr lang="en-US" sz="1550" dirty="0"/>
          </a:p>
        </p:txBody>
      </p:sp>
      <p:sp>
        <p:nvSpPr>
          <p:cNvPr id="17" name="Text 15"/>
          <p:cNvSpPr/>
          <p:nvPr/>
        </p:nvSpPr>
        <p:spPr>
          <a:xfrm>
            <a:off x="4260652" y="3573899"/>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.960</a:t>
            </a:r>
            <a:endParaRPr lang="en-US" sz="1550" dirty="0"/>
          </a:p>
        </p:txBody>
      </p:sp>
      <p:sp>
        <p:nvSpPr>
          <p:cNvPr id="18" name="Text 16"/>
          <p:cNvSpPr/>
          <p:nvPr/>
        </p:nvSpPr>
        <p:spPr>
          <a:xfrm>
            <a:off x="7517487" y="3573899"/>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.95</a:t>
            </a:r>
            <a:endParaRPr lang="en-US" sz="1550" dirty="0"/>
          </a:p>
        </p:txBody>
      </p:sp>
      <p:sp>
        <p:nvSpPr>
          <p:cNvPr id="19" name="Text 17"/>
          <p:cNvSpPr/>
          <p:nvPr/>
        </p:nvSpPr>
        <p:spPr>
          <a:xfrm>
            <a:off x="10774323" y="3573899"/>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.90</a:t>
            </a:r>
            <a:endParaRPr lang="en-US" sz="1550" dirty="0"/>
          </a:p>
        </p:txBody>
      </p:sp>
      <p:sp>
        <p:nvSpPr>
          <p:cNvPr id="20" name="Shape 18"/>
          <p:cNvSpPr/>
          <p:nvPr/>
        </p:nvSpPr>
        <p:spPr>
          <a:xfrm>
            <a:off x="801410" y="4018121"/>
            <a:ext cx="13027581" cy="570905"/>
          </a:xfrm>
          <a:prstGeom prst="rect">
            <a:avLst/>
          </a:prstGeom>
          <a:solidFill>
            <a:srgbClr val="000000">
              <a:alpha val="4000"/>
            </a:srgbClr>
          </a:solidFill>
          <a:ln/>
        </p:spPr>
        <p:txBody>
          <a:bodyPr/>
          <a:lstStyle/>
          <a:p>
            <a:endParaRPr lang="en-US"/>
          </a:p>
        </p:txBody>
      </p:sp>
      <p:sp>
        <p:nvSpPr>
          <p:cNvPr id="21" name="Text 19"/>
          <p:cNvSpPr/>
          <p:nvPr/>
        </p:nvSpPr>
        <p:spPr>
          <a:xfrm>
            <a:off x="1000006" y="4144804"/>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RMSEA</a:t>
            </a:r>
            <a:endParaRPr lang="en-US" sz="1550" dirty="0"/>
          </a:p>
        </p:txBody>
      </p:sp>
      <p:sp>
        <p:nvSpPr>
          <p:cNvPr id="22" name="Text 20"/>
          <p:cNvSpPr/>
          <p:nvPr/>
        </p:nvSpPr>
        <p:spPr>
          <a:xfrm>
            <a:off x="4260652" y="4144804"/>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.065</a:t>
            </a:r>
            <a:endParaRPr lang="en-US" sz="1550" dirty="0"/>
          </a:p>
        </p:txBody>
      </p:sp>
      <p:sp>
        <p:nvSpPr>
          <p:cNvPr id="23" name="Text 21"/>
          <p:cNvSpPr/>
          <p:nvPr/>
        </p:nvSpPr>
        <p:spPr>
          <a:xfrm>
            <a:off x="7517487" y="4144804"/>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.06</a:t>
            </a:r>
            <a:endParaRPr lang="en-US" sz="1550" dirty="0"/>
          </a:p>
        </p:txBody>
      </p:sp>
      <p:sp>
        <p:nvSpPr>
          <p:cNvPr id="24" name="Text 22"/>
          <p:cNvSpPr/>
          <p:nvPr/>
        </p:nvSpPr>
        <p:spPr>
          <a:xfrm>
            <a:off x="10774323" y="4144804"/>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.08</a:t>
            </a:r>
            <a:endParaRPr lang="en-US" sz="1550" dirty="0"/>
          </a:p>
        </p:txBody>
      </p:sp>
      <p:sp>
        <p:nvSpPr>
          <p:cNvPr id="25" name="Shape 23"/>
          <p:cNvSpPr/>
          <p:nvPr/>
        </p:nvSpPr>
        <p:spPr>
          <a:xfrm>
            <a:off x="801410" y="4589026"/>
            <a:ext cx="13027581" cy="570905"/>
          </a:xfrm>
          <a:prstGeom prst="rect">
            <a:avLst/>
          </a:prstGeom>
          <a:solidFill>
            <a:srgbClr val="FFFFFF">
              <a:alpha val="4000"/>
            </a:srgbClr>
          </a:solidFill>
          <a:ln/>
        </p:spPr>
        <p:txBody>
          <a:bodyPr/>
          <a:lstStyle/>
          <a:p>
            <a:endParaRPr lang="en-US"/>
          </a:p>
        </p:txBody>
      </p:sp>
      <p:sp>
        <p:nvSpPr>
          <p:cNvPr id="26" name="Text 24"/>
          <p:cNvSpPr/>
          <p:nvPr/>
        </p:nvSpPr>
        <p:spPr>
          <a:xfrm>
            <a:off x="1000006" y="471570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SRMR</a:t>
            </a:r>
            <a:endParaRPr lang="en-US" sz="1550" dirty="0"/>
          </a:p>
        </p:txBody>
      </p:sp>
      <p:sp>
        <p:nvSpPr>
          <p:cNvPr id="27" name="Text 25"/>
          <p:cNvSpPr/>
          <p:nvPr/>
        </p:nvSpPr>
        <p:spPr>
          <a:xfrm>
            <a:off x="4260652" y="4715708"/>
            <a:ext cx="2852499" cy="317540"/>
          </a:xfrm>
          <a:prstGeom prst="rect">
            <a:avLst/>
          </a:prstGeom>
          <a:noFill/>
          <a:ln/>
        </p:spPr>
        <p:txBody>
          <a:bodyPr wrap="none" lIns="0" tIns="0" rIns="0" bIns="0" rtlCol="0" anchor="t"/>
          <a:lstStyle/>
          <a:p>
            <a:pPr marL="0" indent="0" algn="l">
              <a:lnSpc>
                <a:spcPts val="2500"/>
              </a:lnSpc>
              <a:buNone/>
            </a:pPr>
            <a:r>
              <a:rPr lang="en-US" sz="1550" b="1" dirty="0">
                <a:solidFill>
                  <a:srgbClr val="3257B8"/>
                </a:solidFill>
                <a:latin typeface="Roboto" pitchFamily="34" charset="0"/>
                <a:ea typeface="Roboto" pitchFamily="34" charset="-122"/>
                <a:cs typeface="Roboto" pitchFamily="34" charset="-120"/>
              </a:rPr>
              <a:t>.044</a:t>
            </a:r>
            <a:endParaRPr lang="en-US" sz="1550" dirty="0"/>
          </a:p>
        </p:txBody>
      </p:sp>
      <p:sp>
        <p:nvSpPr>
          <p:cNvPr id="28" name="Text 26"/>
          <p:cNvSpPr/>
          <p:nvPr/>
        </p:nvSpPr>
        <p:spPr>
          <a:xfrm>
            <a:off x="7517487" y="4715708"/>
            <a:ext cx="285249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.08</a:t>
            </a:r>
            <a:endParaRPr lang="en-US" sz="1550" dirty="0"/>
          </a:p>
        </p:txBody>
      </p:sp>
      <p:sp>
        <p:nvSpPr>
          <p:cNvPr id="29" name="Text 27"/>
          <p:cNvSpPr/>
          <p:nvPr/>
        </p:nvSpPr>
        <p:spPr>
          <a:xfrm>
            <a:off x="10774323" y="4715708"/>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 .10</a:t>
            </a:r>
            <a:endParaRPr lang="en-US" sz="1550" dirty="0"/>
          </a:p>
        </p:txBody>
      </p:sp>
      <p:sp>
        <p:nvSpPr>
          <p:cNvPr id="30" name="Text 28"/>
          <p:cNvSpPr/>
          <p:nvPr/>
        </p:nvSpPr>
        <p:spPr>
          <a:xfrm>
            <a:off x="793790" y="5390793"/>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Source:</a:t>
            </a:r>
            <a:r>
              <a:rPr lang="en-US" sz="1550" dirty="0">
                <a:solidFill>
                  <a:srgbClr val="15213F"/>
                </a:solidFill>
                <a:latin typeface="Roboto" pitchFamily="34" charset="0"/>
                <a:ea typeface="Roboto" pitchFamily="34" charset="-122"/>
                <a:cs typeface="Roboto" pitchFamily="34" charset="-120"/>
              </a:rPr>
              <a:t> Hu &amp; Bentler (1999); Browne &amp; Cudeck (1993)</a:t>
            </a:r>
            <a:endParaRPr lang="en-US" sz="1550" dirty="0"/>
          </a:p>
        </p:txBody>
      </p:sp>
      <p:sp>
        <p:nvSpPr>
          <p:cNvPr id="31" name="Shape 29"/>
          <p:cNvSpPr/>
          <p:nvPr/>
        </p:nvSpPr>
        <p:spPr>
          <a:xfrm>
            <a:off x="793790" y="6030723"/>
            <a:ext cx="13042821" cy="32385"/>
          </a:xfrm>
          <a:prstGeom prst="rect">
            <a:avLst/>
          </a:prstGeom>
          <a:solidFill>
            <a:srgbClr val="15213F">
              <a:alpha val="50000"/>
            </a:srgbClr>
          </a:solidFill>
          <a:ln/>
        </p:spPr>
        <p:txBody>
          <a:bodyPr/>
          <a:lstStyle/>
          <a:p>
            <a:endParaRPr lang="en-US"/>
          </a:p>
        </p:txBody>
      </p:sp>
      <p:sp>
        <p:nvSpPr>
          <p:cNvPr id="32" name="Text 30"/>
          <p:cNvSpPr/>
          <p:nvPr/>
        </p:nvSpPr>
        <p:spPr>
          <a:xfrm>
            <a:off x="793790" y="6286262"/>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Model fit indices comparison: CFI and TLI exceed excellent thresholds. RMSEA at .065 is in acceptable range, just above .06 excellent threshold—typical for models of this sample size and complexity. SRMR at .044 is excellent. Overall, the measurement model demonstrates very good fit to the data.</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1155740"/>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257B8"/>
                </a:solidFill>
                <a:latin typeface="Roboto Slab" pitchFamily="34" charset="0"/>
                <a:ea typeface="Roboto Slab" pitchFamily="34" charset="-122"/>
                <a:cs typeface="Roboto Slab" pitchFamily="34" charset="-120"/>
              </a:rPr>
              <a:t>Backup Slide B3</a:t>
            </a:r>
            <a:endParaRPr lang="en-US" sz="3900" dirty="0"/>
          </a:p>
        </p:txBody>
      </p:sp>
      <p:sp>
        <p:nvSpPr>
          <p:cNvPr id="3" name="Text 1"/>
          <p:cNvSpPr/>
          <p:nvPr/>
        </p:nvSpPr>
        <p:spPr>
          <a:xfrm>
            <a:off x="793790" y="185511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What is Price Value?</a:t>
            </a:r>
            <a:endParaRPr lang="en-US" sz="1950" dirty="0"/>
          </a:p>
        </p:txBody>
      </p:sp>
      <p:sp>
        <p:nvSpPr>
          <p:cNvPr id="4" name="Text 2"/>
          <p:cNvSpPr/>
          <p:nvPr/>
        </p:nvSpPr>
        <p:spPr>
          <a:xfrm>
            <a:off x="793790" y="2462927"/>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15213F"/>
                </a:solidFill>
                <a:latin typeface="Roboto" pitchFamily="34" charset="0"/>
                <a:ea typeface="Roboto" pitchFamily="34" charset="-122"/>
                <a:cs typeface="Roboto" pitchFamily="34" charset="-120"/>
              </a:rPr>
              <a:t>Price Value</a:t>
            </a:r>
            <a:r>
              <a:rPr lang="en-US" sz="1550" dirty="0">
                <a:solidFill>
                  <a:srgbClr val="15213F"/>
                </a:solidFill>
                <a:latin typeface="Roboto" pitchFamily="34" charset="0"/>
                <a:ea typeface="Roboto" pitchFamily="34" charset="-122"/>
                <a:cs typeface="Roboto" pitchFamily="34" charset="-120"/>
              </a:rPr>
              <a:t> measures </a:t>
            </a:r>
            <a:r>
              <a:rPr lang="en-US" sz="1550" i="1" dirty="0">
                <a:solidFill>
                  <a:srgbClr val="15213F"/>
                </a:solidFill>
                <a:latin typeface="Roboto" pitchFamily="34" charset="0"/>
                <a:ea typeface="Roboto" pitchFamily="34" charset="-122"/>
                <a:cs typeface="Roboto" pitchFamily="34" charset="-120"/>
              </a:rPr>
              <a:t>perceived worth relative to total investment</a:t>
            </a:r>
            <a:r>
              <a:rPr lang="en-US" sz="1550" dirty="0">
                <a:solidFill>
                  <a:srgbClr val="15213F"/>
                </a:solidFill>
                <a:latin typeface="Roboto" pitchFamily="34" charset="0"/>
                <a:ea typeface="Roboto" pitchFamily="34" charset="-122"/>
                <a:cs typeface="Roboto" pitchFamily="34" charset="-120"/>
              </a:rPr>
              <a:t>, not just licensing costs. Users ask: "Is the total value I'll receive worth the total investment I have to make?"</a:t>
            </a:r>
            <a:endParaRPr lang="en-US" sz="1550" dirty="0"/>
          </a:p>
        </p:txBody>
      </p:sp>
      <p:sp>
        <p:nvSpPr>
          <p:cNvPr id="5" name="Shape 3"/>
          <p:cNvSpPr/>
          <p:nvPr/>
        </p:nvSpPr>
        <p:spPr>
          <a:xfrm>
            <a:off x="793790" y="3321248"/>
            <a:ext cx="6422231" cy="1506736"/>
          </a:xfrm>
          <a:prstGeom prst="roundRect">
            <a:avLst>
              <a:gd name="adj" fmla="val 1976"/>
            </a:avLst>
          </a:prstGeom>
          <a:solidFill>
            <a:srgbClr val="FBFCFE"/>
          </a:solidFill>
          <a:ln w="22860">
            <a:solidFill>
              <a:srgbClr val="CFD2D8"/>
            </a:solidFill>
            <a:prstDash val="solid"/>
          </a:ln>
        </p:spPr>
        <p:txBody>
          <a:bodyPr/>
          <a:lstStyle/>
          <a:p>
            <a:endParaRPr lang="en-US"/>
          </a:p>
        </p:txBody>
      </p:sp>
      <p:sp>
        <p:nvSpPr>
          <p:cNvPr id="6" name="Text 4"/>
          <p:cNvSpPr/>
          <p:nvPr/>
        </p:nvSpPr>
        <p:spPr>
          <a:xfrm>
            <a:off x="1015008" y="354246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Direct Costs</a:t>
            </a:r>
            <a:endParaRPr lang="en-US" sz="1950" dirty="0"/>
          </a:p>
        </p:txBody>
      </p:sp>
      <p:sp>
        <p:nvSpPr>
          <p:cNvPr id="7" name="Text 5"/>
          <p:cNvSpPr/>
          <p:nvPr/>
        </p:nvSpPr>
        <p:spPr>
          <a:xfrm>
            <a:off x="1015008" y="3971687"/>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Licensing fees, subscriptions, infrastructure investments</a:t>
            </a:r>
            <a:endParaRPr lang="en-US" sz="1550" dirty="0"/>
          </a:p>
        </p:txBody>
      </p:sp>
      <p:sp>
        <p:nvSpPr>
          <p:cNvPr id="8" name="Shape 6"/>
          <p:cNvSpPr/>
          <p:nvPr/>
        </p:nvSpPr>
        <p:spPr>
          <a:xfrm>
            <a:off x="7414379" y="3321248"/>
            <a:ext cx="6422231" cy="1506736"/>
          </a:xfrm>
          <a:prstGeom prst="roundRect">
            <a:avLst>
              <a:gd name="adj" fmla="val 1976"/>
            </a:avLst>
          </a:prstGeom>
          <a:solidFill>
            <a:srgbClr val="FBFCFE"/>
          </a:solidFill>
          <a:ln w="22860">
            <a:solidFill>
              <a:srgbClr val="CFD2D8"/>
            </a:solidFill>
            <a:prstDash val="solid"/>
          </a:ln>
        </p:spPr>
        <p:txBody>
          <a:bodyPr/>
          <a:lstStyle/>
          <a:p>
            <a:endParaRPr lang="en-US"/>
          </a:p>
        </p:txBody>
      </p:sp>
      <p:sp>
        <p:nvSpPr>
          <p:cNvPr id="9" name="Text 7"/>
          <p:cNvSpPr/>
          <p:nvPr/>
        </p:nvSpPr>
        <p:spPr>
          <a:xfrm>
            <a:off x="7635597" y="354246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Indirect Costs</a:t>
            </a:r>
            <a:endParaRPr lang="en-US" sz="1950" dirty="0"/>
          </a:p>
        </p:txBody>
      </p:sp>
      <p:sp>
        <p:nvSpPr>
          <p:cNvPr id="10" name="Text 8"/>
          <p:cNvSpPr/>
          <p:nvPr/>
        </p:nvSpPr>
        <p:spPr>
          <a:xfrm>
            <a:off x="7635597" y="3971687"/>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Learning curve time, workflow disruption, productivity dip during transition</a:t>
            </a:r>
            <a:endParaRPr lang="en-US" sz="1550" dirty="0"/>
          </a:p>
        </p:txBody>
      </p:sp>
      <p:sp>
        <p:nvSpPr>
          <p:cNvPr id="11" name="Shape 9"/>
          <p:cNvSpPr/>
          <p:nvPr/>
        </p:nvSpPr>
        <p:spPr>
          <a:xfrm>
            <a:off x="793790" y="5026343"/>
            <a:ext cx="6422231" cy="1189196"/>
          </a:xfrm>
          <a:prstGeom prst="roundRect">
            <a:avLst>
              <a:gd name="adj" fmla="val 2503"/>
            </a:avLst>
          </a:prstGeom>
          <a:solidFill>
            <a:srgbClr val="FBFCFE"/>
          </a:solidFill>
          <a:ln w="22860">
            <a:solidFill>
              <a:srgbClr val="CFD2D8"/>
            </a:solidFill>
            <a:prstDash val="solid"/>
          </a:ln>
        </p:spPr>
        <p:txBody>
          <a:bodyPr/>
          <a:lstStyle/>
          <a:p>
            <a:endParaRPr lang="en-US"/>
          </a:p>
        </p:txBody>
      </p:sp>
      <p:sp>
        <p:nvSpPr>
          <p:cNvPr id="12" name="Text 10"/>
          <p:cNvSpPr/>
          <p:nvPr/>
        </p:nvSpPr>
        <p:spPr>
          <a:xfrm>
            <a:off x="1015008" y="524756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Hidden Costs</a:t>
            </a:r>
            <a:endParaRPr lang="en-US" sz="1950" dirty="0"/>
          </a:p>
        </p:txBody>
      </p:sp>
      <p:sp>
        <p:nvSpPr>
          <p:cNvPr id="13" name="Text 11"/>
          <p:cNvSpPr/>
          <p:nvPr/>
        </p:nvSpPr>
        <p:spPr>
          <a:xfrm>
            <a:off x="1015008" y="5676781"/>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Data privacy risks, vendor lock-in, integration complexity</a:t>
            </a:r>
            <a:endParaRPr lang="en-US" sz="1550" dirty="0"/>
          </a:p>
        </p:txBody>
      </p:sp>
      <p:sp>
        <p:nvSpPr>
          <p:cNvPr id="14" name="Shape 12"/>
          <p:cNvSpPr/>
          <p:nvPr/>
        </p:nvSpPr>
        <p:spPr>
          <a:xfrm>
            <a:off x="7414379" y="5026343"/>
            <a:ext cx="6422231" cy="1189196"/>
          </a:xfrm>
          <a:prstGeom prst="roundRect">
            <a:avLst>
              <a:gd name="adj" fmla="val 2503"/>
            </a:avLst>
          </a:prstGeom>
          <a:solidFill>
            <a:srgbClr val="FBFCFE"/>
          </a:solidFill>
          <a:ln w="22860">
            <a:solidFill>
              <a:srgbClr val="CFD2D8"/>
            </a:solidFill>
            <a:prstDash val="solid"/>
          </a:ln>
        </p:spPr>
        <p:txBody>
          <a:bodyPr/>
          <a:lstStyle/>
          <a:p>
            <a:endParaRPr lang="en-US"/>
          </a:p>
        </p:txBody>
      </p:sp>
      <p:sp>
        <p:nvSpPr>
          <p:cNvPr id="15" name="Text 13"/>
          <p:cNvSpPr/>
          <p:nvPr/>
        </p:nvSpPr>
        <p:spPr>
          <a:xfrm>
            <a:off x="7635597" y="524756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15213F"/>
                </a:solidFill>
                <a:latin typeface="Roboto Slab" pitchFamily="34" charset="0"/>
                <a:ea typeface="Roboto Slab" pitchFamily="34" charset="-122"/>
                <a:cs typeface="Roboto Slab" pitchFamily="34" charset="-120"/>
              </a:rPr>
              <a:t>Opportunity Costs</a:t>
            </a:r>
            <a:endParaRPr lang="en-US" sz="1950" dirty="0"/>
          </a:p>
        </p:txBody>
      </p:sp>
      <p:sp>
        <p:nvSpPr>
          <p:cNvPr id="16" name="Text 14"/>
          <p:cNvSpPr/>
          <p:nvPr/>
        </p:nvSpPr>
        <p:spPr>
          <a:xfrm>
            <a:off x="7635597" y="5676781"/>
            <a:ext cx="5979795" cy="317540"/>
          </a:xfrm>
          <a:prstGeom prst="rect">
            <a:avLst/>
          </a:prstGeom>
          <a:noFill/>
          <a:ln/>
        </p:spPr>
        <p:txBody>
          <a:bodyPr wrap="non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Time spent learning vs. doing current productive work</a:t>
            </a:r>
            <a:endParaRPr lang="en-US" sz="1550" dirty="0"/>
          </a:p>
        </p:txBody>
      </p:sp>
      <p:sp>
        <p:nvSpPr>
          <p:cNvPr id="17" name="Text 15"/>
          <p:cNvSpPr/>
          <p:nvPr/>
        </p:nvSpPr>
        <p:spPr>
          <a:xfrm>
            <a:off x="793790" y="6438781"/>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15213F"/>
                </a:solidFill>
                <a:latin typeface="Roboto" pitchFamily="34" charset="0"/>
                <a:ea typeface="Roboto" pitchFamily="34" charset="-122"/>
                <a:cs typeface="Roboto" pitchFamily="34" charset="-120"/>
              </a:rPr>
              <a:t>Price Value evaluation is a richer question than "Is this software expensive?"—it encompasses the full cost-benefit analysis users perform when deciding whether to adopt AI tools.</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844391"/>
            <a:ext cx="4465558" cy="558165"/>
          </a:xfrm>
          <a:prstGeom prst="rect">
            <a:avLst/>
          </a:prstGeom>
          <a:noFill/>
          <a:ln/>
        </p:spPr>
        <p:txBody>
          <a:bodyPr wrap="none" lIns="0" tIns="0" rIns="0" bIns="0" rtlCol="0" anchor="t"/>
          <a:lstStyle/>
          <a:p>
            <a:pPr marL="0" indent="0" algn="l">
              <a:lnSpc>
                <a:spcPts val="4350"/>
              </a:lnSpc>
              <a:buNone/>
            </a:pPr>
            <a:r>
              <a:rPr lang="en-US" sz="3500" dirty="0">
                <a:solidFill>
                  <a:srgbClr val="3257B8"/>
                </a:solidFill>
                <a:latin typeface="Roboto Slab" pitchFamily="34" charset="0"/>
                <a:ea typeface="Roboto Slab" pitchFamily="34" charset="-122"/>
                <a:cs typeface="Roboto Slab" pitchFamily="34" charset="-120"/>
              </a:rPr>
              <a:t>Backup Slide B4</a:t>
            </a:r>
            <a:endParaRPr lang="en-US" sz="3500" dirty="0"/>
          </a:p>
        </p:txBody>
      </p:sp>
      <p:sp>
        <p:nvSpPr>
          <p:cNvPr id="3" name="Text 1"/>
          <p:cNvSpPr/>
          <p:nvPr/>
        </p:nvSpPr>
        <p:spPr>
          <a:xfrm>
            <a:off x="793790" y="1473994"/>
            <a:ext cx="3183136" cy="278963"/>
          </a:xfrm>
          <a:prstGeom prst="rect">
            <a:avLst/>
          </a:prstGeom>
          <a:noFill/>
          <a:ln/>
        </p:spPr>
        <p:txBody>
          <a:bodyPr wrap="none" lIns="0" tIns="0" rIns="0" bIns="0" rtlCol="0" anchor="t"/>
          <a:lstStyle/>
          <a:p>
            <a:pPr marL="0" indent="0" algn="l">
              <a:lnSpc>
                <a:spcPts val="2150"/>
              </a:lnSpc>
              <a:buNone/>
            </a:pPr>
            <a:r>
              <a:rPr lang="en-US" sz="1750" dirty="0">
                <a:solidFill>
                  <a:srgbClr val="3257B8"/>
                </a:solidFill>
                <a:latin typeface="Roboto Slab" pitchFamily="34" charset="0"/>
                <a:ea typeface="Roboto Slab" pitchFamily="34" charset="-122"/>
                <a:cs typeface="Roboto Slab" pitchFamily="34" charset="-120"/>
              </a:rPr>
              <a:t>Why Did Four Constructs Fail?</a:t>
            </a:r>
            <a:endParaRPr lang="en-US" sz="1750" dirty="0"/>
          </a:p>
        </p:txBody>
      </p:sp>
      <p:sp>
        <p:nvSpPr>
          <p:cNvPr id="4" name="Shape 2"/>
          <p:cNvSpPr/>
          <p:nvPr/>
        </p:nvSpPr>
        <p:spPr>
          <a:xfrm>
            <a:off x="793790" y="2020848"/>
            <a:ext cx="13042821" cy="4877753"/>
          </a:xfrm>
          <a:prstGeom prst="roundRect">
            <a:avLst>
              <a:gd name="adj" fmla="val 549"/>
            </a:avLst>
          </a:prstGeom>
          <a:noFill/>
          <a:ln w="7620">
            <a:solidFill>
              <a:srgbClr val="000000">
                <a:alpha val="8000"/>
              </a:srgbClr>
            </a:solidFill>
            <a:prstDash val="solid"/>
          </a:ln>
        </p:spPr>
        <p:txBody>
          <a:bodyPr/>
          <a:lstStyle/>
          <a:p>
            <a:endParaRPr lang="en-US"/>
          </a:p>
        </p:txBody>
      </p:sp>
      <p:sp>
        <p:nvSpPr>
          <p:cNvPr id="5" name="Shape 3"/>
          <p:cNvSpPr/>
          <p:nvPr/>
        </p:nvSpPr>
        <p:spPr>
          <a:xfrm>
            <a:off x="801410" y="2028468"/>
            <a:ext cx="13027581" cy="515303"/>
          </a:xfrm>
          <a:prstGeom prst="rect">
            <a:avLst/>
          </a:prstGeom>
          <a:solidFill>
            <a:srgbClr val="FFFFFF">
              <a:alpha val="4000"/>
            </a:srgbClr>
          </a:solidFill>
          <a:ln/>
        </p:spPr>
        <p:txBody>
          <a:bodyPr/>
          <a:lstStyle/>
          <a:p>
            <a:endParaRPr lang="en-US"/>
          </a:p>
        </p:txBody>
      </p:sp>
      <p:sp>
        <p:nvSpPr>
          <p:cNvPr id="6" name="Text 4"/>
          <p:cNvSpPr/>
          <p:nvPr/>
        </p:nvSpPr>
        <p:spPr>
          <a:xfrm>
            <a:off x="980242" y="2143244"/>
            <a:ext cx="2244447"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Construct</a:t>
            </a:r>
            <a:endParaRPr lang="en-US" sz="1400" dirty="0"/>
          </a:p>
        </p:txBody>
      </p:sp>
      <p:sp>
        <p:nvSpPr>
          <p:cNvPr id="7" name="Text 5"/>
          <p:cNvSpPr/>
          <p:nvPr/>
        </p:nvSpPr>
        <p:spPr>
          <a:xfrm>
            <a:off x="3589496" y="2143244"/>
            <a:ext cx="1589246"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α</a:t>
            </a:r>
            <a:endParaRPr lang="en-US" sz="1400" dirty="0"/>
          </a:p>
        </p:txBody>
      </p:sp>
      <p:sp>
        <p:nvSpPr>
          <p:cNvPr id="8" name="Text 6"/>
          <p:cNvSpPr/>
          <p:nvPr/>
        </p:nvSpPr>
        <p:spPr>
          <a:xfrm>
            <a:off x="5543550" y="2143244"/>
            <a:ext cx="4194810"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What Went Wrong</a:t>
            </a:r>
            <a:endParaRPr lang="en-US" sz="1400" dirty="0"/>
          </a:p>
        </p:txBody>
      </p:sp>
      <p:sp>
        <p:nvSpPr>
          <p:cNvPr id="9" name="Text 7"/>
          <p:cNvSpPr/>
          <p:nvPr/>
        </p:nvSpPr>
        <p:spPr>
          <a:xfrm>
            <a:off x="10103168" y="2143244"/>
            <a:ext cx="3547229" cy="285750"/>
          </a:xfrm>
          <a:prstGeom prst="rect">
            <a:avLst/>
          </a:prstGeom>
          <a:noFill/>
          <a:ln/>
        </p:spPr>
        <p:txBody>
          <a:bodyPr wrap="none" lIns="0" tIns="0" rIns="0" bIns="0" rtlCol="0" anchor="t"/>
          <a:lstStyle/>
          <a:p>
            <a:pPr marL="0" indent="0" algn="l">
              <a:lnSpc>
                <a:spcPts val="2250"/>
              </a:lnSpc>
              <a:buNone/>
            </a:pPr>
            <a:r>
              <a:rPr lang="en-US" sz="1400" b="1" dirty="0">
                <a:solidFill>
                  <a:srgbClr val="15213F"/>
                </a:solidFill>
                <a:latin typeface="Roboto" pitchFamily="34" charset="0"/>
                <a:ea typeface="Roboto" pitchFamily="34" charset="-122"/>
                <a:cs typeface="Roboto" pitchFamily="34" charset="-120"/>
              </a:rPr>
              <a:t>Future Direction</a:t>
            </a:r>
            <a:endParaRPr lang="en-US" sz="1400" dirty="0"/>
          </a:p>
        </p:txBody>
      </p:sp>
      <p:sp>
        <p:nvSpPr>
          <p:cNvPr id="10" name="Shape 8"/>
          <p:cNvSpPr/>
          <p:nvPr/>
        </p:nvSpPr>
        <p:spPr>
          <a:xfrm>
            <a:off x="801410" y="2543770"/>
            <a:ext cx="13027581" cy="1372553"/>
          </a:xfrm>
          <a:prstGeom prst="rect">
            <a:avLst/>
          </a:prstGeom>
          <a:solidFill>
            <a:srgbClr val="000000">
              <a:alpha val="4000"/>
            </a:srgbClr>
          </a:solidFill>
          <a:ln/>
        </p:spPr>
        <p:txBody>
          <a:bodyPr/>
          <a:lstStyle/>
          <a:p>
            <a:endParaRPr lang="en-US"/>
          </a:p>
        </p:txBody>
      </p:sp>
      <p:sp>
        <p:nvSpPr>
          <p:cNvPr id="11" name="Text 9"/>
          <p:cNvSpPr/>
          <p:nvPr/>
        </p:nvSpPr>
        <p:spPr>
          <a:xfrm>
            <a:off x="980242" y="2658547"/>
            <a:ext cx="2244447"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Voluntariness</a:t>
            </a:r>
            <a:endParaRPr lang="en-US" sz="1400" dirty="0"/>
          </a:p>
        </p:txBody>
      </p:sp>
      <p:sp>
        <p:nvSpPr>
          <p:cNvPr id="12" name="Text 10"/>
          <p:cNvSpPr/>
          <p:nvPr/>
        </p:nvSpPr>
        <p:spPr>
          <a:xfrm>
            <a:off x="3589496" y="2658547"/>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.301</a:t>
            </a:r>
            <a:endParaRPr lang="en-US" sz="1400" dirty="0"/>
          </a:p>
        </p:txBody>
      </p:sp>
      <p:sp>
        <p:nvSpPr>
          <p:cNvPr id="13" name="Text 11"/>
          <p:cNvSpPr/>
          <p:nvPr/>
        </p:nvSpPr>
        <p:spPr>
          <a:xfrm>
            <a:off x="5543550" y="2658547"/>
            <a:ext cx="4194810" cy="114300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Items conceptually conflicted (mandatory vs. choice). "My organization requires AI use" and "I choose to use AI voluntarily" interpreted inconsistently.</a:t>
            </a:r>
            <a:endParaRPr lang="en-US" sz="1400" dirty="0"/>
          </a:p>
        </p:txBody>
      </p:sp>
      <p:sp>
        <p:nvSpPr>
          <p:cNvPr id="14" name="Text 12"/>
          <p:cNvSpPr/>
          <p:nvPr/>
        </p:nvSpPr>
        <p:spPr>
          <a:xfrm>
            <a:off x="10103168" y="2658547"/>
            <a:ext cx="3547229"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Reframe as "perceived pressure" to use AI</a:t>
            </a:r>
            <a:endParaRPr lang="en-US" sz="1400" dirty="0"/>
          </a:p>
        </p:txBody>
      </p:sp>
      <p:sp>
        <p:nvSpPr>
          <p:cNvPr id="15" name="Shape 13"/>
          <p:cNvSpPr/>
          <p:nvPr/>
        </p:nvSpPr>
        <p:spPr>
          <a:xfrm>
            <a:off x="801410" y="3916323"/>
            <a:ext cx="13027581" cy="1086803"/>
          </a:xfrm>
          <a:prstGeom prst="rect">
            <a:avLst/>
          </a:prstGeom>
          <a:solidFill>
            <a:srgbClr val="FFFFFF">
              <a:alpha val="4000"/>
            </a:srgbClr>
          </a:solidFill>
          <a:ln/>
        </p:spPr>
        <p:txBody>
          <a:bodyPr/>
          <a:lstStyle/>
          <a:p>
            <a:endParaRPr lang="en-US"/>
          </a:p>
        </p:txBody>
      </p:sp>
      <p:sp>
        <p:nvSpPr>
          <p:cNvPr id="16" name="Text 14"/>
          <p:cNvSpPr/>
          <p:nvPr/>
        </p:nvSpPr>
        <p:spPr>
          <a:xfrm>
            <a:off x="980242" y="4031099"/>
            <a:ext cx="2244447"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Explainability</a:t>
            </a:r>
            <a:endParaRPr lang="en-US" sz="1400" dirty="0"/>
          </a:p>
        </p:txBody>
      </p:sp>
      <p:sp>
        <p:nvSpPr>
          <p:cNvPr id="17" name="Text 15"/>
          <p:cNvSpPr/>
          <p:nvPr/>
        </p:nvSpPr>
        <p:spPr>
          <a:xfrm>
            <a:off x="3589496" y="4031099"/>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.503</a:t>
            </a:r>
            <a:endParaRPr lang="en-US" sz="1400" dirty="0"/>
          </a:p>
        </p:txBody>
      </p:sp>
      <p:sp>
        <p:nvSpPr>
          <p:cNvPr id="18" name="Text 16"/>
          <p:cNvSpPr/>
          <p:nvPr/>
        </p:nvSpPr>
        <p:spPr>
          <a:xfrm>
            <a:off x="5543550" y="4031099"/>
            <a:ext cx="4194810" cy="85725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AI explanation is multi-dimensional; items too broad. How model works, why decision made, audit capability are distinct facets.</a:t>
            </a:r>
            <a:endParaRPr lang="en-US" sz="1400" dirty="0"/>
          </a:p>
        </p:txBody>
      </p:sp>
      <p:sp>
        <p:nvSpPr>
          <p:cNvPr id="19" name="Text 17"/>
          <p:cNvSpPr/>
          <p:nvPr/>
        </p:nvSpPr>
        <p:spPr>
          <a:xfrm>
            <a:off x="10103168" y="4031099"/>
            <a:ext cx="3547229" cy="57150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Decompose into transparency, interpretability, auditability</a:t>
            </a:r>
            <a:endParaRPr lang="en-US" sz="1400" dirty="0"/>
          </a:p>
        </p:txBody>
      </p:sp>
      <p:sp>
        <p:nvSpPr>
          <p:cNvPr id="20" name="Shape 18"/>
          <p:cNvSpPr/>
          <p:nvPr/>
        </p:nvSpPr>
        <p:spPr>
          <a:xfrm>
            <a:off x="801410" y="5003125"/>
            <a:ext cx="13027581" cy="1086803"/>
          </a:xfrm>
          <a:prstGeom prst="rect">
            <a:avLst/>
          </a:prstGeom>
          <a:solidFill>
            <a:srgbClr val="000000">
              <a:alpha val="4000"/>
            </a:srgbClr>
          </a:solidFill>
          <a:ln/>
        </p:spPr>
        <p:txBody>
          <a:bodyPr/>
          <a:lstStyle/>
          <a:p>
            <a:endParaRPr lang="en-US"/>
          </a:p>
        </p:txBody>
      </p:sp>
      <p:sp>
        <p:nvSpPr>
          <p:cNvPr id="21" name="Text 19"/>
          <p:cNvSpPr/>
          <p:nvPr/>
        </p:nvSpPr>
        <p:spPr>
          <a:xfrm>
            <a:off x="980242" y="5117902"/>
            <a:ext cx="2244447"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Ethical Risk</a:t>
            </a:r>
            <a:endParaRPr lang="en-US" sz="1400" dirty="0"/>
          </a:p>
        </p:txBody>
      </p:sp>
      <p:sp>
        <p:nvSpPr>
          <p:cNvPr id="22" name="Text 20"/>
          <p:cNvSpPr/>
          <p:nvPr/>
        </p:nvSpPr>
        <p:spPr>
          <a:xfrm>
            <a:off x="3589496" y="5117902"/>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.582</a:t>
            </a:r>
            <a:endParaRPr lang="en-US" sz="1400" dirty="0"/>
          </a:p>
        </p:txBody>
      </p:sp>
      <p:sp>
        <p:nvSpPr>
          <p:cNvPr id="23" name="Text 21"/>
          <p:cNvSpPr/>
          <p:nvPr/>
        </p:nvSpPr>
        <p:spPr>
          <a:xfrm>
            <a:off x="5543550" y="5117902"/>
            <a:ext cx="4194810" cy="85725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Near threshold; items conflated personal vs. societal ethics. "AI could make biased decisions about me" vs. "AI could harm society"</a:t>
            </a:r>
            <a:endParaRPr lang="en-US" sz="1400" dirty="0"/>
          </a:p>
        </p:txBody>
      </p:sp>
      <p:sp>
        <p:nvSpPr>
          <p:cNvPr id="24" name="Text 22"/>
          <p:cNvSpPr/>
          <p:nvPr/>
        </p:nvSpPr>
        <p:spPr>
          <a:xfrm>
            <a:off x="10103168" y="5117902"/>
            <a:ext cx="3547229" cy="57150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Separate individual ethical concerns from societal</a:t>
            </a:r>
            <a:endParaRPr lang="en-US" sz="1400" dirty="0"/>
          </a:p>
        </p:txBody>
      </p:sp>
      <p:sp>
        <p:nvSpPr>
          <p:cNvPr id="25" name="Shape 23"/>
          <p:cNvSpPr/>
          <p:nvPr/>
        </p:nvSpPr>
        <p:spPr>
          <a:xfrm>
            <a:off x="801410" y="6089928"/>
            <a:ext cx="13027581" cy="801053"/>
          </a:xfrm>
          <a:prstGeom prst="rect">
            <a:avLst/>
          </a:prstGeom>
          <a:solidFill>
            <a:srgbClr val="FFFFFF">
              <a:alpha val="4000"/>
            </a:srgbClr>
          </a:solidFill>
          <a:ln/>
        </p:spPr>
        <p:txBody>
          <a:bodyPr/>
          <a:lstStyle/>
          <a:p>
            <a:endParaRPr lang="en-US"/>
          </a:p>
        </p:txBody>
      </p:sp>
      <p:sp>
        <p:nvSpPr>
          <p:cNvPr id="26" name="Text 24"/>
          <p:cNvSpPr/>
          <p:nvPr/>
        </p:nvSpPr>
        <p:spPr>
          <a:xfrm>
            <a:off x="980242" y="6204704"/>
            <a:ext cx="2244447"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AI Anxiety</a:t>
            </a:r>
            <a:endParaRPr lang="en-US" sz="1400" dirty="0"/>
          </a:p>
        </p:txBody>
      </p:sp>
      <p:sp>
        <p:nvSpPr>
          <p:cNvPr id="27" name="Text 25"/>
          <p:cNvSpPr/>
          <p:nvPr/>
        </p:nvSpPr>
        <p:spPr>
          <a:xfrm>
            <a:off x="3589496" y="6204704"/>
            <a:ext cx="1589246"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.423</a:t>
            </a:r>
            <a:endParaRPr lang="en-US" sz="1400" dirty="0"/>
          </a:p>
        </p:txBody>
      </p:sp>
      <p:sp>
        <p:nvSpPr>
          <p:cNvPr id="28" name="Text 26"/>
          <p:cNvSpPr/>
          <p:nvPr/>
        </p:nvSpPr>
        <p:spPr>
          <a:xfrm>
            <a:off x="5543550" y="6204704"/>
            <a:ext cx="4194810" cy="57150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Overlapped with general technology anxiety. Failed to distinguish AI-specific concerns.</a:t>
            </a:r>
            <a:endParaRPr lang="en-US" sz="1400" dirty="0"/>
          </a:p>
        </p:txBody>
      </p:sp>
      <p:sp>
        <p:nvSpPr>
          <p:cNvPr id="29" name="Text 27"/>
          <p:cNvSpPr/>
          <p:nvPr/>
        </p:nvSpPr>
        <p:spPr>
          <a:xfrm>
            <a:off x="10103168" y="6204704"/>
            <a:ext cx="3547229" cy="571500"/>
          </a:xfrm>
          <a:prstGeom prst="rect">
            <a:avLst/>
          </a:prstGeom>
          <a:noFill/>
          <a:ln/>
        </p:spPr>
        <p:txBody>
          <a:bodyPr wrap="squar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Distinguish AI-specific anxiety from general tech anxiety</a:t>
            </a:r>
            <a:endParaRPr lang="en-US" sz="1400" dirty="0"/>
          </a:p>
        </p:txBody>
      </p:sp>
      <p:sp>
        <p:nvSpPr>
          <p:cNvPr id="30" name="Text 28"/>
          <p:cNvSpPr/>
          <p:nvPr/>
        </p:nvSpPr>
        <p:spPr>
          <a:xfrm>
            <a:off x="793790" y="7099459"/>
            <a:ext cx="13042821" cy="285750"/>
          </a:xfrm>
          <a:prstGeom prst="rect">
            <a:avLst/>
          </a:prstGeom>
          <a:noFill/>
          <a:ln/>
        </p:spPr>
        <p:txBody>
          <a:bodyPr wrap="none" lIns="0" tIns="0" rIns="0" bIns="0" rtlCol="0" anchor="t"/>
          <a:lstStyle/>
          <a:p>
            <a:pPr marL="0" indent="0" algn="l">
              <a:lnSpc>
                <a:spcPts val="2250"/>
              </a:lnSpc>
              <a:buNone/>
            </a:pPr>
            <a:r>
              <a:rPr lang="en-US" sz="1400" dirty="0">
                <a:solidFill>
                  <a:srgbClr val="15213F"/>
                </a:solidFill>
                <a:latin typeface="Roboto" pitchFamily="34" charset="0"/>
                <a:ea typeface="Roboto" pitchFamily="34" charset="-122"/>
                <a:cs typeface="Roboto" pitchFamily="34" charset="-120"/>
              </a:rPr>
              <a:t>These are measurement challenges requiring better operationalization, not theoretical failures. The constructs matter and require better measurement approaches.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659844"/>
            <a:ext cx="3969425" cy="496133"/>
          </a:xfrm>
          <a:prstGeom prst="rect">
            <a:avLst/>
          </a:prstGeom>
          <a:noFill/>
          <a:ln/>
        </p:spPr>
        <p:txBody>
          <a:bodyPr wrap="none" lIns="0" tIns="0" rIns="0" bIns="0" rtlCol="0" anchor="t"/>
          <a:lstStyle/>
          <a:p>
            <a:pPr marL="0" indent="0" algn="l">
              <a:lnSpc>
                <a:spcPts val="3900"/>
              </a:lnSpc>
              <a:buNone/>
            </a:pPr>
            <a:r>
              <a:rPr lang="en-US" sz="3100" dirty="0">
                <a:solidFill>
                  <a:srgbClr val="3257B8"/>
                </a:solidFill>
                <a:latin typeface="Roboto Slab" pitchFamily="34" charset="0"/>
                <a:ea typeface="Roboto Slab" pitchFamily="34" charset="-122"/>
                <a:cs typeface="Roboto Slab" pitchFamily="34" charset="-120"/>
              </a:rPr>
              <a:t>Key References</a:t>
            </a:r>
            <a:endParaRPr lang="en-US" sz="3100" dirty="0"/>
          </a:p>
        </p:txBody>
      </p:sp>
      <p:sp>
        <p:nvSpPr>
          <p:cNvPr id="3" name="Text 1"/>
          <p:cNvSpPr/>
          <p:nvPr/>
        </p:nvSpPr>
        <p:spPr>
          <a:xfrm>
            <a:off x="793790" y="1219438"/>
            <a:ext cx="2979301" cy="248007"/>
          </a:xfrm>
          <a:prstGeom prst="rect">
            <a:avLst/>
          </a:prstGeom>
          <a:noFill/>
          <a:ln/>
        </p:spPr>
        <p:txBody>
          <a:bodyPr wrap="none" lIns="0" tIns="0" rIns="0" bIns="0" rtlCol="0" anchor="t"/>
          <a:lstStyle/>
          <a:p>
            <a:pPr marL="0" indent="0" algn="l">
              <a:lnSpc>
                <a:spcPts val="1950"/>
              </a:lnSpc>
              <a:buNone/>
            </a:pPr>
            <a:r>
              <a:rPr lang="en-US" sz="1550" dirty="0">
                <a:solidFill>
                  <a:srgbClr val="3257B8"/>
                </a:solidFill>
                <a:latin typeface="Roboto Slab" pitchFamily="34" charset="0"/>
                <a:ea typeface="Roboto Slab" pitchFamily="34" charset="-122"/>
                <a:cs typeface="Roboto Slab" pitchFamily="34" charset="-120"/>
              </a:rPr>
              <a:t>Technology Acceptance Models</a:t>
            </a:r>
            <a:endParaRPr lang="en-US" sz="1550" dirty="0"/>
          </a:p>
        </p:txBody>
      </p:sp>
      <p:sp>
        <p:nvSpPr>
          <p:cNvPr id="4" name="Text 2"/>
          <p:cNvSpPr/>
          <p:nvPr/>
        </p:nvSpPr>
        <p:spPr>
          <a:xfrm>
            <a:off x="793790" y="1705570"/>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Davis, F. D. (1989). Perceived usefulness, perceived ease of use, and user acceptance of information technology. </a:t>
            </a:r>
            <a:r>
              <a:rPr lang="en-US" sz="1250" i="1" dirty="0">
                <a:solidFill>
                  <a:srgbClr val="15213F"/>
                </a:solidFill>
                <a:latin typeface="Roboto" pitchFamily="34" charset="0"/>
                <a:ea typeface="Roboto" pitchFamily="34" charset="-122"/>
                <a:cs typeface="Roboto" pitchFamily="34" charset="-120"/>
              </a:rPr>
              <a:t>MIS Quarterly, 13</a:t>
            </a:r>
            <a:r>
              <a:rPr lang="en-US" sz="1250" dirty="0">
                <a:solidFill>
                  <a:srgbClr val="15213F"/>
                </a:solidFill>
                <a:latin typeface="Roboto" pitchFamily="34" charset="0"/>
                <a:ea typeface="Roboto" pitchFamily="34" charset="-122"/>
                <a:cs typeface="Roboto" pitchFamily="34" charset="-120"/>
              </a:rPr>
              <a:t>(3), 319–340.</a:t>
            </a:r>
            <a:endParaRPr lang="en-US" sz="1250" dirty="0"/>
          </a:p>
        </p:txBody>
      </p:sp>
      <p:sp>
        <p:nvSpPr>
          <p:cNvPr id="5" name="Text 3"/>
          <p:cNvSpPr/>
          <p:nvPr/>
        </p:nvSpPr>
        <p:spPr>
          <a:xfrm>
            <a:off x="793790" y="2015133"/>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Venkatesh, V., Morris, M. G., Davis, G. B., &amp; Davis, F. D. (2003). User acceptance of information technology: Toward a unified view. </a:t>
            </a:r>
            <a:r>
              <a:rPr lang="en-US" sz="1250" i="1" dirty="0">
                <a:solidFill>
                  <a:srgbClr val="15213F"/>
                </a:solidFill>
                <a:latin typeface="Roboto" pitchFamily="34" charset="0"/>
                <a:ea typeface="Roboto" pitchFamily="34" charset="-122"/>
                <a:cs typeface="Roboto" pitchFamily="34" charset="-120"/>
              </a:rPr>
              <a:t>MIS Quarterly, 27</a:t>
            </a:r>
            <a:r>
              <a:rPr lang="en-US" sz="1250" dirty="0">
                <a:solidFill>
                  <a:srgbClr val="15213F"/>
                </a:solidFill>
                <a:latin typeface="Roboto" pitchFamily="34" charset="0"/>
                <a:ea typeface="Roboto" pitchFamily="34" charset="-122"/>
                <a:cs typeface="Roboto" pitchFamily="34" charset="-120"/>
              </a:rPr>
              <a:t>(3), 425–478.</a:t>
            </a:r>
            <a:endParaRPr lang="en-US" sz="1250" dirty="0"/>
          </a:p>
        </p:txBody>
      </p:sp>
      <p:sp>
        <p:nvSpPr>
          <p:cNvPr id="6" name="Text 4"/>
          <p:cNvSpPr/>
          <p:nvPr/>
        </p:nvSpPr>
        <p:spPr>
          <a:xfrm>
            <a:off x="793790" y="2324695"/>
            <a:ext cx="13042821" cy="508159"/>
          </a:xfrm>
          <a:prstGeom prst="rect">
            <a:avLst/>
          </a:prstGeom>
          <a:noFill/>
          <a:ln/>
        </p:spPr>
        <p:txBody>
          <a:bodyPr wrap="squar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Venkatesh, V., Thong, J. Y. L., &amp; Xu, X. (2012). Consumer acceptance and use of information technology: Extending the unified theory of acceptance and use of technology. </a:t>
            </a:r>
            <a:r>
              <a:rPr lang="en-US" sz="1250" i="1" dirty="0">
                <a:solidFill>
                  <a:srgbClr val="15213F"/>
                </a:solidFill>
                <a:latin typeface="Roboto" pitchFamily="34" charset="0"/>
                <a:ea typeface="Roboto" pitchFamily="34" charset="-122"/>
                <a:cs typeface="Roboto" pitchFamily="34" charset="-120"/>
              </a:rPr>
              <a:t>MIS Quarterly, 36</a:t>
            </a:r>
            <a:r>
              <a:rPr lang="en-US" sz="1250" dirty="0">
                <a:solidFill>
                  <a:srgbClr val="15213F"/>
                </a:solidFill>
                <a:latin typeface="Roboto" pitchFamily="34" charset="0"/>
                <a:ea typeface="Roboto" pitchFamily="34" charset="-122"/>
                <a:cs typeface="Roboto" pitchFamily="34" charset="-120"/>
              </a:rPr>
              <a:t>(1), 157–178.</a:t>
            </a:r>
            <a:endParaRPr lang="en-US" sz="1250" dirty="0"/>
          </a:p>
        </p:txBody>
      </p:sp>
      <p:sp>
        <p:nvSpPr>
          <p:cNvPr id="7" name="Text 5"/>
          <p:cNvSpPr/>
          <p:nvPr/>
        </p:nvSpPr>
        <p:spPr>
          <a:xfrm>
            <a:off x="793790" y="2888337"/>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Venkatesh, V. (2021). Adoption and use of AI tools: A research agenda grounded in UTAUT. </a:t>
            </a:r>
            <a:r>
              <a:rPr lang="en-US" sz="1250" i="1" dirty="0">
                <a:solidFill>
                  <a:srgbClr val="15213F"/>
                </a:solidFill>
                <a:latin typeface="Roboto" pitchFamily="34" charset="0"/>
                <a:ea typeface="Roboto" pitchFamily="34" charset="-122"/>
                <a:cs typeface="Roboto" pitchFamily="34" charset="-120"/>
              </a:rPr>
              <a:t>Annals of Operations Research</a:t>
            </a:r>
            <a:r>
              <a:rPr lang="en-US" sz="1250" dirty="0">
                <a:solidFill>
                  <a:srgbClr val="15213F"/>
                </a:solidFill>
                <a:latin typeface="Roboto" pitchFamily="34" charset="0"/>
                <a:ea typeface="Roboto" pitchFamily="34" charset="-122"/>
                <a:cs typeface="Roboto" pitchFamily="34" charset="-120"/>
              </a:rPr>
              <a:t>, 1–12.</a:t>
            </a:r>
            <a:endParaRPr lang="en-US" sz="1250" dirty="0"/>
          </a:p>
        </p:txBody>
      </p:sp>
      <p:sp>
        <p:nvSpPr>
          <p:cNvPr id="8" name="Text 6"/>
          <p:cNvSpPr/>
          <p:nvPr/>
        </p:nvSpPr>
        <p:spPr>
          <a:xfrm>
            <a:off x="793790" y="3197900"/>
            <a:ext cx="13042821" cy="508159"/>
          </a:xfrm>
          <a:prstGeom prst="rect">
            <a:avLst/>
          </a:prstGeom>
          <a:noFill/>
          <a:ln/>
        </p:spPr>
        <p:txBody>
          <a:bodyPr wrap="squar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Blut, M., Chong, A., Tsigna, Z., &amp; Venkatesh, V. (2022). Meta-analysis of the unified theory of acceptance and use of technology (UTAUT). </a:t>
            </a:r>
            <a:r>
              <a:rPr lang="en-US" sz="1250" i="1" dirty="0">
                <a:solidFill>
                  <a:srgbClr val="15213F"/>
                </a:solidFill>
                <a:latin typeface="Roboto" pitchFamily="34" charset="0"/>
                <a:ea typeface="Roboto" pitchFamily="34" charset="-122"/>
                <a:cs typeface="Roboto" pitchFamily="34" charset="-120"/>
              </a:rPr>
              <a:t>Journal of the Association for Information Systems, 23</a:t>
            </a:r>
            <a:r>
              <a:rPr lang="en-US" sz="1250" dirty="0">
                <a:solidFill>
                  <a:srgbClr val="15213F"/>
                </a:solidFill>
                <a:latin typeface="Roboto" pitchFamily="34" charset="0"/>
                <a:ea typeface="Roboto" pitchFamily="34" charset="-122"/>
                <a:cs typeface="Roboto" pitchFamily="34" charset="-120"/>
              </a:rPr>
              <a:t>(1), 13–95.</a:t>
            </a:r>
            <a:endParaRPr lang="en-US" sz="1250" dirty="0"/>
          </a:p>
        </p:txBody>
      </p:sp>
      <p:sp>
        <p:nvSpPr>
          <p:cNvPr id="9" name="Text 7"/>
          <p:cNvSpPr/>
          <p:nvPr/>
        </p:nvSpPr>
        <p:spPr>
          <a:xfrm>
            <a:off x="793790" y="3944183"/>
            <a:ext cx="2082046" cy="248007"/>
          </a:xfrm>
          <a:prstGeom prst="rect">
            <a:avLst/>
          </a:prstGeom>
          <a:noFill/>
          <a:ln/>
        </p:spPr>
        <p:txBody>
          <a:bodyPr wrap="none" lIns="0" tIns="0" rIns="0" bIns="0" rtlCol="0" anchor="t"/>
          <a:lstStyle/>
          <a:p>
            <a:pPr marL="0" indent="0" algn="l">
              <a:lnSpc>
                <a:spcPts val="1950"/>
              </a:lnSpc>
              <a:buNone/>
            </a:pPr>
            <a:r>
              <a:rPr lang="en-US" sz="1550" dirty="0">
                <a:solidFill>
                  <a:srgbClr val="3257B8"/>
                </a:solidFill>
                <a:latin typeface="Roboto Slab" pitchFamily="34" charset="0"/>
                <a:ea typeface="Roboto Slab" pitchFamily="34" charset="-122"/>
                <a:cs typeface="Roboto Slab" pitchFamily="34" charset="-120"/>
              </a:rPr>
              <a:t>AI Trust and Adoption</a:t>
            </a:r>
            <a:endParaRPr lang="en-US" sz="1550" dirty="0"/>
          </a:p>
        </p:txBody>
      </p:sp>
      <p:sp>
        <p:nvSpPr>
          <p:cNvPr id="10" name="Text 8"/>
          <p:cNvSpPr/>
          <p:nvPr/>
        </p:nvSpPr>
        <p:spPr>
          <a:xfrm>
            <a:off x="793790" y="4430316"/>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Glikson, E., &amp; Woolley, A. W. (2020). Human trust in artificial intelligence: Review of empirical research. </a:t>
            </a:r>
            <a:r>
              <a:rPr lang="en-US" sz="1250" i="1" dirty="0">
                <a:solidFill>
                  <a:srgbClr val="15213F"/>
                </a:solidFill>
                <a:latin typeface="Roboto" pitchFamily="34" charset="0"/>
                <a:ea typeface="Roboto" pitchFamily="34" charset="-122"/>
                <a:cs typeface="Roboto" pitchFamily="34" charset="-120"/>
              </a:rPr>
              <a:t>Academy of Management Annals, 14</a:t>
            </a:r>
            <a:r>
              <a:rPr lang="en-US" sz="1250" dirty="0">
                <a:solidFill>
                  <a:srgbClr val="15213F"/>
                </a:solidFill>
                <a:latin typeface="Roboto" pitchFamily="34" charset="0"/>
                <a:ea typeface="Roboto" pitchFamily="34" charset="-122"/>
                <a:cs typeface="Roboto" pitchFamily="34" charset="-120"/>
              </a:rPr>
              <a:t>(2), 627–660.</a:t>
            </a:r>
            <a:endParaRPr lang="en-US" sz="1250" dirty="0"/>
          </a:p>
        </p:txBody>
      </p:sp>
      <p:sp>
        <p:nvSpPr>
          <p:cNvPr id="11" name="Text 9"/>
          <p:cNvSpPr/>
          <p:nvPr/>
        </p:nvSpPr>
        <p:spPr>
          <a:xfrm>
            <a:off x="793790" y="4739878"/>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Rogers, E. M. (2003). </a:t>
            </a:r>
            <a:r>
              <a:rPr lang="en-US" sz="1250" i="1" dirty="0">
                <a:solidFill>
                  <a:srgbClr val="15213F"/>
                </a:solidFill>
                <a:latin typeface="Roboto" pitchFamily="34" charset="0"/>
                <a:ea typeface="Roboto" pitchFamily="34" charset="-122"/>
                <a:cs typeface="Roboto" pitchFamily="34" charset="-120"/>
              </a:rPr>
              <a:t>Diffusion of innovations</a:t>
            </a:r>
            <a:r>
              <a:rPr lang="en-US" sz="1250" dirty="0">
                <a:solidFill>
                  <a:srgbClr val="15213F"/>
                </a:solidFill>
                <a:latin typeface="Roboto" pitchFamily="34" charset="0"/>
                <a:ea typeface="Roboto" pitchFamily="34" charset="-122"/>
                <a:cs typeface="Roboto" pitchFamily="34" charset="-120"/>
              </a:rPr>
              <a:t> (5th ed.). Free Press.</a:t>
            </a:r>
            <a:endParaRPr lang="en-US" sz="1250" dirty="0"/>
          </a:p>
        </p:txBody>
      </p:sp>
      <p:sp>
        <p:nvSpPr>
          <p:cNvPr id="12" name="Text 10"/>
          <p:cNvSpPr/>
          <p:nvPr/>
        </p:nvSpPr>
        <p:spPr>
          <a:xfrm>
            <a:off x="793790" y="5232083"/>
            <a:ext cx="2048947" cy="248007"/>
          </a:xfrm>
          <a:prstGeom prst="rect">
            <a:avLst/>
          </a:prstGeom>
          <a:noFill/>
          <a:ln/>
        </p:spPr>
        <p:txBody>
          <a:bodyPr wrap="none" lIns="0" tIns="0" rIns="0" bIns="0" rtlCol="0" anchor="t"/>
          <a:lstStyle/>
          <a:p>
            <a:pPr marL="0" indent="0" algn="l">
              <a:lnSpc>
                <a:spcPts val="1950"/>
              </a:lnSpc>
              <a:buNone/>
            </a:pPr>
            <a:r>
              <a:rPr lang="en-US" sz="1550" dirty="0">
                <a:solidFill>
                  <a:srgbClr val="3257B8"/>
                </a:solidFill>
                <a:latin typeface="Roboto Slab" pitchFamily="34" charset="0"/>
                <a:ea typeface="Roboto Slab" pitchFamily="34" charset="-122"/>
                <a:cs typeface="Roboto Slab" pitchFamily="34" charset="-120"/>
              </a:rPr>
              <a:t>Industry Benchmarks</a:t>
            </a:r>
            <a:endParaRPr lang="en-US" sz="1550" dirty="0"/>
          </a:p>
        </p:txBody>
      </p:sp>
      <p:sp>
        <p:nvSpPr>
          <p:cNvPr id="13" name="Text 11"/>
          <p:cNvSpPr/>
          <p:nvPr/>
        </p:nvSpPr>
        <p:spPr>
          <a:xfrm>
            <a:off x="793790" y="5718215"/>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McKinsey &amp; Company. (2025). </a:t>
            </a:r>
            <a:r>
              <a:rPr lang="en-US" sz="1250" i="1" dirty="0">
                <a:solidFill>
                  <a:srgbClr val="15213F"/>
                </a:solidFill>
                <a:latin typeface="Roboto" pitchFamily="34" charset="0"/>
                <a:ea typeface="Roboto" pitchFamily="34" charset="-122"/>
                <a:cs typeface="Roboto" pitchFamily="34" charset="-120"/>
              </a:rPr>
              <a:t>The state of AI in 2025: Agents, innovation, and transformation</a:t>
            </a:r>
            <a:r>
              <a:rPr lang="en-US" sz="1250" dirty="0">
                <a:solidFill>
                  <a:srgbClr val="15213F"/>
                </a:solidFill>
                <a:latin typeface="Roboto" pitchFamily="34" charset="0"/>
                <a:ea typeface="Roboto" pitchFamily="34" charset="-122"/>
                <a:cs typeface="Roboto" pitchFamily="34" charset="-120"/>
              </a:rPr>
              <a:t>. McKinsey Global Survey.</a:t>
            </a:r>
            <a:endParaRPr lang="en-US" sz="1250" dirty="0"/>
          </a:p>
        </p:txBody>
      </p:sp>
      <p:sp>
        <p:nvSpPr>
          <p:cNvPr id="14" name="Text 12"/>
          <p:cNvSpPr/>
          <p:nvPr/>
        </p:nvSpPr>
        <p:spPr>
          <a:xfrm>
            <a:off x="793790" y="6027777"/>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MIT Media Lab. (2025). </a:t>
            </a:r>
            <a:r>
              <a:rPr lang="en-US" sz="1250" i="1" dirty="0">
                <a:solidFill>
                  <a:srgbClr val="15213F"/>
                </a:solidFill>
                <a:latin typeface="Roboto" pitchFamily="34" charset="0"/>
                <a:ea typeface="Roboto" pitchFamily="34" charset="-122"/>
                <a:cs typeface="Roboto" pitchFamily="34" charset="-120"/>
              </a:rPr>
              <a:t>The GenAI divide: State of enterprise AI in 2025</a:t>
            </a:r>
            <a:r>
              <a:rPr lang="en-US" sz="1250" dirty="0">
                <a:solidFill>
                  <a:srgbClr val="15213F"/>
                </a:solidFill>
                <a:latin typeface="Roboto" pitchFamily="34" charset="0"/>
                <a:ea typeface="Roboto" pitchFamily="34" charset="-122"/>
                <a:cs typeface="Roboto" pitchFamily="34" charset="-120"/>
              </a:rPr>
              <a:t>. NANDA Initiative.</a:t>
            </a:r>
            <a:endParaRPr lang="en-US" sz="1250" dirty="0"/>
          </a:p>
        </p:txBody>
      </p:sp>
      <p:sp>
        <p:nvSpPr>
          <p:cNvPr id="15" name="Text 13"/>
          <p:cNvSpPr/>
          <p:nvPr/>
        </p:nvSpPr>
        <p:spPr>
          <a:xfrm>
            <a:off x="793790" y="6519982"/>
            <a:ext cx="2155746" cy="248007"/>
          </a:xfrm>
          <a:prstGeom prst="rect">
            <a:avLst/>
          </a:prstGeom>
          <a:noFill/>
          <a:ln/>
        </p:spPr>
        <p:txBody>
          <a:bodyPr wrap="none" lIns="0" tIns="0" rIns="0" bIns="0" rtlCol="0" anchor="t"/>
          <a:lstStyle/>
          <a:p>
            <a:pPr marL="0" indent="0" algn="l">
              <a:lnSpc>
                <a:spcPts val="1950"/>
              </a:lnSpc>
              <a:buNone/>
            </a:pPr>
            <a:r>
              <a:rPr lang="en-US" sz="1550" dirty="0">
                <a:solidFill>
                  <a:srgbClr val="3257B8"/>
                </a:solidFill>
                <a:latin typeface="Roboto Slab" pitchFamily="34" charset="0"/>
                <a:ea typeface="Roboto Slab" pitchFamily="34" charset="-122"/>
                <a:cs typeface="Roboto Slab" pitchFamily="34" charset="-120"/>
              </a:rPr>
              <a:t>Psychometric Methods</a:t>
            </a:r>
            <a:endParaRPr lang="en-US" sz="1550" dirty="0"/>
          </a:p>
        </p:txBody>
      </p:sp>
      <p:sp>
        <p:nvSpPr>
          <p:cNvPr id="16" name="Text 14"/>
          <p:cNvSpPr/>
          <p:nvPr/>
        </p:nvSpPr>
        <p:spPr>
          <a:xfrm>
            <a:off x="793790" y="7006114"/>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Hu, L., &amp; Bentler, P. M. (1999). Cutoff criteria for fit indexes in covariance structure analysis. </a:t>
            </a:r>
            <a:r>
              <a:rPr lang="en-US" sz="1250" i="1" dirty="0">
                <a:solidFill>
                  <a:srgbClr val="15213F"/>
                </a:solidFill>
                <a:latin typeface="Roboto" pitchFamily="34" charset="0"/>
                <a:ea typeface="Roboto" pitchFamily="34" charset="-122"/>
                <a:cs typeface="Roboto" pitchFamily="34" charset="-120"/>
              </a:rPr>
              <a:t>Structural Equation Modeling, 6</a:t>
            </a:r>
            <a:r>
              <a:rPr lang="en-US" sz="1250" dirty="0">
                <a:solidFill>
                  <a:srgbClr val="15213F"/>
                </a:solidFill>
                <a:latin typeface="Roboto" pitchFamily="34" charset="0"/>
                <a:ea typeface="Roboto" pitchFamily="34" charset="-122"/>
                <a:cs typeface="Roboto" pitchFamily="34" charset="-120"/>
              </a:rPr>
              <a:t>(1), 1–55.</a:t>
            </a:r>
            <a:endParaRPr lang="en-US" sz="1250" dirty="0"/>
          </a:p>
        </p:txBody>
      </p:sp>
      <p:sp>
        <p:nvSpPr>
          <p:cNvPr id="17" name="Text 15"/>
          <p:cNvSpPr/>
          <p:nvPr/>
        </p:nvSpPr>
        <p:spPr>
          <a:xfrm>
            <a:off x="793790" y="7315676"/>
            <a:ext cx="13042821" cy="254079"/>
          </a:xfrm>
          <a:prstGeom prst="rect">
            <a:avLst/>
          </a:prstGeom>
          <a:noFill/>
          <a:ln/>
        </p:spPr>
        <p:txBody>
          <a:bodyPr wrap="none" lIns="0" tIns="0" rIns="0" bIns="0" rtlCol="0" anchor="t"/>
          <a:lstStyle/>
          <a:p>
            <a:pPr marL="342900" indent="-342900" algn="l">
              <a:lnSpc>
                <a:spcPts val="2000"/>
              </a:lnSpc>
              <a:buSzPct val="100000"/>
              <a:buChar char="•"/>
            </a:pPr>
            <a:r>
              <a:rPr lang="en-US" sz="1250" dirty="0">
                <a:solidFill>
                  <a:srgbClr val="15213F"/>
                </a:solidFill>
                <a:latin typeface="Roboto" pitchFamily="34" charset="0"/>
                <a:ea typeface="Roboto" pitchFamily="34" charset="-122"/>
                <a:cs typeface="Roboto" pitchFamily="34" charset="-120"/>
              </a:rPr>
              <a:t>Browne, M. W., &amp; Cudeck, R. (1993). Alternative ways of assessing model fit. In K. A. Bollen &amp; J. S. Long (Eds.), </a:t>
            </a:r>
            <a:r>
              <a:rPr lang="en-US" sz="1250" i="1" dirty="0">
                <a:solidFill>
                  <a:srgbClr val="15213F"/>
                </a:solidFill>
                <a:latin typeface="Roboto" pitchFamily="34" charset="0"/>
                <a:ea typeface="Roboto" pitchFamily="34" charset="-122"/>
                <a:cs typeface="Roboto" pitchFamily="34" charset="-120"/>
              </a:rPr>
              <a:t>Testing structural equation models</a:t>
            </a:r>
            <a:r>
              <a:rPr lang="en-US" sz="1250" dirty="0">
                <a:solidFill>
                  <a:srgbClr val="15213F"/>
                </a:solidFill>
                <a:latin typeface="Roboto" pitchFamily="34" charset="0"/>
                <a:ea typeface="Roboto" pitchFamily="34" charset="-122"/>
                <a:cs typeface="Roboto" pitchFamily="34" charset="-120"/>
              </a:rPr>
              <a:t> (pp. 136–162). Sage.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25</TotalTime>
  <Words>4378</Words>
  <Application>Microsoft Office PowerPoint</Application>
  <PresentationFormat>Custom</PresentationFormat>
  <Paragraphs>659</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Roboto Slab</vt:lpstr>
      <vt:lpstr>Roboto Slab Light</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Fabio Correa</cp:lastModifiedBy>
  <cp:revision>3</cp:revision>
  <dcterms:created xsi:type="dcterms:W3CDTF">2025-12-30T16:23:37Z</dcterms:created>
  <dcterms:modified xsi:type="dcterms:W3CDTF">2025-12-30T16:52:03Z</dcterms:modified>
</cp:coreProperties>
</file>