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4630400" cy="8229600"/>
  <p:notesSz cx="8229600" cy="14630400"/>
  <p:embeddedFontLst>
    <p:embeddedFont>
      <p:font typeface="Roboto" panose="02000000000000000000" pitchFamily="2" charset="0"/>
      <p:regular r:id="rId23"/>
      <p:bold r:id="rId24"/>
      <p:italic r:id="rId25"/>
    </p:embeddedFont>
    <p:embeddedFont>
      <p:font typeface="Roboto Slab" pitchFamily="2" charset="0"/>
      <p:regular r:id="rId26"/>
    </p:embeddedFont>
    <p:embeddedFont>
      <p:font typeface="Roboto Slab Light" pitchFamily="2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672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3784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mailto:fabio.correa@tuw.edu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Relationship Id="rId4" Type="http://schemas.openxmlformats.org/officeDocument/2006/relationships/hyperlink" Target="https://github.com/fabioc-aloha/AIRS_Data_Analysis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0"/>
            <a:ext cx="658368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64995"/>
            <a:ext cx="6459141" cy="186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Artificial Intelligence Readiness Scale (AIRS): Dissertation Defense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3804523"/>
            <a:ext cx="6459141" cy="992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Extending UTAUT2 for Enterprise AI Adoption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793790" y="5094446"/>
            <a:ext cx="645914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Fabio Correa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Doctoral Candidate, Doctor of Business Administration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Touro University Worldwide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December 2025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9899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Slide 1: Title Slide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1888450"/>
            <a:ext cx="887444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Artificial Intelligence Readiness Scale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2587823"/>
            <a:ext cx="8632150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Extending UTAUT2 for Enterprise AI Adoption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793790" y="3381613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Fabio Correa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Doctoral Candidate, Doctor of Business Administration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Touro University Worldwide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455747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Dissertation Committee: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509825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Dr. Karina Kasztelnik (Chair)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5485209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Dr. Jerome Jones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93790" y="587216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Dr. Donna Day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93790" y="641294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December 2025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1870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Slide 2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793790" y="1041916"/>
            <a:ext cx="5597366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AI Adoption Paradox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793790" y="1913811"/>
            <a:ext cx="13042821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Organizations are adopting AI at unprecedented rates—but struggling to capture value.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793790" y="2503051"/>
            <a:ext cx="13042821" cy="2731056"/>
          </a:xfrm>
          <a:prstGeom prst="roundRect">
            <a:avLst>
              <a:gd name="adj" fmla="val 103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1410" y="2510671"/>
            <a:ext cx="13027581" cy="54316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0005" y="2631400"/>
            <a:ext cx="4830247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Metric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204823" y="2631400"/>
            <a:ext cx="3523655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Value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113050" y="2631400"/>
            <a:ext cx="3527465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1410" y="3053834"/>
            <a:ext cx="13027581" cy="54316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90005" y="3174563"/>
            <a:ext cx="4830247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Enterprise AI Adoption (2024)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204823" y="3174563"/>
            <a:ext cx="3523655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72%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0113050" y="3174563"/>
            <a:ext cx="3527465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McKinsey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01410" y="3596997"/>
            <a:ext cx="13027581" cy="54316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90005" y="3717727"/>
            <a:ext cx="4830247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Enterprise AI Adoption (2025)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204823" y="3717727"/>
            <a:ext cx="3523655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88%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0113050" y="3717727"/>
            <a:ext cx="3527465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McKinsey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01410" y="4140160"/>
            <a:ext cx="13027581" cy="54316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90005" y="4260890"/>
            <a:ext cx="4830247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Companies achieving measurable ROI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204823" y="4260890"/>
            <a:ext cx="3523655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5%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0113050" y="4260890"/>
            <a:ext cx="3527465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BCG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01410" y="4683323"/>
            <a:ext cx="13027581" cy="54316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90005" y="4804053"/>
            <a:ext cx="4830247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GenAI pilots that fail to scale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204823" y="4804053"/>
            <a:ext cx="3523655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90-95%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0113050" y="4804053"/>
            <a:ext cx="3527465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MIT Media Lab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93790" y="5516880"/>
            <a:ext cx="2828211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Research Questions: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93790" y="6153031"/>
            <a:ext cx="13042821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 we develop a psychometrically valid AI Readiness Scale extending UTAUT2?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93790" y="6520696"/>
            <a:ext cx="13042821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factors most strongly predict AI adoption intention?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93790" y="6888361"/>
            <a:ext cx="13042821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 traditional UTAUT predictors behave differently for AI?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793790" y="7256026"/>
            <a:ext cx="13042821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 startAt="4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do professional experience and population type moderate adoption?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54725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Slide 3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793790" y="985599"/>
            <a:ext cx="6727031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Theoretical Foundation - UTAUT2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93790" y="1765697"/>
            <a:ext cx="13042821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Building on 25+ years of technology acceptance research.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93790" y="2292787"/>
            <a:ext cx="13042821" cy="3915728"/>
          </a:xfrm>
          <a:prstGeom prst="roundRect">
            <a:avLst>
              <a:gd name="adj" fmla="val 64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1410" y="2300407"/>
            <a:ext cx="13027581" cy="4875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70121" y="2409230"/>
            <a:ext cx="421862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Construct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533549" y="2409230"/>
            <a:ext cx="486620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44557" y="2409230"/>
            <a:ext cx="2915841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Meta-Analytic Effect (rc)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1410" y="2787968"/>
            <a:ext cx="13027581" cy="4875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70121" y="2896791"/>
            <a:ext cx="421862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 Expectancy (PE)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33549" y="2896791"/>
            <a:ext cx="486620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Belief technology improves performance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744557" y="2896791"/>
            <a:ext cx="2915841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.64 (strongest)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1410" y="3275528"/>
            <a:ext cx="13027581" cy="4875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70121" y="3384352"/>
            <a:ext cx="421862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Effort Expectancy (EE)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33549" y="3384352"/>
            <a:ext cx="486620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Perceived ease of use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744557" y="3384352"/>
            <a:ext cx="2915841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.51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1410" y="3763089"/>
            <a:ext cx="13027581" cy="4875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70121" y="3871913"/>
            <a:ext cx="421862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Social Influence (SI)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33549" y="3871913"/>
            <a:ext cx="486620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Important others' opinions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744557" y="3871913"/>
            <a:ext cx="2915841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.43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1410" y="4250650"/>
            <a:ext cx="13027581" cy="4875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70121" y="4359473"/>
            <a:ext cx="421862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Facilitating Conditions (FC)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33549" y="4359473"/>
            <a:ext cx="486620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Organizational/technical support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744557" y="4359473"/>
            <a:ext cx="2915841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.39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01410" y="4738211"/>
            <a:ext cx="13027581" cy="4875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70121" y="4847034"/>
            <a:ext cx="421862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Hedonic Motivation (HM)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33549" y="4847034"/>
            <a:ext cx="486620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Enjoyment from use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744557" y="4847034"/>
            <a:ext cx="2915841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.53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01410" y="5225772"/>
            <a:ext cx="13027581" cy="4875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70121" y="5334595"/>
            <a:ext cx="421862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Price Value (PV)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33549" y="5334595"/>
            <a:ext cx="486620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Cost-benefit assessment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744557" y="5334595"/>
            <a:ext cx="2915841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.52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01410" y="5713333"/>
            <a:ext cx="13027581" cy="4875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70121" y="5822156"/>
            <a:ext cx="421862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Habit (HB)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533549" y="5822156"/>
            <a:ext cx="486620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Automaticity from repeated use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744557" y="5822156"/>
            <a:ext cx="2915841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.66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93790" y="6398300"/>
            <a:ext cx="13042821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Source: Blut et al. (2022) meta-analysis, Table 1: 737,112 users, 1,935 samples. rc = corrected correlation.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93790" y="6858000"/>
            <a:ext cx="13042821" cy="716756"/>
          </a:xfrm>
          <a:prstGeom prst="roundRect">
            <a:avLst>
              <a:gd name="adj" fmla="val 3531"/>
            </a:avLst>
          </a:prstGeom>
          <a:solidFill>
            <a:srgbClr val="C3CFE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382" y="7111722"/>
            <a:ext cx="210860" cy="168593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1341834" y="7068741"/>
            <a:ext cx="1232618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Proposed Extension:</a:t>
            </a: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AI Trust (TR) as a new construct capturing trust in AI systems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0209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Slide 4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793790" y="1070610"/>
            <a:ext cx="4465558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Research Design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793790" y="1896666"/>
            <a:ext cx="13042821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rigorous 10-phase psychometric validation approach.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2655570"/>
            <a:ext cx="7651313" cy="4652963"/>
          </a:xfrm>
          <a:prstGeom prst="roundRect">
            <a:avLst>
              <a:gd name="adj" fmla="val 57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1410" y="2663190"/>
            <a:ext cx="7636073" cy="51530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80122" y="2777966"/>
            <a:ext cx="78438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29314" y="2777966"/>
            <a:ext cx="307133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565458" y="2777966"/>
            <a:ext cx="269343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Sample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1410" y="3178493"/>
            <a:ext cx="7636073" cy="51530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80122" y="3293269"/>
            <a:ext cx="78438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29314" y="3293269"/>
            <a:ext cx="307133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Sample Split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65458" y="3293269"/>
            <a:ext cx="269343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N=523 → 261/262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1410" y="3693795"/>
            <a:ext cx="7636073" cy="51530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80122" y="3808571"/>
            <a:ext cx="78438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29314" y="3808571"/>
            <a:ext cx="307133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Exploratory Factor Analysis (EFA)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65458" y="3808571"/>
            <a:ext cx="269343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Development (n=261)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1410" y="4209098"/>
            <a:ext cx="7636073" cy="51530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80122" y="4323874"/>
            <a:ext cx="78438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29314" y="4323874"/>
            <a:ext cx="307133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Confirmatory Factor Analysis (CFA)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565458" y="4323874"/>
            <a:ext cx="269343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Holdout (n=262)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01410" y="4724400"/>
            <a:ext cx="7636073" cy="51530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80122" y="4839176"/>
            <a:ext cx="78438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129314" y="4839176"/>
            <a:ext cx="307133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Measurement Invariance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65458" y="4839176"/>
            <a:ext cx="269343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 vs Professional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01410" y="5239703"/>
            <a:ext cx="7636073" cy="51530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80122" y="5354479"/>
            <a:ext cx="78438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129314" y="5354479"/>
            <a:ext cx="307133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Structural Equation Modeling (SEM)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65458" y="5354479"/>
            <a:ext cx="269343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sample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01410" y="5755005"/>
            <a:ext cx="7636073" cy="51530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80122" y="5869781"/>
            <a:ext cx="78438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6-7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129314" y="5869781"/>
            <a:ext cx="307133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Moderation Analysis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65458" y="5869781"/>
            <a:ext cx="269343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Experience, Population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01410" y="6270308"/>
            <a:ext cx="7636073" cy="51530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80122" y="6385084"/>
            <a:ext cx="78438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8-9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129314" y="6385084"/>
            <a:ext cx="307133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Behavioral &amp; Qualitative Validation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565458" y="6385084"/>
            <a:ext cx="269343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Tool usage, Feedback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01410" y="6785610"/>
            <a:ext cx="7636073" cy="51530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80122" y="6900386"/>
            <a:ext cx="78438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129314" y="6900386"/>
            <a:ext cx="307133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 Synthesis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565458" y="6900386"/>
            <a:ext cx="269343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Integration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888492" y="2633305"/>
            <a:ext cx="2679383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Sample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8888492" y="3146703"/>
            <a:ext cx="495561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523 U.S. adults spanning the career development spectrum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888492" y="3633311"/>
            <a:ext cx="4955619" cy="2076450"/>
          </a:xfrm>
          <a:prstGeom prst="roundRect">
            <a:avLst>
              <a:gd name="adj" fmla="val 129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896112" y="3640931"/>
            <a:ext cx="4940379" cy="51530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074944" y="3755708"/>
            <a:ext cx="260318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Population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2042934" y="3755708"/>
            <a:ext cx="62317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3030914" y="3755708"/>
            <a:ext cx="62698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%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896112" y="4156234"/>
            <a:ext cx="4940379" cy="51530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9074944" y="4271010"/>
            <a:ext cx="260318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Students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2042934" y="4271010"/>
            <a:ext cx="62317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216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13030914" y="4271010"/>
            <a:ext cx="62698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41.3%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8896112" y="4671536"/>
            <a:ext cx="4940379" cy="51530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9074944" y="4786313"/>
            <a:ext cx="260318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Professionals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12042934" y="4786313"/>
            <a:ext cx="62317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184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13030914" y="4786313"/>
            <a:ext cx="62698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35.2%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8896112" y="5186839"/>
            <a:ext cx="4940379" cy="51530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9074944" y="5301615"/>
            <a:ext cx="260318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Leaders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12042934" y="5301615"/>
            <a:ext cx="62317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123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13030914" y="5301615"/>
            <a:ext cx="62698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23.5%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1868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Slide 5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793790" y="992743"/>
            <a:ext cx="6005036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Instrument Validation Results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93790" y="1772841"/>
            <a:ext cx="13042821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Excellent psychometric properties across all indices.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93790" y="2468523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Model Fit Indices: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793790" y="2974538"/>
            <a:ext cx="6315670" cy="2940606"/>
          </a:xfrm>
          <a:prstGeom prst="roundRect">
            <a:avLst>
              <a:gd name="adj" fmla="val 86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1410" y="2982158"/>
            <a:ext cx="6300430" cy="4875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70121" y="3090982"/>
            <a:ext cx="123408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Index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49009" y="3090982"/>
            <a:ext cx="123027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Value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24087" y="3090982"/>
            <a:ext cx="123027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Threshold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99165" y="3090982"/>
            <a:ext cx="123408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1410" y="3469719"/>
            <a:ext cx="6300430" cy="4875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70121" y="3578543"/>
            <a:ext cx="123408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CFI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49009" y="3578543"/>
            <a:ext cx="123027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.975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24087" y="3578543"/>
            <a:ext cx="123027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≥ .95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99165" y="3578543"/>
            <a:ext cx="123408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Excellent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1410" y="3957280"/>
            <a:ext cx="6300430" cy="4875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70121" y="4066103"/>
            <a:ext cx="123408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TLI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49009" y="4066103"/>
            <a:ext cx="123027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.960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24087" y="4066103"/>
            <a:ext cx="123027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≥ .95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99165" y="4066103"/>
            <a:ext cx="123408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Excellent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1410" y="4444841"/>
            <a:ext cx="6300430" cy="4875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70121" y="4553664"/>
            <a:ext cx="123408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RMSEA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549009" y="4553664"/>
            <a:ext cx="123027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.065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24087" y="4553664"/>
            <a:ext cx="123027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≤ .08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99165" y="4553664"/>
            <a:ext cx="123408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Good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01410" y="4932402"/>
            <a:ext cx="6300430" cy="4875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70121" y="5041225"/>
            <a:ext cx="123408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SRMR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549009" y="5041225"/>
            <a:ext cx="123027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.046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124087" y="5041225"/>
            <a:ext cx="123027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≤ .08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699165" y="5041225"/>
            <a:ext cx="123408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Excellent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01410" y="5419963"/>
            <a:ext cx="6300430" cy="4875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70121" y="5528786"/>
            <a:ext cx="123408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χ²/df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549009" y="5528786"/>
            <a:ext cx="123027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2.10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124087" y="5528786"/>
            <a:ext cx="123027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&lt; 3.0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699165" y="5528786"/>
            <a:ext cx="123408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Excellent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528560" y="2468523"/>
            <a:ext cx="3010257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Reliability (Cronbach's α):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7528560" y="2974538"/>
            <a:ext cx="6315670" cy="4403288"/>
          </a:xfrm>
          <a:prstGeom prst="roundRect">
            <a:avLst>
              <a:gd name="adj" fmla="val 57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536180" y="2982158"/>
            <a:ext cx="6300430" cy="4875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704892" y="3090982"/>
            <a:ext cx="4069199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Construct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2118896" y="3090982"/>
            <a:ext cx="1549122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α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536180" y="3469719"/>
            <a:ext cx="6300430" cy="4875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704892" y="3578543"/>
            <a:ext cx="4069199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 Expectancy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2118896" y="3578543"/>
            <a:ext cx="1549122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.803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536180" y="3957280"/>
            <a:ext cx="6300430" cy="4875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704892" y="4066103"/>
            <a:ext cx="4069199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Effort Expectancy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2118896" y="4066103"/>
            <a:ext cx="1549122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.859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7536180" y="4444841"/>
            <a:ext cx="6300430" cy="4875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704892" y="4553664"/>
            <a:ext cx="4069199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Social Influence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2118896" y="4553664"/>
            <a:ext cx="1549122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.752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7536180" y="4932402"/>
            <a:ext cx="6300430" cy="4875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704892" y="5041225"/>
            <a:ext cx="4069199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Facilitating Conditions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12118896" y="5041225"/>
            <a:ext cx="1549122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.743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7536180" y="5419963"/>
            <a:ext cx="6300430" cy="4875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704892" y="5528786"/>
            <a:ext cx="4069199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Hedonic Motivation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12118896" y="5528786"/>
            <a:ext cx="1549122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.864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7536180" y="5907524"/>
            <a:ext cx="6300430" cy="4875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704892" y="6016347"/>
            <a:ext cx="4069199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Price Value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12118896" y="6016347"/>
            <a:ext cx="1549122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.883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7536180" y="6395085"/>
            <a:ext cx="6300430" cy="4875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7704892" y="6503908"/>
            <a:ext cx="4069199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Habit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12118896" y="6503908"/>
            <a:ext cx="1549122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.909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7536180" y="6882646"/>
            <a:ext cx="6300430" cy="4875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7704892" y="6991469"/>
            <a:ext cx="4069199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Trust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12118896" y="6991469"/>
            <a:ext cx="1549122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.891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417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Slide 6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1413629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Constructs Excluded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2331363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Four AI-specific constructs failed to demonstrate adequate reliability.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793790" y="2951559"/>
            <a:ext cx="13042821" cy="2869763"/>
          </a:xfrm>
          <a:prstGeom prst="roundRect">
            <a:avLst>
              <a:gd name="adj" fmla="val 103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1410" y="2959179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0006" y="3085862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Construct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260652" y="3085862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Cronbach's α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866096" y="3085862"/>
            <a:ext cx="676453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Reason for Exclusion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01410" y="3530084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0006" y="3656767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Voluntariness (VO)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260652" y="3656767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.406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866096" y="3656767"/>
            <a:ext cx="676453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Items measured choice vs. freedom—distinct dimensions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01410" y="4100989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00006" y="4227671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Explainability (EX)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260652" y="4227671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.582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866096" y="4227671"/>
            <a:ext cx="676453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Items measured understanding vs. preference—distinct facets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01410" y="4671893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00006" y="4798576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Ethical Risk (ER)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4260652" y="4798576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.546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866096" y="4798576"/>
            <a:ext cx="676453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Items measured job displacement vs. privacy—distinct risk types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801410" y="5242798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00006" y="5369481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Anxiety (AX)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60652" y="5369481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.301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866096" y="5369481"/>
            <a:ext cx="676453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Items measured avoidance vs. approach anxiety—distinct motivations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793790" y="6044565"/>
            <a:ext cx="13042821" cy="1160740"/>
          </a:xfrm>
          <a:prstGeom prst="roundRect">
            <a:avLst>
              <a:gd name="adj" fmla="val 2565"/>
            </a:avLst>
          </a:prstGeom>
          <a:solidFill>
            <a:srgbClr val="C3CFE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48" y="6339840"/>
            <a:ext cx="248007" cy="19835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438513" y="6292453"/>
            <a:ext cx="121997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Implication:</a:t>
            </a: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These constructs require 3-4 items per dimension for future operationalization. The theoretical importance remains; only the measurement proved insufficient.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1883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Slide 7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93790" y="1207294"/>
            <a:ext cx="6946583" cy="868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800"/>
              </a:lnSpc>
              <a:buNone/>
            </a:pPr>
            <a:r>
              <a:rPr lang="en-US" sz="5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FINDING</a:t>
            </a:r>
            <a:endParaRPr lang="en-US" sz="5450" dirty="0"/>
          </a:p>
        </p:txBody>
      </p:sp>
      <p:sp>
        <p:nvSpPr>
          <p:cNvPr id="4" name="Text 2"/>
          <p:cNvSpPr/>
          <p:nvPr/>
        </p:nvSpPr>
        <p:spPr>
          <a:xfrm>
            <a:off x="793790" y="2283857"/>
            <a:ext cx="4462463" cy="434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Hypothesis Testing Results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93790" y="2926318"/>
            <a:ext cx="13042821" cy="27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Price Value, not Performance Expectancy, drives AI adoption.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93790" y="3360420"/>
            <a:ext cx="13042821" cy="3653195"/>
          </a:xfrm>
          <a:prstGeom prst="roundRect">
            <a:avLst>
              <a:gd name="adj" fmla="val 57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1410" y="3368040"/>
            <a:ext cx="13027581" cy="4042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40594" y="3459004"/>
            <a:ext cx="2323981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Hypothesis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549848" y="3459004"/>
            <a:ext cx="3622953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58075" y="3459004"/>
            <a:ext cx="1668780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β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412129" y="3459004"/>
            <a:ext cx="1668780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366183" y="3459004"/>
            <a:ext cx="2323981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1410" y="3772257"/>
            <a:ext cx="13027581" cy="40421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40594" y="3863221"/>
            <a:ext cx="2323981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H1f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49848" y="3863221"/>
            <a:ext cx="3622953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PV → BI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58075" y="3863221"/>
            <a:ext cx="1668780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.505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412129" y="3863221"/>
            <a:ext cx="1668780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&lt;.001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366183" y="3863221"/>
            <a:ext cx="2323981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STRONGEST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1410" y="4176474"/>
            <a:ext cx="13027581" cy="4042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40594" y="4267438"/>
            <a:ext cx="2323981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H1e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549848" y="4267438"/>
            <a:ext cx="3622953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HM → BI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458075" y="4267438"/>
            <a:ext cx="1668780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.217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412129" y="4267438"/>
            <a:ext cx="1668780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.014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366183" y="4267438"/>
            <a:ext cx="2323981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Supported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1410" y="4580692"/>
            <a:ext cx="13027581" cy="40421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40594" y="4671655"/>
            <a:ext cx="2323981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H1c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549848" y="4671655"/>
            <a:ext cx="3622953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 → BI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58075" y="4671655"/>
            <a:ext cx="1668780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.136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412129" y="4671655"/>
            <a:ext cx="1668780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.024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366183" y="4671655"/>
            <a:ext cx="2323981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Supported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1410" y="4984909"/>
            <a:ext cx="13027581" cy="4042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40594" y="5075873"/>
            <a:ext cx="2323981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H2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549848" y="5075873"/>
            <a:ext cx="3622953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 → BI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458075" y="5075873"/>
            <a:ext cx="1668780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.106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412129" y="5075873"/>
            <a:ext cx="1668780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.064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1366183" y="5075873"/>
            <a:ext cx="2323981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⚠️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Marginal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01410" y="5389126"/>
            <a:ext cx="13027581" cy="40421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40594" y="5480090"/>
            <a:ext cx="2323981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H1d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549848" y="5480090"/>
            <a:ext cx="3622953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FC → BI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458075" y="5480090"/>
            <a:ext cx="1668780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.059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412129" y="5480090"/>
            <a:ext cx="1668780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.338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1366183" y="5480090"/>
            <a:ext cx="2323981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❌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Not Supported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01410" y="5793343"/>
            <a:ext cx="13027581" cy="4042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40594" y="5884307"/>
            <a:ext cx="2323981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H1g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549848" y="5884307"/>
            <a:ext cx="3622953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HB → BI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458075" y="5884307"/>
            <a:ext cx="1668780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.023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9412129" y="5884307"/>
            <a:ext cx="1668780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.631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1366183" y="5884307"/>
            <a:ext cx="2323981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❌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Not Supported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01410" y="6197560"/>
            <a:ext cx="13027581" cy="40421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940594" y="6288524"/>
            <a:ext cx="2323981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H1b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3549848" y="6288524"/>
            <a:ext cx="3622953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EE → BI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7458075" y="6288524"/>
            <a:ext cx="1668780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-.008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9412129" y="6288524"/>
            <a:ext cx="1668780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.875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11366183" y="6288524"/>
            <a:ext cx="2323981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❌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Not Supported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01410" y="6601778"/>
            <a:ext cx="13027581" cy="4042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940594" y="6692741"/>
            <a:ext cx="2323981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H1a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3549848" y="6692741"/>
            <a:ext cx="3622953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 → BI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7458075" y="6692741"/>
            <a:ext cx="1668780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-.028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9412129" y="6692741"/>
            <a:ext cx="1668780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.791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11366183" y="6692741"/>
            <a:ext cx="2323981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❌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Not Supported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793790" y="7169825"/>
            <a:ext cx="13042821" cy="27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R² = .861</a:t>
            </a:r>
            <a:r>
              <a:rPr lang="en-US" sz="1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(86.1% of variance explained)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878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Slide 8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1128236"/>
            <a:ext cx="928592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Traditional Predictors Don't Work for AI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2045970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 Expectancy and Effort Expectancy—typically the strongest predictors—are non-significant for AI.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793790" y="2666167"/>
            <a:ext cx="13042821" cy="3440668"/>
          </a:xfrm>
          <a:prstGeom prst="roundRect">
            <a:avLst>
              <a:gd name="adj" fmla="val 86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1410" y="2673787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0006" y="2800469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Construct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912043" y="2800469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Meta-Analytic rc (Traditional)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168878" y="2800469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AIRS β (AI)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774323" y="2800469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Change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01410" y="3244691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0006" y="3371374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 Expectancy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912043" y="3371374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.64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168878" y="3371374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-.028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774323" y="3371374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⬇️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Collapsed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01410" y="3815596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0006" y="3942278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Effort Expectancy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912043" y="3942278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.51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168878" y="3942278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-.008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0774323" y="3942278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⬇️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Collapsed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01410" y="4386501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00006" y="4513183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Price Value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912043" y="4513183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.52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8168878" y="4513183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.505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774323" y="4513183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⬆️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Dominant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801410" y="4957405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00006" y="5084088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Hedonic Motivation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912043" y="5084088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.53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8168878" y="5084088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.217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10774323" y="5084088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Similar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801410" y="5528310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00006" y="5654993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Social Influence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4912043" y="5654993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.43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8168878" y="5654993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.136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10774323" y="5654993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⬇️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Reduced</a:t>
            </a:r>
            <a:endParaRPr lang="en-US" sz="1550" dirty="0"/>
          </a:p>
        </p:txBody>
      </p:sp>
      <p:sp>
        <p:nvSpPr>
          <p:cNvPr id="36" name="Shape 34"/>
          <p:cNvSpPr/>
          <p:nvPr/>
        </p:nvSpPr>
        <p:spPr>
          <a:xfrm>
            <a:off x="793790" y="6330077"/>
            <a:ext cx="13042821" cy="1160740"/>
          </a:xfrm>
          <a:prstGeom prst="roundRect">
            <a:avLst>
              <a:gd name="adj" fmla="val 2565"/>
            </a:avLst>
          </a:prstGeom>
          <a:solidFill>
            <a:srgbClr val="C3CFE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48" y="6625352"/>
            <a:ext cx="248007" cy="198358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1438513" y="6577965"/>
            <a:ext cx="121997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Interpretation:</a:t>
            </a: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AI, utility is assumed or uncertain; users evaluate through a value lens ("Is it worth it?") rather than a utility lens ("Will it help me?").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950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Slide 9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1188958"/>
            <a:ext cx="606099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Drives AI Adoption?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2106692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Three factors significantly predict AI adoption intention.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793790" y="2726888"/>
            <a:ext cx="4215289" cy="3418165"/>
          </a:xfrm>
          <a:prstGeom prst="roundRect">
            <a:avLst>
              <a:gd name="adj" fmla="val 871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92148" y="292524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1. Price Value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92148" y="3416379"/>
            <a:ext cx="381857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β = .505, p &lt; .001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92148" y="3852982"/>
            <a:ext cx="381857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"Is the value worth the cost/effort?"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92148" y="4289584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cognitive trade-off between benefits received and resources invested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92148" y="5311616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Includes time, learning curve, workflow disruption—not just money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207437" y="2726888"/>
            <a:ext cx="4215408" cy="3418165"/>
          </a:xfrm>
          <a:prstGeom prst="roundRect">
            <a:avLst>
              <a:gd name="adj" fmla="val 871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05795" y="2925247"/>
            <a:ext cx="310586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2. Hedonic Motivation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5405795" y="3416379"/>
            <a:ext cx="381869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β = .217, p = .014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405795" y="3852982"/>
            <a:ext cx="381869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"Is it engaging and enjoyable?"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405795" y="4289584"/>
            <a:ext cx="381869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Intrinsic satisfaction from using AI tools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05795" y="4994077"/>
            <a:ext cx="381869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Curiosity and stimulation drive continued engagement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9621203" y="2726888"/>
            <a:ext cx="4215289" cy="3418165"/>
          </a:xfrm>
          <a:prstGeom prst="roundRect">
            <a:avLst>
              <a:gd name="adj" fmla="val 871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819561" y="292524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3. Social Influence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9819561" y="3416379"/>
            <a:ext cx="381857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β = .136, p = .024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819561" y="3852982"/>
            <a:ext cx="381857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"Do important others support AI use?"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9819561" y="4289584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Peer influence and organizational norms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819561" y="4994077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champions and visible leadership matter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93790" y="644271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Near-Significant: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793790" y="7112437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Trust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(β = .106, p = .064): Approaching significance—larger samples may confirm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09719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Slide 10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793790" y="960120"/>
            <a:ext cx="4465558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Moderation Effects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793790" y="1786176"/>
            <a:ext cx="13042821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Experience and population moderate AI adoption pathways.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2522815"/>
            <a:ext cx="3012519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Experience Moderation: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93790" y="3058478"/>
            <a:ext cx="6303526" cy="2704148"/>
          </a:xfrm>
          <a:prstGeom prst="roundRect">
            <a:avLst>
              <a:gd name="adj" fmla="val 99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1410" y="3066098"/>
            <a:ext cx="6288286" cy="51530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80122" y="3180874"/>
            <a:ext cx="278308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28016" y="3180874"/>
            <a:ext cx="8928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β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85673" y="3180874"/>
            <a:ext cx="57840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28886" y="3180874"/>
            <a:ext cx="58221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1410" y="3581400"/>
            <a:ext cx="6288286" cy="108680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80122" y="3696176"/>
            <a:ext cx="278308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HM × Experience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28016" y="3696176"/>
            <a:ext cx="8928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.136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85673" y="3696176"/>
            <a:ext cx="57840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.009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28886" y="3696176"/>
            <a:ext cx="582216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Significant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1410" y="4668203"/>
            <a:ext cx="6288286" cy="108680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80122" y="4782979"/>
            <a:ext cx="278308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 × Experience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28016" y="4782979"/>
            <a:ext cx="8928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.112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85673" y="4782979"/>
            <a:ext cx="57840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.055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28886" y="4782979"/>
            <a:ext cx="582216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⚠️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Marginal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40704" y="2522815"/>
            <a:ext cx="6170414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Population Moderation (Student vs Professional):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7540704" y="3058478"/>
            <a:ext cx="6303526" cy="1846898"/>
          </a:xfrm>
          <a:prstGeom prst="roundRect">
            <a:avLst>
              <a:gd name="adj" fmla="val 145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548324" y="3066098"/>
            <a:ext cx="6288286" cy="80105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27037" y="3180874"/>
            <a:ext cx="152542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Path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17273" y="3180874"/>
            <a:ext cx="8928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 β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874931" y="3180874"/>
            <a:ext cx="8928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Professional β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132588" y="3180874"/>
            <a:ext cx="57840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Δβ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075801" y="3180874"/>
            <a:ext cx="58221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548324" y="3867150"/>
            <a:ext cx="6288286" cy="51530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727037" y="3981926"/>
            <a:ext cx="152542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HM → BI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17273" y="3981926"/>
            <a:ext cx="8928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+0.449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874931" y="3981926"/>
            <a:ext cx="8928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-0.301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2132588" y="3981926"/>
            <a:ext cx="57840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-0.750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3075801" y="3981926"/>
            <a:ext cx="58221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.041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548324" y="4382453"/>
            <a:ext cx="6288286" cy="51530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727037" y="4497229"/>
            <a:ext cx="152542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PV → BI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617273" y="4497229"/>
            <a:ext cx="8928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+0.638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874931" y="4497229"/>
            <a:ext cx="8928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+0.808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2132588" y="4497229"/>
            <a:ext cx="57840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+0.170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3075801" y="4497229"/>
            <a:ext cx="58221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93790" y="6164342"/>
            <a:ext cx="13042821" cy="1455539"/>
          </a:xfrm>
          <a:prstGeom prst="roundRect">
            <a:avLst>
              <a:gd name="adj" fmla="val 1841"/>
            </a:avLst>
          </a:prstGeom>
          <a:solidFill>
            <a:srgbClr val="C3CFE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383" y="6429375"/>
            <a:ext cx="223242" cy="178594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1374219" y="6387584"/>
            <a:ext cx="1228379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Insight: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1374219" y="6834068"/>
            <a:ext cx="1228379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Students:</a:t>
            </a: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"Make it fun and I'll use it"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1374219" y="7182326"/>
            <a:ext cx="1228379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Professionals:</a:t>
            </a: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"Show me the value and I'll use it"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2580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Slide 11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793790" y="954048"/>
            <a:ext cx="5667137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Four User Segments Identified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93790" y="168830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Cluster analysis reveals distinct adoption readiness profiles.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3790" y="2184440"/>
            <a:ext cx="13042821" cy="2314337"/>
          </a:xfrm>
          <a:prstGeom prst="roundRect">
            <a:avLst>
              <a:gd name="adj" fmla="val 102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1410" y="2192060"/>
            <a:ext cx="13027581" cy="4598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477" y="2294930"/>
            <a:ext cx="293560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Segment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221123" y="2294930"/>
            <a:ext cx="977622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523786" y="2294930"/>
            <a:ext cx="977622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%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26448" y="2294930"/>
            <a:ext cx="358318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Profile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734675" y="2294930"/>
            <a:ext cx="293560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Organizational Role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1410" y="2651879"/>
            <a:ext cx="13027581" cy="4598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0477" y="2754749"/>
            <a:ext cx="293560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Enthusiasts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221123" y="2754749"/>
            <a:ext cx="977622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84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523786" y="2754749"/>
            <a:ext cx="977622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16%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26448" y="2754749"/>
            <a:ext cx="358318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trust, high intention, low anxiety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734675" y="2754749"/>
            <a:ext cx="293560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Champions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1410" y="3111698"/>
            <a:ext cx="13027581" cy="4598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60477" y="3214568"/>
            <a:ext cx="293560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Cautious Adopters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221123" y="3214568"/>
            <a:ext cx="977622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157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523786" y="3214568"/>
            <a:ext cx="977622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30%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826448" y="3214568"/>
            <a:ext cx="358318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adoption but also high anxiety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734675" y="3214568"/>
            <a:ext cx="293560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Need reassurance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1410" y="3571518"/>
            <a:ext cx="13027581" cy="4598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60477" y="3674388"/>
            <a:ext cx="293560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Moderate Users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221123" y="3674388"/>
            <a:ext cx="977622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191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523786" y="3674388"/>
            <a:ext cx="977622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37%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826448" y="3674388"/>
            <a:ext cx="358318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Neutral stance, average engagement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734675" y="3674388"/>
            <a:ext cx="293560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 be influenced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01410" y="4031337"/>
            <a:ext cx="13027581" cy="4598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60477" y="4134207"/>
            <a:ext cx="293560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Anxious Avoiders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221123" y="4134207"/>
            <a:ext cx="977622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91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523786" y="4134207"/>
            <a:ext cx="977622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17%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826448" y="4134207"/>
            <a:ext cx="358318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 adoption, high anxiety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0734675" y="4134207"/>
            <a:ext cx="293560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Need intervention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93790" y="4736902"/>
            <a:ext cx="3675102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Cluster Centroids (Standardized):</a:t>
            </a:r>
            <a:endParaRPr lang="en-US" sz="1850" dirty="0"/>
          </a:p>
        </p:txBody>
      </p:sp>
      <p:sp>
        <p:nvSpPr>
          <p:cNvPr id="37" name="Shape 35"/>
          <p:cNvSpPr/>
          <p:nvPr/>
        </p:nvSpPr>
        <p:spPr>
          <a:xfrm>
            <a:off x="793790" y="5272683"/>
            <a:ext cx="13042821" cy="2314337"/>
          </a:xfrm>
          <a:prstGeom prst="roundRect">
            <a:avLst>
              <a:gd name="adj" fmla="val 102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01410" y="5280303"/>
            <a:ext cx="13027581" cy="4598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60358" y="5383173"/>
            <a:ext cx="293560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Segment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221004" y="5383173"/>
            <a:ext cx="201989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 (z)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565940" y="5383173"/>
            <a:ext cx="201989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Trust (z)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8910876" y="5383173"/>
            <a:ext cx="228040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Anxiety (z)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1516320" y="5383173"/>
            <a:ext cx="215396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Intention (z)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801410" y="5740122"/>
            <a:ext cx="13027581" cy="4598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60358" y="5842992"/>
            <a:ext cx="293560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Enthusiasts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4221004" y="5842992"/>
            <a:ext cx="201989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+1.42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565940" y="5842992"/>
            <a:ext cx="201989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+1.37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8910876" y="5842992"/>
            <a:ext cx="228040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-0.86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11516320" y="5842992"/>
            <a:ext cx="215396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+1.32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801410" y="6199942"/>
            <a:ext cx="13027581" cy="4598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960358" y="6302812"/>
            <a:ext cx="293560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Cautious Adopters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4221004" y="6302812"/>
            <a:ext cx="201989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+1.16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6565940" y="6302812"/>
            <a:ext cx="201989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+0.86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8910876" y="6302812"/>
            <a:ext cx="228040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+0.84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11516320" y="6302812"/>
            <a:ext cx="215396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+0.88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801410" y="6659761"/>
            <a:ext cx="13027581" cy="4598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960358" y="6762631"/>
            <a:ext cx="293560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Moderate Users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4221004" y="6762631"/>
            <a:ext cx="201989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+0.26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6565940" y="6762631"/>
            <a:ext cx="201989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+0.01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8910876" y="6762631"/>
            <a:ext cx="228040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+0.42</a:t>
            </a:r>
            <a:endParaRPr lang="en-US" sz="1250" dirty="0"/>
          </a:p>
        </p:txBody>
      </p:sp>
      <p:sp>
        <p:nvSpPr>
          <p:cNvPr id="61" name="Text 59"/>
          <p:cNvSpPr/>
          <p:nvPr/>
        </p:nvSpPr>
        <p:spPr>
          <a:xfrm>
            <a:off x="11516320" y="6762631"/>
            <a:ext cx="215396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-0.07</a:t>
            </a:r>
            <a:endParaRPr lang="en-US" sz="1250" dirty="0"/>
          </a:p>
        </p:txBody>
      </p:sp>
      <p:sp>
        <p:nvSpPr>
          <p:cNvPr id="62" name="Shape 60"/>
          <p:cNvSpPr/>
          <p:nvPr/>
        </p:nvSpPr>
        <p:spPr>
          <a:xfrm>
            <a:off x="801410" y="7119580"/>
            <a:ext cx="13027581" cy="4598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960358" y="7222450"/>
            <a:ext cx="293560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Anxious Avoiders</a:t>
            </a:r>
            <a:endParaRPr lang="en-US" sz="1250" dirty="0"/>
          </a:p>
        </p:txBody>
      </p:sp>
      <p:sp>
        <p:nvSpPr>
          <p:cNvPr id="64" name="Text 62"/>
          <p:cNvSpPr/>
          <p:nvPr/>
        </p:nvSpPr>
        <p:spPr>
          <a:xfrm>
            <a:off x="4221004" y="7222450"/>
            <a:ext cx="201989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-1.16</a:t>
            </a:r>
            <a:endParaRPr lang="en-US" sz="1250" dirty="0"/>
          </a:p>
        </p:txBody>
      </p:sp>
      <p:sp>
        <p:nvSpPr>
          <p:cNvPr id="65" name="Text 63"/>
          <p:cNvSpPr/>
          <p:nvPr/>
        </p:nvSpPr>
        <p:spPr>
          <a:xfrm>
            <a:off x="6565940" y="7222450"/>
            <a:ext cx="201989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-1.49</a:t>
            </a:r>
            <a:endParaRPr lang="en-US" sz="1250" dirty="0"/>
          </a:p>
        </p:txBody>
      </p:sp>
      <p:sp>
        <p:nvSpPr>
          <p:cNvPr id="66" name="Text 64"/>
          <p:cNvSpPr/>
          <p:nvPr/>
        </p:nvSpPr>
        <p:spPr>
          <a:xfrm>
            <a:off x="8910876" y="7222450"/>
            <a:ext cx="228040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+0.76</a:t>
            </a:r>
            <a:endParaRPr lang="en-US" sz="1250" dirty="0"/>
          </a:p>
        </p:txBody>
      </p:sp>
      <p:sp>
        <p:nvSpPr>
          <p:cNvPr id="67" name="Text 65"/>
          <p:cNvSpPr/>
          <p:nvPr/>
        </p:nvSpPr>
        <p:spPr>
          <a:xfrm>
            <a:off x="11516320" y="7222450"/>
            <a:ext cx="215396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-1.53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3181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Slide 12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793790" y="1033582"/>
            <a:ext cx="4587240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Behavioral Validation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793790" y="1859637"/>
            <a:ext cx="13042821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Intentions strongly predict actual AI tool usage.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2506980"/>
            <a:ext cx="13042821" cy="589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00"/>
              </a:lnSpc>
              <a:buNone/>
            </a:pPr>
            <a:r>
              <a:rPr lang="en-US" sz="4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.69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198751" y="3319582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BI-Usage Correlation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3705701"/>
            <a:ext cx="1304282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ρ = .69, p &lt; .001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3790" y="4098608"/>
            <a:ext cx="1304282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 positive relationship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3790" y="4652248"/>
            <a:ext cx="4115395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Tool Usage by Role (Effect Sizes):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93790" y="5254943"/>
            <a:ext cx="13042821" cy="1045845"/>
          </a:xfrm>
          <a:prstGeom prst="roundRect">
            <a:avLst>
              <a:gd name="adj" fmla="val 256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01410" y="5262563"/>
            <a:ext cx="13027581" cy="51530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80242" y="5377339"/>
            <a:ext cx="745545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Comparison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800505" y="5377339"/>
            <a:ext cx="224063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Cohen's 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05949" y="5377339"/>
            <a:ext cx="224444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Interpretation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1410" y="5777865"/>
            <a:ext cx="13027581" cy="51530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80242" y="5892641"/>
            <a:ext cx="745545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Leaders vs. Others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00505" y="5892641"/>
            <a:ext cx="224063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0.74-1.14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05949" y="5892641"/>
            <a:ext cx="224444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Large to Very Large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93790" y="6501646"/>
            <a:ext cx="13042821" cy="1044773"/>
          </a:xfrm>
          <a:prstGeom prst="roundRect">
            <a:avLst>
              <a:gd name="adj" fmla="val 2565"/>
            </a:avLst>
          </a:prstGeom>
          <a:solidFill>
            <a:srgbClr val="C3CFE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383" y="6766679"/>
            <a:ext cx="223242" cy="17859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374219" y="6724888"/>
            <a:ext cx="1228379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Insight:</a:t>
            </a: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Organizational leaders demonstrate substantially higher AI tool usage, suggesting leadership engagement may be critical for organizational AI adoption.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8942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Slide 13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1478875"/>
            <a:ext cx="600539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Theoretical Contributions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2396609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Four primary contributions to technology acceptance theory.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3790" y="301680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5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331131"/>
            <a:ext cx="6422231" cy="228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3790" y="3476030"/>
            <a:ext cx="354782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UTAUT2 Extension for AI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793790" y="3967163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Demonstrated that traditional frameworks require modification for AI contexts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93790" y="4671655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Trust approaches significance, warranting further investigation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414379" y="301680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5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4379" y="3331131"/>
            <a:ext cx="6422231" cy="228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14379" y="3476030"/>
            <a:ext cx="328207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Price Value Dominance</a:t>
            </a:r>
            <a:endParaRPr lang="en-US" sz="2300" dirty="0"/>
          </a:p>
        </p:txBody>
      </p:sp>
      <p:sp>
        <p:nvSpPr>
          <p:cNvPr id="13" name="Text 9"/>
          <p:cNvSpPr/>
          <p:nvPr/>
        </p:nvSpPr>
        <p:spPr>
          <a:xfrm>
            <a:off x="7414379" y="3967163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 empirical evidence that PV &gt; PE for AI adoption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7414379" y="4354116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Challenges 25+ years of UTAUT findings where PE consistently dominates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793790" y="5336381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5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630942"/>
            <a:ext cx="6422231" cy="228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93790" y="5795605"/>
            <a:ext cx="446091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Career Development Integration</a:t>
            </a:r>
            <a:endParaRPr lang="en-US" sz="2300" dirty="0"/>
          </a:p>
        </p:txBody>
      </p:sp>
      <p:sp>
        <p:nvSpPr>
          <p:cNvPr id="18" name="Text 13"/>
          <p:cNvSpPr/>
          <p:nvPr/>
        </p:nvSpPr>
        <p:spPr>
          <a:xfrm>
            <a:off x="793790" y="6286738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Experience moderates HM effect (p = .009)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793790" y="6673691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Connects technology acceptance to vocational psychology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7414379" y="5336381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15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4379" y="5630942"/>
            <a:ext cx="6422231" cy="228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14379" y="5795605"/>
            <a:ext cx="374368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User Typology Framework</a:t>
            </a:r>
            <a:endParaRPr lang="en-US" sz="2300" dirty="0"/>
          </a:p>
        </p:txBody>
      </p:sp>
      <p:sp>
        <p:nvSpPr>
          <p:cNvPr id="23" name="Text 17"/>
          <p:cNvSpPr/>
          <p:nvPr/>
        </p:nvSpPr>
        <p:spPr>
          <a:xfrm>
            <a:off x="7414379" y="6286738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Four-segment model for adoption heterogeneity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7414379" y="6673691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Foundation for future intervention research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74834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Slide 14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793790" y="886301"/>
            <a:ext cx="4138374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Practical Implications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93790" y="162056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Evidence-informed recommendations for organizations.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2176224"/>
            <a:ext cx="260163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For AI Implementation: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793790" y="2712006"/>
            <a:ext cx="13042821" cy="2314337"/>
          </a:xfrm>
          <a:prstGeom prst="roundRect">
            <a:avLst>
              <a:gd name="adj" fmla="val 102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1410" y="2719626"/>
            <a:ext cx="13027581" cy="4598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239" y="2822496"/>
            <a:ext cx="293560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220885" y="2822496"/>
            <a:ext cx="293179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Implication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477720" y="2822496"/>
            <a:ext cx="619256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1410" y="3179445"/>
            <a:ext cx="13027581" cy="4598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239" y="3282315"/>
            <a:ext cx="293560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PV dominance (β=.505)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220885" y="3282315"/>
            <a:ext cx="293179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Lead with value, not features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477720" y="3282315"/>
            <a:ext cx="619256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Clear ROI demonstrations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1410" y="3639264"/>
            <a:ext cx="13027581" cy="4598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0239" y="3742134"/>
            <a:ext cx="293560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HM significance (β=.217)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220885" y="3742134"/>
            <a:ext cx="293179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for engagement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77720" y="3742134"/>
            <a:ext cx="619256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Gamification, curiosity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1410" y="4099084"/>
            <a:ext cx="13027581" cy="4598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60239" y="4201954"/>
            <a:ext cx="293560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 significance (β=.136)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220885" y="4201954"/>
            <a:ext cx="293179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Leverage social proof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477720" y="4201954"/>
            <a:ext cx="619256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Champions, peer communities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01410" y="4558903"/>
            <a:ext cx="13027581" cy="4598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60239" y="4661773"/>
            <a:ext cx="293560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 non-significance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220885" y="4661773"/>
            <a:ext cx="293179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Don't assume utility sells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477720" y="4661773"/>
            <a:ext cx="619256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 on value proposition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93790" y="5264467"/>
            <a:ext cx="285023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For Different Populations:</a:t>
            </a:r>
            <a:endParaRPr lang="en-US" sz="1850" dirty="0"/>
          </a:p>
        </p:txBody>
      </p:sp>
      <p:sp>
        <p:nvSpPr>
          <p:cNvPr id="28" name="Shape 26"/>
          <p:cNvSpPr/>
          <p:nvPr/>
        </p:nvSpPr>
        <p:spPr>
          <a:xfrm>
            <a:off x="793790" y="5800249"/>
            <a:ext cx="13042821" cy="1854518"/>
          </a:xfrm>
          <a:prstGeom prst="roundRect">
            <a:avLst>
              <a:gd name="adj" fmla="val 128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01410" y="5807869"/>
            <a:ext cx="13027581" cy="4598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60239" y="5910739"/>
            <a:ext cx="293560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Population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220885" y="5910739"/>
            <a:ext cx="358318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129111" y="5910739"/>
            <a:ext cx="5541169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Approach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01410" y="6267688"/>
            <a:ext cx="13027581" cy="4598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60239" y="6370558"/>
            <a:ext cx="293560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220885" y="6370558"/>
            <a:ext cx="358318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Hedonic Motivation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129111" y="6370558"/>
            <a:ext cx="5541169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Make it engaging and fun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01410" y="6727508"/>
            <a:ext cx="13027581" cy="4598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60239" y="6830378"/>
            <a:ext cx="293560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Professionals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4220885" y="6830378"/>
            <a:ext cx="358318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Price Value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129111" y="6830378"/>
            <a:ext cx="5541169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Demonstrate clear ROI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801410" y="7187327"/>
            <a:ext cx="13027581" cy="4598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60239" y="7290197"/>
            <a:ext cx="293560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Leaders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4220885" y="7290197"/>
            <a:ext cx="358318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Already high adopters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8129111" y="7290197"/>
            <a:ext cx="5541169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Leverage as champions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503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Slide 15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1644491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Study Limitations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2562225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Important boundaries for interpretation.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793790" y="3182422"/>
            <a:ext cx="6422231" cy="1638062"/>
          </a:xfrm>
          <a:prstGeom prst="roundRect">
            <a:avLst>
              <a:gd name="adj" fmla="val 1817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15008" y="3403640"/>
            <a:ext cx="349317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1. Cross-Sectional Design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15008" y="3894773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Cannot establish causality; longitudinal research needed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15008" y="4281726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Temporal dynamics of adoption not captured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14379" y="3182422"/>
            <a:ext cx="6422231" cy="1638062"/>
          </a:xfrm>
          <a:prstGeom prst="roundRect">
            <a:avLst>
              <a:gd name="adj" fmla="val 1817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635597" y="3403640"/>
            <a:ext cx="332386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2. Self-Report Measures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635597" y="3894773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Common method variance possible despite procedural controls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635597" y="4281726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Behavioral validation helps mitigate but doesn't eliminate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93790" y="5018842"/>
            <a:ext cx="6422231" cy="1955602"/>
          </a:xfrm>
          <a:prstGeom prst="roundRect">
            <a:avLst>
              <a:gd name="adj" fmla="val 1522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15008" y="5240060"/>
            <a:ext cx="354044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3. Sample Characteristics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015008" y="5731193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U.S. adults only; cultural generalization requires replication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015008" y="6118146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Convenience sampling through audience panel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414379" y="5018842"/>
            <a:ext cx="6422231" cy="1955602"/>
          </a:xfrm>
          <a:prstGeom prst="roundRect">
            <a:avLst>
              <a:gd name="adj" fmla="val 1522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635597" y="5240060"/>
            <a:ext cx="321206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4. Excluded Constructs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7635597" y="5731193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Voluntariness, Explainability, Ethical Risk, AI Anxiety require revised operationalization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635597" y="6435685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Two-item scales insufficient for multidimensional constructs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0614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Slide 16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995601"/>
            <a:ext cx="633210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Future Research Directions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1913334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Building on this foundation.</a:t>
            </a:r>
            <a:endParaRPr lang="en-US" sz="1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33531"/>
            <a:ext cx="6521410" cy="7937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2148" y="352567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Longitudinal Studies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992148" y="4016812"/>
            <a:ext cx="612469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Track adoption trajectories over time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92148" y="4403765"/>
            <a:ext cx="612469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Examine how predictors change with experience</a:t>
            </a:r>
            <a:endParaRPr lang="en-US" sz="15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533531"/>
            <a:ext cx="6521410" cy="7937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13558" y="3525679"/>
            <a:ext cx="327671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Construct Development</a:t>
            </a:r>
            <a:endParaRPr lang="en-US" sz="2300" dirty="0"/>
          </a:p>
        </p:txBody>
      </p:sp>
      <p:sp>
        <p:nvSpPr>
          <p:cNvPr id="11" name="Text 7"/>
          <p:cNvSpPr/>
          <p:nvPr/>
        </p:nvSpPr>
        <p:spPr>
          <a:xfrm>
            <a:off x="7513558" y="4016812"/>
            <a:ext cx="612469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Multi-item scales for excluded constructs (3-4 items per dimension)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7513558" y="4721304"/>
            <a:ext cx="612469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Validate AI Anxiety, Ethical Risk with expanded operationalization</a:t>
            </a:r>
            <a:endParaRPr lang="en-US" sz="15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237202"/>
            <a:ext cx="6521410" cy="79379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92148" y="6229350"/>
            <a:ext cx="319480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Population Replication</a:t>
            </a:r>
            <a:endParaRPr lang="en-US" sz="2300" dirty="0"/>
          </a:p>
        </p:txBody>
      </p:sp>
      <p:sp>
        <p:nvSpPr>
          <p:cNvPr id="15" name="Text 10"/>
          <p:cNvSpPr/>
          <p:nvPr/>
        </p:nvSpPr>
        <p:spPr>
          <a:xfrm>
            <a:off x="992148" y="6720483"/>
            <a:ext cx="612469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Cross-cultural validation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992148" y="7107436"/>
            <a:ext cx="612469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Industry-specific applications (healthcare, finance, education)</a:t>
            </a:r>
            <a:endParaRPr lang="en-US" sz="15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5237202"/>
            <a:ext cx="6521410" cy="79379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513558" y="6229350"/>
            <a:ext cx="311253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Intervention Research</a:t>
            </a:r>
            <a:endParaRPr lang="en-US" sz="2300" dirty="0"/>
          </a:p>
        </p:txBody>
      </p:sp>
      <p:sp>
        <p:nvSpPr>
          <p:cNvPr id="19" name="Text 13"/>
          <p:cNvSpPr/>
          <p:nvPr/>
        </p:nvSpPr>
        <p:spPr>
          <a:xfrm>
            <a:off x="7513558" y="6720483"/>
            <a:ext cx="612469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segment-specific interventions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7513558" y="7107436"/>
            <a:ext cx="612469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Experimental validation of practical recommendations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84478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Slide 17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93790" y="857012"/>
            <a:ext cx="3473291" cy="434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93790" y="1346597"/>
            <a:ext cx="2778562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Takeaways</a:t>
            </a:r>
            <a:endParaRPr lang="en-US" sz="2150" dirty="0"/>
          </a:p>
        </p:txBody>
      </p:sp>
      <p:sp>
        <p:nvSpPr>
          <p:cNvPr id="5" name="Shape 3"/>
          <p:cNvSpPr/>
          <p:nvPr/>
        </p:nvSpPr>
        <p:spPr>
          <a:xfrm>
            <a:off x="793790" y="1902262"/>
            <a:ext cx="312539" cy="312539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5820" y="1928277"/>
            <a:ext cx="208359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45156" y="1928217"/>
            <a:ext cx="4723328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AIRS instrument is psychometrically sound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45156" y="2271951"/>
            <a:ext cx="12591455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(CFI = .975, α = .74-.91)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93790" y="2772013"/>
            <a:ext cx="312539" cy="312539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45820" y="2798028"/>
            <a:ext cx="208359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45156" y="2797969"/>
            <a:ext cx="3407450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Price Value dominates AI adoption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45156" y="3141702"/>
            <a:ext cx="12591455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(β = .505), not Performance Expectancy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3790" y="3641765"/>
            <a:ext cx="312539" cy="312539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5820" y="3667780"/>
            <a:ext cx="208359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45156" y="3667720"/>
            <a:ext cx="4583668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Traditional UTAUT predictors (PE, EE) collapse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45156" y="4011454"/>
            <a:ext cx="12591455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AI technology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93790" y="4511516"/>
            <a:ext cx="312539" cy="312539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45820" y="4537531"/>
            <a:ext cx="208359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45156" y="4537472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Enjoyment matters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45156" y="4881205"/>
            <a:ext cx="12591455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(HM β = .217), especially for students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93790" y="5381268"/>
            <a:ext cx="312539" cy="312539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45820" y="5407283"/>
            <a:ext cx="208359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45156" y="5407223"/>
            <a:ext cx="2730579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Four distinct user segments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45156" y="5750957"/>
            <a:ext cx="12591455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exist with different intervention needs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93790" y="6251019"/>
            <a:ext cx="312539" cy="312539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45820" y="6277035"/>
            <a:ext cx="208359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45156" y="6276975"/>
            <a:ext cx="4115395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Experience moderates adoption pathways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45156" y="6620708"/>
            <a:ext cx="12591455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(HM×Exp p = .009)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93790" y="6999208"/>
            <a:ext cx="13042821" cy="645795"/>
          </a:xfrm>
          <a:prstGeom prst="roundRect">
            <a:avLst>
              <a:gd name="adj" fmla="val 3227"/>
            </a:avLst>
          </a:prstGeom>
          <a:solidFill>
            <a:srgbClr val="C3CFE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17" y="7211258"/>
            <a:ext cx="217051" cy="173593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288494" y="7172682"/>
            <a:ext cx="12409289" cy="27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Bottom Line:</a:t>
            </a:r>
            <a:r>
              <a:rPr lang="en-US" sz="13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AI adoption requires a fundamentally different approach than traditional technology—lead with value and engagement, not utility.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1823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Slide 18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1726049"/>
            <a:ext cx="10848142" cy="1240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750"/>
              </a:lnSpc>
              <a:buNone/>
            </a:pPr>
            <a:r>
              <a:rPr lang="en-US" sz="7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Questions &amp; Discussion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793790" y="3264098"/>
            <a:ext cx="5505807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Thank you for your attention.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793790" y="4057888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 welcome your questions and feedback.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793790" y="4777233"/>
            <a:ext cx="13042821" cy="32385"/>
          </a:xfrm>
          <a:prstGeom prst="rect">
            <a:avLst/>
          </a:prstGeom>
          <a:solidFill>
            <a:srgbClr val="15213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93790" y="523113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Contact Information: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93790" y="580155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Email: </a:t>
            </a:r>
            <a:r>
              <a:rPr lang="en-US" sz="1550" u="sng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fabio.correa@tuw.edu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64874" y="523113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Resources: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564874" y="5801558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GitHub Repository: </a:t>
            </a:r>
            <a:r>
              <a:rPr lang="en-US" sz="1550" u="sng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https://github.com/fabioc-aloha/AIRS_Data_Analysis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564874" y="6615232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dissertation available upon request</a:t>
            </a:r>
            <a:endParaRPr lang="en-US" sz="1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315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Slide 19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1842611"/>
            <a:ext cx="869989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Appendix A - Ethics &amp; Data Retention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2541984"/>
            <a:ext cx="6252329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IRB Approval and Data Protection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793790" y="3335774"/>
            <a:ext cx="13042821" cy="3440668"/>
          </a:xfrm>
          <a:prstGeom prst="roundRect">
            <a:avLst>
              <a:gd name="adj" fmla="val 86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1410" y="3343394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9887" y="3470077"/>
            <a:ext cx="481048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Item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214705" y="3470077"/>
            <a:ext cx="741592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Detail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01410" y="3914299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99887" y="4040981"/>
            <a:ext cx="481048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IRB Protocol Number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214705" y="4040981"/>
            <a:ext cx="741592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T00571337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01410" y="4485203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99887" y="4611886"/>
            <a:ext cx="481048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Application Date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214705" y="4611886"/>
            <a:ext cx="741592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October 29, 2025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01410" y="5056108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99887" y="5182791"/>
            <a:ext cx="481048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Status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214705" y="5182791"/>
            <a:ext cx="741592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Approved - Exempt (45 CFR 46.104(d)(2))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01410" y="5627013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99887" y="5753695"/>
            <a:ext cx="481048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Retention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214705" y="5753695"/>
            <a:ext cx="741592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Until January 2028 (per 45 CFR 46)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01410" y="6197918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99887" y="6324600"/>
            <a:ext cx="481048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Repository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214705" y="6324600"/>
            <a:ext cx="741592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GitHub (public, de-identified)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1897</Words>
  <Application>Microsoft Office PowerPoint</Application>
  <PresentationFormat>Custom</PresentationFormat>
  <Paragraphs>527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Roboto Slab Light</vt:lpstr>
      <vt:lpstr>Roboto Slab</vt:lpstr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Fabio Correa</cp:lastModifiedBy>
  <cp:revision>2</cp:revision>
  <dcterms:created xsi:type="dcterms:W3CDTF">2025-12-08T21:56:31Z</dcterms:created>
  <dcterms:modified xsi:type="dcterms:W3CDTF">2026-01-16T16:05:24Z</dcterms:modified>
</cp:coreProperties>
</file>