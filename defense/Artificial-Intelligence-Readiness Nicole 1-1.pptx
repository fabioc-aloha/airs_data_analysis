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04" r:id="rId3"/>
    <p:sldId id="305" r:id="rId4"/>
    <p:sldId id="306" r:id="rId5"/>
    <p:sldId id="307" r:id="rId6"/>
    <p:sldId id="308" r:id="rId7"/>
    <p:sldId id="265" r:id="rId8"/>
    <p:sldId id="266" r:id="rId9"/>
    <p:sldId id="272" r:id="rId10"/>
  </p:sldIdLst>
  <p:sldSz cx="14630400" cy="8229600"/>
  <p:notesSz cx="8229600" cy="14630400"/>
  <p:embeddedFontLst>
    <p:embeddedFont>
      <p:font typeface="Aptos SemiBold" panose="020B0004020202020204" pitchFamily="34" charset="0"/>
      <p:bold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5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878" autoAdjust="0"/>
  </p:normalViewPr>
  <p:slideViewPr>
    <p:cSldViewPr snapToGrid="0" snapToObjects="1">
      <p:cViewPr varScale="1">
        <p:scale>
          <a:sx n="119" d="100"/>
          <a:sy n="119" d="100"/>
        </p:scale>
        <p:origin x="86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16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https://app.centiment.co/preview/471bc02e-aeac-4ae3-9fb9-b58a4a12c573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6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6340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Artificial Intelligence Readiness Score: </a:t>
            </a:r>
            <a:br>
              <a:rPr lang="en-US" sz="39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39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Extending Model for Enterprise AI Adoption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333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A Doctoral Research Project Proposal – Scholar Practitioner Model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73261"/>
            <a:ext cx="13042821" cy="32385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728799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Fabio Correa</a:t>
            </a: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Touro University Worldwide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Doctorate of Business Administration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DBA712 - Doctoral Research Project Proposal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22200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Committee:</a:t>
            </a: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Chair: Dr. Karina </a:t>
            </a:r>
            <a:r>
              <a:rPr lang="en-US" sz="1550" dirty="0" err="1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Kasztelnik</a:t>
            </a: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Faculty Member: Dr. Jerome Jones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Faculty Member: Dr. Donna Day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89" y="671572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October 22, 2025</a:t>
            </a:r>
            <a:endParaRPr lang="en-US" sz="1550" dirty="0"/>
          </a:p>
        </p:txBody>
      </p:sp>
      <p:pic>
        <p:nvPicPr>
          <p:cNvPr id="8" name="Picture 7" descr="Touro University Worldwide">
            <a:extLst>
              <a:ext uri="{FF2B5EF4-FFF2-40B4-BE49-F238E27FC236}">
                <a16:creationId xmlns:a16="http://schemas.microsoft.com/office/drawing/2014/main" id="{05A88D4D-44C3-7C5F-A320-D1F0BB62F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505" y="7330699"/>
            <a:ext cx="2812942" cy="562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9213"/>
            <a:ext cx="820297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The A.I. Adoption Paradox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35304"/>
            <a:ext cx="30408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Widespread Adoption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280190" y="300573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AI use has exploded across enterprises: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350186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55% adoption in 2023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388881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72% adoption in 2024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427577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76% adoption by early 2025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4771906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Nearly every major organization now uses AI in at least one business function (McKinsey &amp; Company, 2023–2025; International Data Center Authority, 2025).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08074" y="2435304"/>
            <a:ext cx="353615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Limited Value Realization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315823" y="298259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Yet measurable impact remains elusive: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15823" y="347873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Only 5% achieve measurable ROI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15823" y="386568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Just 1% consider themselves </a:t>
            </a:r>
            <a:b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"AI mature"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315823" y="457017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74% struggle to scale beyond pilots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315823" y="5066312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 technology is ready—but organizations are not (Boston Consulting Group, 2024, 2025; McKinsey &amp; Company, 2025).</a:t>
            </a:r>
            <a:endParaRPr lang="en-US" sz="15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04720-E2C4-4A87-3856-8EA3A52F54B0}"/>
              </a:ext>
            </a:extLst>
          </p:cNvPr>
          <p:cNvSpPr txBox="1"/>
          <p:nvPr/>
        </p:nvSpPr>
        <p:spPr>
          <a:xfrm>
            <a:off x="6280190" y="684981"/>
            <a:ext cx="731520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indent="0">
              <a:lnSpc>
                <a:spcPts val="4850"/>
              </a:lnSpc>
              <a:buNone/>
              <a:defRPr sz="390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r>
              <a:rPr lang="en-US" sz="2400" dirty="0">
                <a:latin typeface="Aptos SemiBold" panose="020B0004020202020204" pitchFamily="34" charset="0"/>
              </a:rPr>
              <a:t>The Business Problem and Motivation for this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339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The Scaling Crisis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420303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90-95%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793790" y="3323273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Pilot Failure Rate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752493"/>
            <a:ext cx="23533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Generative AI pilots that fail to scale or deliver measurable profit-and-loss improvements (MIT Media Lab, 2025).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95186" y="2420303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74%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3395186" y="3323273"/>
            <a:ext cx="23535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Operationalization Struggles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395186" y="4062651"/>
            <a:ext cx="23535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Organizations unable to move AI beyond proof-of-concept stage (Boston Consulting Group, 2024).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96702" y="2420303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32%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5996702" y="3323273"/>
            <a:ext cx="23533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Cross-Functional Deployment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96702" y="4062651"/>
            <a:ext cx="23533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Enterprises that have successfully deployed AI across multiple business functions (Georgian &amp; NewtonX, 2025).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5873591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 evidence is clear: technical capability advances rapidly, but organizational readiness lags. Most enterprises have proven AI's feasibility but lack the systems necessary for scaling (Boston Consulting Group, 2025; MIT Media Lab, 2025).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127" y="439341"/>
            <a:ext cx="8897541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Six Critical Human and Organizational Barriers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39127" y="1258133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8909" y="1417915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12" y="1522809"/>
            <a:ext cx="215622" cy="269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909" y="2057043"/>
            <a:ext cx="2002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Talent and Skill Gaps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8909" y="2402562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60% of enterprises lack sufficient AI expertise, especially for operational integration (Deloitte, 2024). Only one in three organizations has formal training programs in place (McKinsey &amp; Company, 2025).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95091" y="1258133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54873" y="1417915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1522809"/>
            <a:ext cx="215622" cy="2695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54873" y="2057043"/>
            <a:ext cx="199727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Cultural Resistance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54873" y="2402562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68% of executives report tension between business and technical teams. 57% of employees fear job displacement, leading to lower engagement and slower adoption (Writer &amp; Workplace Intelligence, 2025).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9127" y="3489008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8909" y="3648789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12" y="3753683"/>
            <a:ext cx="215622" cy="2695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8909" y="4287917"/>
            <a:ext cx="231314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Workflow Misalignment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98909" y="4633436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72% implement AI as a tool layer rather than redesigning end-to-end workflows. This approach limits cross-functional efficiency and suppresses ROI (Boston Consulting Group, 2025; Capgemini Research Institute, 2025).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95091" y="3489008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554873" y="3648789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3753683"/>
            <a:ext cx="215622" cy="2695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54873" y="4287917"/>
            <a:ext cx="199727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Leadership Gaps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554873" y="4633436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Many CEOs view AI as strategic but lack mature governance structures. Firms with C-suite accountability are 3.5× more likely to achieve measurable results (McKinsey &amp; Company, 2025; Gartner, 2025).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39127" y="5719882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98909" y="5879663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712" y="5984558"/>
            <a:ext cx="215622" cy="26955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8909" y="6518791"/>
            <a:ext cx="199727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Trust Deficits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798909" y="6864310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49% of employees show low trust in AI outputs, leading to hesitation in using AI for critical decisions. Transparent communication is essential for adoption (McKinsey &amp; Company, 2025).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95091" y="5719882"/>
            <a:ext cx="6596182" cy="2071092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554873" y="5879663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6675" y="5984558"/>
            <a:ext cx="215622" cy="26955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54873" y="6518791"/>
            <a:ext cx="282511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Change Management Failures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554873" y="6864310"/>
            <a:ext cx="627661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59% of organizations have weak change management practices. 52% suffer from poor change communication, leading to fragmentation and rework (Deloitte, 2024; Gartner, 2025).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539234"/>
            <a:ext cx="6828592" cy="612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Why the Human Side Matters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4384" y="1544241"/>
            <a:ext cx="13061633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 persistent AI adoption–value gap stems from deficiencies in leadership accountability, talent readiness, and cultural transformation—not from a shortage of technology. Organizations that succeed treat AI as an enterprise-wide capability that integrates human enablement and ethical oversight into the organizational core (McKinsey &amp; Company, 2025; Boston Consulting Group, 2025).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2706053"/>
            <a:ext cx="4353878" cy="784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0480" y="3686532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Technology is Ready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80480" y="4110514"/>
            <a:ext cx="3961686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AI capabilities have advanced rapidly with LLMs and enterprise platforms.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261" y="2706053"/>
            <a:ext cx="4353878" cy="7843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4357" y="3686532"/>
            <a:ext cx="2559844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Organizations Are Not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334357" y="4110514"/>
            <a:ext cx="3961686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Human and structural barriers prevent value realization at scale.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139" y="2706053"/>
            <a:ext cx="4353878" cy="7843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8235" y="3686532"/>
            <a:ext cx="3961686" cy="61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Human Enablement Drives Success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688235" y="4104043"/>
            <a:ext cx="3961686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Workforce capability, trust, and change management are now the main differentiators.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78468" y="5995392"/>
            <a:ext cx="12767548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"Cultural inertia, unclear governance, and limited human-capital planning are now the dominant constraints on enterprise AI maturity" </a:t>
            </a:r>
            <a:b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(Gartner, 2025; Boston Consulting Group, 2025).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84384" y="5774769"/>
            <a:ext cx="22860" cy="1068705"/>
          </a:xfrm>
          <a:prstGeom prst="rect">
            <a:avLst/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84384" y="7064097"/>
            <a:ext cx="13061633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Understanding and addressing these human dimensions is not optional—it is the foundation for bridging the adoption–value gap and achieving sustainable AI transformation.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9097E-71F2-2054-0094-DDE4305495B8}"/>
              </a:ext>
            </a:extLst>
          </p:cNvPr>
          <p:cNvSpPr txBox="1"/>
          <p:nvPr/>
        </p:nvSpPr>
        <p:spPr>
          <a:xfrm>
            <a:off x="938463" y="3208421"/>
            <a:ext cx="6136105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50" dirty="0">
                <a:solidFill>
                  <a:srgbClr val="3257B8"/>
                </a:solidFill>
                <a:latin typeface="Aptos SemiBold" panose="020B0004020202020204" pitchFamily="34" charset="0"/>
                <a:ea typeface="Roboto Slab" pitchFamily="34" charset="-122"/>
                <a:cs typeface="Roboto Slab" pitchFamily="34" charset="-120"/>
              </a:rPr>
              <a:t>Findings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1A5FFC-4DC4-D294-62FB-CABDFAB64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49" y="1042737"/>
            <a:ext cx="8531867" cy="61441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428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1188958"/>
            <a:ext cx="60609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Drives AI Adoption?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10669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factors significantly predict AI adoption intention.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726888"/>
            <a:ext cx="4215289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2148" y="29252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Value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92148" y="341637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.505, p &lt; .001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92148" y="3852982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the value worth the cost/effort?"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92148" y="4289584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cognitive trade-off between benefits received and resources invested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92148" y="5311616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time, learning curve, workflow disruption—not just money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2726888"/>
            <a:ext cx="4215408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05795" y="2925247"/>
            <a:ext cx="310586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Hedonic Motivation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405795" y="3416379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.217, p = .014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05795" y="3852982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it engaging and enjoyable?"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05795" y="428958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Intrinsic satisfaction from using AI tools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05795" y="4994077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Curiosity and stimulation drive continued engagement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2726888"/>
            <a:ext cx="4215289" cy="3418165"/>
          </a:xfrm>
          <a:prstGeom prst="roundRect">
            <a:avLst>
              <a:gd name="adj" fmla="val 87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19561" y="29252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Social Influence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819561" y="3416379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.136, p = .024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19561" y="3852982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"Do important others support AI use?"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19561" y="428958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influence and organizational norms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19561" y="4994077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champions and visible leadership matter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93790" y="64427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Near-Significant: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93790" y="711243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(β = .106, p = .064): Approaching significance—larger samples may confirm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960120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Moderation Effects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93790" y="1786176"/>
            <a:ext cx="1304282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and population moderate AI adoption pathways.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522815"/>
            <a:ext cx="301251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Experience Moderation: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3790" y="3058478"/>
            <a:ext cx="6303526" cy="2704148"/>
          </a:xfrm>
          <a:prstGeom prst="roundRect">
            <a:avLst>
              <a:gd name="adj" fmla="val 9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1410" y="3066098"/>
            <a:ext cx="6288286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0122" y="3180874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28016" y="3180874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85673" y="3180874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8886" y="3180874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1410" y="3581400"/>
            <a:ext cx="6288286" cy="10868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0122" y="3696176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Experience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28016" y="369617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85673" y="3696176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.009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8886" y="3696176"/>
            <a:ext cx="58221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Significant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4668203"/>
            <a:ext cx="6288286" cy="10868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0122" y="4782979"/>
            <a:ext cx="27830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Experience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28016" y="478297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85673" y="4782979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.055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8886" y="4782979"/>
            <a:ext cx="58221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Marginal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0704" y="2522815"/>
            <a:ext cx="617041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Population Moderation (Student vs Professional):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540704" y="3058478"/>
            <a:ext cx="6303526" cy="1846898"/>
          </a:xfrm>
          <a:prstGeom prst="roundRect">
            <a:avLst>
              <a:gd name="adj" fmla="val 14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48324" y="3066098"/>
            <a:ext cx="6288286" cy="801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7037" y="3180874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17273" y="3180874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74931" y="3180874"/>
            <a:ext cx="892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32588" y="3180874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075801" y="3180874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48324" y="3867150"/>
            <a:ext cx="6288286" cy="5153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27037" y="3981926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17273" y="398192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+0.449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74931" y="3981926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-0.301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132588" y="3981926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-0.750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075801" y="3981926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.041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48324" y="4382453"/>
            <a:ext cx="6288286" cy="5153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27037" y="4497229"/>
            <a:ext cx="152542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→ BI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17273" y="449722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+0.638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74931" y="4497229"/>
            <a:ext cx="8928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+0.808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132588" y="4497229"/>
            <a:ext cx="57840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+0.170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075801" y="4497229"/>
            <a:ext cx="5822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93790" y="6164342"/>
            <a:ext cx="13042821" cy="1455539"/>
          </a:xfrm>
          <a:prstGeom prst="roundRect">
            <a:avLst>
              <a:gd name="adj" fmla="val 1841"/>
            </a:avLst>
          </a:prstGeom>
          <a:solidFill>
            <a:srgbClr val="C3CF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83" y="6429375"/>
            <a:ext cx="223242" cy="17859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74219" y="6387584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374219" y="6834068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"Make it fun and I'll use it"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374219" y="7182326"/>
            <a:ext cx="12283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Professionals:</a:t>
            </a: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"Show me the value and I'll use it"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995601"/>
            <a:ext cx="63321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Research Directions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1913334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on this foundation.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3531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5256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Longitudinal Studies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92148" y="4016812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adoption trajectories over time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2148" y="4403765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how predictors change with experience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33531"/>
            <a:ext cx="6521410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3558" y="3525679"/>
            <a:ext cx="32767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Construct Development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7513558" y="4016812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Multi-item scales for excluded constructs (3-4 items per dimension)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13558" y="4721304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AI Anxiety, Ethical Risk with expanded operationalization</a:t>
            </a:r>
            <a:endParaRPr lang="en-US" sz="15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37202"/>
            <a:ext cx="6521410" cy="7937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2148" y="6229350"/>
            <a:ext cx="319480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Population Replication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992148" y="67204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Cross-cultural validation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992148" y="710743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Industry-specific applications (healthcare, finance, education)</a:t>
            </a:r>
            <a:endParaRPr lang="en-US" sz="15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237202"/>
            <a:ext cx="6521410" cy="7937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13558" y="6229350"/>
            <a:ext cx="31125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Intervention Research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7513558" y="672048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segment-specific interventions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7513558" y="7107436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Experimental validation of practical recommendations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1023</Words>
  <Application>Microsoft Office PowerPoint</Application>
  <PresentationFormat>Custom</PresentationFormat>
  <Paragraphs>130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SemiBold</vt:lpstr>
      <vt:lpstr>Aptos</vt:lpstr>
      <vt:lpstr>Roboto Slab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Fabio Correa</dc:creator>
  <cp:lastModifiedBy>Fabio Correa</cp:lastModifiedBy>
  <cp:revision>6</cp:revision>
  <dcterms:created xsi:type="dcterms:W3CDTF">2025-09-23T19:04:33Z</dcterms:created>
  <dcterms:modified xsi:type="dcterms:W3CDTF">2026-01-16T16:16:54Z</dcterms:modified>
</cp:coreProperties>
</file>