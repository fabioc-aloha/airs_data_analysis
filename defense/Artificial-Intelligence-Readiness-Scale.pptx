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4630400" cy="8229600"/>
  <p:notesSz cx="8229600" cy="14630400"/>
  <p:embeddedFontLst>
    <p:embeddedFont>
      <p:font typeface="Roboto Slab"/>
      <p:regular r:id="rId38"/>
    </p:embeddedFont>
    <p:embeddedFont>
      <p:font typeface="Roboto Slab"/>
      <p:regular r:id="rId39"/>
    </p:embeddedFont>
    <p:embeddedFont>
      <p:font typeface="Roboto"/>
      <p:regular r:id="rId40"/>
    </p:embeddedFont>
    <p:embeddedFont>
      <p:font typeface="Roboto"/>
      <p:regular r:id="rId41"/>
    </p:embeddedFont>
    <p:embeddedFont>
      <p:font typeface="Roboto"/>
      <p:regular r:id="rId42"/>
    </p:embeddedFont>
    <p:embeddedFont>
      <p:font typeface="Roboto"/>
      <p:regular r:id="rId4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5.fntdata"/><Relationship Id="rId4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9.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slideLayout" Target="../slideLayouts/slideLayout11.xml"/><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23.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slideLayout" Target="../slideLayouts/slideLayout2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2.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251234"/>
            <a:ext cx="10141625"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Artificial Intelligence Readiness Scale</a:t>
            </a:r>
            <a:endParaRPr lang="en-US" sz="4450" dirty="0"/>
          </a:p>
        </p:txBody>
      </p:sp>
      <p:sp>
        <p:nvSpPr>
          <p:cNvPr id="3" name="Text 1"/>
          <p:cNvSpPr/>
          <p:nvPr/>
        </p:nvSpPr>
        <p:spPr>
          <a:xfrm>
            <a:off x="793790" y="3413641"/>
            <a:ext cx="13042821" cy="453509"/>
          </a:xfrm>
          <a:prstGeom prst="rect">
            <a:avLst/>
          </a:prstGeom>
          <a:noFill/>
          <a:ln/>
        </p:spPr>
        <p:txBody>
          <a:bodyPr wrap="none" lIns="0" tIns="0" rIns="0" bIns="0" rtlCol="0" anchor="t"/>
          <a:lstStyle/>
          <a:p>
            <a:pPr algn="l" indent="0" marL="0">
              <a:lnSpc>
                <a:spcPts val="3550"/>
              </a:lnSpc>
              <a:buNone/>
            </a:pPr>
            <a:r>
              <a:rPr lang="en-US" sz="2200" i="1" dirty="0">
                <a:solidFill>
                  <a:srgbClr val="15213F"/>
                </a:solidFill>
                <a:latin typeface="Roboto" pitchFamily="34" charset="0"/>
                <a:ea typeface="Roboto" pitchFamily="34" charset="-122"/>
                <a:cs typeface="Roboto" pitchFamily="34" charset="-120"/>
              </a:rPr>
              <a:t>Extending UTAUT2 for Enterprise AI Adoption</a:t>
            </a:r>
            <a:endParaRPr lang="en-US" sz="2200" dirty="0"/>
          </a:p>
        </p:txBody>
      </p:sp>
      <p:sp>
        <p:nvSpPr>
          <p:cNvPr id="4" name="Shape 2"/>
          <p:cNvSpPr/>
          <p:nvPr/>
        </p:nvSpPr>
        <p:spPr>
          <a:xfrm>
            <a:off x="793790" y="4235681"/>
            <a:ext cx="13042821" cy="35957"/>
          </a:xfrm>
          <a:prstGeom prst="rect">
            <a:avLst/>
          </a:prstGeom>
          <a:solidFill>
            <a:srgbClr val="15213F">
              <a:alpha val="50000"/>
            </a:srgbClr>
          </a:solidFill>
          <a:ln/>
        </p:spPr>
      </p:sp>
      <p:sp>
        <p:nvSpPr>
          <p:cNvPr id="5" name="Text 3"/>
          <p:cNvSpPr/>
          <p:nvPr/>
        </p:nvSpPr>
        <p:spPr>
          <a:xfrm>
            <a:off x="793790" y="4526756"/>
            <a:ext cx="13042821" cy="1451610"/>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Fabio Correa</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Doctor of Business Administration</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December 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505075"/>
            <a:ext cx="9468683"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Distinguished Committee Members</a:t>
            </a:r>
            <a:endParaRPr lang="en-US" sz="4450" dirty="0"/>
          </a:p>
        </p:txBody>
      </p:sp>
      <p:sp>
        <p:nvSpPr>
          <p:cNvPr id="3" name="Shape 1"/>
          <p:cNvSpPr/>
          <p:nvPr/>
        </p:nvSpPr>
        <p:spPr>
          <a:xfrm>
            <a:off x="793790" y="3667482"/>
            <a:ext cx="4196358" cy="1438870"/>
          </a:xfrm>
          <a:prstGeom prst="roundRect">
            <a:avLst>
              <a:gd name="adj" fmla="val 10168"/>
            </a:avLst>
          </a:prstGeom>
          <a:solidFill>
            <a:srgbClr val="FBFCFE"/>
          </a:solidFill>
          <a:ln w="30480">
            <a:solidFill>
              <a:srgbClr val="CFD2D8"/>
            </a:solidFill>
            <a:prstDash val="solid"/>
          </a:ln>
        </p:spPr>
      </p:sp>
      <p:pic>
        <p:nvPicPr>
          <p:cNvPr id="4" name="Image 0" descr="preencoded.png">    </p:cNvPr>
          <p:cNvPicPr>
            <a:picLocks noChangeAspect="1"/>
          </p:cNvPicPr>
          <p:nvPr/>
        </p:nvPicPr>
        <p:blipFill>
          <a:blip r:embed="rId1"/>
          <a:stretch>
            <a:fillRect/>
          </a:stretch>
        </p:blipFill>
        <p:spPr>
          <a:xfrm>
            <a:off x="763310" y="3667482"/>
            <a:ext cx="121920" cy="1438870"/>
          </a:xfrm>
          <a:prstGeom prst="rect">
            <a:avLst/>
          </a:prstGeom>
        </p:spPr>
      </p:pic>
      <p:sp>
        <p:nvSpPr>
          <p:cNvPr id="5" name="Text 2"/>
          <p:cNvSpPr/>
          <p:nvPr/>
        </p:nvSpPr>
        <p:spPr>
          <a:xfrm>
            <a:off x="1142524" y="3924776"/>
            <a:ext cx="3422094" cy="425291"/>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Dr. Karina Kasztelnik</a:t>
            </a:r>
            <a:endParaRPr lang="en-US" sz="2650" dirty="0"/>
          </a:p>
        </p:txBody>
      </p:sp>
      <p:sp>
        <p:nvSpPr>
          <p:cNvPr id="6" name="Text 3"/>
          <p:cNvSpPr/>
          <p:nvPr/>
        </p:nvSpPr>
        <p:spPr>
          <a:xfrm>
            <a:off x="1142524" y="4486156"/>
            <a:ext cx="3590330"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Committee Chair</a:t>
            </a:r>
            <a:endParaRPr lang="en-US" sz="1750" dirty="0"/>
          </a:p>
        </p:txBody>
      </p:sp>
      <p:sp>
        <p:nvSpPr>
          <p:cNvPr id="7" name="Shape 4"/>
          <p:cNvSpPr/>
          <p:nvPr/>
        </p:nvSpPr>
        <p:spPr>
          <a:xfrm>
            <a:off x="5216962" y="3667482"/>
            <a:ext cx="4196358" cy="1438870"/>
          </a:xfrm>
          <a:prstGeom prst="roundRect">
            <a:avLst>
              <a:gd name="adj" fmla="val 10168"/>
            </a:avLst>
          </a:prstGeom>
          <a:solidFill>
            <a:srgbClr val="FBFCFE"/>
          </a:solidFill>
          <a:ln w="30480">
            <a:solidFill>
              <a:srgbClr val="CFD2D8"/>
            </a:solidFill>
            <a:prstDash val="solid"/>
          </a:ln>
        </p:spPr>
      </p:sp>
      <p:pic>
        <p:nvPicPr>
          <p:cNvPr id="8" name="Image 1" descr="preencoded.png">    </p:cNvPr>
          <p:cNvPicPr>
            <a:picLocks noChangeAspect="1"/>
          </p:cNvPicPr>
          <p:nvPr/>
        </p:nvPicPr>
        <p:blipFill>
          <a:blip r:embed="rId2"/>
          <a:stretch>
            <a:fillRect/>
          </a:stretch>
        </p:blipFill>
        <p:spPr>
          <a:xfrm>
            <a:off x="5186482" y="3667482"/>
            <a:ext cx="121920" cy="1438870"/>
          </a:xfrm>
          <a:prstGeom prst="rect">
            <a:avLst/>
          </a:prstGeom>
        </p:spPr>
      </p:pic>
      <p:sp>
        <p:nvSpPr>
          <p:cNvPr id="9" name="Text 5"/>
          <p:cNvSpPr/>
          <p:nvPr/>
        </p:nvSpPr>
        <p:spPr>
          <a:xfrm>
            <a:off x="5565696" y="392477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Dr. Jerome Jones</a:t>
            </a:r>
            <a:endParaRPr lang="en-US" sz="2650" dirty="0"/>
          </a:p>
        </p:txBody>
      </p:sp>
      <p:sp>
        <p:nvSpPr>
          <p:cNvPr id="10" name="Text 6"/>
          <p:cNvSpPr/>
          <p:nvPr/>
        </p:nvSpPr>
        <p:spPr>
          <a:xfrm>
            <a:off x="5565696" y="4486156"/>
            <a:ext cx="3590330"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11" name="Shape 7"/>
          <p:cNvSpPr/>
          <p:nvPr/>
        </p:nvSpPr>
        <p:spPr>
          <a:xfrm>
            <a:off x="9640133" y="3667482"/>
            <a:ext cx="4196358" cy="1438870"/>
          </a:xfrm>
          <a:prstGeom prst="roundRect">
            <a:avLst>
              <a:gd name="adj" fmla="val 10168"/>
            </a:avLst>
          </a:prstGeom>
          <a:solidFill>
            <a:srgbClr val="FBFCFE"/>
          </a:solidFill>
          <a:ln w="30480">
            <a:solidFill>
              <a:srgbClr val="CFD2D8"/>
            </a:solidFill>
            <a:prstDash val="solid"/>
          </a:ln>
        </p:spPr>
      </p:sp>
      <p:pic>
        <p:nvPicPr>
          <p:cNvPr id="12" name="Image 2" descr="preencoded.png">    </p:cNvPr>
          <p:cNvPicPr>
            <a:picLocks noChangeAspect="1"/>
          </p:cNvPicPr>
          <p:nvPr/>
        </p:nvPicPr>
        <p:blipFill>
          <a:blip r:embed="rId3"/>
          <a:stretch>
            <a:fillRect/>
          </a:stretch>
        </p:blipFill>
        <p:spPr>
          <a:xfrm>
            <a:off x="9609653" y="3667482"/>
            <a:ext cx="121920" cy="1438870"/>
          </a:xfrm>
          <a:prstGeom prst="rect">
            <a:avLst/>
          </a:prstGeom>
        </p:spPr>
      </p:pic>
      <p:sp>
        <p:nvSpPr>
          <p:cNvPr id="13" name="Text 8"/>
          <p:cNvSpPr/>
          <p:nvPr/>
        </p:nvSpPr>
        <p:spPr>
          <a:xfrm>
            <a:off x="9988868" y="392477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Dr. Donna Day</a:t>
            </a:r>
            <a:endParaRPr lang="en-US" sz="2650" dirty="0"/>
          </a:p>
        </p:txBody>
      </p:sp>
      <p:sp>
        <p:nvSpPr>
          <p:cNvPr id="14" name="Text 9"/>
          <p:cNvSpPr/>
          <p:nvPr/>
        </p:nvSpPr>
        <p:spPr>
          <a:xfrm>
            <a:off x="9988868" y="4486156"/>
            <a:ext cx="3590330"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15" name="Text 10"/>
          <p:cNvSpPr/>
          <p:nvPr/>
        </p:nvSpPr>
        <p:spPr>
          <a:xfrm>
            <a:off x="793790" y="53615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Thank you for the opportunity to present this research and for your guidance throughout this doctoral journey.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23142"/>
            <a:ext cx="6091118"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Presentation Overview</a:t>
            </a:r>
            <a:endParaRPr lang="en-US" sz="4450" dirty="0"/>
          </a:p>
        </p:txBody>
      </p:sp>
      <p:sp>
        <p:nvSpPr>
          <p:cNvPr id="3" name="Text 1"/>
          <p:cNvSpPr/>
          <p:nvPr/>
        </p:nvSpPr>
        <p:spPr>
          <a:xfrm>
            <a:off x="793790" y="248554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2840593"/>
            <a:ext cx="4196358" cy="30480"/>
          </a:xfrm>
          <a:prstGeom prst="rect">
            <a:avLst/>
          </a:prstGeom>
        </p:spPr>
      </p:pic>
      <p:sp>
        <p:nvSpPr>
          <p:cNvPr id="5" name="Text 2"/>
          <p:cNvSpPr/>
          <p:nvPr/>
        </p:nvSpPr>
        <p:spPr>
          <a:xfrm>
            <a:off x="793790" y="3014901"/>
            <a:ext cx="3364944"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The AI Adoption Paradox</a:t>
            </a:r>
            <a:endParaRPr lang="en-US" sz="2200" dirty="0"/>
          </a:p>
        </p:txBody>
      </p:sp>
      <p:sp>
        <p:nvSpPr>
          <p:cNvPr id="6" name="Text 3"/>
          <p:cNvSpPr/>
          <p:nvPr/>
        </p:nvSpPr>
        <p:spPr>
          <a:xfrm>
            <a:off x="793790" y="3505319"/>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Understanding the critical gap between investment and value realization in enterprise AI initiatives</a:t>
            </a:r>
            <a:endParaRPr lang="en-US" sz="1750" dirty="0"/>
          </a:p>
        </p:txBody>
      </p:sp>
      <p:sp>
        <p:nvSpPr>
          <p:cNvPr id="7" name="Text 4"/>
          <p:cNvSpPr/>
          <p:nvPr/>
        </p:nvSpPr>
        <p:spPr>
          <a:xfrm>
            <a:off x="5216962" y="248554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5216962" y="2840593"/>
            <a:ext cx="4196358" cy="30480"/>
          </a:xfrm>
          <a:prstGeom prst="rect">
            <a:avLst/>
          </a:prstGeom>
        </p:spPr>
      </p:pic>
      <p:sp>
        <p:nvSpPr>
          <p:cNvPr id="9" name="Text 5"/>
          <p:cNvSpPr/>
          <p:nvPr/>
        </p:nvSpPr>
        <p:spPr>
          <a:xfrm>
            <a:off x="5216962" y="3014901"/>
            <a:ext cx="3163014"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Theoretical Framework</a:t>
            </a:r>
            <a:endParaRPr lang="en-US" sz="2200" dirty="0"/>
          </a:p>
        </p:txBody>
      </p:sp>
      <p:sp>
        <p:nvSpPr>
          <p:cNvPr id="10" name="Text 6"/>
          <p:cNvSpPr/>
          <p:nvPr/>
        </p:nvSpPr>
        <p:spPr>
          <a:xfrm>
            <a:off x="5216962" y="3505319"/>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Extending UTAUT2 with AI-specific constructs to address unique adoption challenges</a:t>
            </a:r>
            <a:endParaRPr lang="en-US" sz="1750" dirty="0"/>
          </a:p>
        </p:txBody>
      </p:sp>
      <p:sp>
        <p:nvSpPr>
          <p:cNvPr id="11" name="Text 7"/>
          <p:cNvSpPr/>
          <p:nvPr/>
        </p:nvSpPr>
        <p:spPr>
          <a:xfrm>
            <a:off x="9640133" y="248554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9640133" y="2840593"/>
            <a:ext cx="4196358" cy="30480"/>
          </a:xfrm>
          <a:prstGeom prst="rect">
            <a:avLst/>
          </a:prstGeom>
        </p:spPr>
      </p:pic>
      <p:sp>
        <p:nvSpPr>
          <p:cNvPr id="13" name="Text 8"/>
          <p:cNvSpPr/>
          <p:nvPr/>
        </p:nvSpPr>
        <p:spPr>
          <a:xfrm>
            <a:off x="9640133" y="3014901"/>
            <a:ext cx="3056692"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Research Methodology</a:t>
            </a:r>
            <a:endParaRPr lang="en-US" sz="2200" dirty="0"/>
          </a:p>
        </p:txBody>
      </p:sp>
      <p:sp>
        <p:nvSpPr>
          <p:cNvPr id="14" name="Text 9"/>
          <p:cNvSpPr/>
          <p:nvPr/>
        </p:nvSpPr>
        <p:spPr>
          <a:xfrm>
            <a:off x="9640133" y="3505319"/>
            <a:ext cx="4196358"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Rigorous psychometric validation with 523 participants across academic and professional contexts</a:t>
            </a:r>
            <a:endParaRPr lang="en-US" sz="1750" dirty="0"/>
          </a:p>
        </p:txBody>
      </p:sp>
      <p:sp>
        <p:nvSpPr>
          <p:cNvPr id="15" name="Text 10"/>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r>
          <p:cNvPicPr>
            <a:picLocks noChangeAspect="1"/>
          </p:cNvPicPr>
          <p:nvPr/>
        </p:nvPicPr>
        <p:blipFill>
          <a:blip r:embed="rId4"/>
          <a:stretch>
            <a:fillRect/>
          </a:stretch>
        </p:blipFill>
        <p:spPr>
          <a:xfrm>
            <a:off x="793790" y="5323165"/>
            <a:ext cx="6407944" cy="30480"/>
          </a:xfrm>
          <a:prstGeom prst="rect">
            <a:avLst/>
          </a:prstGeom>
        </p:spPr>
      </p:pic>
      <p:sp>
        <p:nvSpPr>
          <p:cNvPr id="17" name="Text 11"/>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Key Findings</a:t>
            </a:r>
            <a:endParaRPr lang="en-US" sz="2200" dirty="0"/>
          </a:p>
        </p:txBody>
      </p:sp>
      <p:sp>
        <p:nvSpPr>
          <p:cNvPr id="18" name="Text 12"/>
          <p:cNvSpPr/>
          <p:nvPr/>
        </p:nvSpPr>
        <p:spPr>
          <a:xfrm>
            <a:off x="793790" y="6010632"/>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Paradigm-shifting results that challenge 30 years of technology acceptance research</a:t>
            </a:r>
            <a:endParaRPr lang="en-US" sz="1750" dirty="0"/>
          </a:p>
        </p:txBody>
      </p:sp>
      <p:sp>
        <p:nvSpPr>
          <p:cNvPr id="19" name="Text 13"/>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05</a:t>
            </a:r>
            <a:endParaRPr lang="en-US" sz="1750" dirty="0"/>
          </a:p>
        </p:txBody>
      </p:sp>
      <p:pic>
        <p:nvPicPr>
          <p:cNvPr id="20" name="Image 4" descr="preencoded.png">    </p:cNvPr>
          <p:cNvPicPr>
            <a:picLocks noChangeAspect="1"/>
          </p:cNvPicPr>
          <p:nvPr/>
        </p:nvPicPr>
        <p:blipFill>
          <a:blip r:embed="rId5"/>
          <a:stretch>
            <a:fillRect/>
          </a:stretch>
        </p:blipFill>
        <p:spPr>
          <a:xfrm>
            <a:off x="7428548" y="5323165"/>
            <a:ext cx="6407944" cy="30480"/>
          </a:xfrm>
          <a:prstGeom prst="rect">
            <a:avLst/>
          </a:prstGeom>
        </p:spPr>
      </p:pic>
      <p:sp>
        <p:nvSpPr>
          <p:cNvPr id="21" name="Text 14"/>
          <p:cNvSpPr/>
          <p:nvPr/>
        </p:nvSpPr>
        <p:spPr>
          <a:xfrm>
            <a:off x="7428548" y="5520214"/>
            <a:ext cx="3841671"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Contributions &amp; Implications</a:t>
            </a:r>
            <a:endParaRPr lang="en-US" sz="2200" dirty="0"/>
          </a:p>
        </p:txBody>
      </p:sp>
      <p:sp>
        <p:nvSpPr>
          <p:cNvPr id="22" name="Text 15"/>
          <p:cNvSpPr/>
          <p:nvPr/>
        </p:nvSpPr>
        <p:spPr>
          <a:xfrm>
            <a:off x="7428548" y="6010632"/>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Theoretical advances, practical tools, and evidence-based recommendations for organizations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08541"/>
            <a:ext cx="6732627"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The AI Adoption Paradox</a:t>
            </a:r>
            <a:endParaRPr lang="en-US" sz="4450" dirty="0"/>
          </a:p>
        </p:txBody>
      </p:sp>
      <p:sp>
        <p:nvSpPr>
          <p:cNvPr id="3" name="Text 1"/>
          <p:cNvSpPr/>
          <p:nvPr/>
        </p:nvSpPr>
        <p:spPr>
          <a:xfrm>
            <a:off x="793790" y="187094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Organizations worldwide are investing heavily in artificial intelligence, yet most initiatives fail to deliver meaningful business value. This represents one of the most significant challenges facing modern enterprises.</a:t>
            </a:r>
            <a:endParaRPr lang="en-US" sz="1750" dirty="0"/>
          </a:p>
        </p:txBody>
      </p:sp>
      <p:sp>
        <p:nvSpPr>
          <p:cNvPr id="4" name="Text 2"/>
          <p:cNvSpPr/>
          <p:nvPr/>
        </p:nvSpPr>
        <p:spPr>
          <a:xfrm>
            <a:off x="793790" y="2965252"/>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88%</a:t>
            </a:r>
            <a:endParaRPr lang="en-US" sz="5850" dirty="0"/>
          </a:p>
        </p:txBody>
      </p:sp>
      <p:sp>
        <p:nvSpPr>
          <p:cNvPr id="5" name="Text 3"/>
          <p:cNvSpPr/>
          <p:nvPr/>
        </p:nvSpPr>
        <p:spPr>
          <a:xfrm>
            <a:off x="1455420" y="399704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Report AI Adoption</a:t>
            </a:r>
            <a:endParaRPr lang="en-US" sz="2200" dirty="0"/>
          </a:p>
        </p:txBody>
      </p:sp>
      <p:sp>
        <p:nvSpPr>
          <p:cNvPr id="6" name="Text 4"/>
          <p:cNvSpPr/>
          <p:nvPr/>
        </p:nvSpPr>
        <p:spPr>
          <a:xfrm>
            <a:off x="793790" y="4487466"/>
            <a:ext cx="4158615"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Organizations claim to be using AI in some capacity (McKinsey, 2025)</a:t>
            </a:r>
            <a:endParaRPr lang="en-US" sz="1750" dirty="0"/>
          </a:p>
        </p:txBody>
      </p:sp>
      <p:sp>
        <p:nvSpPr>
          <p:cNvPr id="7" name="Text 5"/>
          <p:cNvSpPr/>
          <p:nvPr/>
        </p:nvSpPr>
        <p:spPr>
          <a:xfrm>
            <a:off x="5235893" y="2965252"/>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6%</a:t>
            </a:r>
            <a:endParaRPr lang="en-US" sz="5850" dirty="0"/>
          </a:p>
        </p:txBody>
      </p:sp>
      <p:sp>
        <p:nvSpPr>
          <p:cNvPr id="8" name="Text 6"/>
          <p:cNvSpPr/>
          <p:nvPr/>
        </p:nvSpPr>
        <p:spPr>
          <a:xfrm>
            <a:off x="5897523" y="399704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Achieve Real Value</a:t>
            </a:r>
            <a:endParaRPr lang="en-US" sz="2200" dirty="0"/>
          </a:p>
        </p:txBody>
      </p:sp>
      <p:sp>
        <p:nvSpPr>
          <p:cNvPr id="9" name="Text 7"/>
          <p:cNvSpPr/>
          <p:nvPr/>
        </p:nvSpPr>
        <p:spPr>
          <a:xfrm>
            <a:off x="5235893" y="4487466"/>
            <a:ext cx="4158615"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Organizations actually realize meaningful business value from their AI investments</a:t>
            </a:r>
            <a:endParaRPr lang="en-US" sz="1750" dirty="0"/>
          </a:p>
        </p:txBody>
      </p:sp>
      <p:sp>
        <p:nvSpPr>
          <p:cNvPr id="10" name="Text 8"/>
          <p:cNvSpPr/>
          <p:nvPr/>
        </p:nvSpPr>
        <p:spPr>
          <a:xfrm>
            <a:off x="9677995" y="2965252"/>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95%</a:t>
            </a:r>
            <a:endParaRPr lang="en-US" sz="5850" dirty="0"/>
          </a:p>
        </p:txBody>
      </p:sp>
      <p:sp>
        <p:nvSpPr>
          <p:cNvPr id="11" name="Text 9"/>
          <p:cNvSpPr/>
          <p:nvPr/>
        </p:nvSpPr>
        <p:spPr>
          <a:xfrm>
            <a:off x="10339626" y="399704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Pilots Fail to Scale</a:t>
            </a:r>
            <a:endParaRPr lang="en-US" sz="2200" dirty="0"/>
          </a:p>
        </p:txBody>
      </p:sp>
      <p:sp>
        <p:nvSpPr>
          <p:cNvPr id="12" name="Text 10"/>
          <p:cNvSpPr/>
          <p:nvPr/>
        </p:nvSpPr>
        <p:spPr>
          <a:xfrm>
            <a:off x="9677995" y="4487466"/>
            <a:ext cx="4158615" cy="1088708"/>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Generative AI initiatives never move beyond experimental stages (MIT Media Lab)</a:t>
            </a:r>
            <a:endParaRPr lang="en-US" sz="1750" dirty="0"/>
          </a:p>
        </p:txBody>
      </p:sp>
      <p:sp>
        <p:nvSpPr>
          <p:cNvPr id="13" name="Shape 11"/>
          <p:cNvSpPr/>
          <p:nvPr/>
        </p:nvSpPr>
        <p:spPr>
          <a:xfrm>
            <a:off x="793790" y="5831324"/>
            <a:ext cx="13042821" cy="1689616"/>
          </a:xfrm>
          <a:prstGeom prst="roundRect">
            <a:avLst>
              <a:gd name="adj" fmla="val 2014"/>
            </a:avLst>
          </a:prstGeom>
          <a:solidFill>
            <a:srgbClr val="C3CFEF"/>
          </a:solidFill>
          <a:ln/>
        </p:spPr>
      </p:sp>
      <p:pic>
        <p:nvPicPr>
          <p:cNvPr id="14" name="Image 0" descr="preencoded.png">    </p:cNvPr>
          <p:cNvPicPr>
            <a:picLocks noChangeAspect="1"/>
          </p:cNvPicPr>
          <p:nvPr/>
        </p:nvPicPr>
        <p:blipFill>
          <a:blip r:embed="rId1"/>
          <a:stretch>
            <a:fillRect/>
          </a:stretch>
        </p:blipFill>
        <p:spPr>
          <a:xfrm>
            <a:off x="1020604" y="6175415"/>
            <a:ext cx="283488" cy="226814"/>
          </a:xfrm>
          <a:prstGeom prst="rect">
            <a:avLst/>
          </a:prstGeom>
        </p:spPr>
      </p:pic>
      <p:sp>
        <p:nvSpPr>
          <p:cNvPr id="15" name="Text 12"/>
          <p:cNvSpPr/>
          <p:nvPr/>
        </p:nvSpPr>
        <p:spPr>
          <a:xfrm>
            <a:off x="1530906" y="6114812"/>
            <a:ext cx="12078891" cy="1088708"/>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Roboto" pitchFamily="34" charset="0"/>
                <a:ea typeface="Roboto" pitchFamily="34" charset="-122"/>
                <a:cs typeface="Roboto" pitchFamily="34" charset="-120"/>
              </a:rPr>
              <a:t>The Critical Gap:</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Organizations excel at deploying AI technology but fundamentally misunderstand why individuals adopt or resist these tools. This human-centered challenge—not technical limitations—drives the overwhelming failure rate.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53058"/>
            <a:ext cx="9834324"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Three Interconnected Research Gaps</a:t>
            </a:r>
            <a:endParaRPr lang="en-US" sz="4450" dirty="0"/>
          </a:p>
        </p:txBody>
      </p:sp>
      <p:sp>
        <p:nvSpPr>
          <p:cNvPr id="3" name="Shape 1"/>
          <p:cNvSpPr/>
          <p:nvPr/>
        </p:nvSpPr>
        <p:spPr>
          <a:xfrm>
            <a:off x="793790" y="1815465"/>
            <a:ext cx="4196358" cy="5143024"/>
          </a:xfrm>
          <a:prstGeom prst="roundRect">
            <a:avLst>
              <a:gd name="adj" fmla="val 811"/>
            </a:avLst>
          </a:prstGeom>
          <a:solidFill>
            <a:srgbClr val="3257B8"/>
          </a:solidFill>
          <a:ln/>
        </p:spPr>
      </p:sp>
      <p:sp>
        <p:nvSpPr>
          <p:cNvPr id="4" name="Text 2"/>
          <p:cNvSpPr/>
          <p:nvPr/>
        </p:nvSpPr>
        <p:spPr>
          <a:xfrm>
            <a:off x="1020604" y="204227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Slab" pitchFamily="34" charset="0"/>
                <a:ea typeface="Roboto Slab" pitchFamily="34" charset="-122"/>
                <a:cs typeface="Roboto Slab" pitchFamily="34" charset="-120"/>
              </a:rPr>
              <a:t>Theoretical Gap</a:t>
            </a:r>
            <a:endParaRPr lang="en-US" sz="2650" dirty="0"/>
          </a:p>
        </p:txBody>
      </p:sp>
      <p:sp>
        <p:nvSpPr>
          <p:cNvPr id="5" name="Text 3"/>
          <p:cNvSpPr/>
          <p:nvPr/>
        </p:nvSpPr>
        <p:spPr>
          <a:xfrm>
            <a:off x="1020604" y="2603659"/>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UTAUT2 was validated on mobile apps, internet banking, and consumer technologies—not AI systems with autonomous decision-making capabilities.</a:t>
            </a:r>
            <a:endParaRPr lang="en-US" sz="1750" dirty="0"/>
          </a:p>
        </p:txBody>
      </p:sp>
      <p:sp>
        <p:nvSpPr>
          <p:cNvPr id="6" name="Text 4"/>
          <p:cNvSpPr/>
          <p:nvPr/>
        </p:nvSpPr>
        <p:spPr>
          <a:xfrm>
            <a:off x="1020604" y="4554260"/>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Venkatesh (2021) identified nine unique AI adoption challenges that existing frameworks fail to address, including trust in opaque systems, ethical concerns, and algorithmic accountability.</a:t>
            </a:r>
            <a:endParaRPr lang="en-US" sz="1750" dirty="0"/>
          </a:p>
        </p:txBody>
      </p:sp>
      <p:sp>
        <p:nvSpPr>
          <p:cNvPr id="7" name="Shape 5"/>
          <p:cNvSpPr/>
          <p:nvPr/>
        </p:nvSpPr>
        <p:spPr>
          <a:xfrm>
            <a:off x="5216962" y="1815465"/>
            <a:ext cx="4196358" cy="5143024"/>
          </a:xfrm>
          <a:prstGeom prst="roundRect">
            <a:avLst>
              <a:gd name="adj" fmla="val 811"/>
            </a:avLst>
          </a:prstGeom>
          <a:solidFill>
            <a:srgbClr val="3257B8"/>
          </a:solidFill>
          <a:ln/>
        </p:spPr>
      </p:sp>
      <p:sp>
        <p:nvSpPr>
          <p:cNvPr id="8" name="Text 6"/>
          <p:cNvSpPr/>
          <p:nvPr/>
        </p:nvSpPr>
        <p:spPr>
          <a:xfrm>
            <a:off x="5443776" y="204227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Slab" pitchFamily="34" charset="0"/>
                <a:ea typeface="Roboto Slab" pitchFamily="34" charset="-122"/>
                <a:cs typeface="Roboto Slab" pitchFamily="34" charset="-120"/>
              </a:rPr>
              <a:t>Measurement Gap</a:t>
            </a:r>
            <a:endParaRPr lang="en-US" sz="2650" dirty="0"/>
          </a:p>
        </p:txBody>
      </p:sp>
      <p:sp>
        <p:nvSpPr>
          <p:cNvPr id="9" name="Text 7"/>
          <p:cNvSpPr/>
          <p:nvPr/>
        </p:nvSpPr>
        <p:spPr>
          <a:xfrm>
            <a:off x="5443776" y="2603659"/>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No psychometrically validated instrument exists to measure AI adoption readiness specifically.</a:t>
            </a:r>
            <a:endParaRPr lang="en-US" sz="1750" dirty="0"/>
          </a:p>
        </p:txBody>
      </p:sp>
      <p:sp>
        <p:nvSpPr>
          <p:cNvPr id="10" name="Text 8"/>
          <p:cNvSpPr/>
          <p:nvPr/>
        </p:nvSpPr>
        <p:spPr>
          <a:xfrm>
            <a:off x="5443776" y="3828455"/>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Organizations rely on ad hoc surveys, general technology readiness scales, or no formal assessment at all—resulting in misdiagnosed adoption barriers.</a:t>
            </a:r>
            <a:endParaRPr lang="en-US" sz="1750" dirty="0"/>
          </a:p>
        </p:txBody>
      </p:sp>
      <p:sp>
        <p:nvSpPr>
          <p:cNvPr id="11" name="Shape 9"/>
          <p:cNvSpPr/>
          <p:nvPr/>
        </p:nvSpPr>
        <p:spPr>
          <a:xfrm>
            <a:off x="9640133" y="1815465"/>
            <a:ext cx="4196358" cy="5143024"/>
          </a:xfrm>
          <a:prstGeom prst="roundRect">
            <a:avLst>
              <a:gd name="adj" fmla="val 811"/>
            </a:avLst>
          </a:prstGeom>
          <a:solidFill>
            <a:srgbClr val="3257B8"/>
          </a:solidFill>
          <a:ln/>
        </p:spPr>
      </p:sp>
      <p:sp>
        <p:nvSpPr>
          <p:cNvPr id="12" name="Text 10"/>
          <p:cNvSpPr/>
          <p:nvPr/>
        </p:nvSpPr>
        <p:spPr>
          <a:xfrm>
            <a:off x="9866948" y="2042279"/>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Slab" pitchFamily="34" charset="0"/>
                <a:ea typeface="Roboto Slab" pitchFamily="34" charset="-122"/>
                <a:cs typeface="Roboto Slab" pitchFamily="34" charset="-120"/>
              </a:rPr>
              <a:t>Practice Gap</a:t>
            </a:r>
            <a:endParaRPr lang="en-US" sz="2650" dirty="0"/>
          </a:p>
        </p:txBody>
      </p:sp>
      <p:sp>
        <p:nvSpPr>
          <p:cNvPr id="13" name="Text 11"/>
          <p:cNvSpPr/>
          <p:nvPr/>
        </p:nvSpPr>
        <p:spPr>
          <a:xfrm>
            <a:off x="9866948" y="2603659"/>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Without valid diagnostic tools, organizations cannot identify which employees will adopt AI, which will resist, and why.</a:t>
            </a:r>
            <a:endParaRPr lang="en-US" sz="1750" dirty="0"/>
          </a:p>
        </p:txBody>
      </p:sp>
      <p:sp>
        <p:nvSpPr>
          <p:cNvPr id="14" name="Text 12"/>
          <p:cNvSpPr/>
          <p:nvPr/>
        </p:nvSpPr>
        <p:spPr>
          <a:xfrm>
            <a:off x="9866948" y="4191357"/>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This diagnostic void contributes directly to the 90-95% pilot failure rate and billions in wasted AI investments.</a:t>
            </a:r>
            <a:endParaRPr lang="en-US" sz="1750" dirty="0"/>
          </a:p>
        </p:txBody>
      </p:sp>
      <p:sp>
        <p:nvSpPr>
          <p:cNvPr id="15" name="Text 13"/>
          <p:cNvSpPr/>
          <p:nvPr/>
        </p:nvSpPr>
        <p:spPr>
          <a:xfrm>
            <a:off x="793790" y="721364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research addresses all three gaps through theoretical extension, rigorous instrument development, and practical validation.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95933"/>
            <a:ext cx="681489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Research Questions Framework</a:t>
            </a:r>
            <a:endParaRPr lang="en-US" sz="3550" dirty="0"/>
          </a:p>
        </p:txBody>
      </p:sp>
      <p:sp>
        <p:nvSpPr>
          <p:cNvPr id="3" name="Text 1"/>
          <p:cNvSpPr/>
          <p:nvPr/>
        </p:nvSpPr>
        <p:spPr>
          <a:xfrm>
            <a:off x="1065967" y="1929884"/>
            <a:ext cx="12770644"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Primary Research Question</a:t>
            </a:r>
            <a:endParaRPr lang="en-US" sz="1750" dirty="0"/>
          </a:p>
        </p:txBody>
      </p:sp>
      <p:sp>
        <p:nvSpPr>
          <p:cNvPr id="4" name="Text 2"/>
          <p:cNvSpPr/>
          <p:nvPr/>
        </p:nvSpPr>
        <p:spPr>
          <a:xfrm>
            <a:off x="1065967" y="2496860"/>
            <a:ext cx="1277064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How can UTAUT2 be extended with AI-specific constructs to better predict behavioral intention to adopt AI tools in professional and academic contexts?</a:t>
            </a:r>
            <a:endParaRPr lang="en-US" sz="1400" dirty="0"/>
          </a:p>
        </p:txBody>
      </p:sp>
      <p:sp>
        <p:nvSpPr>
          <p:cNvPr id="5" name="Shape 3"/>
          <p:cNvSpPr/>
          <p:nvPr/>
        </p:nvSpPr>
        <p:spPr>
          <a:xfrm>
            <a:off x="793790" y="1725811"/>
            <a:ext cx="22860" cy="1265396"/>
          </a:xfrm>
          <a:prstGeom prst="rect">
            <a:avLst/>
          </a:prstGeom>
          <a:solidFill>
            <a:srgbClr val="3257B8"/>
          </a:solidFill>
          <a:ln/>
        </p:spPr>
      </p:sp>
      <p:sp>
        <p:nvSpPr>
          <p:cNvPr id="6" name="Text 4"/>
          <p:cNvSpPr/>
          <p:nvPr/>
        </p:nvSpPr>
        <p:spPr>
          <a:xfrm>
            <a:off x="793790" y="3263384"/>
            <a:ext cx="5271373" cy="453628"/>
          </a:xfrm>
          <a:prstGeom prst="rect">
            <a:avLst/>
          </a:prstGeom>
          <a:noFill/>
          <a:ln/>
        </p:spPr>
        <p:txBody>
          <a:bodyPr wrap="none" lIns="0" tIns="0" rIns="0" bIns="0" rtlCol="0" anchor="t"/>
          <a:lstStyle/>
          <a:p>
            <a:pPr algn="l" indent="0" marL="0">
              <a:lnSpc>
                <a:spcPts val="3550"/>
              </a:lnSpc>
              <a:buNone/>
            </a:pPr>
            <a:r>
              <a:rPr lang="en-US" sz="2850" dirty="0">
                <a:solidFill>
                  <a:srgbClr val="3257B8"/>
                </a:solidFill>
                <a:latin typeface="Roboto Slab" pitchFamily="34" charset="0"/>
                <a:ea typeface="Roboto Slab" pitchFamily="34" charset="-122"/>
                <a:cs typeface="Roboto Slab" pitchFamily="34" charset="-120"/>
              </a:rPr>
              <a:t>Secondary Research Questions</a:t>
            </a:r>
            <a:endParaRPr lang="en-US" sz="2850" dirty="0"/>
          </a:p>
        </p:txBody>
      </p:sp>
      <p:sp>
        <p:nvSpPr>
          <p:cNvPr id="7" name="Shape 5"/>
          <p:cNvSpPr/>
          <p:nvPr/>
        </p:nvSpPr>
        <p:spPr>
          <a:xfrm>
            <a:off x="793790" y="3989189"/>
            <a:ext cx="13042821" cy="3444478"/>
          </a:xfrm>
          <a:prstGeom prst="roundRect">
            <a:avLst>
              <a:gd name="adj" fmla="val 790"/>
            </a:avLst>
          </a:prstGeom>
          <a:noFill/>
          <a:ln w="7620">
            <a:solidFill>
              <a:srgbClr val="000000">
                <a:alpha val="8000"/>
              </a:srgbClr>
            </a:solidFill>
            <a:prstDash val="solid"/>
          </a:ln>
        </p:spPr>
      </p:sp>
      <p:sp>
        <p:nvSpPr>
          <p:cNvPr id="8" name="Shape 6"/>
          <p:cNvSpPr/>
          <p:nvPr/>
        </p:nvSpPr>
        <p:spPr>
          <a:xfrm>
            <a:off x="801410" y="3996809"/>
            <a:ext cx="13027581" cy="523161"/>
          </a:xfrm>
          <a:prstGeom prst="rect">
            <a:avLst/>
          </a:prstGeom>
          <a:solidFill>
            <a:srgbClr val="FFFFFF">
              <a:alpha val="4000"/>
            </a:srgbClr>
          </a:solidFill>
          <a:ln/>
        </p:spPr>
      </p:sp>
      <p:sp>
        <p:nvSpPr>
          <p:cNvPr id="9" name="Text 7"/>
          <p:cNvSpPr/>
          <p:nvPr/>
        </p:nvSpPr>
        <p:spPr>
          <a:xfrm>
            <a:off x="982980" y="4113252"/>
            <a:ext cx="935950"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RQ</a:t>
            </a:r>
            <a:endParaRPr lang="en-US" sz="1400" dirty="0"/>
          </a:p>
        </p:txBody>
      </p:sp>
      <p:sp>
        <p:nvSpPr>
          <p:cNvPr id="10" name="Text 8"/>
          <p:cNvSpPr/>
          <p:nvPr/>
        </p:nvSpPr>
        <p:spPr>
          <a:xfrm>
            <a:off x="2289453" y="4113252"/>
            <a:ext cx="5491877"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Research Focus</a:t>
            </a:r>
            <a:endParaRPr lang="en-US" sz="1400" dirty="0"/>
          </a:p>
        </p:txBody>
      </p:sp>
      <p:sp>
        <p:nvSpPr>
          <p:cNvPr id="11" name="Text 9"/>
          <p:cNvSpPr/>
          <p:nvPr/>
        </p:nvSpPr>
        <p:spPr>
          <a:xfrm>
            <a:off x="8151852" y="4113252"/>
            <a:ext cx="5495687"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Key Finding</a:t>
            </a:r>
            <a:endParaRPr lang="en-US" sz="1400" dirty="0"/>
          </a:p>
        </p:txBody>
      </p:sp>
      <p:sp>
        <p:nvSpPr>
          <p:cNvPr id="12" name="Shape 10"/>
          <p:cNvSpPr/>
          <p:nvPr/>
        </p:nvSpPr>
        <p:spPr>
          <a:xfrm>
            <a:off x="801410" y="4519970"/>
            <a:ext cx="13027581" cy="523161"/>
          </a:xfrm>
          <a:prstGeom prst="rect">
            <a:avLst/>
          </a:prstGeom>
          <a:solidFill>
            <a:srgbClr val="000000">
              <a:alpha val="4000"/>
            </a:srgbClr>
          </a:solidFill>
          <a:ln/>
        </p:spPr>
      </p:sp>
      <p:sp>
        <p:nvSpPr>
          <p:cNvPr id="13" name="Text 11"/>
          <p:cNvSpPr/>
          <p:nvPr/>
        </p:nvSpPr>
        <p:spPr>
          <a:xfrm>
            <a:off x="982980" y="4636413"/>
            <a:ext cx="935950"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RQ1</a:t>
            </a:r>
            <a:endParaRPr lang="en-US" sz="1400" dirty="0"/>
          </a:p>
        </p:txBody>
      </p:sp>
      <p:sp>
        <p:nvSpPr>
          <p:cNvPr id="14" name="Text 12"/>
          <p:cNvSpPr/>
          <p:nvPr/>
        </p:nvSpPr>
        <p:spPr>
          <a:xfrm>
            <a:off x="2289453" y="4636413"/>
            <a:ext cx="549187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What is the factor structure of AI adoption readiness?</a:t>
            </a:r>
            <a:endParaRPr lang="en-US" sz="1400" dirty="0"/>
          </a:p>
        </p:txBody>
      </p:sp>
      <p:sp>
        <p:nvSpPr>
          <p:cNvPr id="15" name="Text 13"/>
          <p:cNvSpPr/>
          <p:nvPr/>
        </p:nvSpPr>
        <p:spPr>
          <a:xfrm>
            <a:off x="8151852" y="4636413"/>
            <a:ext cx="549568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8 validated factors with 16 measurement items</a:t>
            </a:r>
            <a:endParaRPr lang="en-US" sz="1400" dirty="0"/>
          </a:p>
        </p:txBody>
      </p:sp>
      <p:sp>
        <p:nvSpPr>
          <p:cNvPr id="16" name="Shape 14"/>
          <p:cNvSpPr/>
          <p:nvPr/>
        </p:nvSpPr>
        <p:spPr>
          <a:xfrm>
            <a:off x="801410" y="5043130"/>
            <a:ext cx="13027581" cy="523161"/>
          </a:xfrm>
          <a:prstGeom prst="rect">
            <a:avLst/>
          </a:prstGeom>
          <a:solidFill>
            <a:srgbClr val="FFFFFF">
              <a:alpha val="4000"/>
            </a:srgbClr>
          </a:solidFill>
          <a:ln/>
        </p:spPr>
      </p:sp>
      <p:sp>
        <p:nvSpPr>
          <p:cNvPr id="17" name="Text 15"/>
          <p:cNvSpPr/>
          <p:nvPr/>
        </p:nvSpPr>
        <p:spPr>
          <a:xfrm>
            <a:off x="982980" y="5159573"/>
            <a:ext cx="935950"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RQ2</a:t>
            </a:r>
            <a:endParaRPr lang="en-US" sz="1400" dirty="0"/>
          </a:p>
        </p:txBody>
      </p:sp>
      <p:sp>
        <p:nvSpPr>
          <p:cNvPr id="18" name="Text 16"/>
          <p:cNvSpPr/>
          <p:nvPr/>
        </p:nvSpPr>
        <p:spPr>
          <a:xfrm>
            <a:off x="2289453" y="5159573"/>
            <a:ext cx="549187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Does the instrument demonstrate measurement invariance?</a:t>
            </a:r>
            <a:endParaRPr lang="en-US" sz="1400" dirty="0"/>
          </a:p>
        </p:txBody>
      </p:sp>
      <p:sp>
        <p:nvSpPr>
          <p:cNvPr id="19" name="Text 17"/>
          <p:cNvSpPr/>
          <p:nvPr/>
        </p:nvSpPr>
        <p:spPr>
          <a:xfrm>
            <a:off x="8151852" y="5159573"/>
            <a:ext cx="549568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Configural invariance achieved across populations</a:t>
            </a:r>
            <a:endParaRPr lang="en-US" sz="1400" dirty="0"/>
          </a:p>
        </p:txBody>
      </p:sp>
      <p:sp>
        <p:nvSpPr>
          <p:cNvPr id="20" name="Shape 18"/>
          <p:cNvSpPr/>
          <p:nvPr/>
        </p:nvSpPr>
        <p:spPr>
          <a:xfrm>
            <a:off x="801410" y="5566291"/>
            <a:ext cx="13027581" cy="813435"/>
          </a:xfrm>
          <a:prstGeom prst="rect">
            <a:avLst/>
          </a:prstGeom>
          <a:solidFill>
            <a:srgbClr val="000000">
              <a:alpha val="4000"/>
            </a:srgbClr>
          </a:solidFill>
          <a:ln/>
        </p:spPr>
      </p:sp>
      <p:sp>
        <p:nvSpPr>
          <p:cNvPr id="21" name="Text 19"/>
          <p:cNvSpPr/>
          <p:nvPr/>
        </p:nvSpPr>
        <p:spPr>
          <a:xfrm>
            <a:off x="982980" y="5682734"/>
            <a:ext cx="935950"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RQ3</a:t>
            </a:r>
            <a:endParaRPr lang="en-US" sz="1400" dirty="0"/>
          </a:p>
        </p:txBody>
      </p:sp>
      <p:sp>
        <p:nvSpPr>
          <p:cNvPr id="22" name="Text 20"/>
          <p:cNvSpPr/>
          <p:nvPr/>
        </p:nvSpPr>
        <p:spPr>
          <a:xfrm>
            <a:off x="2289453" y="5682734"/>
            <a:ext cx="549187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Which constructs most strongly predict adoption intention?</a:t>
            </a:r>
            <a:endParaRPr lang="en-US" sz="1400" dirty="0"/>
          </a:p>
        </p:txBody>
      </p:sp>
      <p:sp>
        <p:nvSpPr>
          <p:cNvPr id="23" name="Text 21"/>
          <p:cNvSpPr/>
          <p:nvPr/>
        </p:nvSpPr>
        <p:spPr>
          <a:xfrm>
            <a:off x="8151852" y="5682734"/>
            <a:ext cx="5495687"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Price Value dominates (β = .505), followed by Hedonic Motivation and Social Influence</a:t>
            </a:r>
            <a:endParaRPr lang="en-US" sz="1400" dirty="0"/>
          </a:p>
        </p:txBody>
      </p:sp>
      <p:sp>
        <p:nvSpPr>
          <p:cNvPr id="24" name="Shape 22"/>
          <p:cNvSpPr/>
          <p:nvPr/>
        </p:nvSpPr>
        <p:spPr>
          <a:xfrm>
            <a:off x="801410" y="6379726"/>
            <a:ext cx="13027581" cy="523161"/>
          </a:xfrm>
          <a:prstGeom prst="rect">
            <a:avLst/>
          </a:prstGeom>
          <a:solidFill>
            <a:srgbClr val="FFFFFF">
              <a:alpha val="4000"/>
            </a:srgbClr>
          </a:solidFill>
          <a:ln/>
        </p:spPr>
      </p:sp>
      <p:sp>
        <p:nvSpPr>
          <p:cNvPr id="25" name="Text 23"/>
          <p:cNvSpPr/>
          <p:nvPr/>
        </p:nvSpPr>
        <p:spPr>
          <a:xfrm>
            <a:off x="982980" y="6496169"/>
            <a:ext cx="935950"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RQ4</a:t>
            </a:r>
            <a:endParaRPr lang="en-US" sz="1400" dirty="0"/>
          </a:p>
        </p:txBody>
      </p:sp>
      <p:sp>
        <p:nvSpPr>
          <p:cNvPr id="26" name="Text 24"/>
          <p:cNvSpPr/>
          <p:nvPr/>
        </p:nvSpPr>
        <p:spPr>
          <a:xfrm>
            <a:off x="2289453" y="6496169"/>
            <a:ext cx="549187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Does AI Trust predict adoption beyond UTAUT2 constructs?</a:t>
            </a:r>
            <a:endParaRPr lang="en-US" sz="1400" dirty="0"/>
          </a:p>
        </p:txBody>
      </p:sp>
      <p:sp>
        <p:nvSpPr>
          <p:cNvPr id="27" name="Text 25"/>
          <p:cNvSpPr/>
          <p:nvPr/>
        </p:nvSpPr>
        <p:spPr>
          <a:xfrm>
            <a:off x="8151852" y="6496169"/>
            <a:ext cx="549568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Marginal predictive effect (p = .064) with diagnostic value</a:t>
            </a:r>
            <a:endParaRPr lang="en-US" sz="1400" dirty="0"/>
          </a:p>
        </p:txBody>
      </p:sp>
      <p:sp>
        <p:nvSpPr>
          <p:cNvPr id="28" name="Shape 26"/>
          <p:cNvSpPr/>
          <p:nvPr/>
        </p:nvSpPr>
        <p:spPr>
          <a:xfrm>
            <a:off x="801410" y="6902887"/>
            <a:ext cx="13027581" cy="523161"/>
          </a:xfrm>
          <a:prstGeom prst="rect">
            <a:avLst/>
          </a:prstGeom>
          <a:solidFill>
            <a:srgbClr val="000000">
              <a:alpha val="4000"/>
            </a:srgbClr>
          </a:solidFill>
          <a:ln/>
        </p:spPr>
      </p:sp>
      <p:sp>
        <p:nvSpPr>
          <p:cNvPr id="29" name="Text 27"/>
          <p:cNvSpPr/>
          <p:nvPr/>
        </p:nvSpPr>
        <p:spPr>
          <a:xfrm>
            <a:off x="982980" y="7019330"/>
            <a:ext cx="935950"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RQ5</a:t>
            </a:r>
            <a:endParaRPr lang="en-US" sz="1400" dirty="0"/>
          </a:p>
        </p:txBody>
      </p:sp>
      <p:sp>
        <p:nvSpPr>
          <p:cNvPr id="30" name="Text 28"/>
          <p:cNvSpPr/>
          <p:nvPr/>
        </p:nvSpPr>
        <p:spPr>
          <a:xfrm>
            <a:off x="2289453" y="7019330"/>
            <a:ext cx="549187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Do experience and population moderate adoption drivers?</a:t>
            </a:r>
            <a:endParaRPr lang="en-US" sz="1400" dirty="0"/>
          </a:p>
        </p:txBody>
      </p:sp>
      <p:sp>
        <p:nvSpPr>
          <p:cNvPr id="31" name="Text 29"/>
          <p:cNvSpPr/>
          <p:nvPr/>
        </p:nvSpPr>
        <p:spPr>
          <a:xfrm>
            <a:off x="8151852" y="7019330"/>
            <a:ext cx="5495687"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Both moderate Hedonic Motivation significantly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61881"/>
            <a:ext cx="6599753" cy="531614"/>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Theoretical Foundation: UTAUT2</a:t>
            </a:r>
            <a:endParaRPr lang="en-US" sz="3300" dirty="0"/>
          </a:p>
        </p:txBody>
      </p:sp>
      <p:sp>
        <p:nvSpPr>
          <p:cNvPr id="3" name="Text 1"/>
          <p:cNvSpPr/>
          <p:nvPr/>
        </p:nvSpPr>
        <p:spPr>
          <a:xfrm>
            <a:off x="793790" y="1718667"/>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Why UTAUT2?</a:t>
            </a:r>
            <a:endParaRPr lang="en-US" sz="2650" dirty="0"/>
          </a:p>
        </p:txBody>
      </p:sp>
      <p:pic>
        <p:nvPicPr>
          <p:cNvPr id="4" name="Image 0" descr="preencoded.png">    </p:cNvPr>
          <p:cNvPicPr>
            <a:picLocks noChangeAspect="1"/>
          </p:cNvPicPr>
          <p:nvPr/>
        </p:nvPicPr>
        <p:blipFill>
          <a:blip r:embed="rId1"/>
          <a:stretch>
            <a:fillRect/>
          </a:stretch>
        </p:blipFill>
        <p:spPr>
          <a:xfrm>
            <a:off x="793790" y="2425660"/>
            <a:ext cx="85011" cy="85011"/>
          </a:xfrm>
          <a:prstGeom prst="rect">
            <a:avLst/>
          </a:prstGeom>
        </p:spPr>
      </p:pic>
      <p:sp>
        <p:nvSpPr>
          <p:cNvPr id="5" name="Text 2"/>
          <p:cNvSpPr/>
          <p:nvPr/>
        </p:nvSpPr>
        <p:spPr>
          <a:xfrm>
            <a:off x="1048822" y="2335292"/>
            <a:ext cx="2820591"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Superior Explanatory Power</a:t>
            </a:r>
            <a:endParaRPr lang="en-US" sz="1650" dirty="0"/>
          </a:p>
        </p:txBody>
      </p:sp>
      <p:sp>
        <p:nvSpPr>
          <p:cNvPr id="6" name="Text 3"/>
          <p:cNvSpPr/>
          <p:nvPr/>
        </p:nvSpPr>
        <p:spPr>
          <a:xfrm>
            <a:off x="1048822" y="2771061"/>
            <a:ext cx="6058853"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Explains up to 74% of variance in behavioral intention, compared to approximately 40% for the original Technology Acceptance Model</a:t>
            </a:r>
            <a:endParaRPr lang="en-US" sz="1300" dirty="0"/>
          </a:p>
        </p:txBody>
      </p:sp>
      <p:pic>
        <p:nvPicPr>
          <p:cNvPr id="7" name="Image 1" descr="preencoded.png">    </p:cNvPr>
          <p:cNvPicPr>
            <a:picLocks noChangeAspect="1"/>
          </p:cNvPicPr>
          <p:nvPr/>
        </p:nvPicPr>
        <p:blipFill>
          <a:blip r:embed="rId2"/>
          <a:stretch>
            <a:fillRect/>
          </a:stretch>
        </p:blipFill>
        <p:spPr>
          <a:xfrm>
            <a:off x="793790" y="3745944"/>
            <a:ext cx="85011" cy="85011"/>
          </a:xfrm>
          <a:prstGeom prst="rect">
            <a:avLst/>
          </a:prstGeom>
        </p:spPr>
      </p:pic>
      <p:sp>
        <p:nvSpPr>
          <p:cNvPr id="8" name="Text 4"/>
          <p:cNvSpPr/>
          <p:nvPr/>
        </p:nvSpPr>
        <p:spPr>
          <a:xfrm>
            <a:off x="1048822" y="3655576"/>
            <a:ext cx="2739152"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Comprehensive Integration</a:t>
            </a:r>
            <a:endParaRPr lang="en-US" sz="1650" dirty="0"/>
          </a:p>
        </p:txBody>
      </p:sp>
      <p:sp>
        <p:nvSpPr>
          <p:cNvPr id="9" name="Text 5"/>
          <p:cNvSpPr/>
          <p:nvPr/>
        </p:nvSpPr>
        <p:spPr>
          <a:xfrm>
            <a:off x="1048822" y="4091345"/>
            <a:ext cx="6058853"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Synthesizes eight prior models including Theory of Reasoned Action, Theory of Planned Behavior, TAM, Motivational Model, and others</a:t>
            </a:r>
            <a:endParaRPr lang="en-US" sz="1300" dirty="0"/>
          </a:p>
        </p:txBody>
      </p:sp>
      <p:pic>
        <p:nvPicPr>
          <p:cNvPr id="10" name="Image 2" descr="preencoded.png">    </p:cNvPr>
          <p:cNvPicPr>
            <a:picLocks noChangeAspect="1"/>
          </p:cNvPicPr>
          <p:nvPr/>
        </p:nvPicPr>
        <p:blipFill>
          <a:blip r:embed="rId3"/>
          <a:stretch>
            <a:fillRect/>
          </a:stretch>
        </p:blipFill>
        <p:spPr>
          <a:xfrm>
            <a:off x="793790" y="5066228"/>
            <a:ext cx="85011" cy="85011"/>
          </a:xfrm>
          <a:prstGeom prst="rect">
            <a:avLst/>
          </a:prstGeom>
        </p:spPr>
      </p:pic>
      <p:sp>
        <p:nvSpPr>
          <p:cNvPr id="11" name="Text 6"/>
          <p:cNvSpPr/>
          <p:nvPr/>
        </p:nvSpPr>
        <p:spPr>
          <a:xfrm>
            <a:off x="1048822" y="4975860"/>
            <a:ext cx="3123724"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Consumer-Relevant Constructs</a:t>
            </a:r>
            <a:endParaRPr lang="en-US" sz="1650" dirty="0"/>
          </a:p>
        </p:txBody>
      </p:sp>
      <p:sp>
        <p:nvSpPr>
          <p:cNvPr id="12" name="Text 7"/>
          <p:cNvSpPr/>
          <p:nvPr/>
        </p:nvSpPr>
        <p:spPr>
          <a:xfrm>
            <a:off x="1048822" y="5411629"/>
            <a:ext cx="6058853"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Includes Hedonic Motivation, Price Value, and Habit—elements earlier models overlooked but critical for AI adoption</a:t>
            </a:r>
            <a:endParaRPr lang="en-US" sz="1300" dirty="0"/>
          </a:p>
        </p:txBody>
      </p:sp>
      <p:pic>
        <p:nvPicPr>
          <p:cNvPr id="13" name="Image 3" descr="preencoded.png">    </p:cNvPr>
          <p:cNvPicPr>
            <a:picLocks noChangeAspect="1"/>
          </p:cNvPicPr>
          <p:nvPr/>
        </p:nvPicPr>
        <p:blipFill>
          <a:blip r:embed="rId4"/>
          <a:stretch>
            <a:fillRect/>
          </a:stretch>
        </p:blipFill>
        <p:spPr>
          <a:xfrm>
            <a:off x="793790" y="6386513"/>
            <a:ext cx="85011" cy="85011"/>
          </a:xfrm>
          <a:prstGeom prst="rect">
            <a:avLst/>
          </a:prstGeom>
        </p:spPr>
      </p:pic>
      <p:sp>
        <p:nvSpPr>
          <p:cNvPr id="14" name="Text 8"/>
          <p:cNvSpPr/>
          <p:nvPr/>
        </p:nvSpPr>
        <p:spPr>
          <a:xfrm>
            <a:off x="1048822" y="6296144"/>
            <a:ext cx="2228850"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Current Gold Standard</a:t>
            </a:r>
            <a:endParaRPr lang="en-US" sz="1650" dirty="0"/>
          </a:p>
        </p:txBody>
      </p:sp>
      <p:sp>
        <p:nvSpPr>
          <p:cNvPr id="15" name="Text 9"/>
          <p:cNvSpPr/>
          <p:nvPr/>
        </p:nvSpPr>
        <p:spPr>
          <a:xfrm>
            <a:off x="1048822" y="6731913"/>
            <a:ext cx="6058853"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Represents the most robust foundation for technology acceptance research in contemporary contexts</a:t>
            </a:r>
            <a:endParaRPr lang="en-US" sz="1300" dirty="0"/>
          </a:p>
        </p:txBody>
      </p:sp>
      <p:sp>
        <p:nvSpPr>
          <p:cNvPr id="16" name="Text 10"/>
          <p:cNvSpPr/>
          <p:nvPr/>
        </p:nvSpPr>
        <p:spPr>
          <a:xfrm>
            <a:off x="7530346" y="1718667"/>
            <a:ext cx="4501396"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AI-Specific Extension: Trust</a:t>
            </a:r>
            <a:endParaRPr lang="en-US" sz="2650" dirty="0"/>
          </a:p>
        </p:txBody>
      </p:sp>
      <p:sp>
        <p:nvSpPr>
          <p:cNvPr id="17" name="Text 11"/>
          <p:cNvSpPr/>
          <p:nvPr/>
        </p:nvSpPr>
        <p:spPr>
          <a:xfrm>
            <a:off x="7530346" y="2313980"/>
            <a:ext cx="6313884"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AI systems differ fundamentally from traditional technologies due to their </a:t>
            </a:r>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opacity</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t>
            </a:r>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probabilistic reasoning</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and </a:t>
            </a:r>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autonomous decision-making</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capabilities.</a:t>
            </a:r>
            <a:endParaRPr lang="en-US" sz="1300" dirty="0"/>
          </a:p>
        </p:txBody>
      </p:sp>
      <p:sp>
        <p:nvSpPr>
          <p:cNvPr id="18" name="Text 12"/>
          <p:cNvSpPr/>
          <p:nvPr/>
        </p:nvSpPr>
        <p:spPr>
          <a:xfrm>
            <a:off x="7530346" y="3011329"/>
            <a:ext cx="6313884" cy="816531"/>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Glikson and Woolley (2020) established that trust in AI operates through different mechanisms than trust in conventional tools—users cannot inspect AI reasoning processes as they can examine a spreadsheet formula.</a:t>
            </a:r>
            <a:endParaRPr lang="en-US" sz="1300" dirty="0"/>
          </a:p>
        </p:txBody>
      </p:sp>
      <p:sp>
        <p:nvSpPr>
          <p:cNvPr id="19" name="Shape 13"/>
          <p:cNvSpPr/>
          <p:nvPr/>
        </p:nvSpPr>
        <p:spPr>
          <a:xfrm>
            <a:off x="7530346" y="4019193"/>
            <a:ext cx="6313884" cy="1267063"/>
          </a:xfrm>
          <a:prstGeom prst="roundRect">
            <a:avLst>
              <a:gd name="adj" fmla="val 2014"/>
            </a:avLst>
          </a:prstGeom>
          <a:solidFill>
            <a:srgbClr val="C3CFEF"/>
          </a:solidFill>
          <a:ln/>
        </p:spPr>
      </p:sp>
      <p:pic>
        <p:nvPicPr>
          <p:cNvPr id="20" name="Image 4" descr="preencoded.png">    </p:cNvPr>
          <p:cNvPicPr>
            <a:picLocks noChangeAspect="1"/>
          </p:cNvPicPr>
          <p:nvPr/>
        </p:nvPicPr>
        <p:blipFill>
          <a:blip r:embed="rId5"/>
          <a:stretch>
            <a:fillRect/>
          </a:stretch>
        </p:blipFill>
        <p:spPr>
          <a:xfrm>
            <a:off x="7700367" y="4273391"/>
            <a:ext cx="212646" cy="170021"/>
          </a:xfrm>
          <a:prstGeom prst="rect">
            <a:avLst/>
          </a:prstGeom>
        </p:spPr>
      </p:pic>
      <p:sp>
        <p:nvSpPr>
          <p:cNvPr id="21" name="Text 14"/>
          <p:cNvSpPr/>
          <p:nvPr/>
        </p:nvSpPr>
        <p:spPr>
          <a:xfrm>
            <a:off x="8083034" y="4231719"/>
            <a:ext cx="5591175" cy="816531"/>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Roboto" pitchFamily="34" charset="0"/>
                <a:ea typeface="Roboto" pitchFamily="34" charset="-122"/>
                <a:cs typeface="Roboto" pitchFamily="34" charset="-120"/>
              </a:rPr>
              <a:t>Trust in AI requires accepting uncertainty and delegating decisions to systems whose internal logic may be incomprehensible, even to their creators.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30511"/>
            <a:ext cx="4476393"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Core UTAUT2 Hypotheses</a:t>
            </a:r>
            <a:endParaRPr lang="en-US" sz="2900" dirty="0"/>
          </a:p>
        </p:txBody>
      </p:sp>
      <p:sp>
        <p:nvSpPr>
          <p:cNvPr id="3" name="Text 1"/>
          <p:cNvSpPr/>
          <p:nvPr/>
        </p:nvSpPr>
        <p:spPr>
          <a:xfrm>
            <a:off x="793790" y="1986082"/>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The first seven hypotheses test established UTAUT2 relationships, predicting that each construct positively influences Behavioral Intention to adopt AI:</a:t>
            </a:r>
            <a:endParaRPr lang="en-US" sz="1150" dirty="0"/>
          </a:p>
        </p:txBody>
      </p:sp>
      <p:sp>
        <p:nvSpPr>
          <p:cNvPr id="4" name="Shape 2"/>
          <p:cNvSpPr/>
          <p:nvPr/>
        </p:nvSpPr>
        <p:spPr>
          <a:xfrm>
            <a:off x="793790" y="2387679"/>
            <a:ext cx="4249341" cy="1438870"/>
          </a:xfrm>
          <a:prstGeom prst="roundRect">
            <a:avLst>
              <a:gd name="adj" fmla="val 1537"/>
            </a:avLst>
          </a:prstGeom>
          <a:solidFill>
            <a:srgbClr val="E9ECF2"/>
          </a:solidFill>
          <a:ln/>
        </p:spPr>
      </p:sp>
      <p:pic>
        <p:nvPicPr>
          <p:cNvPr id="5" name="Image 0" descr="preencoded.png">    </p:cNvPr>
          <p:cNvPicPr>
            <a:picLocks noChangeAspect="1"/>
          </p:cNvPicPr>
          <p:nvPr/>
        </p:nvPicPr>
        <p:blipFill>
          <a:blip r:embed="rId1"/>
          <a:stretch>
            <a:fillRect/>
          </a:stretch>
        </p:blipFill>
        <p:spPr>
          <a:xfrm>
            <a:off x="2697361" y="2535079"/>
            <a:ext cx="442198" cy="442198"/>
          </a:xfrm>
          <a:prstGeom prst="rect">
            <a:avLst/>
          </a:prstGeom>
        </p:spPr>
      </p:pic>
      <p:sp>
        <p:nvSpPr>
          <p:cNvPr id="6" name="Text 3"/>
          <p:cNvSpPr/>
          <p:nvPr/>
        </p:nvSpPr>
        <p:spPr>
          <a:xfrm>
            <a:off x="2818924" y="2631758"/>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1</a:t>
            </a:r>
            <a:endParaRPr lang="en-US" sz="1550" dirty="0"/>
          </a:p>
        </p:txBody>
      </p:sp>
      <p:sp>
        <p:nvSpPr>
          <p:cNvPr id="7" name="Text 4"/>
          <p:cNvSpPr/>
          <p:nvPr/>
        </p:nvSpPr>
        <p:spPr>
          <a:xfrm>
            <a:off x="1393031" y="3124676"/>
            <a:ext cx="305073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H1a: Performance Expectancy → BI</a:t>
            </a:r>
            <a:endParaRPr lang="en-US" sz="1450" dirty="0"/>
          </a:p>
        </p:txBody>
      </p:sp>
      <p:sp>
        <p:nvSpPr>
          <p:cNvPr id="8" name="Text 5"/>
          <p:cNvSpPr/>
          <p:nvPr/>
        </p:nvSpPr>
        <p:spPr>
          <a:xfrm>
            <a:off x="941189" y="3443407"/>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Will using AI enhance my productivity and job performance?</a:t>
            </a:r>
            <a:endParaRPr lang="en-US" sz="1150" dirty="0"/>
          </a:p>
        </p:txBody>
      </p:sp>
      <p:sp>
        <p:nvSpPr>
          <p:cNvPr id="9" name="Shape 6"/>
          <p:cNvSpPr/>
          <p:nvPr/>
        </p:nvSpPr>
        <p:spPr>
          <a:xfrm>
            <a:off x="5190530" y="2387679"/>
            <a:ext cx="4249341" cy="1438870"/>
          </a:xfrm>
          <a:prstGeom prst="roundRect">
            <a:avLst>
              <a:gd name="adj" fmla="val 1537"/>
            </a:avLst>
          </a:prstGeom>
          <a:solidFill>
            <a:srgbClr val="E9ECF2"/>
          </a:solidFill>
          <a:ln/>
        </p:spPr>
      </p:sp>
      <p:pic>
        <p:nvPicPr>
          <p:cNvPr id="10" name="Image 1" descr="preencoded.png">    </p:cNvPr>
          <p:cNvPicPr>
            <a:picLocks noChangeAspect="1"/>
          </p:cNvPicPr>
          <p:nvPr/>
        </p:nvPicPr>
        <p:blipFill>
          <a:blip r:embed="rId2"/>
          <a:stretch>
            <a:fillRect/>
          </a:stretch>
        </p:blipFill>
        <p:spPr>
          <a:xfrm>
            <a:off x="7094101" y="2535079"/>
            <a:ext cx="442198" cy="442198"/>
          </a:xfrm>
          <a:prstGeom prst="rect">
            <a:avLst/>
          </a:prstGeom>
        </p:spPr>
      </p:pic>
      <p:sp>
        <p:nvSpPr>
          <p:cNvPr id="11" name="Text 7"/>
          <p:cNvSpPr/>
          <p:nvPr/>
        </p:nvSpPr>
        <p:spPr>
          <a:xfrm>
            <a:off x="7215664" y="2631758"/>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2</a:t>
            </a:r>
            <a:endParaRPr lang="en-US" sz="1550" dirty="0"/>
          </a:p>
        </p:txBody>
      </p:sp>
      <p:sp>
        <p:nvSpPr>
          <p:cNvPr id="12" name="Text 8"/>
          <p:cNvSpPr/>
          <p:nvPr/>
        </p:nvSpPr>
        <p:spPr>
          <a:xfrm>
            <a:off x="6105049" y="3124676"/>
            <a:ext cx="2420303"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H1b: Effort Expectancy → BI</a:t>
            </a:r>
            <a:endParaRPr lang="en-US" sz="1450" dirty="0"/>
          </a:p>
        </p:txBody>
      </p:sp>
      <p:sp>
        <p:nvSpPr>
          <p:cNvPr id="13" name="Text 9"/>
          <p:cNvSpPr/>
          <p:nvPr/>
        </p:nvSpPr>
        <p:spPr>
          <a:xfrm>
            <a:off x="5337929" y="3443407"/>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AI technology easy to learn and use?</a:t>
            </a:r>
            <a:endParaRPr lang="en-US" sz="1150" dirty="0"/>
          </a:p>
        </p:txBody>
      </p:sp>
      <p:sp>
        <p:nvSpPr>
          <p:cNvPr id="14" name="Shape 10"/>
          <p:cNvSpPr/>
          <p:nvPr/>
        </p:nvSpPr>
        <p:spPr>
          <a:xfrm>
            <a:off x="9587270" y="2387679"/>
            <a:ext cx="4249341" cy="1438870"/>
          </a:xfrm>
          <a:prstGeom prst="roundRect">
            <a:avLst>
              <a:gd name="adj" fmla="val 1537"/>
            </a:avLst>
          </a:prstGeom>
          <a:solidFill>
            <a:srgbClr val="E9ECF2"/>
          </a:solidFill>
          <a:ln/>
        </p:spPr>
      </p:sp>
      <p:pic>
        <p:nvPicPr>
          <p:cNvPr id="15" name="Image 2" descr="preencoded.png">    </p:cNvPr>
          <p:cNvPicPr>
            <a:picLocks noChangeAspect="1"/>
          </p:cNvPicPr>
          <p:nvPr/>
        </p:nvPicPr>
        <p:blipFill>
          <a:blip r:embed="rId3"/>
          <a:stretch>
            <a:fillRect/>
          </a:stretch>
        </p:blipFill>
        <p:spPr>
          <a:xfrm>
            <a:off x="11490841" y="2535079"/>
            <a:ext cx="442198" cy="442198"/>
          </a:xfrm>
          <a:prstGeom prst="rect">
            <a:avLst/>
          </a:prstGeom>
        </p:spPr>
      </p:pic>
      <p:sp>
        <p:nvSpPr>
          <p:cNvPr id="16" name="Text 11"/>
          <p:cNvSpPr/>
          <p:nvPr/>
        </p:nvSpPr>
        <p:spPr>
          <a:xfrm>
            <a:off x="11612404" y="2631758"/>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3</a:t>
            </a:r>
            <a:endParaRPr lang="en-US" sz="1550" dirty="0"/>
          </a:p>
        </p:txBody>
      </p:sp>
      <p:sp>
        <p:nvSpPr>
          <p:cNvPr id="17" name="Text 12"/>
          <p:cNvSpPr/>
          <p:nvPr/>
        </p:nvSpPr>
        <p:spPr>
          <a:xfrm>
            <a:off x="10584894" y="3124676"/>
            <a:ext cx="2254091"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H1c: Social Influence → BI</a:t>
            </a:r>
            <a:endParaRPr lang="en-US" sz="1450" dirty="0"/>
          </a:p>
        </p:txBody>
      </p:sp>
      <p:sp>
        <p:nvSpPr>
          <p:cNvPr id="18" name="Text 13"/>
          <p:cNvSpPr/>
          <p:nvPr/>
        </p:nvSpPr>
        <p:spPr>
          <a:xfrm>
            <a:off x="9734669" y="3443407"/>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important people in my life believe I should use AI?</a:t>
            </a:r>
            <a:endParaRPr lang="en-US" sz="1150" dirty="0"/>
          </a:p>
        </p:txBody>
      </p:sp>
      <p:sp>
        <p:nvSpPr>
          <p:cNvPr id="19" name="Shape 14"/>
          <p:cNvSpPr/>
          <p:nvPr/>
        </p:nvSpPr>
        <p:spPr>
          <a:xfrm>
            <a:off x="793790" y="3973949"/>
            <a:ext cx="4249341" cy="1438870"/>
          </a:xfrm>
          <a:prstGeom prst="roundRect">
            <a:avLst>
              <a:gd name="adj" fmla="val 1537"/>
            </a:avLst>
          </a:prstGeom>
          <a:solidFill>
            <a:srgbClr val="E9ECF2"/>
          </a:solidFill>
          <a:ln/>
        </p:spPr>
      </p:sp>
      <p:pic>
        <p:nvPicPr>
          <p:cNvPr id="20" name="Image 3" descr="preencoded.png">    </p:cNvPr>
          <p:cNvPicPr>
            <a:picLocks noChangeAspect="1"/>
          </p:cNvPicPr>
          <p:nvPr/>
        </p:nvPicPr>
        <p:blipFill>
          <a:blip r:embed="rId4"/>
          <a:stretch>
            <a:fillRect/>
          </a:stretch>
        </p:blipFill>
        <p:spPr>
          <a:xfrm>
            <a:off x="2697361" y="4121348"/>
            <a:ext cx="442198" cy="442198"/>
          </a:xfrm>
          <a:prstGeom prst="rect">
            <a:avLst/>
          </a:prstGeom>
        </p:spPr>
      </p:pic>
      <p:sp>
        <p:nvSpPr>
          <p:cNvPr id="21" name="Text 15"/>
          <p:cNvSpPr/>
          <p:nvPr/>
        </p:nvSpPr>
        <p:spPr>
          <a:xfrm>
            <a:off x="2818924" y="4218027"/>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4</a:t>
            </a:r>
            <a:endParaRPr lang="en-US" sz="1550" dirty="0"/>
          </a:p>
        </p:txBody>
      </p:sp>
      <p:sp>
        <p:nvSpPr>
          <p:cNvPr id="22" name="Text 16"/>
          <p:cNvSpPr/>
          <p:nvPr/>
        </p:nvSpPr>
        <p:spPr>
          <a:xfrm>
            <a:off x="1490663" y="4710946"/>
            <a:ext cx="2855595"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H1d: Facilitating Conditions → BI</a:t>
            </a:r>
            <a:endParaRPr lang="en-US" sz="1450" dirty="0"/>
          </a:p>
        </p:txBody>
      </p:sp>
      <p:sp>
        <p:nvSpPr>
          <p:cNvPr id="23" name="Text 17"/>
          <p:cNvSpPr/>
          <p:nvPr/>
        </p:nvSpPr>
        <p:spPr>
          <a:xfrm>
            <a:off x="941189" y="5029676"/>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Do I have the organizational support and resources needed?</a:t>
            </a:r>
            <a:endParaRPr lang="en-US" sz="1150" dirty="0"/>
          </a:p>
        </p:txBody>
      </p:sp>
      <p:sp>
        <p:nvSpPr>
          <p:cNvPr id="24" name="Shape 18"/>
          <p:cNvSpPr/>
          <p:nvPr/>
        </p:nvSpPr>
        <p:spPr>
          <a:xfrm>
            <a:off x="5190530" y="3973949"/>
            <a:ext cx="4249341" cy="1438870"/>
          </a:xfrm>
          <a:prstGeom prst="roundRect">
            <a:avLst>
              <a:gd name="adj" fmla="val 1537"/>
            </a:avLst>
          </a:prstGeom>
          <a:solidFill>
            <a:srgbClr val="E9ECF2"/>
          </a:solidFill>
          <a:ln/>
        </p:spPr>
      </p:sp>
      <p:pic>
        <p:nvPicPr>
          <p:cNvPr id="25" name="Image 4" descr="preencoded.png">    </p:cNvPr>
          <p:cNvPicPr>
            <a:picLocks noChangeAspect="1"/>
          </p:cNvPicPr>
          <p:nvPr/>
        </p:nvPicPr>
        <p:blipFill>
          <a:blip r:embed="rId5"/>
          <a:stretch>
            <a:fillRect/>
          </a:stretch>
        </p:blipFill>
        <p:spPr>
          <a:xfrm>
            <a:off x="7094101" y="4121348"/>
            <a:ext cx="442198" cy="442198"/>
          </a:xfrm>
          <a:prstGeom prst="rect">
            <a:avLst/>
          </a:prstGeom>
        </p:spPr>
      </p:pic>
      <p:sp>
        <p:nvSpPr>
          <p:cNvPr id="26" name="Text 19"/>
          <p:cNvSpPr/>
          <p:nvPr/>
        </p:nvSpPr>
        <p:spPr>
          <a:xfrm>
            <a:off x="7215664" y="4218027"/>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5</a:t>
            </a:r>
            <a:endParaRPr lang="en-US" sz="1550" dirty="0"/>
          </a:p>
        </p:txBody>
      </p:sp>
      <p:sp>
        <p:nvSpPr>
          <p:cNvPr id="27" name="Text 20"/>
          <p:cNvSpPr/>
          <p:nvPr/>
        </p:nvSpPr>
        <p:spPr>
          <a:xfrm>
            <a:off x="6023372" y="4710946"/>
            <a:ext cx="2583656"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H1e: Hedonic Motivation → BI</a:t>
            </a:r>
            <a:endParaRPr lang="en-US" sz="1450" dirty="0"/>
          </a:p>
        </p:txBody>
      </p:sp>
      <p:sp>
        <p:nvSpPr>
          <p:cNvPr id="28" name="Text 21"/>
          <p:cNvSpPr/>
          <p:nvPr/>
        </p:nvSpPr>
        <p:spPr>
          <a:xfrm>
            <a:off x="5337929" y="5029676"/>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using AI enjoyable or intrinsically interesting?</a:t>
            </a:r>
            <a:endParaRPr lang="en-US" sz="1150" dirty="0"/>
          </a:p>
        </p:txBody>
      </p:sp>
      <p:sp>
        <p:nvSpPr>
          <p:cNvPr id="29" name="Shape 22"/>
          <p:cNvSpPr/>
          <p:nvPr/>
        </p:nvSpPr>
        <p:spPr>
          <a:xfrm>
            <a:off x="9587270" y="3973949"/>
            <a:ext cx="4249341" cy="1438870"/>
          </a:xfrm>
          <a:prstGeom prst="roundRect">
            <a:avLst>
              <a:gd name="adj" fmla="val 1537"/>
            </a:avLst>
          </a:prstGeom>
          <a:solidFill>
            <a:srgbClr val="E9ECF2"/>
          </a:solidFill>
          <a:ln/>
        </p:spPr>
      </p:sp>
      <p:pic>
        <p:nvPicPr>
          <p:cNvPr id="30" name="Image 5" descr="preencoded.png">    </p:cNvPr>
          <p:cNvPicPr>
            <a:picLocks noChangeAspect="1"/>
          </p:cNvPicPr>
          <p:nvPr/>
        </p:nvPicPr>
        <p:blipFill>
          <a:blip r:embed="rId6"/>
          <a:stretch>
            <a:fillRect/>
          </a:stretch>
        </p:blipFill>
        <p:spPr>
          <a:xfrm>
            <a:off x="11490841" y="4121348"/>
            <a:ext cx="442198" cy="442198"/>
          </a:xfrm>
          <a:prstGeom prst="rect">
            <a:avLst/>
          </a:prstGeom>
        </p:spPr>
      </p:pic>
      <p:sp>
        <p:nvSpPr>
          <p:cNvPr id="31" name="Text 23"/>
          <p:cNvSpPr/>
          <p:nvPr/>
        </p:nvSpPr>
        <p:spPr>
          <a:xfrm>
            <a:off x="11612404" y="4218027"/>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6</a:t>
            </a:r>
            <a:endParaRPr lang="en-US" sz="1550" dirty="0"/>
          </a:p>
        </p:txBody>
      </p:sp>
      <p:sp>
        <p:nvSpPr>
          <p:cNvPr id="32" name="Text 24"/>
          <p:cNvSpPr/>
          <p:nvPr/>
        </p:nvSpPr>
        <p:spPr>
          <a:xfrm>
            <a:off x="10790396" y="4710946"/>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H1f: Price Value → BI</a:t>
            </a:r>
            <a:endParaRPr lang="en-US" sz="1450" dirty="0"/>
          </a:p>
        </p:txBody>
      </p:sp>
      <p:sp>
        <p:nvSpPr>
          <p:cNvPr id="33" name="Text 25"/>
          <p:cNvSpPr/>
          <p:nvPr/>
        </p:nvSpPr>
        <p:spPr>
          <a:xfrm>
            <a:off x="9734669" y="5029676"/>
            <a:ext cx="395454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Is AI worth the total investment of time, effort, and cost?</a:t>
            </a:r>
            <a:endParaRPr lang="en-US" sz="1150" dirty="0"/>
          </a:p>
        </p:txBody>
      </p:sp>
      <p:sp>
        <p:nvSpPr>
          <p:cNvPr id="34" name="Shape 26"/>
          <p:cNvSpPr/>
          <p:nvPr/>
        </p:nvSpPr>
        <p:spPr>
          <a:xfrm>
            <a:off x="793790" y="5560219"/>
            <a:ext cx="13042821" cy="1438870"/>
          </a:xfrm>
          <a:prstGeom prst="roundRect">
            <a:avLst>
              <a:gd name="adj" fmla="val 1537"/>
            </a:avLst>
          </a:prstGeom>
          <a:solidFill>
            <a:srgbClr val="E9ECF2"/>
          </a:solidFill>
          <a:ln/>
        </p:spPr>
      </p:sp>
      <p:pic>
        <p:nvPicPr>
          <p:cNvPr id="35" name="Image 6" descr="preencoded.png">    </p:cNvPr>
          <p:cNvPicPr>
            <a:picLocks noChangeAspect="1"/>
          </p:cNvPicPr>
          <p:nvPr/>
        </p:nvPicPr>
        <p:blipFill>
          <a:blip r:embed="rId7"/>
          <a:stretch>
            <a:fillRect/>
          </a:stretch>
        </p:blipFill>
        <p:spPr>
          <a:xfrm>
            <a:off x="7094101" y="5707618"/>
            <a:ext cx="442198" cy="442198"/>
          </a:xfrm>
          <a:prstGeom prst="rect">
            <a:avLst/>
          </a:prstGeom>
        </p:spPr>
      </p:pic>
      <p:sp>
        <p:nvSpPr>
          <p:cNvPr id="36" name="Text 27"/>
          <p:cNvSpPr/>
          <p:nvPr/>
        </p:nvSpPr>
        <p:spPr>
          <a:xfrm>
            <a:off x="7215664" y="5804297"/>
            <a:ext cx="198953" cy="248722"/>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Roboto Slab" pitchFamily="34" charset="0"/>
                <a:ea typeface="Roboto Slab" pitchFamily="34" charset="-122"/>
                <a:cs typeface="Roboto Slab" pitchFamily="34" charset="-120"/>
              </a:rPr>
              <a:t>7</a:t>
            </a:r>
            <a:endParaRPr lang="en-US" sz="1550" dirty="0"/>
          </a:p>
        </p:txBody>
      </p:sp>
      <p:sp>
        <p:nvSpPr>
          <p:cNvPr id="37" name="Text 28"/>
          <p:cNvSpPr/>
          <p:nvPr/>
        </p:nvSpPr>
        <p:spPr>
          <a:xfrm>
            <a:off x="6393656" y="6297216"/>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H1g: Habit → BI</a:t>
            </a:r>
            <a:endParaRPr lang="en-US" sz="1450" dirty="0"/>
          </a:p>
        </p:txBody>
      </p:sp>
      <p:sp>
        <p:nvSpPr>
          <p:cNvPr id="38" name="Text 29"/>
          <p:cNvSpPr/>
          <p:nvPr/>
        </p:nvSpPr>
        <p:spPr>
          <a:xfrm>
            <a:off x="941189" y="6615946"/>
            <a:ext cx="12748022"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Has AI use become automatic in my workflow?</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12470"/>
            <a:ext cx="922543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Novel Hypotheses: Extension &amp; Moderation</a:t>
            </a:r>
            <a:endParaRPr lang="en-US" sz="3550" dirty="0"/>
          </a:p>
        </p:txBody>
      </p:sp>
      <p:sp>
        <p:nvSpPr>
          <p:cNvPr id="3" name="Shape 1"/>
          <p:cNvSpPr/>
          <p:nvPr/>
        </p:nvSpPr>
        <p:spPr>
          <a:xfrm>
            <a:off x="793790" y="1642348"/>
            <a:ext cx="13042821" cy="1837253"/>
          </a:xfrm>
          <a:prstGeom prst="roundRect">
            <a:avLst>
              <a:gd name="adj" fmla="val 1482"/>
            </a:avLst>
          </a:prstGeom>
          <a:solidFill>
            <a:srgbClr val="FBFCFE"/>
          </a:solidFill>
          <a:ln w="22860">
            <a:solidFill>
              <a:srgbClr val="CFD2D8"/>
            </a:solidFill>
            <a:prstDash val="solid"/>
          </a:ln>
        </p:spPr>
      </p:sp>
      <p:sp>
        <p:nvSpPr>
          <p:cNvPr id="4" name="Shape 2"/>
          <p:cNvSpPr/>
          <p:nvPr/>
        </p:nvSpPr>
        <p:spPr>
          <a:xfrm>
            <a:off x="816650" y="1665208"/>
            <a:ext cx="725805" cy="1791533"/>
          </a:xfrm>
          <a:prstGeom prst="rect">
            <a:avLst/>
          </a:prstGeom>
          <a:solidFill>
            <a:srgbClr val="E9ECF2"/>
          </a:solidFill>
          <a:ln/>
        </p:spPr>
      </p:sp>
      <p:sp>
        <p:nvSpPr>
          <p:cNvPr id="5" name="Text 3"/>
          <p:cNvSpPr/>
          <p:nvPr/>
        </p:nvSpPr>
        <p:spPr>
          <a:xfrm>
            <a:off x="1043464" y="2390894"/>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Roboto Slab" pitchFamily="34" charset="0"/>
                <a:ea typeface="Roboto Slab" pitchFamily="34" charset="-122"/>
                <a:cs typeface="Roboto Slab" pitchFamily="34" charset="-120"/>
              </a:rPr>
              <a:t>1</a:t>
            </a:r>
            <a:endParaRPr lang="en-US" sz="2100" dirty="0"/>
          </a:p>
        </p:txBody>
      </p:sp>
      <p:sp>
        <p:nvSpPr>
          <p:cNvPr id="6" name="Text 4"/>
          <p:cNvSpPr/>
          <p:nvPr/>
        </p:nvSpPr>
        <p:spPr>
          <a:xfrm>
            <a:off x="1723906" y="1846659"/>
            <a:ext cx="2899529" cy="340162"/>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H2: AI Trust Extension</a:t>
            </a:r>
            <a:endParaRPr lang="en-US" sz="2100" dirty="0"/>
          </a:p>
        </p:txBody>
      </p:sp>
      <p:sp>
        <p:nvSpPr>
          <p:cNvPr id="7" name="Text 5"/>
          <p:cNvSpPr/>
          <p:nvPr/>
        </p:nvSpPr>
        <p:spPr>
          <a:xfrm>
            <a:off x="1723906" y="2295644"/>
            <a:ext cx="11908393"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Hypothesis:</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AI Trust positively predicts Behavioral Intention beyond what UTAUT2 constructs explain</a:t>
            </a:r>
            <a:endParaRPr lang="en-US" sz="1400" dirty="0"/>
          </a:p>
        </p:txBody>
      </p:sp>
      <p:sp>
        <p:nvSpPr>
          <p:cNvPr id="8" name="Text 6"/>
          <p:cNvSpPr/>
          <p:nvPr/>
        </p:nvSpPr>
        <p:spPr>
          <a:xfrm>
            <a:off x="1723906" y="2694742"/>
            <a:ext cx="11908393" cy="580549"/>
          </a:xfrm>
          <a:prstGeom prst="rect">
            <a:avLst/>
          </a:prstGeom>
          <a:noFill/>
          <a:ln/>
        </p:spPr>
        <p:txBody>
          <a:bodyPr wrap="squar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Rationale:</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AI's opacity, autonomous decision-making, and potential for consequential errors create unique trust requirements not captured by traditional technology acceptance factors</a:t>
            </a:r>
            <a:endParaRPr lang="en-US" sz="1400" dirty="0"/>
          </a:p>
        </p:txBody>
      </p:sp>
      <p:sp>
        <p:nvSpPr>
          <p:cNvPr id="9" name="Shape 7"/>
          <p:cNvSpPr/>
          <p:nvPr/>
        </p:nvSpPr>
        <p:spPr>
          <a:xfrm>
            <a:off x="793790" y="3661053"/>
            <a:ext cx="13042821" cy="1837253"/>
          </a:xfrm>
          <a:prstGeom prst="roundRect">
            <a:avLst>
              <a:gd name="adj" fmla="val 1482"/>
            </a:avLst>
          </a:prstGeom>
          <a:solidFill>
            <a:srgbClr val="FBFCFE"/>
          </a:solidFill>
          <a:ln w="22860">
            <a:solidFill>
              <a:srgbClr val="CFD2D8"/>
            </a:solidFill>
            <a:prstDash val="solid"/>
          </a:ln>
        </p:spPr>
      </p:sp>
      <p:sp>
        <p:nvSpPr>
          <p:cNvPr id="10" name="Shape 8"/>
          <p:cNvSpPr/>
          <p:nvPr/>
        </p:nvSpPr>
        <p:spPr>
          <a:xfrm>
            <a:off x="816650" y="3683913"/>
            <a:ext cx="725805" cy="1791533"/>
          </a:xfrm>
          <a:prstGeom prst="rect">
            <a:avLst/>
          </a:prstGeom>
          <a:solidFill>
            <a:srgbClr val="E9ECF2"/>
          </a:solidFill>
          <a:ln/>
        </p:spPr>
      </p:sp>
      <p:sp>
        <p:nvSpPr>
          <p:cNvPr id="11" name="Text 9"/>
          <p:cNvSpPr/>
          <p:nvPr/>
        </p:nvSpPr>
        <p:spPr>
          <a:xfrm>
            <a:off x="1043464" y="4409599"/>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Roboto Slab" pitchFamily="34" charset="0"/>
                <a:ea typeface="Roboto Slab" pitchFamily="34" charset="-122"/>
                <a:cs typeface="Roboto Slab" pitchFamily="34" charset="-120"/>
              </a:rPr>
              <a:t>2</a:t>
            </a:r>
            <a:endParaRPr lang="en-US" sz="2100" dirty="0"/>
          </a:p>
        </p:txBody>
      </p:sp>
      <p:sp>
        <p:nvSpPr>
          <p:cNvPr id="12" name="Text 10"/>
          <p:cNvSpPr/>
          <p:nvPr/>
        </p:nvSpPr>
        <p:spPr>
          <a:xfrm>
            <a:off x="1723906" y="3865364"/>
            <a:ext cx="3485078" cy="340162"/>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H3: Experience Moderation</a:t>
            </a:r>
            <a:endParaRPr lang="en-US" sz="2100" dirty="0"/>
          </a:p>
        </p:txBody>
      </p:sp>
      <p:sp>
        <p:nvSpPr>
          <p:cNvPr id="13" name="Text 11"/>
          <p:cNvSpPr/>
          <p:nvPr/>
        </p:nvSpPr>
        <p:spPr>
          <a:xfrm>
            <a:off x="1723906" y="4314349"/>
            <a:ext cx="11908393"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Hypothesis:</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Experience level moderates the relationships between UTAUT2 constructs and Behavioral Intention</a:t>
            </a:r>
            <a:endParaRPr lang="en-US" sz="1400" dirty="0"/>
          </a:p>
        </p:txBody>
      </p:sp>
      <p:sp>
        <p:nvSpPr>
          <p:cNvPr id="14" name="Text 12"/>
          <p:cNvSpPr/>
          <p:nvPr/>
        </p:nvSpPr>
        <p:spPr>
          <a:xfrm>
            <a:off x="1723906" y="4713446"/>
            <a:ext cx="11908393" cy="580549"/>
          </a:xfrm>
          <a:prstGeom prst="rect">
            <a:avLst/>
          </a:prstGeom>
          <a:noFill/>
          <a:ln/>
        </p:spPr>
        <p:txBody>
          <a:bodyPr wrap="squar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Rationale:</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Users with different AI experience levels may weight adoption factors differently based on their familiarity with AI capabilities and limitations</a:t>
            </a:r>
            <a:endParaRPr lang="en-US" sz="1400" dirty="0"/>
          </a:p>
        </p:txBody>
      </p:sp>
      <p:sp>
        <p:nvSpPr>
          <p:cNvPr id="15" name="Shape 13"/>
          <p:cNvSpPr/>
          <p:nvPr/>
        </p:nvSpPr>
        <p:spPr>
          <a:xfrm>
            <a:off x="793790" y="5679758"/>
            <a:ext cx="13042821" cy="1837253"/>
          </a:xfrm>
          <a:prstGeom prst="roundRect">
            <a:avLst>
              <a:gd name="adj" fmla="val 1482"/>
            </a:avLst>
          </a:prstGeom>
          <a:solidFill>
            <a:srgbClr val="FBFCFE"/>
          </a:solidFill>
          <a:ln w="22860">
            <a:solidFill>
              <a:srgbClr val="CFD2D8"/>
            </a:solidFill>
            <a:prstDash val="solid"/>
          </a:ln>
        </p:spPr>
      </p:sp>
      <p:sp>
        <p:nvSpPr>
          <p:cNvPr id="16" name="Shape 14"/>
          <p:cNvSpPr/>
          <p:nvPr/>
        </p:nvSpPr>
        <p:spPr>
          <a:xfrm>
            <a:off x="816650" y="5702618"/>
            <a:ext cx="725805" cy="1791533"/>
          </a:xfrm>
          <a:prstGeom prst="rect">
            <a:avLst/>
          </a:prstGeom>
          <a:solidFill>
            <a:srgbClr val="E9ECF2"/>
          </a:solidFill>
          <a:ln/>
        </p:spPr>
      </p:sp>
      <p:sp>
        <p:nvSpPr>
          <p:cNvPr id="17" name="Text 15"/>
          <p:cNvSpPr/>
          <p:nvPr/>
        </p:nvSpPr>
        <p:spPr>
          <a:xfrm>
            <a:off x="1043464" y="6428303"/>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Roboto Slab" pitchFamily="34" charset="0"/>
                <a:ea typeface="Roboto Slab" pitchFamily="34" charset="-122"/>
                <a:cs typeface="Roboto Slab" pitchFamily="34" charset="-120"/>
              </a:rPr>
              <a:t>3</a:t>
            </a:r>
            <a:endParaRPr lang="en-US" sz="2100" dirty="0"/>
          </a:p>
        </p:txBody>
      </p:sp>
      <p:sp>
        <p:nvSpPr>
          <p:cNvPr id="18" name="Text 16"/>
          <p:cNvSpPr/>
          <p:nvPr/>
        </p:nvSpPr>
        <p:spPr>
          <a:xfrm>
            <a:off x="1723906" y="5884069"/>
            <a:ext cx="3445669" cy="340162"/>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H4: Population Moderation</a:t>
            </a:r>
            <a:endParaRPr lang="en-US" sz="2100" dirty="0"/>
          </a:p>
        </p:txBody>
      </p:sp>
      <p:sp>
        <p:nvSpPr>
          <p:cNvPr id="19" name="Text 17"/>
          <p:cNvSpPr/>
          <p:nvPr/>
        </p:nvSpPr>
        <p:spPr>
          <a:xfrm>
            <a:off x="1723906" y="6333053"/>
            <a:ext cx="11908393"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Hypothesis:</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Population type (academic vs. professional) moderates adoption factor relationships</a:t>
            </a:r>
            <a:endParaRPr lang="en-US" sz="1400" dirty="0"/>
          </a:p>
        </p:txBody>
      </p:sp>
      <p:sp>
        <p:nvSpPr>
          <p:cNvPr id="20" name="Text 18"/>
          <p:cNvSpPr/>
          <p:nvPr/>
        </p:nvSpPr>
        <p:spPr>
          <a:xfrm>
            <a:off x="1723906" y="6732151"/>
            <a:ext cx="11908393" cy="580549"/>
          </a:xfrm>
          <a:prstGeom prst="rect">
            <a:avLst/>
          </a:prstGeom>
          <a:noFill/>
          <a:ln/>
        </p:spPr>
        <p:txBody>
          <a:bodyPr wrap="squar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Rationale:</a:t>
            </a:r>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Academic and professional contexts have different norms, incentive structures, and cultural expectations that may alter how adoption drivers operate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7947" y="565904"/>
            <a:ext cx="5175171" cy="416719"/>
          </a:xfrm>
          <a:prstGeom prst="rect">
            <a:avLst/>
          </a:prstGeom>
          <a:noFill/>
          <a:ln/>
        </p:spPr>
        <p:txBody>
          <a:bodyPr wrap="none" lIns="0" tIns="0" rIns="0" bIns="0" rtlCol="0" anchor="t"/>
          <a:lstStyle/>
          <a:p>
            <a:pPr algn="l" indent="0" marL="0">
              <a:lnSpc>
                <a:spcPts val="3250"/>
              </a:lnSpc>
              <a:buNone/>
            </a:pPr>
            <a:r>
              <a:rPr lang="en-US" sz="2600" dirty="0">
                <a:solidFill>
                  <a:srgbClr val="3257B8"/>
                </a:solidFill>
                <a:latin typeface="Roboto Slab" pitchFamily="34" charset="0"/>
                <a:ea typeface="Roboto Slab" pitchFamily="34" charset="-122"/>
                <a:cs typeface="Roboto Slab" pitchFamily="34" charset="-120"/>
              </a:rPr>
              <a:t>Research Methodology Overview</a:t>
            </a:r>
            <a:endParaRPr lang="en-US" sz="2600" dirty="0"/>
          </a:p>
        </p:txBody>
      </p:sp>
      <p:sp>
        <p:nvSpPr>
          <p:cNvPr id="3" name="Shape 1"/>
          <p:cNvSpPr/>
          <p:nvPr/>
        </p:nvSpPr>
        <p:spPr>
          <a:xfrm>
            <a:off x="717947" y="1332428"/>
            <a:ext cx="6434614" cy="1354574"/>
          </a:xfrm>
          <a:prstGeom prst="roundRect">
            <a:avLst>
              <a:gd name="adj" fmla="val 1476"/>
            </a:avLst>
          </a:prstGeom>
          <a:solidFill>
            <a:srgbClr val="E9ECF2"/>
          </a:solidFill>
          <a:ln/>
        </p:spPr>
      </p:sp>
      <p:pic>
        <p:nvPicPr>
          <p:cNvPr id="4" name="Image 0" descr="preencoded.png">    </p:cNvPr>
          <p:cNvPicPr>
            <a:picLocks noChangeAspect="1"/>
          </p:cNvPicPr>
          <p:nvPr/>
        </p:nvPicPr>
        <p:blipFill>
          <a:blip r:embed="rId1"/>
          <a:stretch>
            <a:fillRect/>
          </a:stretch>
        </p:blipFill>
        <p:spPr>
          <a:xfrm>
            <a:off x="851178" y="1465659"/>
            <a:ext cx="399931" cy="399931"/>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192" y="1575673"/>
            <a:ext cx="179903" cy="179903"/>
          </a:xfrm>
          <a:prstGeom prst="rect">
            <a:avLst/>
          </a:prstGeom>
        </p:spPr>
      </p:pic>
      <p:sp>
        <p:nvSpPr>
          <p:cNvPr id="6" name="Text 2"/>
          <p:cNvSpPr/>
          <p:nvPr/>
        </p:nvSpPr>
        <p:spPr>
          <a:xfrm>
            <a:off x="851178" y="1998821"/>
            <a:ext cx="1666637"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Research Design</a:t>
            </a:r>
            <a:endParaRPr lang="en-US" sz="1300" dirty="0"/>
          </a:p>
        </p:txBody>
      </p:sp>
      <p:sp>
        <p:nvSpPr>
          <p:cNvPr id="7" name="Text 3"/>
          <p:cNvSpPr/>
          <p:nvPr/>
        </p:nvSpPr>
        <p:spPr>
          <a:xfrm>
            <a:off x="851178" y="2340412"/>
            <a:ext cx="6168152"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Cross-sectional quantitative study using survey methodology</a:t>
            </a:r>
            <a:endParaRPr lang="en-US" sz="1000" dirty="0"/>
          </a:p>
        </p:txBody>
      </p:sp>
      <p:sp>
        <p:nvSpPr>
          <p:cNvPr id="8" name="Shape 4"/>
          <p:cNvSpPr/>
          <p:nvPr/>
        </p:nvSpPr>
        <p:spPr>
          <a:xfrm>
            <a:off x="717947" y="2820233"/>
            <a:ext cx="6434614" cy="1354574"/>
          </a:xfrm>
          <a:prstGeom prst="roundRect">
            <a:avLst>
              <a:gd name="adj" fmla="val 1476"/>
            </a:avLst>
          </a:prstGeom>
          <a:solidFill>
            <a:srgbClr val="E9ECF2"/>
          </a:solidFill>
          <a:ln/>
        </p:spPr>
      </p:sp>
      <p:pic>
        <p:nvPicPr>
          <p:cNvPr id="9" name="Image 2" descr="preencoded.png">    </p:cNvPr>
          <p:cNvPicPr>
            <a:picLocks noChangeAspect="1"/>
          </p:cNvPicPr>
          <p:nvPr/>
        </p:nvPicPr>
        <p:blipFill>
          <a:blip r:embed="rId4"/>
          <a:stretch>
            <a:fillRect/>
          </a:stretch>
        </p:blipFill>
        <p:spPr>
          <a:xfrm>
            <a:off x="851178" y="2953464"/>
            <a:ext cx="399931" cy="399931"/>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192" y="3063478"/>
            <a:ext cx="179903" cy="179903"/>
          </a:xfrm>
          <a:prstGeom prst="rect">
            <a:avLst/>
          </a:prstGeom>
        </p:spPr>
      </p:pic>
      <p:sp>
        <p:nvSpPr>
          <p:cNvPr id="11" name="Text 5"/>
          <p:cNvSpPr/>
          <p:nvPr/>
        </p:nvSpPr>
        <p:spPr>
          <a:xfrm>
            <a:off x="851178" y="3486626"/>
            <a:ext cx="1666637"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Sample Size</a:t>
            </a:r>
            <a:endParaRPr lang="en-US" sz="1300" dirty="0"/>
          </a:p>
        </p:txBody>
      </p:sp>
      <p:sp>
        <p:nvSpPr>
          <p:cNvPr id="12" name="Text 6"/>
          <p:cNvSpPr/>
          <p:nvPr/>
        </p:nvSpPr>
        <p:spPr>
          <a:xfrm>
            <a:off x="851178" y="3828217"/>
            <a:ext cx="6168152"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N = 523 participants (41% academic, 59% professional)</a:t>
            </a:r>
            <a:endParaRPr lang="en-US" sz="1000" dirty="0"/>
          </a:p>
        </p:txBody>
      </p:sp>
      <p:sp>
        <p:nvSpPr>
          <p:cNvPr id="13" name="Shape 7"/>
          <p:cNvSpPr/>
          <p:nvPr/>
        </p:nvSpPr>
        <p:spPr>
          <a:xfrm>
            <a:off x="717947" y="4308038"/>
            <a:ext cx="6434614" cy="1354574"/>
          </a:xfrm>
          <a:prstGeom prst="roundRect">
            <a:avLst>
              <a:gd name="adj" fmla="val 1476"/>
            </a:avLst>
          </a:prstGeom>
          <a:solidFill>
            <a:srgbClr val="E9ECF2"/>
          </a:solidFill>
          <a:ln/>
        </p:spPr>
      </p:sp>
      <p:pic>
        <p:nvPicPr>
          <p:cNvPr id="14" name="Image 4" descr="preencoded.png">    </p:cNvPr>
          <p:cNvPicPr>
            <a:picLocks noChangeAspect="1"/>
          </p:cNvPicPr>
          <p:nvPr/>
        </p:nvPicPr>
        <p:blipFill>
          <a:blip r:embed="rId7"/>
          <a:stretch>
            <a:fillRect/>
          </a:stretch>
        </p:blipFill>
        <p:spPr>
          <a:xfrm>
            <a:off x="851178" y="4441269"/>
            <a:ext cx="399931" cy="399931"/>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1192" y="4551283"/>
            <a:ext cx="179903" cy="179903"/>
          </a:xfrm>
          <a:prstGeom prst="rect">
            <a:avLst/>
          </a:prstGeom>
        </p:spPr>
      </p:pic>
      <p:sp>
        <p:nvSpPr>
          <p:cNvPr id="16" name="Text 8"/>
          <p:cNvSpPr/>
          <p:nvPr/>
        </p:nvSpPr>
        <p:spPr>
          <a:xfrm>
            <a:off x="851178" y="4974431"/>
            <a:ext cx="1958697"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Instrument Development</a:t>
            </a:r>
            <a:endParaRPr lang="en-US" sz="1300" dirty="0"/>
          </a:p>
        </p:txBody>
      </p:sp>
      <p:sp>
        <p:nvSpPr>
          <p:cNvPr id="17" name="Text 9"/>
          <p:cNvSpPr/>
          <p:nvPr/>
        </p:nvSpPr>
        <p:spPr>
          <a:xfrm>
            <a:off x="851178" y="5316022"/>
            <a:ext cx="6168152"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Initial 28 items refined to 16 items through rigorous validation</a:t>
            </a:r>
            <a:endParaRPr lang="en-US" sz="1000" dirty="0"/>
          </a:p>
        </p:txBody>
      </p:sp>
      <p:sp>
        <p:nvSpPr>
          <p:cNvPr id="18" name="Shape 10"/>
          <p:cNvSpPr/>
          <p:nvPr/>
        </p:nvSpPr>
        <p:spPr>
          <a:xfrm>
            <a:off x="717947" y="5795843"/>
            <a:ext cx="6434614" cy="1354574"/>
          </a:xfrm>
          <a:prstGeom prst="roundRect">
            <a:avLst>
              <a:gd name="adj" fmla="val 1476"/>
            </a:avLst>
          </a:prstGeom>
          <a:solidFill>
            <a:srgbClr val="E9ECF2"/>
          </a:solidFill>
          <a:ln/>
        </p:spPr>
      </p:sp>
      <p:pic>
        <p:nvPicPr>
          <p:cNvPr id="19" name="Image 6" descr="preencoded.png">    </p:cNvPr>
          <p:cNvPicPr>
            <a:picLocks noChangeAspect="1"/>
          </p:cNvPicPr>
          <p:nvPr/>
        </p:nvPicPr>
        <p:blipFill>
          <a:blip r:embed="rId10"/>
          <a:stretch>
            <a:fillRect/>
          </a:stretch>
        </p:blipFill>
        <p:spPr>
          <a:xfrm>
            <a:off x="851178" y="5929074"/>
            <a:ext cx="399931" cy="399931"/>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1192" y="6039088"/>
            <a:ext cx="179903" cy="179903"/>
          </a:xfrm>
          <a:prstGeom prst="rect">
            <a:avLst/>
          </a:prstGeom>
        </p:spPr>
      </p:pic>
      <p:sp>
        <p:nvSpPr>
          <p:cNvPr id="21" name="Text 11"/>
          <p:cNvSpPr/>
          <p:nvPr/>
        </p:nvSpPr>
        <p:spPr>
          <a:xfrm>
            <a:off x="851178" y="6462236"/>
            <a:ext cx="1666637"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Analytical Approach</a:t>
            </a:r>
            <a:endParaRPr lang="en-US" sz="1300" dirty="0"/>
          </a:p>
        </p:txBody>
      </p:sp>
      <p:sp>
        <p:nvSpPr>
          <p:cNvPr id="22" name="Text 12"/>
          <p:cNvSpPr/>
          <p:nvPr/>
        </p:nvSpPr>
        <p:spPr>
          <a:xfrm>
            <a:off x="851178" y="6803827"/>
            <a:ext cx="6168152"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Three-stage analysis: EFA → CFA → SEM</a:t>
            </a:r>
            <a:endParaRPr lang="en-US" sz="1000" dirty="0"/>
          </a:p>
        </p:txBody>
      </p:sp>
      <p:sp>
        <p:nvSpPr>
          <p:cNvPr id="23" name="Text 13"/>
          <p:cNvSpPr/>
          <p:nvPr/>
        </p:nvSpPr>
        <p:spPr>
          <a:xfrm>
            <a:off x="7485459" y="1315760"/>
            <a:ext cx="2000012" cy="250031"/>
          </a:xfrm>
          <a:prstGeom prst="rect">
            <a:avLst/>
          </a:prstGeom>
          <a:noFill/>
          <a:ln/>
        </p:spPr>
        <p:txBody>
          <a:bodyPr wrap="none" lIns="0" tIns="0" rIns="0" bIns="0" rtlCol="0" anchor="t"/>
          <a:lstStyle/>
          <a:p>
            <a:pPr algn="l" indent="0" marL="0">
              <a:lnSpc>
                <a:spcPts val="1950"/>
              </a:lnSpc>
              <a:buNone/>
            </a:pPr>
            <a:r>
              <a:rPr lang="en-US" sz="1550" dirty="0">
                <a:solidFill>
                  <a:srgbClr val="3257B8"/>
                </a:solidFill>
                <a:latin typeface="Roboto Slab" pitchFamily="34" charset="0"/>
                <a:ea typeface="Roboto Slab" pitchFamily="34" charset="-122"/>
                <a:cs typeface="Roboto Slab" pitchFamily="34" charset="-120"/>
              </a:rPr>
              <a:t>Analysis Stages</a:t>
            </a:r>
            <a:endParaRPr lang="en-US" sz="1550" dirty="0"/>
          </a:p>
        </p:txBody>
      </p:sp>
      <p:pic>
        <p:nvPicPr>
          <p:cNvPr id="24" name="Image 8" descr="preencoded.png">    </p:cNvPr>
          <p:cNvPicPr>
            <a:picLocks noChangeAspect="1"/>
          </p:cNvPicPr>
          <p:nvPr/>
        </p:nvPicPr>
        <p:blipFill>
          <a:blip r:embed="rId13"/>
          <a:stretch>
            <a:fillRect/>
          </a:stretch>
        </p:blipFill>
        <p:spPr>
          <a:xfrm>
            <a:off x="7485459" y="1715691"/>
            <a:ext cx="399931" cy="1143000"/>
          </a:xfrm>
          <a:prstGeom prst="rect">
            <a:avLst/>
          </a:prstGeom>
        </p:spPr>
      </p:pic>
      <p:sp>
        <p:nvSpPr>
          <p:cNvPr id="25" name="Text 14"/>
          <p:cNvSpPr/>
          <p:nvPr/>
        </p:nvSpPr>
        <p:spPr>
          <a:xfrm>
            <a:off x="8018621" y="1848922"/>
            <a:ext cx="2194679"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Exploratory Factor Analysis</a:t>
            </a:r>
            <a:endParaRPr lang="en-US" sz="1300" dirty="0"/>
          </a:p>
        </p:txBody>
      </p:sp>
      <p:sp>
        <p:nvSpPr>
          <p:cNvPr id="26" name="Text 15"/>
          <p:cNvSpPr/>
          <p:nvPr/>
        </p:nvSpPr>
        <p:spPr>
          <a:xfrm>
            <a:off x="8018621" y="2190512"/>
            <a:ext cx="5901452"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Discovered underlying factor structure and eliminated poorly performing items</a:t>
            </a:r>
            <a:endParaRPr lang="en-US" sz="1000" dirty="0"/>
          </a:p>
        </p:txBody>
      </p:sp>
      <p:pic>
        <p:nvPicPr>
          <p:cNvPr id="27" name="Image 9" descr="preencoded.png">    </p:cNvPr>
          <p:cNvPicPr>
            <a:picLocks noChangeAspect="1"/>
          </p:cNvPicPr>
          <p:nvPr/>
        </p:nvPicPr>
        <p:blipFill>
          <a:blip r:embed="rId14"/>
          <a:stretch>
            <a:fillRect/>
          </a:stretch>
        </p:blipFill>
        <p:spPr>
          <a:xfrm>
            <a:off x="7685365" y="2670334"/>
            <a:ext cx="399931" cy="1143000"/>
          </a:xfrm>
          <a:prstGeom prst="rect">
            <a:avLst/>
          </a:prstGeom>
        </p:spPr>
      </p:pic>
      <p:sp>
        <p:nvSpPr>
          <p:cNvPr id="28" name="Text 16"/>
          <p:cNvSpPr/>
          <p:nvPr/>
        </p:nvSpPr>
        <p:spPr>
          <a:xfrm>
            <a:off x="8218527" y="2803565"/>
            <a:ext cx="2329458"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Confirmatory Factor Analysis</a:t>
            </a:r>
            <a:endParaRPr lang="en-US" sz="1300" dirty="0"/>
          </a:p>
        </p:txBody>
      </p:sp>
      <p:sp>
        <p:nvSpPr>
          <p:cNvPr id="29" name="Text 17"/>
          <p:cNvSpPr/>
          <p:nvPr/>
        </p:nvSpPr>
        <p:spPr>
          <a:xfrm>
            <a:off x="8218527" y="3145155"/>
            <a:ext cx="5701546"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Validated the measurement model and tested for invariance across populations</a:t>
            </a:r>
            <a:endParaRPr lang="en-US" sz="1000" dirty="0"/>
          </a:p>
        </p:txBody>
      </p:sp>
      <p:pic>
        <p:nvPicPr>
          <p:cNvPr id="30" name="Image 10" descr="preencoded.png">    </p:cNvPr>
          <p:cNvPicPr>
            <a:picLocks noChangeAspect="1"/>
          </p:cNvPicPr>
          <p:nvPr/>
        </p:nvPicPr>
        <p:blipFill>
          <a:blip r:embed="rId15"/>
          <a:stretch>
            <a:fillRect/>
          </a:stretch>
        </p:blipFill>
        <p:spPr>
          <a:xfrm>
            <a:off x="7885390" y="3624977"/>
            <a:ext cx="399931" cy="1143000"/>
          </a:xfrm>
          <a:prstGeom prst="rect">
            <a:avLst/>
          </a:prstGeom>
        </p:spPr>
      </p:pic>
      <p:sp>
        <p:nvSpPr>
          <p:cNvPr id="31" name="Text 18"/>
          <p:cNvSpPr/>
          <p:nvPr/>
        </p:nvSpPr>
        <p:spPr>
          <a:xfrm>
            <a:off x="8418552" y="3758208"/>
            <a:ext cx="2325648" cy="208359"/>
          </a:xfrm>
          <a:prstGeom prst="rect">
            <a:avLst/>
          </a:prstGeom>
          <a:noFill/>
          <a:ln/>
        </p:spPr>
        <p:txBody>
          <a:bodyPr wrap="none" lIns="0" tIns="0" rIns="0" bIns="0" rtlCol="0" anchor="t"/>
          <a:lstStyle/>
          <a:p>
            <a:pPr algn="l" indent="0" marL="0">
              <a:lnSpc>
                <a:spcPts val="1600"/>
              </a:lnSpc>
              <a:buNone/>
            </a:pPr>
            <a:r>
              <a:rPr lang="en-US" sz="1300" dirty="0">
                <a:solidFill>
                  <a:srgbClr val="15213F"/>
                </a:solidFill>
                <a:latin typeface="Roboto Slab" pitchFamily="34" charset="0"/>
                <a:ea typeface="Roboto Slab" pitchFamily="34" charset="-122"/>
                <a:cs typeface="Roboto Slab" pitchFamily="34" charset="-120"/>
              </a:rPr>
              <a:t>Structural Equation Modeling</a:t>
            </a:r>
            <a:endParaRPr lang="en-US" sz="1300" dirty="0"/>
          </a:p>
        </p:txBody>
      </p:sp>
      <p:sp>
        <p:nvSpPr>
          <p:cNvPr id="32" name="Text 19"/>
          <p:cNvSpPr/>
          <p:nvPr/>
        </p:nvSpPr>
        <p:spPr>
          <a:xfrm>
            <a:off x="8418552" y="4099798"/>
            <a:ext cx="5501521"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Tested hypothesized relationships and moderation effects</a:t>
            </a:r>
            <a:endParaRPr lang="en-US" sz="1000" dirty="0"/>
          </a:p>
        </p:txBody>
      </p:sp>
      <p:sp>
        <p:nvSpPr>
          <p:cNvPr id="33" name="Text 20"/>
          <p:cNvSpPr/>
          <p:nvPr/>
        </p:nvSpPr>
        <p:spPr>
          <a:xfrm>
            <a:off x="717947" y="7450217"/>
            <a:ext cx="13194506" cy="213360"/>
          </a:xfrm>
          <a:prstGeom prst="rect">
            <a:avLst/>
          </a:prstGeom>
          <a:noFill/>
          <a:ln/>
        </p:spPr>
        <p:txBody>
          <a:bodyPr wrap="none" lIns="0" tIns="0" rIns="0" bIns="0" rtlCol="0" anchor="t"/>
          <a:lstStyle/>
          <a:p>
            <a:pPr algn="l" indent="0" marL="0">
              <a:lnSpc>
                <a:spcPts val="1650"/>
              </a:lnSpc>
              <a:buNone/>
            </a:pPr>
            <a:r>
              <a:rPr lang="en-US" sz="1000" dirty="0">
                <a:solidFill>
                  <a:srgbClr val="15213F"/>
                </a:solidFill>
                <a:latin typeface="Roboto" pitchFamily="34" charset="0"/>
                <a:ea typeface="Roboto" pitchFamily="34" charset="-122"/>
                <a:cs typeface="Roboto" pitchFamily="34" charset="-120"/>
              </a:rPr>
              <a:t>This methodology follows best practices for psychometric instrument development and validation, ensuring the resulting AIRS-16 tool meets rigorous standards for reliability, validity, and practical utility.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754975"/>
            <a:ext cx="5670590"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Psychometric Validation Results</a:t>
            </a:r>
            <a:endParaRPr lang="en-US" sz="2900" dirty="0"/>
          </a:p>
        </p:txBody>
      </p:sp>
      <p:sp>
        <p:nvSpPr>
          <p:cNvPr id="3" name="Text 1"/>
          <p:cNvSpPr/>
          <p:nvPr/>
        </p:nvSpPr>
        <p:spPr>
          <a:xfrm>
            <a:off x="793790" y="1510546"/>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The AIRS-16 instrument demonstrates excellent psychometric properties across all standard evaluation criteria:</a:t>
            </a:r>
            <a:endParaRPr lang="en-US" sz="1150" dirty="0"/>
          </a:p>
        </p:txBody>
      </p:sp>
      <p:sp>
        <p:nvSpPr>
          <p:cNvPr id="4" name="Text 2"/>
          <p:cNvSpPr/>
          <p:nvPr/>
        </p:nvSpPr>
        <p:spPr>
          <a:xfrm>
            <a:off x="1999417" y="2870359"/>
            <a:ext cx="1813322" cy="368498"/>
          </a:xfrm>
          <a:prstGeom prst="rect">
            <a:avLst/>
          </a:prstGeom>
          <a:noFill/>
          <a:ln/>
        </p:spPr>
        <p:txBody>
          <a:bodyPr wrap="none" lIns="0" tIns="0" rIns="0" bIns="0" rtlCol="0" anchor="t"/>
          <a:lstStyle/>
          <a:p>
            <a:pPr algn="ctr" indent="0" marL="0">
              <a:lnSpc>
                <a:spcPts val="2900"/>
              </a:lnSpc>
              <a:buNone/>
            </a:pPr>
            <a:r>
              <a:rPr lang="en-US" sz="2900" dirty="0">
                <a:solidFill>
                  <a:srgbClr val="15213F"/>
                </a:solidFill>
                <a:latin typeface="Roboto Slab" pitchFamily="34" charset="0"/>
                <a:ea typeface="Roboto Slab" pitchFamily="34" charset="-122"/>
                <a:cs typeface="Roboto Slab" pitchFamily="34" charset="-120"/>
              </a:rPr>
              <a:t>97.5%</a:t>
            </a:r>
            <a:endParaRPr lang="en-US" sz="2900" dirty="0"/>
          </a:p>
        </p:txBody>
      </p:sp>
      <p:pic>
        <p:nvPicPr>
          <p:cNvPr id="5" name="Image 0" descr="preencoded.png">    </p:cNvPr>
          <p:cNvPicPr>
            <a:picLocks noChangeAspect="1"/>
          </p:cNvPicPr>
          <p:nvPr/>
        </p:nvPicPr>
        <p:blipFill>
          <a:blip r:embed="rId1"/>
          <a:stretch>
            <a:fillRect/>
          </a:stretch>
        </p:blipFill>
        <p:spPr>
          <a:xfrm>
            <a:off x="1800463" y="1948934"/>
            <a:ext cx="2211467" cy="2211467"/>
          </a:xfrm>
          <a:prstGeom prst="rect">
            <a:avLst/>
          </a:prstGeom>
        </p:spPr>
      </p:pic>
      <p:sp>
        <p:nvSpPr>
          <p:cNvPr id="6" name="Text 3"/>
          <p:cNvSpPr/>
          <p:nvPr/>
        </p:nvSpPr>
        <p:spPr>
          <a:xfrm>
            <a:off x="1984653" y="4344591"/>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CFI Score</a:t>
            </a:r>
            <a:endParaRPr lang="en-US" sz="1450" dirty="0"/>
          </a:p>
        </p:txBody>
      </p:sp>
      <p:sp>
        <p:nvSpPr>
          <p:cNvPr id="7" name="Text 4"/>
          <p:cNvSpPr/>
          <p:nvPr/>
        </p:nvSpPr>
        <p:spPr>
          <a:xfrm>
            <a:off x="793790" y="4663321"/>
            <a:ext cx="4224814" cy="471488"/>
          </a:xfrm>
          <a:prstGeom prst="rect">
            <a:avLst/>
          </a:prstGeom>
          <a:noFill/>
          <a:ln/>
        </p:spPr>
        <p:txBody>
          <a:bodyPr wrap="squar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Comparative Fit Index exceeds .95 threshold for excellent model fit</a:t>
            </a:r>
            <a:endParaRPr lang="en-US" sz="1150" dirty="0"/>
          </a:p>
        </p:txBody>
      </p:sp>
      <p:sp>
        <p:nvSpPr>
          <p:cNvPr id="8" name="Text 5"/>
          <p:cNvSpPr/>
          <p:nvPr/>
        </p:nvSpPr>
        <p:spPr>
          <a:xfrm>
            <a:off x="6408420" y="2870359"/>
            <a:ext cx="1813322" cy="368498"/>
          </a:xfrm>
          <a:prstGeom prst="rect">
            <a:avLst/>
          </a:prstGeom>
          <a:noFill/>
          <a:ln/>
        </p:spPr>
        <p:txBody>
          <a:bodyPr wrap="none" lIns="0" tIns="0" rIns="0" bIns="0" rtlCol="0" anchor="t"/>
          <a:lstStyle/>
          <a:p>
            <a:pPr algn="ctr" indent="0" marL="0">
              <a:lnSpc>
                <a:spcPts val="2900"/>
              </a:lnSpc>
              <a:buNone/>
            </a:pPr>
            <a:r>
              <a:rPr lang="en-US" sz="2900" dirty="0">
                <a:solidFill>
                  <a:srgbClr val="15213F"/>
                </a:solidFill>
                <a:latin typeface="Roboto Slab" pitchFamily="34" charset="0"/>
                <a:ea typeface="Roboto Slab" pitchFamily="34" charset="-122"/>
                <a:cs typeface="Roboto Slab" pitchFamily="34" charset="-120"/>
              </a:rPr>
              <a:t>96%</a:t>
            </a:r>
            <a:endParaRPr lang="en-US" sz="2900" dirty="0"/>
          </a:p>
        </p:txBody>
      </p:sp>
      <p:pic>
        <p:nvPicPr>
          <p:cNvPr id="9" name="Image 1" descr="preencoded.png">    </p:cNvPr>
          <p:cNvPicPr>
            <a:picLocks noChangeAspect="1"/>
          </p:cNvPicPr>
          <p:nvPr/>
        </p:nvPicPr>
        <p:blipFill>
          <a:blip r:embed="rId2"/>
          <a:stretch>
            <a:fillRect/>
          </a:stretch>
        </p:blipFill>
        <p:spPr>
          <a:xfrm>
            <a:off x="6209467" y="1948934"/>
            <a:ext cx="2211467" cy="2211467"/>
          </a:xfrm>
          <a:prstGeom prst="rect">
            <a:avLst/>
          </a:prstGeom>
        </p:spPr>
      </p:pic>
      <p:sp>
        <p:nvSpPr>
          <p:cNvPr id="10" name="Text 6"/>
          <p:cNvSpPr/>
          <p:nvPr/>
        </p:nvSpPr>
        <p:spPr>
          <a:xfrm>
            <a:off x="6393656" y="4344591"/>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TLI Score</a:t>
            </a:r>
            <a:endParaRPr lang="en-US" sz="1450" dirty="0"/>
          </a:p>
        </p:txBody>
      </p:sp>
      <p:sp>
        <p:nvSpPr>
          <p:cNvPr id="11" name="Text 7"/>
          <p:cNvSpPr/>
          <p:nvPr/>
        </p:nvSpPr>
        <p:spPr>
          <a:xfrm>
            <a:off x="5202793" y="4663321"/>
            <a:ext cx="422481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Tucker-Lewis Index confirms superior model fit quality</a:t>
            </a:r>
            <a:endParaRPr lang="en-US" sz="1150" dirty="0"/>
          </a:p>
        </p:txBody>
      </p:sp>
      <p:sp>
        <p:nvSpPr>
          <p:cNvPr id="12" name="Text 8"/>
          <p:cNvSpPr/>
          <p:nvPr/>
        </p:nvSpPr>
        <p:spPr>
          <a:xfrm>
            <a:off x="10817423" y="2870359"/>
            <a:ext cx="1813322" cy="368498"/>
          </a:xfrm>
          <a:prstGeom prst="rect">
            <a:avLst/>
          </a:prstGeom>
          <a:noFill/>
          <a:ln/>
        </p:spPr>
        <p:txBody>
          <a:bodyPr wrap="none" lIns="0" tIns="0" rIns="0" bIns="0" rtlCol="0" anchor="t"/>
          <a:lstStyle/>
          <a:p>
            <a:pPr algn="ctr" indent="0" marL="0">
              <a:lnSpc>
                <a:spcPts val="2900"/>
              </a:lnSpc>
              <a:buNone/>
            </a:pPr>
            <a:r>
              <a:rPr lang="en-US" sz="2900" dirty="0">
                <a:solidFill>
                  <a:srgbClr val="15213F"/>
                </a:solidFill>
                <a:latin typeface="Roboto Slab" pitchFamily="34" charset="0"/>
                <a:ea typeface="Roboto Slab" pitchFamily="34" charset="-122"/>
                <a:cs typeface="Roboto Slab" pitchFamily="34" charset="-120"/>
              </a:rPr>
              <a:t>6.5%</a:t>
            </a:r>
            <a:endParaRPr lang="en-US" sz="2900" dirty="0"/>
          </a:p>
        </p:txBody>
      </p:sp>
      <p:pic>
        <p:nvPicPr>
          <p:cNvPr id="13" name="Image 2" descr="preencoded.png">    </p:cNvPr>
          <p:cNvPicPr>
            <a:picLocks noChangeAspect="1"/>
          </p:cNvPicPr>
          <p:nvPr/>
        </p:nvPicPr>
        <p:blipFill>
          <a:blip r:embed="rId3"/>
          <a:stretch>
            <a:fillRect/>
          </a:stretch>
        </p:blipFill>
        <p:spPr>
          <a:xfrm>
            <a:off x="10618470" y="1948934"/>
            <a:ext cx="2211467" cy="2211467"/>
          </a:xfrm>
          <a:prstGeom prst="rect">
            <a:avLst/>
          </a:prstGeom>
        </p:spPr>
      </p:pic>
      <p:sp>
        <p:nvSpPr>
          <p:cNvPr id="14" name="Text 9"/>
          <p:cNvSpPr/>
          <p:nvPr/>
        </p:nvSpPr>
        <p:spPr>
          <a:xfrm>
            <a:off x="10802660" y="4344591"/>
            <a:ext cx="1842968" cy="230386"/>
          </a:xfrm>
          <a:prstGeom prst="rect">
            <a:avLst/>
          </a:prstGeom>
          <a:noFill/>
          <a:ln/>
        </p:spPr>
        <p:txBody>
          <a:bodyPr wrap="none" lIns="0" tIns="0" rIns="0" bIns="0" rtlCol="0" anchor="t"/>
          <a:lstStyle/>
          <a:p>
            <a:pPr algn="ct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RMSEA</a:t>
            </a:r>
            <a:endParaRPr lang="en-US" sz="1450" dirty="0"/>
          </a:p>
        </p:txBody>
      </p:sp>
      <p:sp>
        <p:nvSpPr>
          <p:cNvPr id="15" name="Text 10"/>
          <p:cNvSpPr/>
          <p:nvPr/>
        </p:nvSpPr>
        <p:spPr>
          <a:xfrm>
            <a:off x="9611797" y="4663321"/>
            <a:ext cx="4224814" cy="235744"/>
          </a:xfrm>
          <a:prstGeom prst="rect">
            <a:avLst/>
          </a:prstGeom>
          <a:noFill/>
          <a:ln/>
        </p:spPr>
        <p:txBody>
          <a:bodyPr wrap="none" lIns="0" tIns="0" rIns="0" bIns="0" rtlCol="0" anchor="t"/>
          <a:lstStyle/>
          <a:p>
            <a:pPr algn="ctr" indent="0" marL="0">
              <a:lnSpc>
                <a:spcPts val="1850"/>
              </a:lnSpc>
              <a:buNone/>
            </a:pPr>
            <a:r>
              <a:rPr lang="en-US" sz="1150" dirty="0">
                <a:solidFill>
                  <a:srgbClr val="15213F"/>
                </a:solidFill>
                <a:latin typeface="Roboto" pitchFamily="34" charset="0"/>
                <a:ea typeface="Roboto" pitchFamily="34" charset="-122"/>
                <a:cs typeface="Roboto" pitchFamily="34" charset="-120"/>
              </a:rPr>
              <a:t>Root Mean Square Error below .08 acceptable threshold</a:t>
            </a:r>
            <a:endParaRPr lang="en-US" sz="1150" dirty="0"/>
          </a:p>
        </p:txBody>
      </p:sp>
      <p:sp>
        <p:nvSpPr>
          <p:cNvPr id="16" name="Shape 11"/>
          <p:cNvSpPr/>
          <p:nvPr/>
        </p:nvSpPr>
        <p:spPr>
          <a:xfrm>
            <a:off x="793790" y="5374312"/>
            <a:ext cx="13042821" cy="25956"/>
          </a:xfrm>
          <a:prstGeom prst="rect">
            <a:avLst/>
          </a:prstGeom>
          <a:solidFill>
            <a:srgbClr val="15213F">
              <a:alpha val="50000"/>
            </a:srgbClr>
          </a:solidFill>
          <a:ln/>
        </p:spPr>
      </p:sp>
      <p:sp>
        <p:nvSpPr>
          <p:cNvPr id="17" name="Text 12"/>
          <p:cNvSpPr/>
          <p:nvPr/>
        </p:nvSpPr>
        <p:spPr>
          <a:xfrm>
            <a:off x="793790" y="5621298"/>
            <a:ext cx="294870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Reliability Evidence</a:t>
            </a:r>
            <a:endParaRPr lang="en-US" sz="2300" dirty="0"/>
          </a:p>
        </p:txBody>
      </p:sp>
      <p:sp>
        <p:nvSpPr>
          <p:cNvPr id="18" name="Text 13"/>
          <p:cNvSpPr/>
          <p:nvPr/>
        </p:nvSpPr>
        <p:spPr>
          <a:xfrm>
            <a:off x="793790" y="6211014"/>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All eight factors demonstrate strong internal consistency, with Cronbach's alpha coefficients ranging from .74 to .91—well above the .70 minimum threshold for research instruments.</a:t>
            </a:r>
            <a:endParaRPr lang="en-US" sz="1150" dirty="0"/>
          </a:p>
        </p:txBody>
      </p:sp>
      <p:sp>
        <p:nvSpPr>
          <p:cNvPr id="19" name="Shape 14"/>
          <p:cNvSpPr/>
          <p:nvPr/>
        </p:nvSpPr>
        <p:spPr>
          <a:xfrm>
            <a:off x="793790" y="6612612"/>
            <a:ext cx="13042821" cy="862013"/>
          </a:xfrm>
          <a:prstGeom prst="roundRect">
            <a:avLst>
              <a:gd name="adj" fmla="val 2566"/>
            </a:avLst>
          </a:prstGeom>
          <a:solidFill>
            <a:srgbClr val="C3CFEF"/>
          </a:solidFill>
          <a:ln/>
        </p:spPr>
      </p:sp>
      <p:pic>
        <p:nvPicPr>
          <p:cNvPr id="20" name="Image 3" descr="preencoded.png">    </p:cNvPr>
          <p:cNvPicPr>
            <a:picLocks noChangeAspect="1"/>
          </p:cNvPicPr>
          <p:nvPr/>
        </p:nvPicPr>
        <p:blipFill>
          <a:blip r:embed="rId4"/>
          <a:stretch>
            <a:fillRect/>
          </a:stretch>
        </p:blipFill>
        <p:spPr>
          <a:xfrm>
            <a:off x="941189" y="6827758"/>
            <a:ext cx="184190" cy="147399"/>
          </a:xfrm>
          <a:prstGeom prst="rect">
            <a:avLst/>
          </a:prstGeom>
        </p:spPr>
      </p:pic>
      <p:sp>
        <p:nvSpPr>
          <p:cNvPr id="21" name="Text 15"/>
          <p:cNvSpPr/>
          <p:nvPr/>
        </p:nvSpPr>
        <p:spPr>
          <a:xfrm>
            <a:off x="1272778" y="6796802"/>
            <a:ext cx="12416433" cy="471488"/>
          </a:xfrm>
          <a:prstGeom prst="rect">
            <a:avLst/>
          </a:prstGeom>
          <a:noFill/>
          <a:ln/>
        </p:spPr>
        <p:txBody>
          <a:bodyPr wrap="square" lIns="0" tIns="0" rIns="0" bIns="0" rtlCol="0" anchor="t"/>
          <a:lstStyle/>
          <a:p>
            <a:pPr algn="l" indent="0" marL="0">
              <a:lnSpc>
                <a:spcPts val="1850"/>
              </a:lnSpc>
              <a:buNone/>
            </a:pPr>
            <a:r>
              <a:rPr lang="en-US" sz="1150" b="1" dirty="0">
                <a:solidFill>
                  <a:srgbClr val="000000"/>
                </a:solidFill>
                <a:latin typeface="Roboto" pitchFamily="34" charset="0"/>
                <a:ea typeface="Roboto" pitchFamily="34" charset="-122"/>
                <a:cs typeface="Roboto" pitchFamily="34" charset="-120"/>
              </a:rPr>
              <a:t>Conclusion:</a:t>
            </a:r>
            <a:pPr algn="l" indent="0" marL="0">
              <a:lnSpc>
                <a:spcPts val="1850"/>
              </a:lnSpc>
              <a:buNone/>
            </a:pPr>
            <a:r>
              <a:rPr lang="en-US" sz="1150" dirty="0">
                <a:solidFill>
                  <a:srgbClr val="000000"/>
                </a:solidFill>
                <a:latin typeface="Roboto" pitchFamily="34" charset="0"/>
                <a:ea typeface="Roboto" pitchFamily="34" charset="-122"/>
                <a:cs typeface="Roboto" pitchFamily="34" charset="-120"/>
              </a:rPr>
              <a:t> The AIRS-16 instrument is psychometrically sound and suitable for both research and applied organizational assessment. The combination of excellent model fit indices and strong reliability provides confidence in the instrument's measurement quality.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50225"/>
            <a:ext cx="5238869"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Sample Characteristics</a:t>
            </a:r>
            <a:endParaRPr lang="en-US" sz="3750" dirty="0"/>
          </a:p>
        </p:txBody>
      </p:sp>
      <p:sp>
        <p:nvSpPr>
          <p:cNvPr id="3" name="Text 1"/>
          <p:cNvSpPr/>
          <p:nvPr/>
        </p:nvSpPr>
        <p:spPr>
          <a:xfrm>
            <a:off x="793790" y="1934647"/>
            <a:ext cx="6415088"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Participant Demographics (N = 523)</a:t>
            </a:r>
            <a:endParaRPr lang="en-US" sz="3000" dirty="0"/>
          </a:p>
        </p:txBody>
      </p:sp>
      <p:sp>
        <p:nvSpPr>
          <p:cNvPr id="4" name="Text 2"/>
          <p:cNvSpPr/>
          <p:nvPr/>
        </p:nvSpPr>
        <p:spPr>
          <a:xfrm>
            <a:off x="793790" y="2609374"/>
            <a:ext cx="7637502" cy="616744"/>
          </a:xfrm>
          <a:prstGeom prst="rect">
            <a:avLst/>
          </a:prstGeom>
          <a:noFill/>
          <a:ln/>
        </p:spPr>
        <p:txBody>
          <a:bodyPr wrap="square" lIns="0" tIns="0" rIns="0" bIns="0" rtlCol="0" anchor="t"/>
          <a:lstStyle/>
          <a:p>
            <a:pPr algn="l" marL="342900" indent="-342900">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Population Distribution:</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41% academic contexts (students), 59% working professionals—enabling robust cross-population comparisons</a:t>
            </a:r>
            <a:endParaRPr lang="en-US" sz="1500" dirty="0"/>
          </a:p>
        </p:txBody>
      </p:sp>
      <p:sp>
        <p:nvSpPr>
          <p:cNvPr id="5" name="Text 3"/>
          <p:cNvSpPr/>
          <p:nvPr/>
        </p:nvSpPr>
        <p:spPr>
          <a:xfrm>
            <a:off x="793790" y="3293507"/>
            <a:ext cx="7637502" cy="925116"/>
          </a:xfrm>
          <a:prstGeom prst="rect">
            <a:avLst/>
          </a:prstGeom>
          <a:noFill/>
          <a:ln/>
        </p:spPr>
        <p:txBody>
          <a:bodyPr wrap="square" lIns="0" tIns="0" rIns="0" bIns="0" rtlCol="0" anchor="t"/>
          <a:lstStyle/>
          <a:p>
            <a:pPr algn="l" marL="342900" indent="-342900">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Educational Attainment:</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34% some college, 28% bachelor's degree, 18% master's degree, with representation across all education levels from high school to doctoral degrees</a:t>
            </a:r>
            <a:endParaRPr lang="en-US" sz="1500" dirty="0"/>
          </a:p>
        </p:txBody>
      </p:sp>
      <p:sp>
        <p:nvSpPr>
          <p:cNvPr id="6" name="Text 4"/>
          <p:cNvSpPr/>
          <p:nvPr/>
        </p:nvSpPr>
        <p:spPr>
          <a:xfrm>
            <a:off x="793790" y="4286012"/>
            <a:ext cx="7637502" cy="616744"/>
          </a:xfrm>
          <a:prstGeom prst="rect">
            <a:avLst/>
          </a:prstGeom>
          <a:noFill/>
          <a:ln/>
        </p:spPr>
        <p:txBody>
          <a:bodyPr wrap="square" lIns="0" tIns="0" rIns="0" bIns="0" rtlCol="0" anchor="t"/>
          <a:lstStyle/>
          <a:p>
            <a:pPr algn="l" marL="342900" indent="-342900">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Work Experience: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37% with 11+ years of experience, 19% with less than 1 year, 18% with 1-3 years—providing diverse experience perspectives</a:t>
            </a:r>
            <a:endParaRPr lang="en-US" sz="1500" dirty="0"/>
          </a:p>
        </p:txBody>
      </p:sp>
      <p:sp>
        <p:nvSpPr>
          <p:cNvPr id="7" name="Text 5"/>
          <p:cNvSpPr/>
          <p:nvPr/>
        </p:nvSpPr>
        <p:spPr>
          <a:xfrm>
            <a:off x="793790" y="4970145"/>
            <a:ext cx="7637502" cy="616744"/>
          </a:xfrm>
          <a:prstGeom prst="rect">
            <a:avLst/>
          </a:prstGeom>
          <a:noFill/>
          <a:ln/>
        </p:spPr>
        <p:txBody>
          <a:bodyPr wrap="square" lIns="0" tIns="0" rIns="0" bIns="0" rtlCol="0" anchor="t"/>
          <a:lstStyle/>
          <a:p>
            <a:pPr algn="l" marL="342900" indent="-342900">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Leadership Roles: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24% hold supervisory positions including managers and executives, enabling examination of leadership effects</a:t>
            </a:r>
            <a:endParaRPr lang="en-US" sz="1500" dirty="0"/>
          </a:p>
        </p:txBody>
      </p:sp>
      <p:sp>
        <p:nvSpPr>
          <p:cNvPr id="8" name="Text 6"/>
          <p:cNvSpPr/>
          <p:nvPr/>
        </p:nvSpPr>
        <p:spPr>
          <a:xfrm>
            <a:off x="793790" y="5654278"/>
            <a:ext cx="7637502" cy="616744"/>
          </a:xfrm>
          <a:prstGeom prst="rect">
            <a:avLst/>
          </a:prstGeom>
          <a:noFill/>
          <a:ln/>
        </p:spPr>
        <p:txBody>
          <a:bodyPr wrap="square" lIns="0" tIns="0" rIns="0" bIns="0" rtlCol="0" anchor="t"/>
          <a:lstStyle/>
          <a:p>
            <a:pPr algn="l" marL="342900" indent="-342900">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Accessibility:</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13% identify as having a disability, supporting inclusive design considerations</a:t>
            </a:r>
            <a:endParaRPr lang="en-US" sz="1500" dirty="0"/>
          </a:p>
        </p:txBody>
      </p:sp>
      <p:sp>
        <p:nvSpPr>
          <p:cNvPr id="9" name="Text 7"/>
          <p:cNvSpPr/>
          <p:nvPr/>
        </p:nvSpPr>
        <p:spPr>
          <a:xfrm>
            <a:off x="8909209" y="1934647"/>
            <a:ext cx="2892028"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Recruitment Method</a:t>
            </a:r>
            <a:endParaRPr lang="en-US" sz="2250" dirty="0"/>
          </a:p>
        </p:txBody>
      </p:sp>
      <p:sp>
        <p:nvSpPr>
          <p:cNvPr id="10" name="Text 8"/>
          <p:cNvSpPr/>
          <p:nvPr/>
        </p:nvSpPr>
        <p:spPr>
          <a:xfrm>
            <a:off x="8909209" y="2488883"/>
            <a:ext cx="4934903" cy="1233487"/>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Participants were recruited through Centiment, a professional research panel provider, using </a:t>
            </a:r>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blinded recruitment</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—the AI topic was not disclosed until participants accessed the informed consent form.</a:t>
            </a:r>
            <a:endParaRPr lang="en-US" sz="1500" dirty="0"/>
          </a:p>
        </p:txBody>
      </p:sp>
      <p:sp>
        <p:nvSpPr>
          <p:cNvPr id="11" name="Text 9"/>
          <p:cNvSpPr/>
          <p:nvPr/>
        </p:nvSpPr>
        <p:spPr>
          <a:xfrm>
            <a:off x="8909209" y="3895844"/>
            <a:ext cx="4934903"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This approach minimizes self-selection bias that could occur if AI-enthusiastic individuals preferentially enrolled.</a:t>
            </a:r>
            <a:endParaRPr lang="en-US" sz="1500" dirty="0"/>
          </a:p>
        </p:txBody>
      </p:sp>
      <p:sp>
        <p:nvSpPr>
          <p:cNvPr id="12" name="Text 10"/>
          <p:cNvSpPr/>
          <p:nvPr/>
        </p:nvSpPr>
        <p:spPr>
          <a:xfrm>
            <a:off x="8909209" y="4705350"/>
            <a:ext cx="2892028"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Quality Controls</a:t>
            </a:r>
            <a:endParaRPr lang="en-US" sz="2250" dirty="0"/>
          </a:p>
        </p:txBody>
      </p:sp>
      <p:sp>
        <p:nvSpPr>
          <p:cNvPr id="13" name="Text 11"/>
          <p:cNvSpPr/>
          <p:nvPr/>
        </p:nvSpPr>
        <p:spPr>
          <a:xfrm>
            <a:off x="8909209" y="5259586"/>
            <a:ext cx="4934903" cy="616744"/>
          </a:xfrm>
          <a:prstGeom prst="rect">
            <a:avLst/>
          </a:prstGeom>
          <a:noFill/>
          <a:ln/>
        </p:spPr>
        <p:txBody>
          <a:bodyPr wrap="square" lIns="0" tIns="0" rIns="0" bIns="0" rtlCol="0" anchor="t"/>
          <a:lstStyle/>
          <a:p>
            <a:pPr algn="l" marL="342900" indent="-342900">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Multiple attention check items embedded throughout survey</a:t>
            </a:r>
            <a:endParaRPr lang="en-US" sz="1500" dirty="0"/>
          </a:p>
        </p:txBody>
      </p:sp>
      <p:sp>
        <p:nvSpPr>
          <p:cNvPr id="14" name="Text 12"/>
          <p:cNvSpPr/>
          <p:nvPr/>
        </p:nvSpPr>
        <p:spPr>
          <a:xfrm>
            <a:off x="8909209" y="5943719"/>
            <a:ext cx="4934903" cy="616744"/>
          </a:xfrm>
          <a:prstGeom prst="rect">
            <a:avLst/>
          </a:prstGeom>
          <a:noFill/>
          <a:ln/>
        </p:spPr>
        <p:txBody>
          <a:bodyPr wrap="square" lIns="0" tIns="0" rIns="0" bIns="0" rtlCol="0" anchor="t"/>
          <a:lstStyle/>
          <a:p>
            <a:pPr algn="l" marL="342900" indent="-342900">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Response time monitoring for suspiciously rapid completion</a:t>
            </a:r>
            <a:endParaRPr lang="en-US" sz="1500" dirty="0"/>
          </a:p>
        </p:txBody>
      </p:sp>
      <p:sp>
        <p:nvSpPr>
          <p:cNvPr id="15" name="Text 13"/>
          <p:cNvSpPr/>
          <p:nvPr/>
        </p:nvSpPr>
        <p:spPr>
          <a:xfrm>
            <a:off x="8909209" y="6627852"/>
            <a:ext cx="4934903"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Pattern detection for straight-lining responses</a:t>
            </a:r>
            <a:endParaRPr lang="en-US" sz="1500" dirty="0"/>
          </a:p>
        </p:txBody>
      </p:sp>
      <p:sp>
        <p:nvSpPr>
          <p:cNvPr id="16" name="Text 14"/>
          <p:cNvSpPr/>
          <p:nvPr/>
        </p:nvSpPr>
        <p:spPr>
          <a:xfrm>
            <a:off x="8909209" y="7003613"/>
            <a:ext cx="4934903" cy="3083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Exclusion of responses failing quality criteria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93921"/>
            <a:ext cx="6653332" cy="684728"/>
          </a:xfrm>
          <a:prstGeom prst="rect">
            <a:avLst/>
          </a:prstGeom>
          <a:noFill/>
          <a:ln/>
        </p:spPr>
        <p:txBody>
          <a:bodyPr wrap="none" lIns="0" tIns="0" rIns="0" bIns="0" rtlCol="0" anchor="t"/>
          <a:lstStyle/>
          <a:p>
            <a:pPr algn="l" indent="0" marL="0">
              <a:lnSpc>
                <a:spcPts val="5350"/>
              </a:lnSpc>
              <a:buNone/>
            </a:pPr>
            <a:r>
              <a:rPr lang="en-US" sz="4300" dirty="0">
                <a:solidFill>
                  <a:srgbClr val="3257B8"/>
                </a:solidFill>
                <a:latin typeface="Roboto Slab" pitchFamily="34" charset="0"/>
                <a:ea typeface="Roboto Slab" pitchFamily="34" charset="-122"/>
                <a:cs typeface="Roboto Slab" pitchFamily="34" charset="-120"/>
              </a:rPr>
              <a:t>The Value Paradigm Shift</a:t>
            </a:r>
            <a:endParaRPr lang="en-US" sz="4300" dirty="0"/>
          </a:p>
        </p:txBody>
      </p:sp>
      <p:sp>
        <p:nvSpPr>
          <p:cNvPr id="3" name="Text 1"/>
          <p:cNvSpPr/>
          <p:nvPr/>
        </p:nvSpPr>
        <p:spPr>
          <a:xfrm>
            <a:off x="793790" y="1896189"/>
            <a:ext cx="13042821"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What actually drives AI adoption intention? The results challenge three decades of technology acceptance research:</a:t>
            </a:r>
            <a:endParaRPr lang="en-US" sz="1250" dirty="0"/>
          </a:p>
        </p:txBody>
      </p:sp>
      <p:sp>
        <p:nvSpPr>
          <p:cNvPr id="4" name="Shape 2"/>
          <p:cNvSpPr/>
          <p:nvPr/>
        </p:nvSpPr>
        <p:spPr>
          <a:xfrm>
            <a:off x="793790" y="2328863"/>
            <a:ext cx="13042821" cy="4153614"/>
          </a:xfrm>
          <a:prstGeom prst="roundRect">
            <a:avLst>
              <a:gd name="adj" fmla="val 573"/>
            </a:avLst>
          </a:prstGeom>
          <a:noFill/>
          <a:ln w="7620">
            <a:solidFill>
              <a:srgbClr val="000000">
                <a:alpha val="8000"/>
              </a:srgbClr>
            </a:solidFill>
            <a:prstDash val="solid"/>
          </a:ln>
        </p:spPr>
      </p:sp>
      <p:sp>
        <p:nvSpPr>
          <p:cNvPr id="5" name="Shape 3"/>
          <p:cNvSpPr/>
          <p:nvPr/>
        </p:nvSpPr>
        <p:spPr>
          <a:xfrm>
            <a:off x="801410" y="2336483"/>
            <a:ext cx="13027581" cy="459819"/>
          </a:xfrm>
          <a:prstGeom prst="rect">
            <a:avLst/>
          </a:prstGeom>
          <a:solidFill>
            <a:srgbClr val="FFFFFF">
              <a:alpha val="4000"/>
            </a:srgbClr>
          </a:solidFill>
          <a:ln/>
        </p:spPr>
      </p:sp>
      <p:sp>
        <p:nvSpPr>
          <p:cNvPr id="6" name="Text 4"/>
          <p:cNvSpPr/>
          <p:nvPr/>
        </p:nvSpPr>
        <p:spPr>
          <a:xfrm>
            <a:off x="960358" y="2439352"/>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Predictor</a:t>
            </a:r>
            <a:endParaRPr lang="en-US" sz="1250" dirty="0"/>
          </a:p>
        </p:txBody>
      </p:sp>
      <p:sp>
        <p:nvSpPr>
          <p:cNvPr id="7" name="Text 5"/>
          <p:cNvSpPr/>
          <p:nvPr/>
        </p:nvSpPr>
        <p:spPr>
          <a:xfrm>
            <a:off x="4872395" y="2439352"/>
            <a:ext cx="1629013"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8" name="Text 6"/>
          <p:cNvSpPr/>
          <p:nvPr/>
        </p:nvSpPr>
        <p:spPr>
          <a:xfrm>
            <a:off x="6826448" y="2439352"/>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9" name="Text 7"/>
          <p:cNvSpPr/>
          <p:nvPr/>
        </p:nvSpPr>
        <p:spPr>
          <a:xfrm>
            <a:off x="8389739" y="2439352"/>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Rank</a:t>
            </a:r>
            <a:endParaRPr lang="en-US" sz="1250" dirty="0"/>
          </a:p>
        </p:txBody>
      </p:sp>
      <p:sp>
        <p:nvSpPr>
          <p:cNvPr id="10" name="Text 8"/>
          <p:cNvSpPr/>
          <p:nvPr/>
        </p:nvSpPr>
        <p:spPr>
          <a:xfrm>
            <a:off x="9953030" y="2439352"/>
            <a:ext cx="3717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Interpretation</a:t>
            </a:r>
            <a:endParaRPr lang="en-US" sz="1250" dirty="0"/>
          </a:p>
        </p:txBody>
      </p:sp>
      <p:sp>
        <p:nvSpPr>
          <p:cNvPr id="11" name="Shape 9"/>
          <p:cNvSpPr/>
          <p:nvPr/>
        </p:nvSpPr>
        <p:spPr>
          <a:xfrm>
            <a:off x="801410" y="2796302"/>
            <a:ext cx="13027581" cy="459819"/>
          </a:xfrm>
          <a:prstGeom prst="rect">
            <a:avLst/>
          </a:prstGeom>
          <a:solidFill>
            <a:srgbClr val="000000">
              <a:alpha val="4000"/>
            </a:srgbClr>
          </a:solidFill>
          <a:ln/>
        </p:spPr>
      </p:sp>
      <p:sp>
        <p:nvSpPr>
          <p:cNvPr id="12" name="Text 10"/>
          <p:cNvSpPr/>
          <p:nvPr/>
        </p:nvSpPr>
        <p:spPr>
          <a:xfrm>
            <a:off x="960358" y="2899172"/>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Price Value</a:t>
            </a:r>
            <a:endParaRPr lang="en-US" sz="1250" dirty="0"/>
          </a:p>
        </p:txBody>
      </p:sp>
      <p:sp>
        <p:nvSpPr>
          <p:cNvPr id="13" name="Text 11"/>
          <p:cNvSpPr/>
          <p:nvPr/>
        </p:nvSpPr>
        <p:spPr>
          <a:xfrm>
            <a:off x="4872395" y="2899172"/>
            <a:ext cx="162901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.505</a:t>
            </a:r>
            <a:endParaRPr lang="en-US" sz="1250" dirty="0"/>
          </a:p>
        </p:txBody>
      </p:sp>
      <p:sp>
        <p:nvSpPr>
          <p:cNvPr id="14" name="Text 12"/>
          <p:cNvSpPr/>
          <p:nvPr/>
        </p:nvSpPr>
        <p:spPr>
          <a:xfrm>
            <a:off x="6826448" y="2899172"/>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&lt;.001</a:t>
            </a:r>
            <a:endParaRPr lang="en-US" sz="1250" dirty="0"/>
          </a:p>
        </p:txBody>
      </p:sp>
      <p:sp>
        <p:nvSpPr>
          <p:cNvPr id="15" name="Text 13"/>
          <p:cNvSpPr/>
          <p:nvPr/>
        </p:nvSpPr>
        <p:spPr>
          <a:xfrm>
            <a:off x="8389739" y="2899172"/>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1st</a:t>
            </a:r>
            <a:endParaRPr lang="en-US" sz="1250" dirty="0"/>
          </a:p>
        </p:txBody>
      </p:sp>
      <p:sp>
        <p:nvSpPr>
          <p:cNvPr id="16" name="Text 14"/>
          <p:cNvSpPr/>
          <p:nvPr/>
        </p:nvSpPr>
        <p:spPr>
          <a:xfrm>
            <a:off x="9953030" y="2899172"/>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Strongest predictor by far—dominates model</a:t>
            </a:r>
            <a:endParaRPr lang="en-US" sz="1250" dirty="0"/>
          </a:p>
        </p:txBody>
      </p:sp>
      <p:sp>
        <p:nvSpPr>
          <p:cNvPr id="17" name="Shape 15"/>
          <p:cNvSpPr/>
          <p:nvPr/>
        </p:nvSpPr>
        <p:spPr>
          <a:xfrm>
            <a:off x="801410" y="3256121"/>
            <a:ext cx="13027581" cy="459819"/>
          </a:xfrm>
          <a:prstGeom prst="rect">
            <a:avLst/>
          </a:prstGeom>
          <a:solidFill>
            <a:srgbClr val="FFFFFF">
              <a:alpha val="4000"/>
            </a:srgbClr>
          </a:solidFill>
          <a:ln/>
        </p:spPr>
      </p:sp>
      <p:sp>
        <p:nvSpPr>
          <p:cNvPr id="18" name="Text 16"/>
          <p:cNvSpPr/>
          <p:nvPr/>
        </p:nvSpPr>
        <p:spPr>
          <a:xfrm>
            <a:off x="960358" y="3358991"/>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Hedonic Motivation</a:t>
            </a:r>
            <a:endParaRPr lang="en-US" sz="1250" dirty="0"/>
          </a:p>
        </p:txBody>
      </p:sp>
      <p:sp>
        <p:nvSpPr>
          <p:cNvPr id="19" name="Text 17"/>
          <p:cNvSpPr/>
          <p:nvPr/>
        </p:nvSpPr>
        <p:spPr>
          <a:xfrm>
            <a:off x="4872395" y="3358991"/>
            <a:ext cx="162901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.217</a:t>
            </a:r>
            <a:endParaRPr lang="en-US" sz="1250" dirty="0"/>
          </a:p>
        </p:txBody>
      </p:sp>
      <p:sp>
        <p:nvSpPr>
          <p:cNvPr id="20" name="Text 18"/>
          <p:cNvSpPr/>
          <p:nvPr/>
        </p:nvSpPr>
        <p:spPr>
          <a:xfrm>
            <a:off x="6826448" y="3358991"/>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.014</a:t>
            </a:r>
            <a:endParaRPr lang="en-US" sz="1250" dirty="0"/>
          </a:p>
        </p:txBody>
      </p:sp>
      <p:sp>
        <p:nvSpPr>
          <p:cNvPr id="21" name="Text 19"/>
          <p:cNvSpPr/>
          <p:nvPr/>
        </p:nvSpPr>
        <p:spPr>
          <a:xfrm>
            <a:off x="8389739" y="335899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2nd</a:t>
            </a:r>
            <a:endParaRPr lang="en-US" sz="1250" dirty="0"/>
          </a:p>
        </p:txBody>
      </p:sp>
      <p:sp>
        <p:nvSpPr>
          <p:cNvPr id="22" name="Text 20"/>
          <p:cNvSpPr/>
          <p:nvPr/>
        </p:nvSpPr>
        <p:spPr>
          <a:xfrm>
            <a:off x="9953030" y="3358991"/>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Enjoyment matters significantly</a:t>
            </a:r>
            <a:endParaRPr lang="en-US" sz="1250" dirty="0"/>
          </a:p>
        </p:txBody>
      </p:sp>
      <p:sp>
        <p:nvSpPr>
          <p:cNvPr id="23" name="Shape 21"/>
          <p:cNvSpPr/>
          <p:nvPr/>
        </p:nvSpPr>
        <p:spPr>
          <a:xfrm>
            <a:off x="801410" y="3715941"/>
            <a:ext cx="13027581" cy="459819"/>
          </a:xfrm>
          <a:prstGeom prst="rect">
            <a:avLst/>
          </a:prstGeom>
          <a:solidFill>
            <a:srgbClr val="000000">
              <a:alpha val="4000"/>
            </a:srgbClr>
          </a:solidFill>
          <a:ln/>
        </p:spPr>
      </p:sp>
      <p:sp>
        <p:nvSpPr>
          <p:cNvPr id="24" name="Text 22"/>
          <p:cNvSpPr/>
          <p:nvPr/>
        </p:nvSpPr>
        <p:spPr>
          <a:xfrm>
            <a:off x="960358" y="3818811"/>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Social Influence</a:t>
            </a:r>
            <a:endParaRPr lang="en-US" sz="1250" dirty="0"/>
          </a:p>
        </p:txBody>
      </p:sp>
      <p:sp>
        <p:nvSpPr>
          <p:cNvPr id="25" name="Text 23"/>
          <p:cNvSpPr/>
          <p:nvPr/>
        </p:nvSpPr>
        <p:spPr>
          <a:xfrm>
            <a:off x="4872395" y="3818811"/>
            <a:ext cx="162901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.136</a:t>
            </a:r>
            <a:endParaRPr lang="en-US" sz="1250" dirty="0"/>
          </a:p>
        </p:txBody>
      </p:sp>
      <p:sp>
        <p:nvSpPr>
          <p:cNvPr id="26" name="Text 24"/>
          <p:cNvSpPr/>
          <p:nvPr/>
        </p:nvSpPr>
        <p:spPr>
          <a:xfrm>
            <a:off x="6826448" y="3818811"/>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.024</a:t>
            </a:r>
            <a:endParaRPr lang="en-US" sz="1250" dirty="0"/>
          </a:p>
        </p:txBody>
      </p:sp>
      <p:sp>
        <p:nvSpPr>
          <p:cNvPr id="27" name="Text 25"/>
          <p:cNvSpPr/>
          <p:nvPr/>
        </p:nvSpPr>
        <p:spPr>
          <a:xfrm>
            <a:off x="8389739" y="381881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3rd</a:t>
            </a:r>
            <a:endParaRPr lang="en-US" sz="1250" dirty="0"/>
          </a:p>
        </p:txBody>
      </p:sp>
      <p:sp>
        <p:nvSpPr>
          <p:cNvPr id="28" name="Text 26"/>
          <p:cNvSpPr/>
          <p:nvPr/>
        </p:nvSpPr>
        <p:spPr>
          <a:xfrm>
            <a:off x="9953030" y="3818811"/>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Peer endorsement drives adoption</a:t>
            </a:r>
            <a:endParaRPr lang="en-US" sz="1250" dirty="0"/>
          </a:p>
        </p:txBody>
      </p:sp>
      <p:sp>
        <p:nvSpPr>
          <p:cNvPr id="29" name="Shape 27"/>
          <p:cNvSpPr/>
          <p:nvPr/>
        </p:nvSpPr>
        <p:spPr>
          <a:xfrm>
            <a:off x="801410" y="4175760"/>
            <a:ext cx="13027581" cy="459819"/>
          </a:xfrm>
          <a:prstGeom prst="rect">
            <a:avLst/>
          </a:prstGeom>
          <a:solidFill>
            <a:srgbClr val="FFFFFF">
              <a:alpha val="4000"/>
            </a:srgbClr>
          </a:solidFill>
          <a:ln/>
        </p:spPr>
      </p:sp>
      <p:sp>
        <p:nvSpPr>
          <p:cNvPr id="30" name="Text 28"/>
          <p:cNvSpPr/>
          <p:nvPr/>
        </p:nvSpPr>
        <p:spPr>
          <a:xfrm>
            <a:off x="960358" y="4278630"/>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AI Trust</a:t>
            </a:r>
            <a:endParaRPr lang="en-US" sz="1250" dirty="0"/>
          </a:p>
        </p:txBody>
      </p:sp>
      <p:sp>
        <p:nvSpPr>
          <p:cNvPr id="31" name="Text 29"/>
          <p:cNvSpPr/>
          <p:nvPr/>
        </p:nvSpPr>
        <p:spPr>
          <a:xfrm>
            <a:off x="4872395" y="4278630"/>
            <a:ext cx="162901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32" name="Text 30"/>
          <p:cNvSpPr/>
          <p:nvPr/>
        </p:nvSpPr>
        <p:spPr>
          <a:xfrm>
            <a:off x="6826448" y="4278630"/>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33" name="Text 31"/>
          <p:cNvSpPr/>
          <p:nvPr/>
        </p:nvSpPr>
        <p:spPr>
          <a:xfrm>
            <a:off x="8389739" y="4278630"/>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4th</a:t>
            </a:r>
            <a:endParaRPr lang="en-US" sz="1250" dirty="0"/>
          </a:p>
        </p:txBody>
      </p:sp>
      <p:sp>
        <p:nvSpPr>
          <p:cNvPr id="34" name="Text 32"/>
          <p:cNvSpPr/>
          <p:nvPr/>
        </p:nvSpPr>
        <p:spPr>
          <a:xfrm>
            <a:off x="9953030" y="4278630"/>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Marginal—diagnostic value</a:t>
            </a:r>
            <a:endParaRPr lang="en-US" sz="1250" dirty="0"/>
          </a:p>
        </p:txBody>
      </p:sp>
      <p:sp>
        <p:nvSpPr>
          <p:cNvPr id="35" name="Shape 33"/>
          <p:cNvSpPr/>
          <p:nvPr/>
        </p:nvSpPr>
        <p:spPr>
          <a:xfrm>
            <a:off x="801410" y="4635579"/>
            <a:ext cx="13027581" cy="459819"/>
          </a:xfrm>
          <a:prstGeom prst="rect">
            <a:avLst/>
          </a:prstGeom>
          <a:solidFill>
            <a:srgbClr val="000000">
              <a:alpha val="4000"/>
            </a:srgbClr>
          </a:solidFill>
          <a:ln/>
        </p:spPr>
      </p:sp>
      <p:sp>
        <p:nvSpPr>
          <p:cNvPr id="36" name="Text 34"/>
          <p:cNvSpPr/>
          <p:nvPr/>
        </p:nvSpPr>
        <p:spPr>
          <a:xfrm>
            <a:off x="960358" y="4738449"/>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Performance Expectancy</a:t>
            </a:r>
            <a:endParaRPr lang="en-US" sz="1250" dirty="0"/>
          </a:p>
        </p:txBody>
      </p:sp>
      <p:sp>
        <p:nvSpPr>
          <p:cNvPr id="37" name="Text 35"/>
          <p:cNvSpPr/>
          <p:nvPr/>
        </p:nvSpPr>
        <p:spPr>
          <a:xfrm>
            <a:off x="4872395" y="4738449"/>
            <a:ext cx="162901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38" name="Text 36"/>
          <p:cNvSpPr/>
          <p:nvPr/>
        </p:nvSpPr>
        <p:spPr>
          <a:xfrm>
            <a:off x="6826448" y="473844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39" name="Text 37"/>
          <p:cNvSpPr/>
          <p:nvPr/>
        </p:nvSpPr>
        <p:spPr>
          <a:xfrm>
            <a:off x="8389739" y="473844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40" name="Text 38"/>
          <p:cNvSpPr/>
          <p:nvPr/>
        </p:nvSpPr>
        <p:spPr>
          <a:xfrm>
            <a:off x="9953030" y="4738449"/>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significant</a:t>
            </a:r>
            <a:endParaRPr lang="en-US" sz="1250" dirty="0"/>
          </a:p>
        </p:txBody>
      </p:sp>
      <p:sp>
        <p:nvSpPr>
          <p:cNvPr id="41" name="Shape 39"/>
          <p:cNvSpPr/>
          <p:nvPr/>
        </p:nvSpPr>
        <p:spPr>
          <a:xfrm>
            <a:off x="801410" y="5095399"/>
            <a:ext cx="13027581" cy="459819"/>
          </a:xfrm>
          <a:prstGeom prst="rect">
            <a:avLst/>
          </a:prstGeom>
          <a:solidFill>
            <a:srgbClr val="FFFFFF">
              <a:alpha val="4000"/>
            </a:srgbClr>
          </a:solidFill>
          <a:ln/>
        </p:spPr>
      </p:sp>
      <p:sp>
        <p:nvSpPr>
          <p:cNvPr id="42" name="Text 40"/>
          <p:cNvSpPr/>
          <p:nvPr/>
        </p:nvSpPr>
        <p:spPr>
          <a:xfrm>
            <a:off x="960358" y="5198269"/>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Effort Expectancy</a:t>
            </a:r>
            <a:endParaRPr lang="en-US" sz="1250" dirty="0"/>
          </a:p>
        </p:txBody>
      </p:sp>
      <p:sp>
        <p:nvSpPr>
          <p:cNvPr id="43" name="Text 41"/>
          <p:cNvSpPr/>
          <p:nvPr/>
        </p:nvSpPr>
        <p:spPr>
          <a:xfrm>
            <a:off x="4872395" y="5198269"/>
            <a:ext cx="162901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44" name="Text 42"/>
          <p:cNvSpPr/>
          <p:nvPr/>
        </p:nvSpPr>
        <p:spPr>
          <a:xfrm>
            <a:off x="6826448" y="519826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45" name="Text 43"/>
          <p:cNvSpPr/>
          <p:nvPr/>
        </p:nvSpPr>
        <p:spPr>
          <a:xfrm>
            <a:off x="8389739" y="519826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46" name="Text 44"/>
          <p:cNvSpPr/>
          <p:nvPr/>
        </p:nvSpPr>
        <p:spPr>
          <a:xfrm>
            <a:off x="9953030" y="5198269"/>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significant</a:t>
            </a:r>
            <a:endParaRPr lang="en-US" sz="1250" dirty="0"/>
          </a:p>
        </p:txBody>
      </p:sp>
      <p:sp>
        <p:nvSpPr>
          <p:cNvPr id="47" name="Shape 45"/>
          <p:cNvSpPr/>
          <p:nvPr/>
        </p:nvSpPr>
        <p:spPr>
          <a:xfrm>
            <a:off x="801410" y="5555218"/>
            <a:ext cx="13027581" cy="459819"/>
          </a:xfrm>
          <a:prstGeom prst="rect">
            <a:avLst/>
          </a:prstGeom>
          <a:solidFill>
            <a:srgbClr val="000000">
              <a:alpha val="4000"/>
            </a:srgbClr>
          </a:solidFill>
          <a:ln/>
        </p:spPr>
      </p:sp>
      <p:sp>
        <p:nvSpPr>
          <p:cNvPr id="48" name="Text 46"/>
          <p:cNvSpPr/>
          <p:nvPr/>
        </p:nvSpPr>
        <p:spPr>
          <a:xfrm>
            <a:off x="960358" y="5658088"/>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Facilitating Conditions</a:t>
            </a:r>
            <a:endParaRPr lang="en-US" sz="1250" dirty="0"/>
          </a:p>
        </p:txBody>
      </p:sp>
      <p:sp>
        <p:nvSpPr>
          <p:cNvPr id="49" name="Text 47"/>
          <p:cNvSpPr/>
          <p:nvPr/>
        </p:nvSpPr>
        <p:spPr>
          <a:xfrm>
            <a:off x="4872395" y="5658088"/>
            <a:ext cx="162901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50" name="Text 48"/>
          <p:cNvSpPr/>
          <p:nvPr/>
        </p:nvSpPr>
        <p:spPr>
          <a:xfrm>
            <a:off x="6826448" y="5658088"/>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51" name="Text 49"/>
          <p:cNvSpPr/>
          <p:nvPr/>
        </p:nvSpPr>
        <p:spPr>
          <a:xfrm>
            <a:off x="8389739" y="5658088"/>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52" name="Text 50"/>
          <p:cNvSpPr/>
          <p:nvPr/>
        </p:nvSpPr>
        <p:spPr>
          <a:xfrm>
            <a:off x="9953030" y="5658088"/>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significant</a:t>
            </a:r>
            <a:endParaRPr lang="en-US" sz="1250" dirty="0"/>
          </a:p>
        </p:txBody>
      </p:sp>
      <p:sp>
        <p:nvSpPr>
          <p:cNvPr id="53" name="Shape 51"/>
          <p:cNvSpPr/>
          <p:nvPr/>
        </p:nvSpPr>
        <p:spPr>
          <a:xfrm>
            <a:off x="801410" y="6015037"/>
            <a:ext cx="13027581" cy="459819"/>
          </a:xfrm>
          <a:prstGeom prst="rect">
            <a:avLst/>
          </a:prstGeom>
          <a:solidFill>
            <a:srgbClr val="FFFFFF">
              <a:alpha val="4000"/>
            </a:srgbClr>
          </a:solidFill>
          <a:ln/>
        </p:spPr>
      </p:sp>
      <p:sp>
        <p:nvSpPr>
          <p:cNvPr id="54" name="Text 52"/>
          <p:cNvSpPr/>
          <p:nvPr/>
        </p:nvSpPr>
        <p:spPr>
          <a:xfrm>
            <a:off x="960358" y="6117908"/>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Habit</a:t>
            </a:r>
            <a:endParaRPr lang="en-US" sz="1250" dirty="0"/>
          </a:p>
        </p:txBody>
      </p:sp>
      <p:sp>
        <p:nvSpPr>
          <p:cNvPr id="55" name="Text 53"/>
          <p:cNvSpPr/>
          <p:nvPr/>
        </p:nvSpPr>
        <p:spPr>
          <a:xfrm>
            <a:off x="4872395" y="6117908"/>
            <a:ext cx="162901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56" name="Text 54"/>
          <p:cNvSpPr/>
          <p:nvPr/>
        </p:nvSpPr>
        <p:spPr>
          <a:xfrm>
            <a:off x="6826448" y="6117908"/>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57" name="Text 55"/>
          <p:cNvSpPr/>
          <p:nvPr/>
        </p:nvSpPr>
        <p:spPr>
          <a:xfrm>
            <a:off x="8389739" y="6117908"/>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58" name="Text 56"/>
          <p:cNvSpPr/>
          <p:nvPr/>
        </p:nvSpPr>
        <p:spPr>
          <a:xfrm>
            <a:off x="9953030" y="6117908"/>
            <a:ext cx="3717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significant</a:t>
            </a:r>
            <a:endParaRPr lang="en-US" sz="1250" dirty="0"/>
          </a:p>
        </p:txBody>
      </p:sp>
      <p:sp>
        <p:nvSpPr>
          <p:cNvPr id="59" name="Shape 57"/>
          <p:cNvSpPr/>
          <p:nvPr/>
        </p:nvSpPr>
        <p:spPr>
          <a:xfrm>
            <a:off x="793790" y="6661071"/>
            <a:ext cx="13042821" cy="674608"/>
          </a:xfrm>
          <a:prstGeom prst="roundRect">
            <a:avLst>
              <a:gd name="adj" fmla="val 3530"/>
            </a:avLst>
          </a:prstGeom>
          <a:solidFill>
            <a:srgbClr val="C3CFEF"/>
          </a:solidFill>
          <a:ln/>
        </p:spPr>
      </p:sp>
      <p:pic>
        <p:nvPicPr>
          <p:cNvPr id="60" name="Image 0" descr="preencoded.png">    </p:cNvPr>
          <p:cNvPicPr>
            <a:picLocks noChangeAspect="1"/>
          </p:cNvPicPr>
          <p:nvPr/>
        </p:nvPicPr>
        <p:blipFill>
          <a:blip r:embed="rId1"/>
          <a:stretch>
            <a:fillRect/>
          </a:stretch>
        </p:blipFill>
        <p:spPr>
          <a:xfrm>
            <a:off x="952500" y="6895743"/>
            <a:ext cx="198358" cy="158710"/>
          </a:xfrm>
          <a:prstGeom prst="rect">
            <a:avLst/>
          </a:prstGeom>
        </p:spPr>
      </p:pic>
      <p:sp>
        <p:nvSpPr>
          <p:cNvPr id="61" name="Text 58"/>
          <p:cNvSpPr/>
          <p:nvPr/>
        </p:nvSpPr>
        <p:spPr>
          <a:xfrm>
            <a:off x="1309568" y="6859429"/>
            <a:ext cx="12368332" cy="254079"/>
          </a:xfrm>
          <a:prstGeom prst="rect">
            <a:avLst/>
          </a:prstGeom>
          <a:noFill/>
          <a:ln/>
        </p:spPr>
        <p:txBody>
          <a:bodyPr wrap="none" lIns="0" tIns="0" rIns="0" bIns="0" rtlCol="0" anchor="t"/>
          <a:lstStyle/>
          <a:p>
            <a:pPr algn="l" indent="0" marL="0">
              <a:lnSpc>
                <a:spcPts val="2000"/>
              </a:lnSpc>
              <a:buNone/>
            </a:pPr>
            <a:r>
              <a:rPr lang="en-US" sz="1250" b="1" dirty="0">
                <a:solidFill>
                  <a:srgbClr val="000000"/>
                </a:solidFill>
                <a:latin typeface="Roboto" pitchFamily="34" charset="0"/>
                <a:ea typeface="Roboto" pitchFamily="34" charset="-122"/>
                <a:cs typeface="Roboto" pitchFamily="34" charset="-120"/>
              </a:rPr>
              <a:t>Model Explanatory Power:</a:t>
            </a:r>
            <a:pPr algn="l" indent="0" marL="0">
              <a:lnSpc>
                <a:spcPts val="2000"/>
              </a:lnSpc>
              <a:buNone/>
            </a:pPr>
            <a:r>
              <a:rPr lang="en-US" sz="1250" dirty="0">
                <a:solidFill>
                  <a:srgbClr val="000000"/>
                </a:solidFill>
                <a:latin typeface="Roboto" pitchFamily="34" charset="0"/>
                <a:ea typeface="Roboto" pitchFamily="34" charset="-122"/>
                <a:cs typeface="Roboto" pitchFamily="34" charset="-120"/>
              </a:rPr>
              <a:t> R² = .852 (85.2% of variance explained)—exceptional predictive accuracy demonstrating the model's practical utility for understanding AI adoption.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39723"/>
            <a:ext cx="7561778"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What Doesn't Work: Traditional Drivers Fail</a:t>
            </a:r>
            <a:endParaRPr lang="en-US" sz="2900" dirty="0"/>
          </a:p>
        </p:txBody>
      </p:sp>
      <p:sp>
        <p:nvSpPr>
          <p:cNvPr id="3" name="Text 1"/>
          <p:cNvSpPr/>
          <p:nvPr/>
        </p:nvSpPr>
        <p:spPr>
          <a:xfrm>
            <a:off x="793790" y="1468993"/>
            <a:ext cx="3014543"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Not Significant for AI:</a:t>
            </a:r>
            <a:endParaRPr lang="en-US" sz="2300" dirty="0"/>
          </a:p>
        </p:txBody>
      </p:sp>
      <p:pic>
        <p:nvPicPr>
          <p:cNvPr id="4" name="Image 0" descr="preencoded.png">    </p:cNvPr>
          <p:cNvPicPr>
            <a:picLocks noChangeAspect="1"/>
          </p:cNvPicPr>
          <p:nvPr/>
        </p:nvPicPr>
        <p:blipFill>
          <a:blip r:embed="rId1"/>
          <a:stretch>
            <a:fillRect/>
          </a:stretch>
        </p:blipFill>
        <p:spPr>
          <a:xfrm>
            <a:off x="793790" y="2003465"/>
            <a:ext cx="6341626" cy="1085255"/>
          </a:xfrm>
          <a:prstGeom prst="rect">
            <a:avLst/>
          </a:prstGeom>
        </p:spPr>
      </p:pic>
      <p:sp>
        <p:nvSpPr>
          <p:cNvPr id="5" name="Text 2"/>
          <p:cNvSpPr/>
          <p:nvPr/>
        </p:nvSpPr>
        <p:spPr>
          <a:xfrm>
            <a:off x="941189" y="2150864"/>
            <a:ext cx="2191464"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Performance Expectancy</a:t>
            </a:r>
            <a:endParaRPr lang="en-US" sz="1450" dirty="0"/>
          </a:p>
        </p:txBody>
      </p:sp>
      <p:sp>
        <p:nvSpPr>
          <p:cNvPr id="6" name="Text 3"/>
          <p:cNvSpPr/>
          <p:nvPr/>
        </p:nvSpPr>
        <p:spPr>
          <a:xfrm>
            <a:off x="941189" y="2528649"/>
            <a:ext cx="604682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Productivity gains don't predict AI adoption</a:t>
            </a:r>
            <a:endParaRPr lang="en-US" sz="1150" dirty="0"/>
          </a:p>
        </p:txBody>
      </p:sp>
      <p:pic>
        <p:nvPicPr>
          <p:cNvPr id="7" name="Image 1" descr="preencoded.png">    </p:cNvPr>
          <p:cNvPicPr>
            <a:picLocks noChangeAspect="1"/>
          </p:cNvPicPr>
          <p:nvPr/>
        </p:nvPicPr>
        <p:blipFill>
          <a:blip r:embed="rId2"/>
          <a:stretch>
            <a:fillRect/>
          </a:stretch>
        </p:blipFill>
        <p:spPr>
          <a:xfrm>
            <a:off x="793790" y="3236119"/>
            <a:ext cx="6341626" cy="1085255"/>
          </a:xfrm>
          <a:prstGeom prst="rect">
            <a:avLst/>
          </a:prstGeom>
        </p:spPr>
      </p:pic>
      <p:sp>
        <p:nvSpPr>
          <p:cNvPr id="8" name="Text 4"/>
          <p:cNvSpPr/>
          <p:nvPr/>
        </p:nvSpPr>
        <p:spPr>
          <a:xfrm>
            <a:off x="941189" y="3383518"/>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Effort Expectancy</a:t>
            </a:r>
            <a:endParaRPr lang="en-US" sz="1450" dirty="0"/>
          </a:p>
        </p:txBody>
      </p:sp>
      <p:sp>
        <p:nvSpPr>
          <p:cNvPr id="9" name="Text 5"/>
          <p:cNvSpPr/>
          <p:nvPr/>
        </p:nvSpPr>
        <p:spPr>
          <a:xfrm>
            <a:off x="941189" y="3761303"/>
            <a:ext cx="604682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Ease of use doesn't drive adoption decisions</a:t>
            </a:r>
            <a:endParaRPr lang="en-US" sz="1150" dirty="0"/>
          </a:p>
        </p:txBody>
      </p:sp>
      <p:pic>
        <p:nvPicPr>
          <p:cNvPr id="10" name="Image 2" descr="preencoded.png">    </p:cNvPr>
          <p:cNvPicPr>
            <a:picLocks noChangeAspect="1"/>
          </p:cNvPicPr>
          <p:nvPr/>
        </p:nvPicPr>
        <p:blipFill>
          <a:blip r:embed="rId3"/>
          <a:stretch>
            <a:fillRect/>
          </a:stretch>
        </p:blipFill>
        <p:spPr>
          <a:xfrm>
            <a:off x="793790" y="4468773"/>
            <a:ext cx="6341626" cy="1085255"/>
          </a:xfrm>
          <a:prstGeom prst="rect">
            <a:avLst/>
          </a:prstGeom>
        </p:spPr>
      </p:pic>
      <p:sp>
        <p:nvSpPr>
          <p:cNvPr id="11" name="Text 6"/>
          <p:cNvSpPr/>
          <p:nvPr/>
        </p:nvSpPr>
        <p:spPr>
          <a:xfrm>
            <a:off x="941189" y="4616172"/>
            <a:ext cx="1988463"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Facilitating Conditions</a:t>
            </a:r>
            <a:endParaRPr lang="en-US" sz="1450" dirty="0"/>
          </a:p>
        </p:txBody>
      </p:sp>
      <p:sp>
        <p:nvSpPr>
          <p:cNvPr id="12" name="Text 7"/>
          <p:cNvSpPr/>
          <p:nvPr/>
        </p:nvSpPr>
        <p:spPr>
          <a:xfrm>
            <a:off x="941189" y="4993958"/>
            <a:ext cx="604682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Training and support don't overcome resistance</a:t>
            </a:r>
            <a:endParaRPr lang="en-US" sz="1150" dirty="0"/>
          </a:p>
        </p:txBody>
      </p:sp>
      <p:pic>
        <p:nvPicPr>
          <p:cNvPr id="13" name="Image 3" descr="preencoded.png">    </p:cNvPr>
          <p:cNvPicPr>
            <a:picLocks noChangeAspect="1"/>
          </p:cNvPicPr>
          <p:nvPr/>
        </p:nvPicPr>
        <p:blipFill>
          <a:blip r:embed="rId4"/>
          <a:stretch>
            <a:fillRect/>
          </a:stretch>
        </p:blipFill>
        <p:spPr>
          <a:xfrm>
            <a:off x="793790" y="5701427"/>
            <a:ext cx="6341626" cy="1085255"/>
          </a:xfrm>
          <a:prstGeom prst="rect">
            <a:avLst/>
          </a:prstGeom>
        </p:spPr>
      </p:pic>
      <p:sp>
        <p:nvSpPr>
          <p:cNvPr id="14" name="Text 8"/>
          <p:cNvSpPr/>
          <p:nvPr/>
        </p:nvSpPr>
        <p:spPr>
          <a:xfrm>
            <a:off x="941189" y="5848826"/>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Habit</a:t>
            </a:r>
            <a:endParaRPr lang="en-US" sz="1450" dirty="0"/>
          </a:p>
        </p:txBody>
      </p:sp>
      <p:sp>
        <p:nvSpPr>
          <p:cNvPr id="15" name="Text 9"/>
          <p:cNvSpPr/>
          <p:nvPr/>
        </p:nvSpPr>
        <p:spPr>
          <a:xfrm>
            <a:off x="941189" y="6226612"/>
            <a:ext cx="604682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Prior technology experience doesn't transfer</a:t>
            </a:r>
            <a:endParaRPr lang="en-US" sz="1150" dirty="0"/>
          </a:p>
        </p:txBody>
      </p:sp>
      <p:sp>
        <p:nvSpPr>
          <p:cNvPr id="16" name="Text 10"/>
          <p:cNvSpPr/>
          <p:nvPr/>
        </p:nvSpPr>
        <p:spPr>
          <a:xfrm>
            <a:off x="7502604" y="1468993"/>
            <a:ext cx="294870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The Paradigm Shift</a:t>
            </a:r>
            <a:endParaRPr lang="en-US" sz="2300" dirty="0"/>
          </a:p>
        </p:txBody>
      </p:sp>
      <p:sp>
        <p:nvSpPr>
          <p:cNvPr id="17" name="Shape 11"/>
          <p:cNvSpPr/>
          <p:nvPr/>
        </p:nvSpPr>
        <p:spPr>
          <a:xfrm>
            <a:off x="10665738" y="2003465"/>
            <a:ext cx="15240" cy="4763691"/>
          </a:xfrm>
          <a:prstGeom prst="roundRect">
            <a:avLst>
              <a:gd name="adj" fmla="val 145116"/>
            </a:avLst>
          </a:prstGeom>
          <a:solidFill>
            <a:srgbClr val="CFD2D8"/>
          </a:solidFill>
          <a:ln/>
        </p:spPr>
      </p:sp>
      <p:sp>
        <p:nvSpPr>
          <p:cNvPr id="18" name="Shape 12"/>
          <p:cNvSpPr/>
          <p:nvPr/>
        </p:nvSpPr>
        <p:spPr>
          <a:xfrm>
            <a:off x="7487364" y="2003465"/>
            <a:ext cx="3170753" cy="2116574"/>
          </a:xfrm>
          <a:prstGeom prst="roundRect">
            <a:avLst>
              <a:gd name="adj" fmla="val 1045"/>
            </a:avLst>
          </a:prstGeom>
          <a:solidFill>
            <a:srgbClr val="E9ECF2"/>
          </a:solidFill>
          <a:ln/>
        </p:spPr>
      </p:sp>
      <p:sp>
        <p:nvSpPr>
          <p:cNvPr id="19" name="Text 13"/>
          <p:cNvSpPr/>
          <p:nvPr/>
        </p:nvSpPr>
        <p:spPr>
          <a:xfrm>
            <a:off x="8470940" y="2150864"/>
            <a:ext cx="2039779" cy="230386"/>
          </a:xfrm>
          <a:prstGeom prst="rect">
            <a:avLst/>
          </a:prstGeom>
          <a:noFill/>
          <a:ln/>
        </p:spPr>
        <p:txBody>
          <a:bodyPr wrap="none" lIns="0" tIns="0" rIns="0" bIns="0" rtlCol="0" anchor="t"/>
          <a:lstStyle/>
          <a:p>
            <a:pPr algn="r"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Traditional Technology</a:t>
            </a:r>
            <a:endParaRPr lang="en-US" sz="1450" dirty="0"/>
          </a:p>
        </p:txBody>
      </p:sp>
      <p:sp>
        <p:nvSpPr>
          <p:cNvPr id="20" name="Text 14"/>
          <p:cNvSpPr/>
          <p:nvPr/>
        </p:nvSpPr>
        <p:spPr>
          <a:xfrm>
            <a:off x="7634764" y="2528649"/>
            <a:ext cx="2875955" cy="235744"/>
          </a:xfrm>
          <a:prstGeom prst="rect">
            <a:avLst/>
          </a:prstGeom>
          <a:noFill/>
          <a:ln/>
        </p:spPr>
        <p:txBody>
          <a:bodyPr wrap="none" lIns="0" tIns="0" rIns="0" bIns="0" rtlCol="0" anchor="t"/>
          <a:lstStyle/>
          <a:p>
            <a:pPr algn="r" indent="0" marL="0">
              <a:lnSpc>
                <a:spcPts val="1850"/>
              </a:lnSpc>
              <a:buNone/>
            </a:pPr>
            <a:r>
              <a:rPr lang="en-US" sz="1150" dirty="0">
                <a:solidFill>
                  <a:srgbClr val="15213F"/>
                </a:solidFill>
                <a:latin typeface="Roboto" pitchFamily="34" charset="0"/>
                <a:ea typeface="Roboto" pitchFamily="34" charset="-122"/>
                <a:cs typeface="Roboto" pitchFamily="34" charset="-120"/>
              </a:rPr>
              <a:t>"Will this make me more productive?"</a:t>
            </a:r>
            <a:endParaRPr lang="en-US" sz="1150" dirty="0"/>
          </a:p>
        </p:txBody>
      </p:sp>
      <p:sp>
        <p:nvSpPr>
          <p:cNvPr id="21" name="Text 15"/>
          <p:cNvSpPr/>
          <p:nvPr/>
        </p:nvSpPr>
        <p:spPr>
          <a:xfrm>
            <a:off x="7634764" y="2897029"/>
            <a:ext cx="2875955" cy="471488"/>
          </a:xfrm>
          <a:prstGeom prst="rect">
            <a:avLst/>
          </a:prstGeom>
          <a:noFill/>
          <a:ln/>
        </p:spPr>
        <p:txBody>
          <a:bodyPr wrap="square" lIns="0" tIns="0" rIns="0" bIns="0" rtlCol="0" anchor="t"/>
          <a:lstStyle/>
          <a:p>
            <a:pPr algn="r"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respond with feature demonstrations and productivity claims</a:t>
            </a:r>
            <a:endParaRPr lang="en-US" sz="1150" dirty="0"/>
          </a:p>
        </p:txBody>
      </p:sp>
      <p:sp>
        <p:nvSpPr>
          <p:cNvPr id="22" name="Text 16"/>
          <p:cNvSpPr/>
          <p:nvPr/>
        </p:nvSpPr>
        <p:spPr>
          <a:xfrm>
            <a:off x="7634764" y="3501152"/>
            <a:ext cx="2875955" cy="471488"/>
          </a:xfrm>
          <a:prstGeom prst="rect">
            <a:avLst/>
          </a:prstGeom>
          <a:noFill/>
          <a:ln/>
        </p:spPr>
        <p:txBody>
          <a:bodyPr wrap="square" lIns="0" tIns="0" rIns="0" bIns="0" rtlCol="0" anchor="t"/>
          <a:lstStyle/>
          <a:p>
            <a:pPr algn="r" indent="0" marL="0">
              <a:lnSpc>
                <a:spcPts val="1850"/>
              </a:lnSpc>
              <a:buNone/>
            </a:pPr>
            <a:r>
              <a:rPr lang="en-US" sz="1150" dirty="0">
                <a:solidFill>
                  <a:srgbClr val="15213F"/>
                </a:solidFill>
                <a:latin typeface="Roboto" pitchFamily="34" charset="0"/>
                <a:ea typeface="Roboto" pitchFamily="34" charset="-122"/>
                <a:cs typeface="Roboto" pitchFamily="34" charset="-120"/>
              </a:rPr>
              <a:t>→ Training programs solve adoption barriers</a:t>
            </a:r>
            <a:endParaRPr lang="en-US" sz="1150" dirty="0"/>
          </a:p>
        </p:txBody>
      </p:sp>
      <p:sp>
        <p:nvSpPr>
          <p:cNvPr id="23" name="Shape 17"/>
          <p:cNvSpPr/>
          <p:nvPr/>
        </p:nvSpPr>
        <p:spPr>
          <a:xfrm>
            <a:off x="10688598" y="4414838"/>
            <a:ext cx="3170872" cy="2352318"/>
          </a:xfrm>
          <a:prstGeom prst="rect">
            <a:avLst/>
          </a:prstGeom>
          <a:solidFill>
            <a:srgbClr val="E9ECF2"/>
          </a:solidFill>
          <a:ln/>
        </p:spPr>
      </p:sp>
      <p:sp>
        <p:nvSpPr>
          <p:cNvPr id="24" name="Text 18"/>
          <p:cNvSpPr/>
          <p:nvPr/>
        </p:nvSpPr>
        <p:spPr>
          <a:xfrm>
            <a:off x="10835997" y="456223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 Adoption</a:t>
            </a:r>
            <a:endParaRPr lang="en-US" sz="1450" dirty="0"/>
          </a:p>
        </p:txBody>
      </p:sp>
      <p:sp>
        <p:nvSpPr>
          <p:cNvPr id="25" name="Text 19"/>
          <p:cNvSpPr/>
          <p:nvPr/>
        </p:nvSpPr>
        <p:spPr>
          <a:xfrm>
            <a:off x="10835997" y="4940022"/>
            <a:ext cx="287607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"Is this worth my total investment of time, effort, risk, and learning curve?"</a:t>
            </a:r>
            <a:endParaRPr lang="en-US" sz="1150" dirty="0"/>
          </a:p>
        </p:txBody>
      </p:sp>
      <p:sp>
        <p:nvSpPr>
          <p:cNvPr id="26" name="Text 20"/>
          <p:cNvSpPr/>
          <p:nvPr/>
        </p:nvSpPr>
        <p:spPr>
          <a:xfrm>
            <a:off x="10835997" y="5544145"/>
            <a:ext cx="287607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must demonstrate value proposition, not just capabilities</a:t>
            </a:r>
            <a:endParaRPr lang="en-US" sz="1150" dirty="0"/>
          </a:p>
        </p:txBody>
      </p:sp>
      <p:sp>
        <p:nvSpPr>
          <p:cNvPr id="27" name="Text 21"/>
          <p:cNvSpPr/>
          <p:nvPr/>
        </p:nvSpPr>
        <p:spPr>
          <a:xfrm>
            <a:off x="10835997" y="6148268"/>
            <a:ext cx="287607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Trust and value perception must be established before features matter</a:t>
            </a:r>
            <a:endParaRPr lang="en-US" sz="1150" dirty="0"/>
          </a:p>
        </p:txBody>
      </p:sp>
      <p:sp>
        <p:nvSpPr>
          <p:cNvPr id="28" name="Text 22"/>
          <p:cNvSpPr/>
          <p:nvPr/>
        </p:nvSpPr>
        <p:spPr>
          <a:xfrm>
            <a:off x="793790" y="7118390"/>
            <a:ext cx="13042821"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Critical Implication:</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approaching AI adoption with traditional technology deployment playbooks—feature training, ease-of-use emphasis, productivity metrics—will systematically fail because they're solving the wrong problem.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64751"/>
            <a:ext cx="4939665"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Four Distinct User Segments</a:t>
            </a:r>
            <a:endParaRPr lang="en-US" sz="2900" dirty="0"/>
          </a:p>
        </p:txBody>
      </p:sp>
      <p:sp>
        <p:nvSpPr>
          <p:cNvPr id="3" name="Text 1"/>
          <p:cNvSpPr/>
          <p:nvPr/>
        </p:nvSpPr>
        <p:spPr>
          <a:xfrm>
            <a:off x="793790" y="1620322"/>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Cluster analysis reveals that AI users are not homogeneous—they fall into four distinct adoption profiles requiring different organizational strategies:</a:t>
            </a:r>
            <a:endParaRPr lang="en-US" sz="1150" dirty="0"/>
          </a:p>
        </p:txBody>
      </p:sp>
      <p:sp>
        <p:nvSpPr>
          <p:cNvPr id="4" name="Shape 2"/>
          <p:cNvSpPr/>
          <p:nvPr/>
        </p:nvSpPr>
        <p:spPr>
          <a:xfrm>
            <a:off x="793790" y="2021919"/>
            <a:ext cx="13042821" cy="2153603"/>
          </a:xfrm>
          <a:prstGeom prst="roundRect">
            <a:avLst>
              <a:gd name="adj" fmla="val 1027"/>
            </a:avLst>
          </a:prstGeom>
          <a:noFill/>
          <a:ln w="7620">
            <a:solidFill>
              <a:srgbClr val="000000">
                <a:alpha val="8000"/>
              </a:srgbClr>
            </a:solidFill>
            <a:prstDash val="solid"/>
          </a:ln>
        </p:spPr>
      </p:sp>
      <p:sp>
        <p:nvSpPr>
          <p:cNvPr id="5" name="Shape 3"/>
          <p:cNvSpPr/>
          <p:nvPr/>
        </p:nvSpPr>
        <p:spPr>
          <a:xfrm>
            <a:off x="801410" y="2029539"/>
            <a:ext cx="13027581" cy="427673"/>
          </a:xfrm>
          <a:prstGeom prst="rect">
            <a:avLst/>
          </a:prstGeom>
          <a:solidFill>
            <a:srgbClr val="FFFFFF">
              <a:alpha val="4000"/>
            </a:srgbClr>
          </a:solidFill>
          <a:ln/>
        </p:spPr>
      </p:sp>
      <p:sp>
        <p:nvSpPr>
          <p:cNvPr id="6" name="Text 4"/>
          <p:cNvSpPr/>
          <p:nvPr/>
        </p:nvSpPr>
        <p:spPr>
          <a:xfrm>
            <a:off x="949166" y="2125504"/>
            <a:ext cx="2306836"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Segment</a:t>
            </a:r>
            <a:endParaRPr lang="en-US" sz="1150" dirty="0"/>
          </a:p>
        </p:txBody>
      </p:sp>
      <p:sp>
        <p:nvSpPr>
          <p:cNvPr id="7" name="Text 5"/>
          <p:cNvSpPr/>
          <p:nvPr/>
        </p:nvSpPr>
        <p:spPr>
          <a:xfrm>
            <a:off x="3558421" y="2125504"/>
            <a:ext cx="165163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 of Sample</a:t>
            </a:r>
            <a:endParaRPr lang="en-US" sz="1150" dirty="0"/>
          </a:p>
        </p:txBody>
      </p:sp>
      <p:sp>
        <p:nvSpPr>
          <p:cNvPr id="8" name="Text 6"/>
          <p:cNvSpPr/>
          <p:nvPr/>
        </p:nvSpPr>
        <p:spPr>
          <a:xfrm>
            <a:off x="5512475" y="2125504"/>
            <a:ext cx="2042517"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Trust Level</a:t>
            </a:r>
            <a:endParaRPr lang="en-US" sz="1150" dirty="0"/>
          </a:p>
        </p:txBody>
      </p:sp>
      <p:sp>
        <p:nvSpPr>
          <p:cNvPr id="9" name="Text 7"/>
          <p:cNvSpPr/>
          <p:nvPr/>
        </p:nvSpPr>
        <p:spPr>
          <a:xfrm>
            <a:off x="7857411" y="2125504"/>
            <a:ext cx="2042517"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Anxiety Level</a:t>
            </a:r>
            <a:endParaRPr lang="en-US" sz="1150" dirty="0"/>
          </a:p>
        </p:txBody>
      </p:sp>
      <p:sp>
        <p:nvSpPr>
          <p:cNvPr id="10" name="Text 8"/>
          <p:cNvSpPr/>
          <p:nvPr/>
        </p:nvSpPr>
        <p:spPr>
          <a:xfrm>
            <a:off x="10202347" y="2125504"/>
            <a:ext cx="2042517"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Adoption Intent</a:t>
            </a:r>
            <a:endParaRPr lang="en-US" sz="1150" dirty="0"/>
          </a:p>
        </p:txBody>
      </p:sp>
      <p:sp>
        <p:nvSpPr>
          <p:cNvPr id="11" name="Text 9"/>
          <p:cNvSpPr/>
          <p:nvPr/>
        </p:nvSpPr>
        <p:spPr>
          <a:xfrm>
            <a:off x="12547283" y="2125504"/>
            <a:ext cx="1134308"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Priority</a:t>
            </a:r>
            <a:endParaRPr lang="en-US" sz="1150" dirty="0"/>
          </a:p>
        </p:txBody>
      </p:sp>
      <p:sp>
        <p:nvSpPr>
          <p:cNvPr id="12" name="Shape 10"/>
          <p:cNvSpPr/>
          <p:nvPr/>
        </p:nvSpPr>
        <p:spPr>
          <a:xfrm>
            <a:off x="801410" y="2457212"/>
            <a:ext cx="13027581" cy="427673"/>
          </a:xfrm>
          <a:prstGeom prst="rect">
            <a:avLst/>
          </a:prstGeom>
          <a:solidFill>
            <a:srgbClr val="000000">
              <a:alpha val="4000"/>
            </a:srgbClr>
          </a:solidFill>
          <a:ln/>
        </p:spPr>
      </p:sp>
      <p:sp>
        <p:nvSpPr>
          <p:cNvPr id="13" name="Text 11"/>
          <p:cNvSpPr/>
          <p:nvPr/>
        </p:nvSpPr>
        <p:spPr>
          <a:xfrm>
            <a:off x="949166" y="2553176"/>
            <a:ext cx="2306836"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AI Enthusiasts</a:t>
            </a:r>
            <a:endParaRPr lang="en-US" sz="1150" dirty="0"/>
          </a:p>
        </p:txBody>
      </p:sp>
      <p:sp>
        <p:nvSpPr>
          <p:cNvPr id="14" name="Text 12"/>
          <p:cNvSpPr/>
          <p:nvPr/>
        </p:nvSpPr>
        <p:spPr>
          <a:xfrm>
            <a:off x="3558421" y="2553176"/>
            <a:ext cx="165163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16%</a:t>
            </a:r>
            <a:endParaRPr lang="en-US" sz="1150" dirty="0"/>
          </a:p>
        </p:txBody>
      </p:sp>
      <p:sp>
        <p:nvSpPr>
          <p:cNvPr id="15" name="Text 13"/>
          <p:cNvSpPr/>
          <p:nvPr/>
        </p:nvSpPr>
        <p:spPr>
          <a:xfrm>
            <a:off x="5512475" y="2553176"/>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+1.37σ (Very High)</a:t>
            </a:r>
            <a:endParaRPr lang="en-US" sz="1150" dirty="0"/>
          </a:p>
        </p:txBody>
      </p:sp>
      <p:sp>
        <p:nvSpPr>
          <p:cNvPr id="16" name="Text 14"/>
          <p:cNvSpPr/>
          <p:nvPr/>
        </p:nvSpPr>
        <p:spPr>
          <a:xfrm>
            <a:off x="7857411" y="2553176"/>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−0.86σ (Low)</a:t>
            </a:r>
            <a:endParaRPr lang="en-US" sz="1150" dirty="0"/>
          </a:p>
        </p:txBody>
      </p:sp>
      <p:sp>
        <p:nvSpPr>
          <p:cNvPr id="17" name="Text 15"/>
          <p:cNvSpPr/>
          <p:nvPr/>
        </p:nvSpPr>
        <p:spPr>
          <a:xfrm>
            <a:off x="10202347" y="2553176"/>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+1.32σ (Very High)</a:t>
            </a:r>
            <a:endParaRPr lang="en-US" sz="1150" dirty="0"/>
          </a:p>
        </p:txBody>
      </p:sp>
      <p:sp>
        <p:nvSpPr>
          <p:cNvPr id="18" name="Text 16"/>
          <p:cNvSpPr/>
          <p:nvPr/>
        </p:nvSpPr>
        <p:spPr>
          <a:xfrm>
            <a:off x="12547283" y="2553176"/>
            <a:ext cx="113430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Champions</a:t>
            </a:r>
            <a:endParaRPr lang="en-US" sz="1150" dirty="0"/>
          </a:p>
        </p:txBody>
      </p:sp>
      <p:sp>
        <p:nvSpPr>
          <p:cNvPr id="19" name="Shape 17"/>
          <p:cNvSpPr/>
          <p:nvPr/>
        </p:nvSpPr>
        <p:spPr>
          <a:xfrm>
            <a:off x="801410" y="2884884"/>
            <a:ext cx="13027581" cy="427673"/>
          </a:xfrm>
          <a:prstGeom prst="rect">
            <a:avLst/>
          </a:prstGeom>
          <a:solidFill>
            <a:srgbClr val="FFFFFF">
              <a:alpha val="4000"/>
            </a:srgbClr>
          </a:solidFill>
          <a:ln/>
        </p:spPr>
      </p:sp>
      <p:sp>
        <p:nvSpPr>
          <p:cNvPr id="20" name="Text 18"/>
          <p:cNvSpPr/>
          <p:nvPr/>
        </p:nvSpPr>
        <p:spPr>
          <a:xfrm>
            <a:off x="949166" y="2980849"/>
            <a:ext cx="2306836"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Cautious Adopters</a:t>
            </a:r>
            <a:endParaRPr lang="en-US" sz="1150" dirty="0"/>
          </a:p>
        </p:txBody>
      </p:sp>
      <p:sp>
        <p:nvSpPr>
          <p:cNvPr id="21" name="Text 19"/>
          <p:cNvSpPr/>
          <p:nvPr/>
        </p:nvSpPr>
        <p:spPr>
          <a:xfrm>
            <a:off x="3558421" y="2980849"/>
            <a:ext cx="165163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30%</a:t>
            </a:r>
            <a:endParaRPr lang="en-US" sz="1150" dirty="0"/>
          </a:p>
        </p:txBody>
      </p:sp>
      <p:sp>
        <p:nvSpPr>
          <p:cNvPr id="22" name="Text 20"/>
          <p:cNvSpPr/>
          <p:nvPr/>
        </p:nvSpPr>
        <p:spPr>
          <a:xfrm>
            <a:off x="5512475" y="2980849"/>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+0.86σ (High)</a:t>
            </a:r>
            <a:endParaRPr lang="en-US" sz="1150" dirty="0"/>
          </a:p>
        </p:txBody>
      </p:sp>
      <p:sp>
        <p:nvSpPr>
          <p:cNvPr id="23" name="Text 21"/>
          <p:cNvSpPr/>
          <p:nvPr/>
        </p:nvSpPr>
        <p:spPr>
          <a:xfrm>
            <a:off x="7857411" y="2980849"/>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+0.84σ (Elevated)</a:t>
            </a:r>
            <a:endParaRPr lang="en-US" sz="1150" dirty="0"/>
          </a:p>
        </p:txBody>
      </p:sp>
      <p:sp>
        <p:nvSpPr>
          <p:cNvPr id="24" name="Text 22"/>
          <p:cNvSpPr/>
          <p:nvPr/>
        </p:nvSpPr>
        <p:spPr>
          <a:xfrm>
            <a:off x="10202347" y="2980849"/>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+0.88σ (High)</a:t>
            </a:r>
            <a:endParaRPr lang="en-US" sz="1150" dirty="0"/>
          </a:p>
        </p:txBody>
      </p:sp>
      <p:sp>
        <p:nvSpPr>
          <p:cNvPr id="25" name="Text 23"/>
          <p:cNvSpPr/>
          <p:nvPr/>
        </p:nvSpPr>
        <p:spPr>
          <a:xfrm>
            <a:off x="12547283" y="2980849"/>
            <a:ext cx="113430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Proof</a:t>
            </a:r>
            <a:endParaRPr lang="en-US" sz="1150" dirty="0"/>
          </a:p>
        </p:txBody>
      </p:sp>
      <p:sp>
        <p:nvSpPr>
          <p:cNvPr id="26" name="Shape 24"/>
          <p:cNvSpPr/>
          <p:nvPr/>
        </p:nvSpPr>
        <p:spPr>
          <a:xfrm>
            <a:off x="801410" y="3312557"/>
            <a:ext cx="13027581" cy="427673"/>
          </a:xfrm>
          <a:prstGeom prst="rect">
            <a:avLst/>
          </a:prstGeom>
          <a:solidFill>
            <a:srgbClr val="000000">
              <a:alpha val="4000"/>
            </a:srgbClr>
          </a:solidFill>
          <a:ln/>
        </p:spPr>
      </p:sp>
      <p:sp>
        <p:nvSpPr>
          <p:cNvPr id="27" name="Text 25"/>
          <p:cNvSpPr/>
          <p:nvPr/>
        </p:nvSpPr>
        <p:spPr>
          <a:xfrm>
            <a:off x="949166" y="3408521"/>
            <a:ext cx="2306836"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Moderate Users</a:t>
            </a:r>
            <a:endParaRPr lang="en-US" sz="1150" dirty="0"/>
          </a:p>
        </p:txBody>
      </p:sp>
      <p:sp>
        <p:nvSpPr>
          <p:cNvPr id="28" name="Text 26"/>
          <p:cNvSpPr/>
          <p:nvPr/>
        </p:nvSpPr>
        <p:spPr>
          <a:xfrm>
            <a:off x="3558421" y="3408521"/>
            <a:ext cx="165163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37%</a:t>
            </a:r>
            <a:endParaRPr lang="en-US" sz="1150" dirty="0"/>
          </a:p>
        </p:txBody>
      </p:sp>
      <p:sp>
        <p:nvSpPr>
          <p:cNvPr id="29" name="Text 27"/>
          <p:cNvSpPr/>
          <p:nvPr/>
        </p:nvSpPr>
        <p:spPr>
          <a:xfrm>
            <a:off x="5512475" y="3408521"/>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+0.01σ (Neutral)</a:t>
            </a:r>
            <a:endParaRPr lang="en-US" sz="1150" dirty="0"/>
          </a:p>
        </p:txBody>
      </p:sp>
      <p:sp>
        <p:nvSpPr>
          <p:cNvPr id="30" name="Text 28"/>
          <p:cNvSpPr/>
          <p:nvPr/>
        </p:nvSpPr>
        <p:spPr>
          <a:xfrm>
            <a:off x="7857411" y="3408521"/>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+0.42σ (Moderate)</a:t>
            </a:r>
            <a:endParaRPr lang="en-US" sz="1150" dirty="0"/>
          </a:p>
        </p:txBody>
      </p:sp>
      <p:sp>
        <p:nvSpPr>
          <p:cNvPr id="31" name="Text 29"/>
          <p:cNvSpPr/>
          <p:nvPr/>
        </p:nvSpPr>
        <p:spPr>
          <a:xfrm>
            <a:off x="10202347" y="3408521"/>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−0.07σ (Neutral)</a:t>
            </a:r>
            <a:endParaRPr lang="en-US" sz="1150" dirty="0"/>
          </a:p>
        </p:txBody>
      </p:sp>
      <p:sp>
        <p:nvSpPr>
          <p:cNvPr id="32" name="Text 30"/>
          <p:cNvSpPr/>
          <p:nvPr/>
        </p:nvSpPr>
        <p:spPr>
          <a:xfrm>
            <a:off x="12547283" y="3408521"/>
            <a:ext cx="113430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Reduce Friction</a:t>
            </a:r>
            <a:endParaRPr lang="en-US" sz="1150" dirty="0"/>
          </a:p>
        </p:txBody>
      </p:sp>
      <p:sp>
        <p:nvSpPr>
          <p:cNvPr id="33" name="Shape 31"/>
          <p:cNvSpPr/>
          <p:nvPr/>
        </p:nvSpPr>
        <p:spPr>
          <a:xfrm>
            <a:off x="801410" y="3740229"/>
            <a:ext cx="13027581" cy="427673"/>
          </a:xfrm>
          <a:prstGeom prst="rect">
            <a:avLst/>
          </a:prstGeom>
          <a:solidFill>
            <a:srgbClr val="FFFFFF">
              <a:alpha val="4000"/>
            </a:srgbClr>
          </a:solidFill>
          <a:ln/>
        </p:spPr>
      </p:sp>
      <p:sp>
        <p:nvSpPr>
          <p:cNvPr id="34" name="Text 32"/>
          <p:cNvSpPr/>
          <p:nvPr/>
        </p:nvSpPr>
        <p:spPr>
          <a:xfrm>
            <a:off x="949166" y="3836194"/>
            <a:ext cx="2306836"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Anxious Avoiders</a:t>
            </a:r>
            <a:endParaRPr lang="en-US" sz="1150" dirty="0"/>
          </a:p>
        </p:txBody>
      </p:sp>
      <p:sp>
        <p:nvSpPr>
          <p:cNvPr id="35" name="Text 33"/>
          <p:cNvSpPr/>
          <p:nvPr/>
        </p:nvSpPr>
        <p:spPr>
          <a:xfrm>
            <a:off x="3558421" y="3836194"/>
            <a:ext cx="165163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17%</a:t>
            </a:r>
            <a:endParaRPr lang="en-US" sz="1150" dirty="0"/>
          </a:p>
        </p:txBody>
      </p:sp>
      <p:sp>
        <p:nvSpPr>
          <p:cNvPr id="36" name="Text 34"/>
          <p:cNvSpPr/>
          <p:nvPr/>
        </p:nvSpPr>
        <p:spPr>
          <a:xfrm>
            <a:off x="5512475" y="3836194"/>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−1.49σ (Very Low)</a:t>
            </a:r>
            <a:endParaRPr lang="en-US" sz="1150" dirty="0"/>
          </a:p>
        </p:txBody>
      </p:sp>
      <p:sp>
        <p:nvSpPr>
          <p:cNvPr id="37" name="Text 35"/>
          <p:cNvSpPr/>
          <p:nvPr/>
        </p:nvSpPr>
        <p:spPr>
          <a:xfrm>
            <a:off x="7857411" y="3836194"/>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+0.76σ (Elevated)</a:t>
            </a:r>
            <a:endParaRPr lang="en-US" sz="1150" dirty="0"/>
          </a:p>
        </p:txBody>
      </p:sp>
      <p:sp>
        <p:nvSpPr>
          <p:cNvPr id="38" name="Text 36"/>
          <p:cNvSpPr/>
          <p:nvPr/>
        </p:nvSpPr>
        <p:spPr>
          <a:xfrm>
            <a:off x="10202347" y="3836194"/>
            <a:ext cx="2042517"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−1.53σ (Very Low)</a:t>
            </a:r>
            <a:endParaRPr lang="en-US" sz="1150" dirty="0"/>
          </a:p>
        </p:txBody>
      </p:sp>
      <p:sp>
        <p:nvSpPr>
          <p:cNvPr id="39" name="Text 37"/>
          <p:cNvSpPr/>
          <p:nvPr/>
        </p:nvSpPr>
        <p:spPr>
          <a:xfrm>
            <a:off x="12547283" y="3836194"/>
            <a:ext cx="113430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Trust First</a:t>
            </a:r>
            <a:endParaRPr lang="en-US" sz="1150" dirty="0"/>
          </a:p>
        </p:txBody>
      </p:sp>
      <p:sp>
        <p:nvSpPr>
          <p:cNvPr id="40" name="Text 38"/>
          <p:cNvSpPr/>
          <p:nvPr/>
        </p:nvSpPr>
        <p:spPr>
          <a:xfrm>
            <a:off x="793790" y="4396621"/>
            <a:ext cx="4780598"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Strategic Implications by Segment</a:t>
            </a:r>
            <a:endParaRPr lang="en-US" sz="2300" dirty="0"/>
          </a:p>
        </p:txBody>
      </p:sp>
      <p:sp>
        <p:nvSpPr>
          <p:cNvPr id="41" name="Shape 39"/>
          <p:cNvSpPr/>
          <p:nvPr/>
        </p:nvSpPr>
        <p:spPr>
          <a:xfrm>
            <a:off x="793790" y="4986338"/>
            <a:ext cx="6447711" cy="1115497"/>
          </a:xfrm>
          <a:prstGeom prst="roundRect">
            <a:avLst>
              <a:gd name="adj" fmla="val 1983"/>
            </a:avLst>
          </a:prstGeom>
          <a:solidFill>
            <a:srgbClr val="FBFCFE"/>
          </a:solidFill>
          <a:ln w="15240">
            <a:solidFill>
              <a:srgbClr val="CFD2D8"/>
            </a:solidFill>
            <a:prstDash val="solid"/>
          </a:ln>
        </p:spPr>
      </p:sp>
      <p:sp>
        <p:nvSpPr>
          <p:cNvPr id="42" name="Text 40"/>
          <p:cNvSpPr/>
          <p:nvPr/>
        </p:nvSpPr>
        <p:spPr>
          <a:xfrm>
            <a:off x="956429" y="514897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 Enthusiasts (16%)</a:t>
            </a:r>
            <a:endParaRPr lang="en-US" sz="1450" dirty="0"/>
          </a:p>
        </p:txBody>
      </p:sp>
      <p:sp>
        <p:nvSpPr>
          <p:cNvPr id="43" name="Text 41"/>
          <p:cNvSpPr/>
          <p:nvPr/>
        </p:nvSpPr>
        <p:spPr>
          <a:xfrm>
            <a:off x="956429" y="5467707"/>
            <a:ext cx="6122432"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Strategy:</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Give early access and empower them as organizational evangelists. They'll demonstrate value to others.</a:t>
            </a:r>
            <a:endParaRPr lang="en-US" sz="1150" dirty="0"/>
          </a:p>
        </p:txBody>
      </p:sp>
      <p:sp>
        <p:nvSpPr>
          <p:cNvPr id="44" name="Shape 42"/>
          <p:cNvSpPr/>
          <p:nvPr/>
        </p:nvSpPr>
        <p:spPr>
          <a:xfrm>
            <a:off x="7388900" y="4986338"/>
            <a:ext cx="6447711" cy="1115497"/>
          </a:xfrm>
          <a:prstGeom prst="roundRect">
            <a:avLst>
              <a:gd name="adj" fmla="val 1983"/>
            </a:avLst>
          </a:prstGeom>
          <a:solidFill>
            <a:srgbClr val="FBFCFE"/>
          </a:solidFill>
          <a:ln w="15240">
            <a:solidFill>
              <a:srgbClr val="CFD2D8"/>
            </a:solidFill>
            <a:prstDash val="solid"/>
          </a:ln>
        </p:spPr>
      </p:sp>
      <p:sp>
        <p:nvSpPr>
          <p:cNvPr id="45" name="Text 43"/>
          <p:cNvSpPr/>
          <p:nvPr/>
        </p:nvSpPr>
        <p:spPr>
          <a:xfrm>
            <a:off x="7551539" y="5148977"/>
            <a:ext cx="2085737"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Cautious Adopters (30%)</a:t>
            </a:r>
            <a:endParaRPr lang="en-US" sz="1450" dirty="0"/>
          </a:p>
        </p:txBody>
      </p:sp>
      <p:sp>
        <p:nvSpPr>
          <p:cNvPr id="46" name="Text 44"/>
          <p:cNvSpPr/>
          <p:nvPr/>
        </p:nvSpPr>
        <p:spPr>
          <a:xfrm>
            <a:off x="7551539" y="5467707"/>
            <a:ext cx="6122432"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Strategy:</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Provide concrete proof points—case studies, ROI calculators, low-commitment pilots. They want evidence before full adoption.</a:t>
            </a:r>
            <a:endParaRPr lang="en-US" sz="1150" dirty="0"/>
          </a:p>
        </p:txBody>
      </p:sp>
      <p:sp>
        <p:nvSpPr>
          <p:cNvPr id="47" name="Shape 45"/>
          <p:cNvSpPr/>
          <p:nvPr/>
        </p:nvSpPr>
        <p:spPr>
          <a:xfrm>
            <a:off x="793790" y="6249233"/>
            <a:ext cx="6447711" cy="1115497"/>
          </a:xfrm>
          <a:prstGeom prst="roundRect">
            <a:avLst>
              <a:gd name="adj" fmla="val 1983"/>
            </a:avLst>
          </a:prstGeom>
          <a:solidFill>
            <a:srgbClr val="FBFCFE"/>
          </a:solidFill>
          <a:ln w="15240">
            <a:solidFill>
              <a:srgbClr val="CFD2D8"/>
            </a:solidFill>
            <a:prstDash val="solid"/>
          </a:ln>
        </p:spPr>
      </p:sp>
      <p:sp>
        <p:nvSpPr>
          <p:cNvPr id="48" name="Text 46"/>
          <p:cNvSpPr/>
          <p:nvPr/>
        </p:nvSpPr>
        <p:spPr>
          <a:xfrm>
            <a:off x="956429" y="6411873"/>
            <a:ext cx="185951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Moderate Users (37%)</a:t>
            </a:r>
            <a:endParaRPr lang="en-US" sz="1450" dirty="0"/>
          </a:p>
        </p:txBody>
      </p:sp>
      <p:sp>
        <p:nvSpPr>
          <p:cNvPr id="49" name="Text 47"/>
          <p:cNvSpPr/>
          <p:nvPr/>
        </p:nvSpPr>
        <p:spPr>
          <a:xfrm>
            <a:off x="956429" y="6730603"/>
            <a:ext cx="6122432"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Strategy:</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Reduce friction and leverage social influence. Show them that peers are adopting successfully. They'll follow the crowd.</a:t>
            </a:r>
            <a:endParaRPr lang="en-US" sz="1150" dirty="0"/>
          </a:p>
        </p:txBody>
      </p:sp>
      <p:sp>
        <p:nvSpPr>
          <p:cNvPr id="50" name="Shape 48"/>
          <p:cNvSpPr/>
          <p:nvPr/>
        </p:nvSpPr>
        <p:spPr>
          <a:xfrm>
            <a:off x="7388900" y="6249233"/>
            <a:ext cx="6447711" cy="1115497"/>
          </a:xfrm>
          <a:prstGeom prst="roundRect">
            <a:avLst>
              <a:gd name="adj" fmla="val 1983"/>
            </a:avLst>
          </a:prstGeom>
          <a:solidFill>
            <a:srgbClr val="FBFCFE"/>
          </a:solidFill>
          <a:ln w="15240">
            <a:solidFill>
              <a:srgbClr val="CFD2D8"/>
            </a:solidFill>
            <a:prstDash val="solid"/>
          </a:ln>
        </p:spPr>
      </p:sp>
      <p:sp>
        <p:nvSpPr>
          <p:cNvPr id="51" name="Text 49"/>
          <p:cNvSpPr/>
          <p:nvPr/>
        </p:nvSpPr>
        <p:spPr>
          <a:xfrm>
            <a:off x="7551539" y="6411873"/>
            <a:ext cx="2013347"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Anxious Avoiders (17%)</a:t>
            </a:r>
            <a:endParaRPr lang="en-US" sz="1450" dirty="0"/>
          </a:p>
        </p:txBody>
      </p:sp>
      <p:sp>
        <p:nvSpPr>
          <p:cNvPr id="52" name="Text 50"/>
          <p:cNvSpPr/>
          <p:nvPr/>
        </p:nvSpPr>
        <p:spPr>
          <a:xfrm>
            <a:off x="7551539" y="6730603"/>
            <a:ext cx="6122432"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Strategy:</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Trust-building interventions before any feature exposure. Address underlying anxiety through transparency and control mechanisms.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99279"/>
            <a:ext cx="8738949"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Moderator Finding: Experience Effects</a:t>
            </a:r>
            <a:endParaRPr lang="en-US" sz="3750" dirty="0"/>
          </a:p>
        </p:txBody>
      </p:sp>
      <p:sp>
        <p:nvSpPr>
          <p:cNvPr id="3" name="Text 1"/>
          <p:cNvSpPr/>
          <p:nvPr/>
        </p:nvSpPr>
        <p:spPr>
          <a:xfrm>
            <a:off x="793790" y="1983700"/>
            <a:ext cx="5610582" cy="963930"/>
          </a:xfrm>
          <a:prstGeom prst="rect">
            <a:avLst/>
          </a:prstGeom>
          <a:noFill/>
          <a:ln/>
        </p:spPr>
        <p:txBody>
          <a:bodyPr wrap="squar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Experience Moderates Hedonic Motivation</a:t>
            </a:r>
            <a:endParaRPr lang="en-US" sz="3000" dirty="0"/>
          </a:p>
        </p:txBody>
      </p:sp>
      <p:sp>
        <p:nvSpPr>
          <p:cNvPr id="4" name="Shape 2"/>
          <p:cNvSpPr/>
          <p:nvPr/>
        </p:nvSpPr>
        <p:spPr>
          <a:xfrm>
            <a:off x="793790" y="3164443"/>
            <a:ext cx="5610582" cy="2296477"/>
          </a:xfrm>
          <a:prstGeom prst="roundRect">
            <a:avLst>
              <a:gd name="adj" fmla="val 1259"/>
            </a:avLst>
          </a:prstGeom>
          <a:noFill/>
          <a:ln w="7620">
            <a:solidFill>
              <a:srgbClr val="000000">
                <a:alpha val="8000"/>
              </a:srgbClr>
            </a:solidFill>
            <a:prstDash val="solid"/>
          </a:ln>
        </p:spPr>
      </p:sp>
      <p:sp>
        <p:nvSpPr>
          <p:cNvPr id="5" name="Shape 3"/>
          <p:cNvSpPr/>
          <p:nvPr/>
        </p:nvSpPr>
        <p:spPr>
          <a:xfrm>
            <a:off x="801410" y="3172063"/>
            <a:ext cx="5595342" cy="554831"/>
          </a:xfrm>
          <a:prstGeom prst="rect">
            <a:avLst/>
          </a:prstGeom>
          <a:solidFill>
            <a:srgbClr val="FFFFFF">
              <a:alpha val="4000"/>
            </a:srgbClr>
          </a:solidFill>
          <a:ln/>
        </p:spPr>
      </p:sp>
      <p:sp>
        <p:nvSpPr>
          <p:cNvPr id="6" name="Text 4"/>
          <p:cNvSpPr/>
          <p:nvPr/>
        </p:nvSpPr>
        <p:spPr>
          <a:xfrm>
            <a:off x="994529" y="3295293"/>
            <a:ext cx="1009412"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Interaction</a:t>
            </a:r>
            <a:endParaRPr lang="en-US" sz="1500" dirty="0"/>
          </a:p>
        </p:txBody>
      </p:sp>
      <p:sp>
        <p:nvSpPr>
          <p:cNvPr id="7" name="Text 5"/>
          <p:cNvSpPr/>
          <p:nvPr/>
        </p:nvSpPr>
        <p:spPr>
          <a:xfrm>
            <a:off x="2397085" y="3295293"/>
            <a:ext cx="1005602"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β</a:t>
            </a:r>
            <a:endParaRPr lang="en-US" sz="1500" dirty="0"/>
          </a:p>
        </p:txBody>
      </p:sp>
      <p:sp>
        <p:nvSpPr>
          <p:cNvPr id="8" name="Text 6"/>
          <p:cNvSpPr/>
          <p:nvPr/>
        </p:nvSpPr>
        <p:spPr>
          <a:xfrm>
            <a:off x="3795832" y="3295293"/>
            <a:ext cx="1005602"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p-value</a:t>
            </a:r>
            <a:endParaRPr lang="en-US" sz="1500" dirty="0"/>
          </a:p>
        </p:txBody>
      </p:sp>
      <p:sp>
        <p:nvSpPr>
          <p:cNvPr id="9" name="Text 7"/>
          <p:cNvSpPr/>
          <p:nvPr/>
        </p:nvSpPr>
        <p:spPr>
          <a:xfrm>
            <a:off x="5194578" y="3295293"/>
            <a:ext cx="1009412"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Result</a:t>
            </a:r>
            <a:endParaRPr lang="en-US" sz="1500" dirty="0"/>
          </a:p>
        </p:txBody>
      </p:sp>
      <p:sp>
        <p:nvSpPr>
          <p:cNvPr id="10" name="Shape 8"/>
          <p:cNvSpPr/>
          <p:nvPr/>
        </p:nvSpPr>
        <p:spPr>
          <a:xfrm>
            <a:off x="801410" y="3726894"/>
            <a:ext cx="5595342" cy="863203"/>
          </a:xfrm>
          <a:prstGeom prst="rect">
            <a:avLst/>
          </a:prstGeom>
          <a:solidFill>
            <a:srgbClr val="000000">
              <a:alpha val="4000"/>
            </a:srgbClr>
          </a:solidFill>
          <a:ln/>
        </p:spPr>
      </p:sp>
      <p:sp>
        <p:nvSpPr>
          <p:cNvPr id="11" name="Text 9"/>
          <p:cNvSpPr/>
          <p:nvPr/>
        </p:nvSpPr>
        <p:spPr>
          <a:xfrm>
            <a:off x="994529" y="3850124"/>
            <a:ext cx="1009412"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HM × Experience</a:t>
            </a:r>
            <a:endParaRPr lang="en-US" sz="1500" dirty="0"/>
          </a:p>
        </p:txBody>
      </p:sp>
      <p:sp>
        <p:nvSpPr>
          <p:cNvPr id="12" name="Text 10"/>
          <p:cNvSpPr/>
          <p:nvPr/>
        </p:nvSpPr>
        <p:spPr>
          <a:xfrm>
            <a:off x="2397085" y="3850124"/>
            <a:ext cx="1005602"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.136</a:t>
            </a:r>
            <a:endParaRPr lang="en-US" sz="1500" dirty="0"/>
          </a:p>
        </p:txBody>
      </p:sp>
      <p:sp>
        <p:nvSpPr>
          <p:cNvPr id="13" name="Text 11"/>
          <p:cNvSpPr/>
          <p:nvPr/>
        </p:nvSpPr>
        <p:spPr>
          <a:xfrm>
            <a:off x="3795832" y="3850124"/>
            <a:ext cx="1005602" cy="308372"/>
          </a:xfrm>
          <a:prstGeom prst="rect">
            <a:avLst/>
          </a:prstGeom>
          <a:noFill/>
          <a:ln/>
        </p:spPr>
        <p:txBody>
          <a:bodyPr wrap="none" lIns="0" tIns="0" rIns="0" bIns="0" rtlCol="0" anchor="t"/>
          <a:lstStyle/>
          <a:p>
            <a:pPr algn="l" indent="0" marL="0">
              <a:lnSpc>
                <a:spcPts val="2400"/>
              </a:lnSpc>
              <a:buNone/>
            </a:pPr>
            <a:r>
              <a:rPr lang="en-US" sz="1500" b="1" dirty="0">
                <a:solidFill>
                  <a:srgbClr val="3257B8"/>
                </a:solidFill>
                <a:latin typeface="Roboto" pitchFamily="34" charset="0"/>
                <a:ea typeface="Roboto" pitchFamily="34" charset="-122"/>
                <a:cs typeface="Roboto" pitchFamily="34" charset="-120"/>
              </a:rPr>
              <a:t>.009</a:t>
            </a:r>
            <a:endParaRPr lang="en-US" sz="1500" dirty="0"/>
          </a:p>
        </p:txBody>
      </p:sp>
      <p:sp>
        <p:nvSpPr>
          <p:cNvPr id="14" name="Text 12"/>
          <p:cNvSpPr/>
          <p:nvPr/>
        </p:nvSpPr>
        <p:spPr>
          <a:xfrm>
            <a:off x="5194578" y="3850124"/>
            <a:ext cx="1009412"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Significant</a:t>
            </a:r>
            <a:endParaRPr lang="en-US" sz="1500" dirty="0"/>
          </a:p>
        </p:txBody>
      </p:sp>
      <p:sp>
        <p:nvSpPr>
          <p:cNvPr id="15" name="Shape 13"/>
          <p:cNvSpPr/>
          <p:nvPr/>
        </p:nvSpPr>
        <p:spPr>
          <a:xfrm>
            <a:off x="801410" y="4590098"/>
            <a:ext cx="5595342" cy="863203"/>
          </a:xfrm>
          <a:prstGeom prst="rect">
            <a:avLst/>
          </a:prstGeom>
          <a:solidFill>
            <a:srgbClr val="FFFFFF">
              <a:alpha val="4000"/>
            </a:srgbClr>
          </a:solidFill>
          <a:ln/>
        </p:spPr>
      </p:sp>
      <p:sp>
        <p:nvSpPr>
          <p:cNvPr id="16" name="Text 14"/>
          <p:cNvSpPr/>
          <p:nvPr/>
        </p:nvSpPr>
        <p:spPr>
          <a:xfrm>
            <a:off x="994529" y="4713327"/>
            <a:ext cx="1009412"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PE × Experience</a:t>
            </a:r>
            <a:endParaRPr lang="en-US" sz="1500" dirty="0"/>
          </a:p>
        </p:txBody>
      </p:sp>
      <p:sp>
        <p:nvSpPr>
          <p:cNvPr id="17" name="Text 15"/>
          <p:cNvSpPr/>
          <p:nvPr/>
        </p:nvSpPr>
        <p:spPr>
          <a:xfrm>
            <a:off x="2397085" y="4713327"/>
            <a:ext cx="1005602"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.112</a:t>
            </a:r>
            <a:endParaRPr lang="en-US" sz="1500" dirty="0"/>
          </a:p>
        </p:txBody>
      </p:sp>
      <p:sp>
        <p:nvSpPr>
          <p:cNvPr id="18" name="Text 16"/>
          <p:cNvSpPr/>
          <p:nvPr/>
        </p:nvSpPr>
        <p:spPr>
          <a:xfrm>
            <a:off x="3795832" y="4713327"/>
            <a:ext cx="1005602"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.055</a:t>
            </a:r>
            <a:endParaRPr lang="en-US" sz="1500" dirty="0"/>
          </a:p>
        </p:txBody>
      </p:sp>
      <p:sp>
        <p:nvSpPr>
          <p:cNvPr id="19" name="Text 17"/>
          <p:cNvSpPr/>
          <p:nvPr/>
        </p:nvSpPr>
        <p:spPr>
          <a:xfrm>
            <a:off x="5194578" y="4713327"/>
            <a:ext cx="1009412"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Marginal</a:t>
            </a:r>
            <a:endParaRPr lang="en-US" sz="1500" dirty="0"/>
          </a:p>
        </p:txBody>
      </p:sp>
      <p:sp>
        <p:nvSpPr>
          <p:cNvPr id="20" name="Shape 18"/>
          <p:cNvSpPr/>
          <p:nvPr/>
        </p:nvSpPr>
        <p:spPr>
          <a:xfrm>
            <a:off x="793790" y="5677733"/>
            <a:ext cx="5610582" cy="1435775"/>
          </a:xfrm>
          <a:prstGeom prst="roundRect">
            <a:avLst>
              <a:gd name="adj" fmla="val 2014"/>
            </a:avLst>
          </a:prstGeom>
          <a:solidFill>
            <a:srgbClr val="C3CFEF"/>
          </a:solidFill>
          <a:ln/>
        </p:spPr>
      </p:sp>
      <p:pic>
        <p:nvPicPr>
          <p:cNvPr id="21" name="Image 0" descr="preencoded.png">    </p:cNvPr>
          <p:cNvPicPr>
            <a:picLocks noChangeAspect="1"/>
          </p:cNvPicPr>
          <p:nvPr/>
        </p:nvPicPr>
        <p:blipFill>
          <a:blip r:embed="rId1"/>
          <a:stretch>
            <a:fillRect/>
          </a:stretch>
        </p:blipFill>
        <p:spPr>
          <a:xfrm>
            <a:off x="986552" y="5963245"/>
            <a:ext cx="240983" cy="192762"/>
          </a:xfrm>
          <a:prstGeom prst="rect">
            <a:avLst/>
          </a:prstGeom>
        </p:spPr>
      </p:pic>
      <p:sp>
        <p:nvSpPr>
          <p:cNvPr id="22" name="Text 19"/>
          <p:cNvSpPr/>
          <p:nvPr/>
        </p:nvSpPr>
        <p:spPr>
          <a:xfrm>
            <a:off x="1420297" y="5918597"/>
            <a:ext cx="4791313" cy="925116"/>
          </a:xfrm>
          <a:prstGeom prst="rect">
            <a:avLst/>
          </a:prstGeom>
          <a:noFill/>
          <a:ln/>
        </p:spPr>
        <p:txBody>
          <a:bodyPr wrap="square" lIns="0" tIns="0" rIns="0" bIns="0" rtlCol="0" anchor="t"/>
          <a:lstStyle/>
          <a:p>
            <a:pPr algn="l" indent="0" marL="0">
              <a:lnSpc>
                <a:spcPts val="2400"/>
              </a:lnSpc>
              <a:buNone/>
            </a:pPr>
            <a:r>
              <a:rPr lang="en-US" sz="1500" dirty="0">
                <a:solidFill>
                  <a:srgbClr val="000000"/>
                </a:solidFill>
                <a:latin typeface="Roboto" pitchFamily="34" charset="0"/>
                <a:ea typeface="Roboto" pitchFamily="34" charset="-122"/>
                <a:cs typeface="Roboto" pitchFamily="34" charset="-120"/>
              </a:rPr>
              <a:t>The significant interaction (p = .009) indicates that experience level fundamentally changes how Hedonic Motivation influences adoption decisions.</a:t>
            </a:r>
            <a:endParaRPr lang="en-US" sz="1500" dirty="0"/>
          </a:p>
        </p:txBody>
      </p:sp>
      <p:sp>
        <p:nvSpPr>
          <p:cNvPr id="23" name="Text 20"/>
          <p:cNvSpPr/>
          <p:nvPr/>
        </p:nvSpPr>
        <p:spPr>
          <a:xfrm>
            <a:off x="6882289" y="1983700"/>
            <a:ext cx="3373517"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Counterintuitive Finding</a:t>
            </a:r>
            <a:endParaRPr lang="en-US" sz="2250" dirty="0"/>
          </a:p>
        </p:txBody>
      </p:sp>
      <p:sp>
        <p:nvSpPr>
          <p:cNvPr id="24" name="Text 21"/>
          <p:cNvSpPr/>
          <p:nvPr/>
        </p:nvSpPr>
        <p:spPr>
          <a:xfrm>
            <a:off x="6882289" y="2537936"/>
            <a:ext cx="6961823"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Experienced professionals (4+ years in their field) actually weight </a:t>
            </a:r>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enjoyment more heavily</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in AI adoption decisions than less experienced users.</a:t>
            </a:r>
            <a:endParaRPr lang="en-US" sz="1500" dirty="0"/>
          </a:p>
        </p:txBody>
      </p:sp>
      <p:sp>
        <p:nvSpPr>
          <p:cNvPr id="25" name="Text 22"/>
          <p:cNvSpPr/>
          <p:nvPr/>
        </p:nvSpPr>
        <p:spPr>
          <a:xfrm>
            <a:off x="6882289" y="3328154"/>
            <a:ext cx="6961823" cy="925116"/>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Why this matters: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The conventional assumption is that experienced professionals become more pragmatic and feature-focused over time. The opposite is true for AI adoption.</a:t>
            </a:r>
            <a:endParaRPr lang="en-US" sz="1500" dirty="0"/>
          </a:p>
        </p:txBody>
      </p:sp>
      <p:sp>
        <p:nvSpPr>
          <p:cNvPr id="26" name="Text 23"/>
          <p:cNvSpPr/>
          <p:nvPr/>
        </p:nvSpPr>
        <p:spPr>
          <a:xfrm>
            <a:off x="6882289" y="4426744"/>
            <a:ext cx="6961823" cy="1233487"/>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Interpretation:</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Experienced users have learned through extensive technology exposure that if a tool isn't enjoyable to use, they won't sustain usage regardless of its theoretical productivity benefits. They've witnessed "productivity tools" gather digital dust because the friction exceeded the value.</a:t>
            </a:r>
            <a:endParaRPr lang="en-US" sz="1500" dirty="0"/>
          </a:p>
        </p:txBody>
      </p:sp>
      <p:sp>
        <p:nvSpPr>
          <p:cNvPr id="27" name="Text 24"/>
          <p:cNvSpPr/>
          <p:nvPr/>
        </p:nvSpPr>
        <p:spPr>
          <a:xfrm>
            <a:off x="6882289" y="5833705"/>
            <a:ext cx="6961823" cy="925116"/>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This suggests that making AI tools engaging and pleasant to use isn't a "nice-to-have" feature—it's a critical adoption driver for the exact population organizations most need to adopt: experienced professionals who influence others.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42236" y="583168"/>
            <a:ext cx="6901815" cy="430768"/>
          </a:xfrm>
          <a:prstGeom prst="rect">
            <a:avLst/>
          </a:prstGeom>
          <a:noFill/>
          <a:ln/>
        </p:spPr>
        <p:txBody>
          <a:bodyPr wrap="none" lIns="0" tIns="0" rIns="0" bIns="0" rtlCol="0" anchor="t"/>
          <a:lstStyle/>
          <a:p>
            <a:pPr algn="l" indent="0" marL="0">
              <a:lnSpc>
                <a:spcPts val="3350"/>
              </a:lnSpc>
              <a:buNone/>
            </a:pPr>
            <a:r>
              <a:rPr lang="en-US" sz="2700" dirty="0">
                <a:solidFill>
                  <a:srgbClr val="3257B8"/>
                </a:solidFill>
                <a:latin typeface="Roboto Slab" pitchFamily="34" charset="0"/>
                <a:ea typeface="Roboto Slab" pitchFamily="34" charset="-122"/>
                <a:cs typeface="Roboto Slab" pitchFamily="34" charset="-120"/>
              </a:rPr>
              <a:t>Moderator Finding: Population Differences</a:t>
            </a:r>
            <a:endParaRPr lang="en-US" sz="2700" dirty="0"/>
          </a:p>
        </p:txBody>
      </p:sp>
      <p:sp>
        <p:nvSpPr>
          <p:cNvPr id="3" name="Shape 1"/>
          <p:cNvSpPr/>
          <p:nvPr/>
        </p:nvSpPr>
        <p:spPr>
          <a:xfrm>
            <a:off x="7307580" y="1289566"/>
            <a:ext cx="15240" cy="4044434"/>
          </a:xfrm>
          <a:prstGeom prst="roundRect">
            <a:avLst>
              <a:gd name="adj" fmla="val 135693"/>
            </a:avLst>
          </a:prstGeom>
          <a:solidFill>
            <a:srgbClr val="CFD2D8"/>
          </a:solidFill>
          <a:ln/>
        </p:spPr>
      </p:sp>
      <p:sp>
        <p:nvSpPr>
          <p:cNvPr id="4" name="Shape 2"/>
          <p:cNvSpPr/>
          <p:nvPr/>
        </p:nvSpPr>
        <p:spPr>
          <a:xfrm>
            <a:off x="726996" y="1289566"/>
            <a:ext cx="6572964" cy="1884402"/>
          </a:xfrm>
          <a:prstGeom prst="roundRect">
            <a:avLst>
              <a:gd name="adj" fmla="val 1097"/>
            </a:avLst>
          </a:prstGeom>
          <a:solidFill>
            <a:srgbClr val="E9ECF2"/>
          </a:solidFill>
          <a:ln/>
        </p:spPr>
      </p:sp>
      <p:sp>
        <p:nvSpPr>
          <p:cNvPr id="5" name="Text 3"/>
          <p:cNvSpPr/>
          <p:nvPr/>
        </p:nvSpPr>
        <p:spPr>
          <a:xfrm>
            <a:off x="4032647" y="1427321"/>
            <a:ext cx="3129558" cy="258485"/>
          </a:xfrm>
          <a:prstGeom prst="rect">
            <a:avLst/>
          </a:prstGeom>
          <a:noFill/>
          <a:ln/>
        </p:spPr>
        <p:txBody>
          <a:bodyPr wrap="none" lIns="0" tIns="0" rIns="0" bIns="0" rtlCol="0" anchor="t"/>
          <a:lstStyle/>
          <a:p>
            <a:pPr algn="r" indent="0" marL="0">
              <a:lnSpc>
                <a:spcPts val="2000"/>
              </a:lnSpc>
              <a:buNone/>
            </a:pPr>
            <a:r>
              <a:rPr lang="en-US" sz="1600" dirty="0">
                <a:solidFill>
                  <a:srgbClr val="15213F"/>
                </a:solidFill>
                <a:latin typeface="Roboto Slab" pitchFamily="34" charset="0"/>
                <a:ea typeface="Roboto Slab" pitchFamily="34" charset="-122"/>
                <a:cs typeface="Roboto Slab" pitchFamily="34" charset="-120"/>
              </a:rPr>
              <a:t>Academic Population (Students)</a:t>
            </a:r>
            <a:endParaRPr lang="en-US" sz="1600" dirty="0"/>
          </a:p>
        </p:txBody>
      </p:sp>
      <p:sp>
        <p:nvSpPr>
          <p:cNvPr id="6" name="Text 4"/>
          <p:cNvSpPr/>
          <p:nvPr/>
        </p:nvSpPr>
        <p:spPr>
          <a:xfrm>
            <a:off x="864751" y="1768435"/>
            <a:ext cx="6297454" cy="220504"/>
          </a:xfrm>
          <a:prstGeom prst="rect">
            <a:avLst/>
          </a:prstGeom>
          <a:noFill/>
          <a:ln/>
        </p:spPr>
        <p:txBody>
          <a:bodyPr wrap="none" lIns="0" tIns="0" rIns="0" bIns="0" rtlCol="0" anchor="t"/>
          <a:lstStyle/>
          <a:p>
            <a:pPr algn="r" indent="0" marL="0">
              <a:lnSpc>
                <a:spcPts val="1700"/>
              </a:lnSpc>
              <a:buNone/>
            </a:pPr>
            <a:r>
              <a:rPr lang="en-US" sz="1050" b="1" dirty="0">
                <a:solidFill>
                  <a:srgbClr val="15213F"/>
                </a:solidFill>
                <a:latin typeface="Roboto" pitchFamily="34" charset="0"/>
                <a:ea typeface="Roboto" pitchFamily="34" charset="-122"/>
                <a:cs typeface="Roboto" pitchFamily="34" charset="-120"/>
              </a:rPr>
              <a:t>Hedonic Motivation → Behavioral Intention</a:t>
            </a:r>
            <a:endParaRPr lang="en-US" sz="1050" dirty="0"/>
          </a:p>
        </p:txBody>
      </p:sp>
      <p:sp>
        <p:nvSpPr>
          <p:cNvPr id="7" name="Text 5"/>
          <p:cNvSpPr/>
          <p:nvPr/>
        </p:nvSpPr>
        <p:spPr>
          <a:xfrm>
            <a:off x="864751" y="2071568"/>
            <a:ext cx="6297454" cy="220504"/>
          </a:xfrm>
          <a:prstGeom prst="rect">
            <a:avLst/>
          </a:prstGeom>
          <a:noFill/>
          <a:ln/>
        </p:spPr>
        <p:txBody>
          <a:bodyPr wrap="none" lIns="0" tIns="0" rIns="0" bIns="0" rtlCol="0" anchor="t"/>
          <a:lstStyle/>
          <a:p>
            <a:pPr algn="r" indent="0" marL="0">
              <a:lnSpc>
                <a:spcPts val="1700"/>
              </a:lnSpc>
              <a:buNone/>
            </a:pPr>
            <a:r>
              <a:rPr lang="en-US" sz="1050" dirty="0">
                <a:solidFill>
                  <a:srgbClr val="15213F"/>
                </a:solidFill>
                <a:latin typeface="Roboto" pitchFamily="34" charset="0"/>
                <a:ea typeface="Roboto" pitchFamily="34" charset="-122"/>
                <a:cs typeface="Roboto" pitchFamily="34" charset="-120"/>
              </a:rPr>
              <a:t>β = .449 (strongly positive, p &lt; .05)</a:t>
            </a:r>
            <a:endParaRPr lang="en-US" sz="1050" dirty="0"/>
          </a:p>
        </p:txBody>
      </p:sp>
      <p:sp>
        <p:nvSpPr>
          <p:cNvPr id="8" name="Text 6"/>
          <p:cNvSpPr/>
          <p:nvPr/>
        </p:nvSpPr>
        <p:spPr>
          <a:xfrm>
            <a:off x="864751" y="2374702"/>
            <a:ext cx="6297454" cy="661511"/>
          </a:xfrm>
          <a:prstGeom prst="rect">
            <a:avLst/>
          </a:prstGeom>
          <a:noFill/>
          <a:ln/>
        </p:spPr>
        <p:txBody>
          <a:bodyPr wrap="square" lIns="0" tIns="0" rIns="0" bIns="0" rtlCol="0" anchor="t"/>
          <a:lstStyle/>
          <a:p>
            <a:pPr algn="r" indent="0" marL="0">
              <a:lnSpc>
                <a:spcPts val="1700"/>
              </a:lnSpc>
              <a:buNone/>
            </a:pPr>
            <a:r>
              <a:rPr lang="en-US" sz="1050" dirty="0">
                <a:solidFill>
                  <a:srgbClr val="15213F"/>
                </a:solidFill>
                <a:latin typeface="Roboto" pitchFamily="34" charset="0"/>
                <a:ea typeface="Roboto" pitchFamily="34" charset="-122"/>
                <a:cs typeface="Roboto" pitchFamily="34" charset="-120"/>
              </a:rPr>
              <a:t>In academic contexts, enjoying your tools is culturally acceptable and even valued. Students face fewer professional norms constraining their tool preferences. If an AI tool makes coursework more engaging, that's seen as legitimate justification for adoption.</a:t>
            </a:r>
            <a:endParaRPr lang="en-US" sz="1050" dirty="0"/>
          </a:p>
        </p:txBody>
      </p:sp>
      <p:sp>
        <p:nvSpPr>
          <p:cNvPr id="9" name="Shape 7"/>
          <p:cNvSpPr/>
          <p:nvPr/>
        </p:nvSpPr>
        <p:spPr>
          <a:xfrm>
            <a:off x="7330440" y="3449598"/>
            <a:ext cx="6572964" cy="1884402"/>
          </a:xfrm>
          <a:prstGeom prst="rect">
            <a:avLst/>
          </a:prstGeom>
          <a:solidFill>
            <a:srgbClr val="E9ECF2"/>
          </a:solidFill>
          <a:ln/>
        </p:spPr>
      </p:sp>
      <p:sp>
        <p:nvSpPr>
          <p:cNvPr id="10" name="Text 8"/>
          <p:cNvSpPr/>
          <p:nvPr/>
        </p:nvSpPr>
        <p:spPr>
          <a:xfrm>
            <a:off x="7468195" y="3587353"/>
            <a:ext cx="4050863" cy="258485"/>
          </a:xfrm>
          <a:prstGeom prst="rect">
            <a:avLst/>
          </a:prstGeom>
          <a:noFill/>
          <a:ln/>
        </p:spPr>
        <p:txBody>
          <a:bodyPr wrap="none" lIns="0" tIns="0" rIns="0" bIns="0" rtlCol="0" anchor="t"/>
          <a:lstStyle/>
          <a:p>
            <a:pPr algn="l" indent="0" marL="0">
              <a:lnSpc>
                <a:spcPts val="2000"/>
              </a:lnSpc>
              <a:buNone/>
            </a:pPr>
            <a:r>
              <a:rPr lang="en-US" sz="1600" dirty="0">
                <a:solidFill>
                  <a:srgbClr val="15213F"/>
                </a:solidFill>
                <a:latin typeface="Roboto Slab" pitchFamily="34" charset="0"/>
                <a:ea typeface="Roboto Slab" pitchFamily="34" charset="-122"/>
                <a:cs typeface="Roboto Slab" pitchFamily="34" charset="-120"/>
              </a:rPr>
              <a:t>Professional Population (Working Adults)</a:t>
            </a:r>
            <a:endParaRPr lang="en-US" sz="1600" dirty="0"/>
          </a:p>
        </p:txBody>
      </p:sp>
      <p:sp>
        <p:nvSpPr>
          <p:cNvPr id="11" name="Text 9"/>
          <p:cNvSpPr/>
          <p:nvPr/>
        </p:nvSpPr>
        <p:spPr>
          <a:xfrm>
            <a:off x="7468195" y="3928467"/>
            <a:ext cx="6297454" cy="220504"/>
          </a:xfrm>
          <a:prstGeom prst="rect">
            <a:avLst/>
          </a:prstGeom>
          <a:noFill/>
          <a:ln/>
        </p:spPr>
        <p:txBody>
          <a:bodyPr wrap="none" lIns="0" tIns="0" rIns="0" bIns="0" rtlCol="0" anchor="t"/>
          <a:lstStyle/>
          <a:p>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Hedonic Motivation → Behavioral Intention</a:t>
            </a:r>
            <a:endParaRPr lang="en-US" sz="1050" dirty="0"/>
          </a:p>
        </p:txBody>
      </p:sp>
      <p:sp>
        <p:nvSpPr>
          <p:cNvPr id="12" name="Text 10"/>
          <p:cNvSpPr/>
          <p:nvPr/>
        </p:nvSpPr>
        <p:spPr>
          <a:xfrm>
            <a:off x="7468195" y="4231600"/>
            <a:ext cx="6297454" cy="220504"/>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β = −.301 (negative, p &lt; .05)</a:t>
            </a:r>
            <a:endParaRPr lang="en-US" sz="1050" dirty="0"/>
          </a:p>
        </p:txBody>
      </p:sp>
      <p:sp>
        <p:nvSpPr>
          <p:cNvPr id="13" name="Text 11"/>
          <p:cNvSpPr/>
          <p:nvPr/>
        </p:nvSpPr>
        <p:spPr>
          <a:xfrm>
            <a:off x="7468195" y="4534733"/>
            <a:ext cx="6297454" cy="661511"/>
          </a:xfrm>
          <a:prstGeom prst="rect">
            <a:avLst/>
          </a:prstGeom>
          <a:noFill/>
          <a:ln/>
        </p:spPr>
        <p:txBody>
          <a:bodyPr wrap="squar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In professional contexts, the relationship inverts. Enjoyment may actually signal unseriousness. There appears to be a cultural norm that work tools shouldn't be "fun"—if you're enjoying it, perhaps you're not taking the work seriously enough.</a:t>
            </a:r>
            <a:endParaRPr lang="en-US" sz="1050" dirty="0"/>
          </a:p>
        </p:txBody>
      </p:sp>
      <p:sp>
        <p:nvSpPr>
          <p:cNvPr id="14" name="Text 12"/>
          <p:cNvSpPr/>
          <p:nvPr/>
        </p:nvSpPr>
        <p:spPr>
          <a:xfrm>
            <a:off x="742236" y="5540693"/>
            <a:ext cx="4474250" cy="344686"/>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Statistical Evidence of Moderation</a:t>
            </a:r>
            <a:endParaRPr lang="en-US" sz="2150" dirty="0"/>
          </a:p>
        </p:txBody>
      </p:sp>
      <p:sp>
        <p:nvSpPr>
          <p:cNvPr id="15" name="Text 13"/>
          <p:cNvSpPr/>
          <p:nvPr/>
        </p:nvSpPr>
        <p:spPr>
          <a:xfrm>
            <a:off x="742236" y="6092071"/>
            <a:ext cx="13145929" cy="220504"/>
          </a:xfrm>
          <a:prstGeom prst="rect">
            <a:avLst/>
          </a:prstGeom>
          <a:noFill/>
          <a:ln/>
        </p:spPr>
        <p:txBody>
          <a:bodyPr wrap="none" lIns="0" tIns="0" rIns="0" bIns="0" rtlCol="0" anchor="t"/>
          <a:lstStyle/>
          <a:p>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Difference in path coefficients:</a:t>
            </a:r>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 Δβ = −.750 (p = .041, significant)</a:t>
            </a:r>
            <a:endParaRPr lang="en-US" sz="1050" dirty="0"/>
          </a:p>
        </p:txBody>
      </p:sp>
      <p:sp>
        <p:nvSpPr>
          <p:cNvPr id="16" name="Text 14"/>
          <p:cNvSpPr/>
          <p:nvPr/>
        </p:nvSpPr>
        <p:spPr>
          <a:xfrm>
            <a:off x="742236" y="6467594"/>
            <a:ext cx="13145929" cy="220504"/>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This 0.75-point swing from positive to negative represents one of the largest moderator effects in the model, indicating that population context fundamentally alters adoption psychology.</a:t>
            </a:r>
            <a:endParaRPr lang="en-US" sz="1050" dirty="0"/>
          </a:p>
        </p:txBody>
      </p:sp>
      <p:sp>
        <p:nvSpPr>
          <p:cNvPr id="17" name="Shape 15"/>
          <p:cNvSpPr/>
          <p:nvPr/>
        </p:nvSpPr>
        <p:spPr>
          <a:xfrm>
            <a:off x="742236" y="6843117"/>
            <a:ext cx="13145929" cy="806053"/>
          </a:xfrm>
          <a:prstGeom prst="roundRect">
            <a:avLst>
              <a:gd name="adj" fmla="val 2566"/>
            </a:avLst>
          </a:prstGeom>
          <a:solidFill>
            <a:srgbClr val="C3CFEF"/>
          </a:solidFill>
          <a:ln/>
        </p:spPr>
      </p:sp>
      <p:pic>
        <p:nvPicPr>
          <p:cNvPr id="18" name="Image 0" descr="preencoded.png">    </p:cNvPr>
          <p:cNvPicPr>
            <a:picLocks noChangeAspect="1"/>
          </p:cNvPicPr>
          <p:nvPr/>
        </p:nvPicPr>
        <p:blipFill>
          <a:blip r:embed="rId1"/>
          <a:stretch>
            <a:fillRect/>
          </a:stretch>
        </p:blipFill>
        <p:spPr>
          <a:xfrm>
            <a:off x="879991" y="7047071"/>
            <a:ext cx="172283" cy="137755"/>
          </a:xfrm>
          <a:prstGeom prst="rect">
            <a:avLst/>
          </a:prstGeom>
        </p:spPr>
      </p:pic>
      <p:sp>
        <p:nvSpPr>
          <p:cNvPr id="19" name="Text 16"/>
          <p:cNvSpPr/>
          <p:nvPr/>
        </p:nvSpPr>
        <p:spPr>
          <a:xfrm>
            <a:off x="1190030" y="7015282"/>
            <a:ext cx="12560379" cy="441008"/>
          </a:xfrm>
          <a:prstGeom prst="rect">
            <a:avLst/>
          </a:prstGeom>
          <a:noFill/>
          <a:ln/>
        </p:spPr>
        <p:txBody>
          <a:bodyPr wrap="square" lIns="0" tIns="0" rIns="0" bIns="0" rtlCol="0" anchor="t"/>
          <a:lstStyle/>
          <a:p>
            <a:pPr algn="l" indent="0" marL="0">
              <a:lnSpc>
                <a:spcPts val="1700"/>
              </a:lnSpc>
              <a:buNone/>
            </a:pPr>
            <a:r>
              <a:rPr lang="en-US" sz="1050" b="1" dirty="0">
                <a:solidFill>
                  <a:srgbClr val="000000"/>
                </a:solidFill>
                <a:latin typeface="Roboto" pitchFamily="34" charset="0"/>
                <a:ea typeface="Roboto" pitchFamily="34" charset="-122"/>
                <a:cs typeface="Roboto" pitchFamily="34" charset="-120"/>
              </a:rPr>
              <a:t>Practical Implication:</a:t>
            </a:r>
            <a:pPr algn="l" indent="0" marL="0">
              <a:lnSpc>
                <a:spcPts val="1700"/>
              </a:lnSpc>
              <a:buNone/>
            </a:pPr>
            <a:r>
              <a:rPr lang="en-US" sz="1050" dirty="0">
                <a:solidFill>
                  <a:srgbClr val="000000"/>
                </a:solidFill>
                <a:latin typeface="Roboto" pitchFamily="34" charset="0"/>
                <a:ea typeface="Roboto" pitchFamily="34" charset="-122"/>
                <a:cs typeface="Roboto" pitchFamily="34" charset="-120"/>
              </a:rPr>
              <a:t> Organizations must tailor AI messaging to cultural context. What works in university settings—emphasizing enjoyment and engagement—may backfire in corporate environments where seriousness and productivity are valued. Professional messaging should emphasize value delivery while academic messaging can emphasize exploration and enjoyment.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883801"/>
            <a:ext cx="6124694"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The AIRS-16 Diagnostic Instrument</a:t>
            </a:r>
            <a:endParaRPr lang="en-US" sz="2900" dirty="0"/>
          </a:p>
        </p:txBody>
      </p:sp>
      <p:sp>
        <p:nvSpPr>
          <p:cNvPr id="3" name="Text 1"/>
          <p:cNvSpPr/>
          <p:nvPr/>
        </p:nvSpPr>
        <p:spPr>
          <a:xfrm>
            <a:off x="793790" y="1639372"/>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The tangible deliverable from this research is AIRS-16: a validated, practical tool for organizational AI adoption assessment.</a:t>
            </a:r>
            <a:endParaRPr lang="en-US" sz="1150" dirty="0"/>
          </a:p>
        </p:txBody>
      </p:sp>
      <p:sp>
        <p:nvSpPr>
          <p:cNvPr id="4" name="Shape 2"/>
          <p:cNvSpPr/>
          <p:nvPr/>
        </p:nvSpPr>
        <p:spPr>
          <a:xfrm>
            <a:off x="793790" y="2206823"/>
            <a:ext cx="7011710" cy="4335780"/>
          </a:xfrm>
          <a:prstGeom prst="roundRect">
            <a:avLst>
              <a:gd name="adj" fmla="val 510"/>
            </a:avLst>
          </a:prstGeom>
          <a:noFill/>
          <a:ln w="7620">
            <a:solidFill>
              <a:srgbClr val="000000">
                <a:alpha val="8000"/>
              </a:srgbClr>
            </a:solidFill>
            <a:prstDash val="solid"/>
          </a:ln>
        </p:spPr>
      </p:sp>
      <p:sp>
        <p:nvSpPr>
          <p:cNvPr id="5" name="Shape 3"/>
          <p:cNvSpPr/>
          <p:nvPr/>
        </p:nvSpPr>
        <p:spPr>
          <a:xfrm>
            <a:off x="801410" y="2214443"/>
            <a:ext cx="6996470" cy="427673"/>
          </a:xfrm>
          <a:prstGeom prst="rect">
            <a:avLst/>
          </a:prstGeom>
          <a:solidFill>
            <a:srgbClr val="FFFFFF">
              <a:alpha val="4000"/>
            </a:srgbClr>
          </a:solidFill>
          <a:ln/>
        </p:spPr>
      </p:sp>
      <p:sp>
        <p:nvSpPr>
          <p:cNvPr id="6" name="Text 4"/>
          <p:cNvSpPr/>
          <p:nvPr/>
        </p:nvSpPr>
        <p:spPr>
          <a:xfrm>
            <a:off x="949047" y="2310408"/>
            <a:ext cx="249995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Factor</a:t>
            </a:r>
            <a:endParaRPr lang="en-US" sz="1150" dirty="0"/>
          </a:p>
        </p:txBody>
      </p:sp>
      <p:sp>
        <p:nvSpPr>
          <p:cNvPr id="7" name="Text 5"/>
          <p:cNvSpPr/>
          <p:nvPr/>
        </p:nvSpPr>
        <p:spPr>
          <a:xfrm>
            <a:off x="3751421" y="2310408"/>
            <a:ext cx="746998"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Items</a:t>
            </a:r>
            <a:endParaRPr lang="en-US" sz="1150" dirty="0"/>
          </a:p>
        </p:txBody>
      </p:sp>
      <p:sp>
        <p:nvSpPr>
          <p:cNvPr id="8" name="Text 6"/>
          <p:cNvSpPr/>
          <p:nvPr/>
        </p:nvSpPr>
        <p:spPr>
          <a:xfrm>
            <a:off x="4800838" y="2310408"/>
            <a:ext cx="746998"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α</a:t>
            </a:r>
            <a:endParaRPr lang="en-US" sz="1150" dirty="0"/>
          </a:p>
        </p:txBody>
      </p:sp>
      <p:sp>
        <p:nvSpPr>
          <p:cNvPr id="9" name="Text 7"/>
          <p:cNvSpPr/>
          <p:nvPr/>
        </p:nvSpPr>
        <p:spPr>
          <a:xfrm>
            <a:off x="5850255" y="2310408"/>
            <a:ext cx="1800225" cy="235744"/>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Diagnostic Purpose</a:t>
            </a:r>
            <a:endParaRPr lang="en-US" sz="1150" dirty="0"/>
          </a:p>
        </p:txBody>
      </p:sp>
      <p:sp>
        <p:nvSpPr>
          <p:cNvPr id="10" name="Shape 8"/>
          <p:cNvSpPr/>
          <p:nvPr/>
        </p:nvSpPr>
        <p:spPr>
          <a:xfrm>
            <a:off x="801410" y="2642116"/>
            <a:ext cx="6996470" cy="427673"/>
          </a:xfrm>
          <a:prstGeom prst="rect">
            <a:avLst/>
          </a:prstGeom>
          <a:solidFill>
            <a:srgbClr val="000000">
              <a:alpha val="4000"/>
            </a:srgbClr>
          </a:solidFill>
          <a:ln/>
        </p:spPr>
      </p:sp>
      <p:sp>
        <p:nvSpPr>
          <p:cNvPr id="11" name="Text 9"/>
          <p:cNvSpPr/>
          <p:nvPr/>
        </p:nvSpPr>
        <p:spPr>
          <a:xfrm>
            <a:off x="949047" y="2738080"/>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Performance Expectancy</a:t>
            </a:r>
            <a:endParaRPr lang="en-US" sz="1150" dirty="0"/>
          </a:p>
        </p:txBody>
      </p:sp>
      <p:sp>
        <p:nvSpPr>
          <p:cNvPr id="12" name="Text 10"/>
          <p:cNvSpPr/>
          <p:nvPr/>
        </p:nvSpPr>
        <p:spPr>
          <a:xfrm>
            <a:off x="3751421" y="2738080"/>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13" name="Text 11"/>
          <p:cNvSpPr/>
          <p:nvPr/>
        </p:nvSpPr>
        <p:spPr>
          <a:xfrm>
            <a:off x="4800838" y="2738080"/>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.80</a:t>
            </a:r>
            <a:endParaRPr lang="en-US" sz="1150" dirty="0"/>
          </a:p>
        </p:txBody>
      </p:sp>
      <p:sp>
        <p:nvSpPr>
          <p:cNvPr id="14" name="Text 12"/>
          <p:cNvSpPr/>
          <p:nvPr/>
        </p:nvSpPr>
        <p:spPr>
          <a:xfrm>
            <a:off x="5850255" y="2738080"/>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Productivity beliefs</a:t>
            </a:r>
            <a:endParaRPr lang="en-US" sz="1150" dirty="0"/>
          </a:p>
        </p:txBody>
      </p:sp>
      <p:sp>
        <p:nvSpPr>
          <p:cNvPr id="15" name="Shape 13"/>
          <p:cNvSpPr/>
          <p:nvPr/>
        </p:nvSpPr>
        <p:spPr>
          <a:xfrm>
            <a:off x="801410" y="3069788"/>
            <a:ext cx="6996470" cy="427673"/>
          </a:xfrm>
          <a:prstGeom prst="rect">
            <a:avLst/>
          </a:prstGeom>
          <a:solidFill>
            <a:srgbClr val="FFFFFF">
              <a:alpha val="4000"/>
            </a:srgbClr>
          </a:solidFill>
          <a:ln/>
        </p:spPr>
      </p:sp>
      <p:sp>
        <p:nvSpPr>
          <p:cNvPr id="16" name="Text 14"/>
          <p:cNvSpPr/>
          <p:nvPr/>
        </p:nvSpPr>
        <p:spPr>
          <a:xfrm>
            <a:off x="949047" y="3165753"/>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Effort Expectancy</a:t>
            </a:r>
            <a:endParaRPr lang="en-US" sz="1150" dirty="0"/>
          </a:p>
        </p:txBody>
      </p:sp>
      <p:sp>
        <p:nvSpPr>
          <p:cNvPr id="17" name="Text 15"/>
          <p:cNvSpPr/>
          <p:nvPr/>
        </p:nvSpPr>
        <p:spPr>
          <a:xfrm>
            <a:off x="3751421" y="3165753"/>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18" name="Text 16"/>
          <p:cNvSpPr/>
          <p:nvPr/>
        </p:nvSpPr>
        <p:spPr>
          <a:xfrm>
            <a:off x="4800838" y="3165753"/>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.86</a:t>
            </a:r>
            <a:endParaRPr lang="en-US" sz="1150" dirty="0"/>
          </a:p>
        </p:txBody>
      </p:sp>
      <p:sp>
        <p:nvSpPr>
          <p:cNvPr id="19" name="Text 17"/>
          <p:cNvSpPr/>
          <p:nvPr/>
        </p:nvSpPr>
        <p:spPr>
          <a:xfrm>
            <a:off x="5850255" y="3165753"/>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Perceived ease of use</a:t>
            </a:r>
            <a:endParaRPr lang="en-US" sz="1150" dirty="0"/>
          </a:p>
        </p:txBody>
      </p:sp>
      <p:sp>
        <p:nvSpPr>
          <p:cNvPr id="20" name="Shape 18"/>
          <p:cNvSpPr/>
          <p:nvPr/>
        </p:nvSpPr>
        <p:spPr>
          <a:xfrm>
            <a:off x="801410" y="3497461"/>
            <a:ext cx="6996470" cy="663416"/>
          </a:xfrm>
          <a:prstGeom prst="rect">
            <a:avLst/>
          </a:prstGeom>
          <a:solidFill>
            <a:srgbClr val="000000">
              <a:alpha val="4000"/>
            </a:srgbClr>
          </a:solidFill>
          <a:ln/>
        </p:spPr>
      </p:sp>
      <p:sp>
        <p:nvSpPr>
          <p:cNvPr id="21" name="Text 19"/>
          <p:cNvSpPr/>
          <p:nvPr/>
        </p:nvSpPr>
        <p:spPr>
          <a:xfrm>
            <a:off x="949047" y="3593425"/>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Social Influence</a:t>
            </a:r>
            <a:endParaRPr lang="en-US" sz="1150" dirty="0"/>
          </a:p>
        </p:txBody>
      </p:sp>
      <p:sp>
        <p:nvSpPr>
          <p:cNvPr id="22" name="Text 20"/>
          <p:cNvSpPr/>
          <p:nvPr/>
        </p:nvSpPr>
        <p:spPr>
          <a:xfrm>
            <a:off x="3751421" y="3593425"/>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23" name="Text 21"/>
          <p:cNvSpPr/>
          <p:nvPr/>
        </p:nvSpPr>
        <p:spPr>
          <a:xfrm>
            <a:off x="4800838" y="3593425"/>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.75</a:t>
            </a:r>
            <a:endParaRPr lang="en-US" sz="1150" dirty="0"/>
          </a:p>
        </p:txBody>
      </p:sp>
      <p:sp>
        <p:nvSpPr>
          <p:cNvPr id="24" name="Text 22"/>
          <p:cNvSpPr/>
          <p:nvPr/>
        </p:nvSpPr>
        <p:spPr>
          <a:xfrm>
            <a:off x="5850255" y="3593425"/>
            <a:ext cx="1800225"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Peer/organizational influence</a:t>
            </a:r>
            <a:endParaRPr lang="en-US" sz="1150" dirty="0"/>
          </a:p>
        </p:txBody>
      </p:sp>
      <p:sp>
        <p:nvSpPr>
          <p:cNvPr id="25" name="Shape 23"/>
          <p:cNvSpPr/>
          <p:nvPr/>
        </p:nvSpPr>
        <p:spPr>
          <a:xfrm>
            <a:off x="801410" y="4160877"/>
            <a:ext cx="6996470" cy="427673"/>
          </a:xfrm>
          <a:prstGeom prst="rect">
            <a:avLst/>
          </a:prstGeom>
          <a:solidFill>
            <a:srgbClr val="FFFFFF">
              <a:alpha val="4000"/>
            </a:srgbClr>
          </a:solidFill>
          <a:ln/>
        </p:spPr>
      </p:sp>
      <p:sp>
        <p:nvSpPr>
          <p:cNvPr id="26" name="Text 24"/>
          <p:cNvSpPr/>
          <p:nvPr/>
        </p:nvSpPr>
        <p:spPr>
          <a:xfrm>
            <a:off x="949047" y="4256842"/>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Facilitating Conditions</a:t>
            </a:r>
            <a:endParaRPr lang="en-US" sz="1150" dirty="0"/>
          </a:p>
        </p:txBody>
      </p:sp>
      <p:sp>
        <p:nvSpPr>
          <p:cNvPr id="27" name="Text 25"/>
          <p:cNvSpPr/>
          <p:nvPr/>
        </p:nvSpPr>
        <p:spPr>
          <a:xfrm>
            <a:off x="3751421" y="4256842"/>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28" name="Text 26"/>
          <p:cNvSpPr/>
          <p:nvPr/>
        </p:nvSpPr>
        <p:spPr>
          <a:xfrm>
            <a:off x="4800838" y="4256842"/>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.74</a:t>
            </a:r>
            <a:endParaRPr lang="en-US" sz="1150" dirty="0"/>
          </a:p>
        </p:txBody>
      </p:sp>
      <p:sp>
        <p:nvSpPr>
          <p:cNvPr id="29" name="Text 27"/>
          <p:cNvSpPr/>
          <p:nvPr/>
        </p:nvSpPr>
        <p:spPr>
          <a:xfrm>
            <a:off x="5850255" y="4256842"/>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Support availability</a:t>
            </a:r>
            <a:endParaRPr lang="en-US" sz="1150" dirty="0"/>
          </a:p>
        </p:txBody>
      </p:sp>
      <p:sp>
        <p:nvSpPr>
          <p:cNvPr id="30" name="Shape 28"/>
          <p:cNvSpPr/>
          <p:nvPr/>
        </p:nvSpPr>
        <p:spPr>
          <a:xfrm>
            <a:off x="801410" y="4588550"/>
            <a:ext cx="6996470" cy="427673"/>
          </a:xfrm>
          <a:prstGeom prst="rect">
            <a:avLst/>
          </a:prstGeom>
          <a:solidFill>
            <a:srgbClr val="000000">
              <a:alpha val="4000"/>
            </a:srgbClr>
          </a:solidFill>
          <a:ln/>
        </p:spPr>
      </p:sp>
      <p:sp>
        <p:nvSpPr>
          <p:cNvPr id="31" name="Text 29"/>
          <p:cNvSpPr/>
          <p:nvPr/>
        </p:nvSpPr>
        <p:spPr>
          <a:xfrm>
            <a:off x="949047" y="4684514"/>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Hedonic Motivation</a:t>
            </a:r>
            <a:endParaRPr lang="en-US" sz="1150" dirty="0"/>
          </a:p>
        </p:txBody>
      </p:sp>
      <p:sp>
        <p:nvSpPr>
          <p:cNvPr id="32" name="Text 30"/>
          <p:cNvSpPr/>
          <p:nvPr/>
        </p:nvSpPr>
        <p:spPr>
          <a:xfrm>
            <a:off x="3751421" y="4684514"/>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33" name="Text 31"/>
          <p:cNvSpPr/>
          <p:nvPr/>
        </p:nvSpPr>
        <p:spPr>
          <a:xfrm>
            <a:off x="4800838" y="4684514"/>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.86</a:t>
            </a:r>
            <a:endParaRPr lang="en-US" sz="1150" dirty="0"/>
          </a:p>
        </p:txBody>
      </p:sp>
      <p:sp>
        <p:nvSpPr>
          <p:cNvPr id="34" name="Text 32"/>
          <p:cNvSpPr/>
          <p:nvPr/>
        </p:nvSpPr>
        <p:spPr>
          <a:xfrm>
            <a:off x="5850255" y="4684514"/>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Enjoyment perception</a:t>
            </a:r>
            <a:endParaRPr lang="en-US" sz="1150" dirty="0"/>
          </a:p>
        </p:txBody>
      </p:sp>
      <p:sp>
        <p:nvSpPr>
          <p:cNvPr id="35" name="Shape 33"/>
          <p:cNvSpPr/>
          <p:nvPr/>
        </p:nvSpPr>
        <p:spPr>
          <a:xfrm>
            <a:off x="801410" y="5016222"/>
            <a:ext cx="6996470" cy="427673"/>
          </a:xfrm>
          <a:prstGeom prst="rect">
            <a:avLst/>
          </a:prstGeom>
          <a:solidFill>
            <a:srgbClr val="FFFFFF">
              <a:alpha val="4000"/>
            </a:srgbClr>
          </a:solidFill>
          <a:ln/>
        </p:spPr>
      </p:sp>
      <p:sp>
        <p:nvSpPr>
          <p:cNvPr id="36" name="Text 34"/>
          <p:cNvSpPr/>
          <p:nvPr/>
        </p:nvSpPr>
        <p:spPr>
          <a:xfrm>
            <a:off x="949047" y="5112187"/>
            <a:ext cx="2499955"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Price Value</a:t>
            </a:r>
            <a:endParaRPr lang="en-US" sz="1150" dirty="0"/>
          </a:p>
        </p:txBody>
      </p:sp>
      <p:sp>
        <p:nvSpPr>
          <p:cNvPr id="37" name="Text 35"/>
          <p:cNvSpPr/>
          <p:nvPr/>
        </p:nvSpPr>
        <p:spPr>
          <a:xfrm>
            <a:off x="3751421" y="5112187"/>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38" name="Text 36"/>
          <p:cNvSpPr/>
          <p:nvPr/>
        </p:nvSpPr>
        <p:spPr>
          <a:xfrm>
            <a:off x="4800838" y="5112187"/>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.88</a:t>
            </a:r>
            <a:endParaRPr lang="en-US" sz="1150" dirty="0"/>
          </a:p>
        </p:txBody>
      </p:sp>
      <p:sp>
        <p:nvSpPr>
          <p:cNvPr id="39" name="Text 37"/>
          <p:cNvSpPr/>
          <p:nvPr/>
        </p:nvSpPr>
        <p:spPr>
          <a:xfrm>
            <a:off x="5850255" y="5112187"/>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Worth vs. total investment</a:t>
            </a:r>
            <a:endParaRPr lang="en-US" sz="1150" dirty="0"/>
          </a:p>
        </p:txBody>
      </p:sp>
      <p:sp>
        <p:nvSpPr>
          <p:cNvPr id="40" name="Shape 38"/>
          <p:cNvSpPr/>
          <p:nvPr/>
        </p:nvSpPr>
        <p:spPr>
          <a:xfrm>
            <a:off x="801410" y="5443895"/>
            <a:ext cx="6996470" cy="427673"/>
          </a:xfrm>
          <a:prstGeom prst="rect">
            <a:avLst/>
          </a:prstGeom>
          <a:solidFill>
            <a:srgbClr val="000000">
              <a:alpha val="4000"/>
            </a:srgbClr>
          </a:solidFill>
          <a:ln/>
        </p:spPr>
      </p:sp>
      <p:sp>
        <p:nvSpPr>
          <p:cNvPr id="41" name="Text 39"/>
          <p:cNvSpPr/>
          <p:nvPr/>
        </p:nvSpPr>
        <p:spPr>
          <a:xfrm>
            <a:off x="949047" y="5539859"/>
            <a:ext cx="249995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Habit</a:t>
            </a:r>
            <a:endParaRPr lang="en-US" sz="1150" dirty="0"/>
          </a:p>
        </p:txBody>
      </p:sp>
      <p:sp>
        <p:nvSpPr>
          <p:cNvPr id="42" name="Text 40"/>
          <p:cNvSpPr/>
          <p:nvPr/>
        </p:nvSpPr>
        <p:spPr>
          <a:xfrm>
            <a:off x="3751421" y="5539859"/>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43" name="Text 41"/>
          <p:cNvSpPr/>
          <p:nvPr/>
        </p:nvSpPr>
        <p:spPr>
          <a:xfrm>
            <a:off x="4800838" y="5539859"/>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.91</a:t>
            </a:r>
            <a:endParaRPr lang="en-US" sz="1150" dirty="0"/>
          </a:p>
        </p:txBody>
      </p:sp>
      <p:sp>
        <p:nvSpPr>
          <p:cNvPr id="44" name="Text 42"/>
          <p:cNvSpPr/>
          <p:nvPr/>
        </p:nvSpPr>
        <p:spPr>
          <a:xfrm>
            <a:off x="5850255" y="5539859"/>
            <a:ext cx="180022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Behavioral automaticity</a:t>
            </a:r>
            <a:endParaRPr lang="en-US" sz="1150" dirty="0"/>
          </a:p>
        </p:txBody>
      </p:sp>
      <p:sp>
        <p:nvSpPr>
          <p:cNvPr id="45" name="Shape 43"/>
          <p:cNvSpPr/>
          <p:nvPr/>
        </p:nvSpPr>
        <p:spPr>
          <a:xfrm>
            <a:off x="801410" y="5871567"/>
            <a:ext cx="6996470" cy="663416"/>
          </a:xfrm>
          <a:prstGeom prst="rect">
            <a:avLst/>
          </a:prstGeom>
          <a:solidFill>
            <a:srgbClr val="FFFFFF">
              <a:alpha val="4000"/>
            </a:srgbClr>
          </a:solidFill>
          <a:ln/>
        </p:spPr>
      </p:sp>
      <p:sp>
        <p:nvSpPr>
          <p:cNvPr id="46" name="Text 44"/>
          <p:cNvSpPr/>
          <p:nvPr/>
        </p:nvSpPr>
        <p:spPr>
          <a:xfrm>
            <a:off x="949047" y="5967532"/>
            <a:ext cx="2499955" cy="235744"/>
          </a:xfrm>
          <a:prstGeom prst="rect">
            <a:avLst/>
          </a:prstGeom>
          <a:noFill/>
          <a:ln/>
        </p:spPr>
        <p:txBody>
          <a:bodyPr wrap="none" lIns="0" tIns="0" rIns="0" bIns="0" rtlCol="0" anchor="t"/>
          <a:lstStyle/>
          <a:p>
            <a:pPr algn="l" indent="0" marL="0">
              <a:lnSpc>
                <a:spcPts val="1850"/>
              </a:lnSpc>
              <a:buNone/>
            </a:pPr>
            <a:r>
              <a:rPr lang="en-US" sz="1150" b="1" dirty="0">
                <a:solidFill>
                  <a:srgbClr val="3257B8"/>
                </a:solidFill>
                <a:latin typeface="Roboto" pitchFamily="34" charset="0"/>
                <a:ea typeface="Roboto" pitchFamily="34" charset="-122"/>
                <a:cs typeface="Roboto" pitchFamily="34" charset="-120"/>
              </a:rPr>
              <a:t>AI Trust</a:t>
            </a:r>
            <a:endParaRPr lang="en-US" sz="1150" dirty="0"/>
          </a:p>
        </p:txBody>
      </p:sp>
      <p:sp>
        <p:nvSpPr>
          <p:cNvPr id="47" name="Text 45"/>
          <p:cNvSpPr/>
          <p:nvPr/>
        </p:nvSpPr>
        <p:spPr>
          <a:xfrm>
            <a:off x="3751421" y="5967532"/>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48" name="Text 46"/>
          <p:cNvSpPr/>
          <p:nvPr/>
        </p:nvSpPr>
        <p:spPr>
          <a:xfrm>
            <a:off x="4800838" y="5967532"/>
            <a:ext cx="746998"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.89</a:t>
            </a:r>
            <a:endParaRPr lang="en-US" sz="1150" dirty="0"/>
          </a:p>
        </p:txBody>
      </p:sp>
      <p:sp>
        <p:nvSpPr>
          <p:cNvPr id="49" name="Text 47"/>
          <p:cNvSpPr/>
          <p:nvPr/>
        </p:nvSpPr>
        <p:spPr>
          <a:xfrm>
            <a:off x="5850255" y="5967532"/>
            <a:ext cx="1800225"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AI-specific trust perceptions</a:t>
            </a:r>
            <a:endParaRPr lang="en-US" sz="1150" dirty="0"/>
          </a:p>
        </p:txBody>
      </p:sp>
      <p:sp>
        <p:nvSpPr>
          <p:cNvPr id="50" name="Text 48"/>
          <p:cNvSpPr/>
          <p:nvPr/>
        </p:nvSpPr>
        <p:spPr>
          <a:xfrm>
            <a:off x="8172688" y="2188369"/>
            <a:ext cx="3149084"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Administration Specifications</a:t>
            </a:r>
            <a:endParaRPr lang="en-US" sz="1700" dirty="0"/>
          </a:p>
        </p:txBody>
      </p:sp>
      <p:sp>
        <p:nvSpPr>
          <p:cNvPr id="51" name="Text 49"/>
          <p:cNvSpPr/>
          <p:nvPr/>
        </p:nvSpPr>
        <p:spPr>
          <a:xfrm>
            <a:off x="8172688" y="2612112"/>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15213F"/>
                </a:solidFill>
                <a:latin typeface="Roboto" pitchFamily="34" charset="0"/>
                <a:ea typeface="Roboto" pitchFamily="34" charset="-122"/>
                <a:cs typeface="Roboto" pitchFamily="34" charset="-120"/>
              </a:rPr>
              <a:t>Total Items:</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16 (2 per factor)</a:t>
            </a:r>
            <a:endParaRPr lang="en-US" sz="1150" dirty="0"/>
          </a:p>
        </p:txBody>
      </p:sp>
      <p:sp>
        <p:nvSpPr>
          <p:cNvPr id="52" name="Text 50"/>
          <p:cNvSpPr/>
          <p:nvPr/>
        </p:nvSpPr>
        <p:spPr>
          <a:xfrm>
            <a:off x="8172688" y="2899410"/>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15213F"/>
                </a:solidFill>
                <a:latin typeface="Roboto" pitchFamily="34" charset="0"/>
                <a:ea typeface="Roboto" pitchFamily="34" charset="-122"/>
                <a:cs typeface="Roboto" pitchFamily="34" charset="-120"/>
              </a:rPr>
              <a:t>Completion Time:</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~3 minutes</a:t>
            </a:r>
            <a:endParaRPr lang="en-US" sz="1150" dirty="0"/>
          </a:p>
        </p:txBody>
      </p:sp>
      <p:sp>
        <p:nvSpPr>
          <p:cNvPr id="53" name="Text 51"/>
          <p:cNvSpPr/>
          <p:nvPr/>
        </p:nvSpPr>
        <p:spPr>
          <a:xfrm>
            <a:off x="8172688" y="3186708"/>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15213F"/>
                </a:solidFill>
                <a:latin typeface="Roboto" pitchFamily="34" charset="0"/>
                <a:ea typeface="Roboto" pitchFamily="34" charset="-122"/>
                <a:cs typeface="Roboto" pitchFamily="34" charset="-120"/>
              </a:rPr>
              <a:t>Delivery Method:</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Online survey platform</a:t>
            </a:r>
            <a:endParaRPr lang="en-US" sz="1150" dirty="0"/>
          </a:p>
        </p:txBody>
      </p:sp>
      <p:sp>
        <p:nvSpPr>
          <p:cNvPr id="54" name="Text 52"/>
          <p:cNvSpPr/>
          <p:nvPr/>
        </p:nvSpPr>
        <p:spPr>
          <a:xfrm>
            <a:off x="8172688" y="3474006"/>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15213F"/>
                </a:solidFill>
                <a:latin typeface="Roboto" pitchFamily="34" charset="0"/>
                <a:ea typeface="Roboto" pitchFamily="34" charset="-122"/>
                <a:cs typeface="Roboto" pitchFamily="34" charset="-120"/>
              </a:rPr>
              <a:t>Scoring:</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Automated factor scoring with normative benchmarks</a:t>
            </a:r>
            <a:endParaRPr lang="en-US" sz="1150" dirty="0"/>
          </a:p>
        </p:txBody>
      </p:sp>
      <p:sp>
        <p:nvSpPr>
          <p:cNvPr id="55" name="Text 53"/>
          <p:cNvSpPr/>
          <p:nvPr/>
        </p:nvSpPr>
        <p:spPr>
          <a:xfrm>
            <a:off x="8172688" y="3857149"/>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3257B8"/>
                </a:solidFill>
                <a:latin typeface="Roboto Slab" pitchFamily="34" charset="0"/>
                <a:ea typeface="Roboto Slab" pitchFamily="34" charset="-122"/>
                <a:cs typeface="Roboto Slab" pitchFamily="34" charset="-120"/>
              </a:rPr>
              <a:t>Diagnostic Output</a:t>
            </a:r>
            <a:endParaRPr lang="en-US" sz="1700" dirty="0"/>
          </a:p>
        </p:txBody>
      </p:sp>
      <p:sp>
        <p:nvSpPr>
          <p:cNvPr id="56" name="Text 54"/>
          <p:cNvSpPr/>
          <p:nvPr/>
        </p:nvSpPr>
        <p:spPr>
          <a:xfrm>
            <a:off x="8172688" y="4280892"/>
            <a:ext cx="5671423"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AIRS-16 assessment generates individual profiles showing:</a:t>
            </a:r>
            <a:endParaRPr lang="en-US" sz="1150" dirty="0"/>
          </a:p>
        </p:txBody>
      </p:sp>
      <p:sp>
        <p:nvSpPr>
          <p:cNvPr id="57" name="Text 55"/>
          <p:cNvSpPr/>
          <p:nvPr/>
        </p:nvSpPr>
        <p:spPr>
          <a:xfrm>
            <a:off x="8172688" y="4649272"/>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15213F"/>
                </a:solidFill>
                <a:latin typeface="Roboto" pitchFamily="34" charset="0"/>
                <a:ea typeface="Roboto" pitchFamily="34" charset="-122"/>
                <a:cs typeface="Roboto" pitchFamily="34" charset="-120"/>
              </a:rPr>
              <a:t>Factor scores relative to population norms</a:t>
            </a:r>
            <a:endParaRPr lang="en-US" sz="1150" dirty="0"/>
          </a:p>
        </p:txBody>
      </p:sp>
      <p:sp>
        <p:nvSpPr>
          <p:cNvPr id="58" name="Text 56"/>
          <p:cNvSpPr/>
          <p:nvPr/>
        </p:nvSpPr>
        <p:spPr>
          <a:xfrm>
            <a:off x="8172688" y="4936569"/>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15213F"/>
                </a:solidFill>
                <a:latin typeface="Roboto" pitchFamily="34" charset="0"/>
                <a:ea typeface="Roboto" pitchFamily="34" charset="-122"/>
                <a:cs typeface="Roboto" pitchFamily="34" charset="-120"/>
              </a:rPr>
              <a:t>Identification of specific adoption barriers</a:t>
            </a:r>
            <a:endParaRPr lang="en-US" sz="1150" dirty="0"/>
          </a:p>
        </p:txBody>
      </p:sp>
      <p:sp>
        <p:nvSpPr>
          <p:cNvPr id="59" name="Text 57"/>
          <p:cNvSpPr/>
          <p:nvPr/>
        </p:nvSpPr>
        <p:spPr>
          <a:xfrm>
            <a:off x="8172688" y="5223867"/>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15213F"/>
                </a:solidFill>
                <a:latin typeface="Roboto" pitchFamily="34" charset="0"/>
                <a:ea typeface="Roboto" pitchFamily="34" charset="-122"/>
                <a:cs typeface="Roboto" pitchFamily="34" charset="-120"/>
              </a:rPr>
              <a:t>Segment classification (Enthusiast, Cautious, Moderate, Avoider)</a:t>
            </a:r>
            <a:endParaRPr lang="en-US" sz="1150" dirty="0"/>
          </a:p>
        </p:txBody>
      </p:sp>
      <p:sp>
        <p:nvSpPr>
          <p:cNvPr id="60" name="Text 58"/>
          <p:cNvSpPr/>
          <p:nvPr/>
        </p:nvSpPr>
        <p:spPr>
          <a:xfrm>
            <a:off x="8172688" y="5511165"/>
            <a:ext cx="5671423" cy="235744"/>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15213F"/>
                </a:solidFill>
                <a:latin typeface="Roboto" pitchFamily="34" charset="0"/>
                <a:ea typeface="Roboto" pitchFamily="34" charset="-122"/>
                <a:cs typeface="Roboto" pitchFamily="34" charset="-120"/>
              </a:rPr>
              <a:t>Recommended intervention strategies</a:t>
            </a:r>
            <a:endParaRPr lang="en-US" sz="1150" dirty="0"/>
          </a:p>
        </p:txBody>
      </p:sp>
      <p:sp>
        <p:nvSpPr>
          <p:cNvPr id="61" name="Text 59"/>
          <p:cNvSpPr/>
          <p:nvPr/>
        </p:nvSpPr>
        <p:spPr>
          <a:xfrm>
            <a:off x="793790" y="6874312"/>
            <a:ext cx="13042821" cy="471488"/>
          </a:xfrm>
          <a:prstGeom prst="rect">
            <a:avLst/>
          </a:prstGeom>
          <a:noFill/>
          <a:ln/>
        </p:spPr>
        <p:txBody>
          <a:bodyPr wrap="squar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Value Proposition:</a:t>
            </a:r>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 Organizations move from guessing about adoption barriers to diagnosing them with psychometrically validated measurement, enabling targeted interventions instead of blanket training programs.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726162"/>
            <a:ext cx="8986957"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Theoretical Contributions to the Field</a:t>
            </a:r>
            <a:endParaRPr lang="en-US" sz="4000" dirty="0"/>
          </a:p>
        </p:txBody>
      </p:sp>
      <p:sp>
        <p:nvSpPr>
          <p:cNvPr id="3" name="Text 1"/>
          <p:cNvSpPr/>
          <p:nvPr/>
        </p:nvSpPr>
        <p:spPr>
          <a:xfrm>
            <a:off x="793790" y="1772364"/>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01</a:t>
            </a:r>
            <a:endParaRPr lang="en-US" sz="1600" dirty="0"/>
          </a:p>
        </p:txBody>
      </p:sp>
      <p:pic>
        <p:nvPicPr>
          <p:cNvPr id="4" name="Image 0" descr="preencoded.png">    </p:cNvPr>
          <p:cNvPicPr>
            <a:picLocks noChangeAspect="1"/>
          </p:cNvPicPr>
          <p:nvPr/>
        </p:nvPicPr>
        <p:blipFill>
          <a:blip r:embed="rId1"/>
          <a:stretch>
            <a:fillRect/>
          </a:stretch>
        </p:blipFill>
        <p:spPr>
          <a:xfrm>
            <a:off x="793790" y="2096333"/>
            <a:ext cx="6419374" cy="22860"/>
          </a:xfrm>
          <a:prstGeom prst="rect">
            <a:avLst/>
          </a:prstGeom>
        </p:spPr>
      </p:pic>
      <p:sp>
        <p:nvSpPr>
          <p:cNvPr id="5" name="Text 2"/>
          <p:cNvSpPr/>
          <p:nvPr/>
        </p:nvSpPr>
        <p:spPr>
          <a:xfrm>
            <a:off x="793790" y="2244090"/>
            <a:ext cx="4867275" cy="382786"/>
          </a:xfrm>
          <a:prstGeom prst="rect">
            <a:avLst/>
          </a:prstGeom>
          <a:noFill/>
          <a:ln/>
        </p:spPr>
        <p:txBody>
          <a:bodyPr wrap="none" lIns="0" tIns="0" rIns="0" bIns="0" rtlCol="0" anchor="t"/>
          <a:lstStyle/>
          <a:p>
            <a:pPr algn="l" indent="0" marL="0">
              <a:lnSpc>
                <a:spcPts val="3000"/>
              </a:lnSpc>
              <a:buNone/>
            </a:pPr>
            <a:r>
              <a:rPr lang="en-US" sz="2400" dirty="0">
                <a:solidFill>
                  <a:srgbClr val="15213F"/>
                </a:solidFill>
                <a:latin typeface="Roboto Slab" pitchFamily="34" charset="0"/>
                <a:ea typeface="Roboto Slab" pitchFamily="34" charset="-122"/>
                <a:cs typeface="Roboto Slab" pitchFamily="34" charset="-120"/>
              </a:rPr>
              <a:t>Value-Dominant Model Discovery</a:t>
            </a:r>
            <a:endParaRPr lang="en-US" sz="2400" dirty="0"/>
          </a:p>
        </p:txBody>
      </p:sp>
      <p:sp>
        <p:nvSpPr>
          <p:cNvPr id="6" name="Text 3"/>
          <p:cNvSpPr/>
          <p:nvPr/>
        </p:nvSpPr>
        <p:spPr>
          <a:xfrm>
            <a:off x="793790" y="2749272"/>
            <a:ext cx="6419374" cy="1960245"/>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Price Value (β = .505) dominates Performance Expectancy, reversing 30 years of technology acceptance findings where productivity expectations typically predict strongest. This suggests AI adoption operates through fundamentally different psychological mechanisms than traditional technology adoption—users evaluate total investment worth rather than productivity gains.</a:t>
            </a:r>
            <a:endParaRPr lang="en-US" sz="1600" dirty="0"/>
          </a:p>
        </p:txBody>
      </p:sp>
      <p:sp>
        <p:nvSpPr>
          <p:cNvPr id="7" name="Text 4"/>
          <p:cNvSpPr/>
          <p:nvPr/>
        </p:nvSpPr>
        <p:spPr>
          <a:xfrm>
            <a:off x="7417237" y="1772364"/>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02</a:t>
            </a:r>
            <a:endParaRPr lang="en-US" sz="1600" dirty="0"/>
          </a:p>
        </p:txBody>
      </p:sp>
      <p:pic>
        <p:nvPicPr>
          <p:cNvPr id="8" name="Image 1" descr="preencoded.png">    </p:cNvPr>
          <p:cNvPicPr>
            <a:picLocks noChangeAspect="1"/>
          </p:cNvPicPr>
          <p:nvPr/>
        </p:nvPicPr>
        <p:blipFill>
          <a:blip r:embed="rId2"/>
          <a:stretch>
            <a:fillRect/>
          </a:stretch>
        </p:blipFill>
        <p:spPr>
          <a:xfrm>
            <a:off x="7417237" y="2096333"/>
            <a:ext cx="6419374" cy="22860"/>
          </a:xfrm>
          <a:prstGeom prst="rect">
            <a:avLst/>
          </a:prstGeom>
        </p:spPr>
      </p:pic>
      <p:sp>
        <p:nvSpPr>
          <p:cNvPr id="9" name="Text 5"/>
          <p:cNvSpPr/>
          <p:nvPr/>
        </p:nvSpPr>
        <p:spPr>
          <a:xfrm>
            <a:off x="7417237" y="2244090"/>
            <a:ext cx="3941921" cy="382786"/>
          </a:xfrm>
          <a:prstGeom prst="rect">
            <a:avLst/>
          </a:prstGeom>
          <a:noFill/>
          <a:ln/>
        </p:spPr>
        <p:txBody>
          <a:bodyPr wrap="none" lIns="0" tIns="0" rIns="0" bIns="0" rtlCol="0" anchor="t"/>
          <a:lstStyle/>
          <a:p>
            <a:pPr algn="l" indent="0" marL="0">
              <a:lnSpc>
                <a:spcPts val="3000"/>
              </a:lnSpc>
              <a:buNone/>
            </a:pPr>
            <a:r>
              <a:rPr lang="en-US" sz="2400" dirty="0">
                <a:solidFill>
                  <a:srgbClr val="15213F"/>
                </a:solidFill>
                <a:latin typeface="Roboto Slab" pitchFamily="34" charset="0"/>
                <a:ea typeface="Roboto Slab" pitchFamily="34" charset="-122"/>
                <a:cs typeface="Roboto Slab" pitchFamily="34" charset="-120"/>
              </a:rPr>
              <a:t>Established Constructs Fail</a:t>
            </a:r>
            <a:endParaRPr lang="en-US" sz="2400" dirty="0"/>
          </a:p>
        </p:txBody>
      </p:sp>
      <p:sp>
        <p:nvSpPr>
          <p:cNvPr id="10" name="Text 6"/>
          <p:cNvSpPr/>
          <p:nvPr/>
        </p:nvSpPr>
        <p:spPr>
          <a:xfrm>
            <a:off x="7417237" y="2749272"/>
            <a:ext cx="6419374" cy="1960245"/>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Performance Expectancy, Effort Expectancy, Facilitating Conditions, and Habit demonstrate no significant predictive power for AI adoption. These constructs have been foundational to technology acceptance research since the 1980s. Their failure for AI challenges core theoretical assumptions about what drives technology adoption and signals the need for AI-specific theoretical frameworks.</a:t>
            </a:r>
            <a:endParaRPr lang="en-US" sz="1600" dirty="0"/>
          </a:p>
        </p:txBody>
      </p:sp>
      <p:sp>
        <p:nvSpPr>
          <p:cNvPr id="11" name="Text 7"/>
          <p:cNvSpPr/>
          <p:nvPr/>
        </p:nvSpPr>
        <p:spPr>
          <a:xfrm>
            <a:off x="793790" y="5066586"/>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03</a:t>
            </a:r>
            <a:endParaRPr lang="en-US" sz="1600" dirty="0"/>
          </a:p>
        </p:txBody>
      </p:sp>
      <p:pic>
        <p:nvPicPr>
          <p:cNvPr id="12" name="Image 2" descr="preencoded.png">    </p:cNvPr>
          <p:cNvPicPr>
            <a:picLocks noChangeAspect="1"/>
          </p:cNvPicPr>
          <p:nvPr/>
        </p:nvPicPr>
        <p:blipFill>
          <a:blip r:embed="rId3"/>
          <a:stretch>
            <a:fillRect/>
          </a:stretch>
        </p:blipFill>
        <p:spPr>
          <a:xfrm>
            <a:off x="793790" y="5370195"/>
            <a:ext cx="6419374" cy="22860"/>
          </a:xfrm>
          <a:prstGeom prst="rect">
            <a:avLst/>
          </a:prstGeom>
        </p:spPr>
      </p:pic>
      <p:sp>
        <p:nvSpPr>
          <p:cNvPr id="13" name="Text 8"/>
          <p:cNvSpPr/>
          <p:nvPr/>
        </p:nvSpPr>
        <p:spPr>
          <a:xfrm>
            <a:off x="793790" y="5538311"/>
            <a:ext cx="4719042" cy="382786"/>
          </a:xfrm>
          <a:prstGeom prst="rect">
            <a:avLst/>
          </a:prstGeom>
          <a:noFill/>
          <a:ln/>
        </p:spPr>
        <p:txBody>
          <a:bodyPr wrap="none" lIns="0" tIns="0" rIns="0" bIns="0" rtlCol="0" anchor="t"/>
          <a:lstStyle/>
          <a:p>
            <a:pPr algn="l" indent="0" marL="0">
              <a:lnSpc>
                <a:spcPts val="3000"/>
              </a:lnSpc>
              <a:buNone/>
            </a:pPr>
            <a:r>
              <a:rPr lang="en-US" sz="2400" dirty="0">
                <a:solidFill>
                  <a:srgbClr val="15213F"/>
                </a:solidFill>
                <a:latin typeface="Roboto Slab" pitchFamily="34" charset="0"/>
                <a:ea typeface="Roboto Slab" pitchFamily="34" charset="-122"/>
                <a:cs typeface="Roboto Slab" pitchFamily="34" charset="-120"/>
              </a:rPr>
              <a:t>AI Trust as Diagnostic Extension</a:t>
            </a:r>
            <a:endParaRPr lang="en-US" sz="2400" dirty="0"/>
          </a:p>
        </p:txBody>
      </p:sp>
      <p:sp>
        <p:nvSpPr>
          <p:cNvPr id="14" name="Text 9"/>
          <p:cNvSpPr/>
          <p:nvPr/>
        </p:nvSpPr>
        <p:spPr>
          <a:xfrm>
            <a:off x="793790" y="604349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While AI Trust shows marginal predictive effect (p = .064), it provides essential diagnostic value for identifying trust-deficient user segments requiring specialized interventions. This demonstrates the distinction between predictive and diagnostic utility in applied research contexts.</a:t>
            </a:r>
            <a:endParaRPr lang="en-US" sz="1600" dirty="0"/>
          </a:p>
        </p:txBody>
      </p:sp>
      <p:sp>
        <p:nvSpPr>
          <p:cNvPr id="15" name="Text 10"/>
          <p:cNvSpPr/>
          <p:nvPr/>
        </p:nvSpPr>
        <p:spPr>
          <a:xfrm>
            <a:off x="7417237" y="5066586"/>
            <a:ext cx="204073" cy="255151"/>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Slab Light" pitchFamily="34" charset="0"/>
                <a:ea typeface="Roboto Slab Light" pitchFamily="34" charset="-122"/>
                <a:cs typeface="Roboto Slab Light" pitchFamily="34" charset="-120"/>
              </a:rPr>
              <a:t>04</a:t>
            </a:r>
            <a:endParaRPr lang="en-US" sz="1600" dirty="0"/>
          </a:p>
        </p:txBody>
      </p:sp>
      <p:pic>
        <p:nvPicPr>
          <p:cNvPr id="16" name="Image 3" descr="preencoded.png">    </p:cNvPr>
          <p:cNvPicPr>
            <a:picLocks noChangeAspect="1"/>
          </p:cNvPicPr>
          <p:nvPr/>
        </p:nvPicPr>
        <p:blipFill>
          <a:blip r:embed="rId4"/>
          <a:stretch>
            <a:fillRect/>
          </a:stretch>
        </p:blipFill>
        <p:spPr>
          <a:xfrm>
            <a:off x="7417237" y="5370195"/>
            <a:ext cx="6419374" cy="22860"/>
          </a:xfrm>
          <a:prstGeom prst="rect">
            <a:avLst/>
          </a:prstGeom>
        </p:spPr>
      </p:pic>
      <p:sp>
        <p:nvSpPr>
          <p:cNvPr id="17" name="Text 11"/>
          <p:cNvSpPr/>
          <p:nvPr/>
        </p:nvSpPr>
        <p:spPr>
          <a:xfrm>
            <a:off x="7417237" y="5538311"/>
            <a:ext cx="5294948" cy="382786"/>
          </a:xfrm>
          <a:prstGeom prst="rect">
            <a:avLst/>
          </a:prstGeom>
          <a:noFill/>
          <a:ln/>
        </p:spPr>
        <p:txBody>
          <a:bodyPr wrap="none" lIns="0" tIns="0" rIns="0" bIns="0" rtlCol="0" anchor="t"/>
          <a:lstStyle/>
          <a:p>
            <a:pPr algn="l" indent="0" marL="0">
              <a:lnSpc>
                <a:spcPts val="3000"/>
              </a:lnSpc>
              <a:buNone/>
            </a:pPr>
            <a:r>
              <a:rPr lang="en-US" sz="2400" dirty="0">
                <a:solidFill>
                  <a:srgbClr val="15213F"/>
                </a:solidFill>
                <a:latin typeface="Roboto Slab" pitchFamily="34" charset="0"/>
                <a:ea typeface="Roboto Slab" pitchFamily="34" charset="-122"/>
                <a:cs typeface="Roboto Slab" pitchFamily="34" charset="-120"/>
              </a:rPr>
              <a:t>Measurement Science Advancement</a:t>
            </a:r>
            <a:endParaRPr lang="en-US" sz="2400" dirty="0"/>
          </a:p>
        </p:txBody>
      </p:sp>
      <p:sp>
        <p:nvSpPr>
          <p:cNvPr id="18" name="Text 12"/>
          <p:cNvSpPr/>
          <p:nvPr/>
        </p:nvSpPr>
        <p:spPr>
          <a:xfrm>
            <a:off x="7417237" y="6043493"/>
            <a:ext cx="6419374" cy="1306830"/>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AIRS-16 represents the first psychometrically validated instrument specifically designed for AI adoption readiness assessment, with demonstrated configural invariance across academic and professional populations. This fills a critical measurement gap in the literature.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046798"/>
            <a:ext cx="8209359" cy="531614"/>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Practical Contributions for Organizations</a:t>
            </a:r>
            <a:endParaRPr lang="en-US" sz="3300" dirty="0"/>
          </a:p>
        </p:txBody>
      </p:sp>
      <p:sp>
        <p:nvSpPr>
          <p:cNvPr id="3" name="Shape 1"/>
          <p:cNvSpPr/>
          <p:nvPr/>
        </p:nvSpPr>
        <p:spPr>
          <a:xfrm>
            <a:off x="793790" y="1918573"/>
            <a:ext cx="6436400" cy="2870240"/>
          </a:xfrm>
          <a:prstGeom prst="roundRect">
            <a:avLst>
              <a:gd name="adj" fmla="val 889"/>
            </a:avLst>
          </a:prstGeom>
          <a:solidFill>
            <a:srgbClr val="3257B8"/>
          </a:solidFill>
          <a:ln/>
        </p:spPr>
      </p:sp>
      <p:sp>
        <p:nvSpPr>
          <p:cNvPr id="4" name="Text 2"/>
          <p:cNvSpPr/>
          <p:nvPr/>
        </p:nvSpPr>
        <p:spPr>
          <a:xfrm>
            <a:off x="963811" y="2088594"/>
            <a:ext cx="4206359" cy="318849"/>
          </a:xfrm>
          <a:prstGeom prst="rect">
            <a:avLst/>
          </a:prstGeom>
          <a:noFill/>
          <a:ln/>
        </p:spPr>
        <p:txBody>
          <a:bodyPr wrap="none" lIns="0" tIns="0" rIns="0" bIns="0" rtlCol="0" anchor="t"/>
          <a:lstStyle/>
          <a:p>
            <a:pPr algn="l" indent="0" marL="0">
              <a:lnSpc>
                <a:spcPts val="2500"/>
              </a:lnSpc>
              <a:buNone/>
            </a:pPr>
            <a:r>
              <a:rPr lang="en-US" sz="2000" dirty="0">
                <a:solidFill>
                  <a:srgbClr val="FFFFFF"/>
                </a:solidFill>
                <a:latin typeface="Roboto Slab" pitchFamily="34" charset="0"/>
                <a:ea typeface="Roboto Slab" pitchFamily="34" charset="-122"/>
                <a:cs typeface="Roboto Slab" pitchFamily="34" charset="-120"/>
              </a:rPr>
              <a:t>1. Lead with Value, Not Capabilities</a:t>
            </a:r>
            <a:endParaRPr lang="en-US" sz="2000" dirty="0"/>
          </a:p>
        </p:txBody>
      </p:sp>
      <p:sp>
        <p:nvSpPr>
          <p:cNvPr id="5" name="Text 3"/>
          <p:cNvSpPr/>
          <p:nvPr/>
        </p:nvSpPr>
        <p:spPr>
          <a:xfrm>
            <a:off x="963811" y="2509480"/>
            <a:ext cx="6096357" cy="544354"/>
          </a:xfrm>
          <a:prstGeom prst="rect">
            <a:avLst/>
          </a:prstGeom>
          <a:noFill/>
          <a:ln/>
        </p:spPr>
        <p:txBody>
          <a:bodyPr wrap="square" lIns="0" tIns="0" rIns="0" bIns="0" rtlCol="0" anchor="t"/>
          <a:lstStyle/>
          <a:p>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Stop beginning AI initiatives with feature demonstrations. Start by articulating total value proposition.</a:t>
            </a:r>
            <a:endParaRPr lang="en-US" sz="1300" dirty="0"/>
          </a:p>
        </p:txBody>
      </p:sp>
      <p:sp>
        <p:nvSpPr>
          <p:cNvPr id="6" name="Text 4"/>
          <p:cNvSpPr/>
          <p:nvPr/>
        </p:nvSpPr>
        <p:spPr>
          <a:xfrm>
            <a:off x="963811" y="3155871"/>
            <a:ext cx="6096357" cy="816531"/>
          </a:xfrm>
          <a:prstGeom prst="rect">
            <a:avLst/>
          </a:prstGeom>
          <a:noFill/>
          <a:ln/>
        </p:spPr>
        <p:txBody>
          <a:bodyPr wrap="square" lIns="0" tIns="0" rIns="0" bIns="0" rtlCol="0" anchor="t"/>
          <a:lstStyle/>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What to address:</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Direct costs (licensing, infrastructure), indirect costs (learning curve, workflow disruption), hidden costs (privacy risks, vendor lock-in), and opportunity costs (time diverted from current productive work).</a:t>
            </a:r>
            <a:endParaRPr lang="en-US" sz="1300" dirty="0"/>
          </a:p>
        </p:txBody>
      </p:sp>
      <p:sp>
        <p:nvSpPr>
          <p:cNvPr id="7" name="Text 5"/>
          <p:cNvSpPr/>
          <p:nvPr/>
        </p:nvSpPr>
        <p:spPr>
          <a:xfrm>
            <a:off x="963811" y="4074438"/>
            <a:ext cx="6096357" cy="544354"/>
          </a:xfrm>
          <a:prstGeom prst="rect">
            <a:avLst/>
          </a:prstGeom>
          <a:noFill/>
          <a:ln/>
        </p:spPr>
        <p:txBody>
          <a:bodyPr wrap="square" lIns="0" tIns="0" rIns="0" bIns="0" rtlCol="0" anchor="t"/>
          <a:lstStyle/>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Users are asking:</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"Is the total value I'll receive worth the total investment I must make?" Answer this question explicitly.</a:t>
            </a:r>
            <a:endParaRPr lang="en-US" sz="1300" dirty="0"/>
          </a:p>
        </p:txBody>
      </p:sp>
      <p:sp>
        <p:nvSpPr>
          <p:cNvPr id="8" name="Shape 6"/>
          <p:cNvSpPr/>
          <p:nvPr/>
        </p:nvSpPr>
        <p:spPr>
          <a:xfrm>
            <a:off x="7400211" y="1918573"/>
            <a:ext cx="6436400" cy="2870240"/>
          </a:xfrm>
          <a:prstGeom prst="roundRect">
            <a:avLst>
              <a:gd name="adj" fmla="val 889"/>
            </a:avLst>
          </a:prstGeom>
          <a:solidFill>
            <a:srgbClr val="3257B8"/>
          </a:solidFill>
          <a:ln/>
        </p:spPr>
      </p:sp>
      <p:sp>
        <p:nvSpPr>
          <p:cNvPr id="9" name="Text 7"/>
          <p:cNvSpPr/>
          <p:nvPr/>
        </p:nvSpPr>
        <p:spPr>
          <a:xfrm>
            <a:off x="7570232" y="2088594"/>
            <a:ext cx="4829770" cy="318849"/>
          </a:xfrm>
          <a:prstGeom prst="rect">
            <a:avLst/>
          </a:prstGeom>
          <a:noFill/>
          <a:ln/>
        </p:spPr>
        <p:txBody>
          <a:bodyPr wrap="none" lIns="0" tIns="0" rIns="0" bIns="0" rtlCol="0" anchor="t"/>
          <a:lstStyle/>
          <a:p>
            <a:pPr algn="l" indent="0" marL="0">
              <a:lnSpc>
                <a:spcPts val="2500"/>
              </a:lnSpc>
              <a:buNone/>
            </a:pPr>
            <a:r>
              <a:rPr lang="en-US" sz="2000" dirty="0">
                <a:solidFill>
                  <a:srgbClr val="FFFFFF"/>
                </a:solidFill>
                <a:latin typeface="Roboto Slab" pitchFamily="34" charset="0"/>
                <a:ea typeface="Roboto Slab" pitchFamily="34" charset="-122"/>
                <a:cs typeface="Roboto Slab" pitchFamily="34" charset="-120"/>
              </a:rPr>
              <a:t>2. Segment-Specific Intervention Design</a:t>
            </a:r>
            <a:endParaRPr lang="en-US" sz="2000" dirty="0"/>
          </a:p>
        </p:txBody>
      </p:sp>
      <p:sp>
        <p:nvSpPr>
          <p:cNvPr id="10" name="Text 8"/>
          <p:cNvSpPr/>
          <p:nvPr/>
        </p:nvSpPr>
        <p:spPr>
          <a:xfrm>
            <a:off x="7570232" y="2509480"/>
            <a:ext cx="6096357" cy="544354"/>
          </a:xfrm>
          <a:prstGeom prst="rect">
            <a:avLst/>
          </a:prstGeom>
          <a:noFill/>
          <a:ln/>
        </p:spPr>
        <p:txBody>
          <a:bodyPr wrap="square" lIns="0" tIns="0" rIns="0" bIns="0" rtlCol="0" anchor="t"/>
          <a:lstStyle/>
          <a:p>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Abandon one-size-fits-all training programs. Workforce AI adoption readiness is not uniform.</a:t>
            </a:r>
            <a:endParaRPr lang="en-US" sz="1300" dirty="0"/>
          </a:p>
        </p:txBody>
      </p:sp>
      <p:sp>
        <p:nvSpPr>
          <p:cNvPr id="11" name="Text 9"/>
          <p:cNvSpPr/>
          <p:nvPr/>
        </p:nvSpPr>
        <p:spPr>
          <a:xfrm>
            <a:off x="7570232" y="3155871"/>
            <a:ext cx="6096357" cy="1088708"/>
          </a:xfrm>
          <a:prstGeom prst="rect">
            <a:avLst/>
          </a:prstGeom>
          <a:noFill/>
          <a:ln/>
        </p:spPr>
        <p:txBody>
          <a:bodyPr wrap="square" lIns="0" tIns="0" rIns="0" bIns="0" rtlCol="0" anchor="t"/>
          <a:lstStyle/>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Enthusiasts (16%):</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Early access programs; leverage as evangelists</a:t>
            </a:r>
            <a:endParaRPr lang="en-US" sz="1300" dirty="0"/>
          </a:p>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Cautious Adopters (30%):</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Case studies, ROI calculators, pilot programs</a:t>
            </a:r>
            <a:endParaRPr lang="en-US" sz="1300" dirty="0"/>
          </a:p>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Moderate Users (37%):</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Reduce friction, demonstrate peer adoption</a:t>
            </a:r>
            <a:endParaRPr lang="en-US" sz="1300" dirty="0"/>
          </a:p>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Anxious Avoiders (17%):</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Trust-building before feature exposure</a:t>
            </a:r>
            <a:endParaRPr lang="en-US" sz="1300" dirty="0"/>
          </a:p>
        </p:txBody>
      </p:sp>
      <p:sp>
        <p:nvSpPr>
          <p:cNvPr id="12" name="Shape 10"/>
          <p:cNvSpPr/>
          <p:nvPr/>
        </p:nvSpPr>
        <p:spPr>
          <a:xfrm>
            <a:off x="793790" y="4958834"/>
            <a:ext cx="6436400" cy="2223849"/>
          </a:xfrm>
          <a:prstGeom prst="roundRect">
            <a:avLst>
              <a:gd name="adj" fmla="val 1147"/>
            </a:avLst>
          </a:prstGeom>
          <a:solidFill>
            <a:srgbClr val="3257B8"/>
          </a:solidFill>
          <a:ln/>
        </p:spPr>
      </p:sp>
      <p:sp>
        <p:nvSpPr>
          <p:cNvPr id="13" name="Text 11"/>
          <p:cNvSpPr/>
          <p:nvPr/>
        </p:nvSpPr>
        <p:spPr>
          <a:xfrm>
            <a:off x="963811" y="5128855"/>
            <a:ext cx="4808101" cy="318849"/>
          </a:xfrm>
          <a:prstGeom prst="rect">
            <a:avLst/>
          </a:prstGeom>
          <a:noFill/>
          <a:ln/>
        </p:spPr>
        <p:txBody>
          <a:bodyPr wrap="none" lIns="0" tIns="0" rIns="0" bIns="0" rtlCol="0" anchor="t"/>
          <a:lstStyle/>
          <a:p>
            <a:pPr algn="l" indent="0" marL="0">
              <a:lnSpc>
                <a:spcPts val="2500"/>
              </a:lnSpc>
              <a:buNone/>
            </a:pPr>
            <a:r>
              <a:rPr lang="en-US" sz="2000" dirty="0">
                <a:solidFill>
                  <a:srgbClr val="FFFFFF"/>
                </a:solidFill>
                <a:latin typeface="Roboto Slab" pitchFamily="34" charset="0"/>
                <a:ea typeface="Roboto Slab" pitchFamily="34" charset="-122"/>
                <a:cs typeface="Roboto Slab" pitchFamily="34" charset="-120"/>
              </a:rPr>
              <a:t>3. Diagnostic Assessment Infrastructure</a:t>
            </a:r>
            <a:endParaRPr lang="en-US" sz="2000" dirty="0"/>
          </a:p>
        </p:txBody>
      </p:sp>
      <p:sp>
        <p:nvSpPr>
          <p:cNvPr id="14" name="Text 12"/>
          <p:cNvSpPr/>
          <p:nvPr/>
        </p:nvSpPr>
        <p:spPr>
          <a:xfrm>
            <a:off x="963811" y="5549741"/>
            <a:ext cx="6096357" cy="544354"/>
          </a:xfrm>
          <a:prstGeom prst="rect">
            <a:avLst/>
          </a:prstGeom>
          <a:noFill/>
          <a:ln/>
        </p:spPr>
        <p:txBody>
          <a:bodyPr wrap="square" lIns="0" tIns="0" rIns="0" bIns="0" rtlCol="0" anchor="t"/>
          <a:lstStyle/>
          <a:p>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Implement AIRS-16 assessment (3 minutes) to identify specific barriers at individual, team, and organizational levels.</a:t>
            </a:r>
            <a:endParaRPr lang="en-US" sz="1300" dirty="0"/>
          </a:p>
        </p:txBody>
      </p:sp>
      <p:sp>
        <p:nvSpPr>
          <p:cNvPr id="15" name="Text 13"/>
          <p:cNvSpPr/>
          <p:nvPr/>
        </p:nvSpPr>
        <p:spPr>
          <a:xfrm>
            <a:off x="963811" y="6196132"/>
            <a:ext cx="6096357" cy="816531"/>
          </a:xfrm>
          <a:prstGeom prst="rect">
            <a:avLst/>
          </a:prstGeom>
          <a:noFill/>
          <a:ln/>
        </p:spPr>
        <p:txBody>
          <a:bodyPr wrap="square" lIns="0" tIns="0" rIns="0" bIns="0" rtlCol="0" anchor="t"/>
          <a:lstStyle/>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Enables:</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Targeted resource allocation, intervention customization, progress tracking, and evidence-based adoption strategies rather than intuition-based approaches.</a:t>
            </a:r>
            <a:endParaRPr lang="en-US" sz="1300" dirty="0"/>
          </a:p>
        </p:txBody>
      </p:sp>
      <p:sp>
        <p:nvSpPr>
          <p:cNvPr id="16" name="Shape 14"/>
          <p:cNvSpPr/>
          <p:nvPr/>
        </p:nvSpPr>
        <p:spPr>
          <a:xfrm>
            <a:off x="7400211" y="4958834"/>
            <a:ext cx="6436400" cy="2223849"/>
          </a:xfrm>
          <a:prstGeom prst="roundRect">
            <a:avLst>
              <a:gd name="adj" fmla="val 1147"/>
            </a:avLst>
          </a:prstGeom>
          <a:solidFill>
            <a:srgbClr val="3257B8"/>
          </a:solidFill>
          <a:ln/>
        </p:spPr>
      </p:sp>
      <p:sp>
        <p:nvSpPr>
          <p:cNvPr id="17" name="Text 15"/>
          <p:cNvSpPr/>
          <p:nvPr/>
        </p:nvSpPr>
        <p:spPr>
          <a:xfrm>
            <a:off x="7570232" y="5128855"/>
            <a:ext cx="3927634" cy="318849"/>
          </a:xfrm>
          <a:prstGeom prst="rect">
            <a:avLst/>
          </a:prstGeom>
          <a:noFill/>
          <a:ln/>
        </p:spPr>
        <p:txBody>
          <a:bodyPr wrap="none" lIns="0" tIns="0" rIns="0" bIns="0" rtlCol="0" anchor="t"/>
          <a:lstStyle/>
          <a:p>
            <a:pPr algn="l" indent="0" marL="0">
              <a:lnSpc>
                <a:spcPts val="2500"/>
              </a:lnSpc>
              <a:buNone/>
            </a:pPr>
            <a:r>
              <a:rPr lang="en-US" sz="2000" dirty="0">
                <a:solidFill>
                  <a:srgbClr val="FFFFFF"/>
                </a:solidFill>
                <a:latin typeface="Roboto Slab" pitchFamily="34" charset="0"/>
                <a:ea typeface="Roboto Slab" pitchFamily="34" charset="-122"/>
                <a:cs typeface="Roboto Slab" pitchFamily="34" charset="-120"/>
              </a:rPr>
              <a:t>4. Trust as Adoption Prerequisite</a:t>
            </a:r>
            <a:endParaRPr lang="en-US" sz="2000" dirty="0"/>
          </a:p>
        </p:txBody>
      </p:sp>
      <p:sp>
        <p:nvSpPr>
          <p:cNvPr id="18" name="Text 16"/>
          <p:cNvSpPr/>
          <p:nvPr/>
        </p:nvSpPr>
        <p:spPr>
          <a:xfrm>
            <a:off x="7570232" y="5549741"/>
            <a:ext cx="6096357" cy="544354"/>
          </a:xfrm>
          <a:prstGeom prst="rect">
            <a:avLst/>
          </a:prstGeom>
          <a:noFill/>
          <a:ln/>
        </p:spPr>
        <p:txBody>
          <a:bodyPr wrap="square" lIns="0" tIns="0" rIns="0" bIns="0" rtlCol="0" anchor="t"/>
          <a:lstStyle/>
          <a:p>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17% of potential users have trust barriers blocking AI adoption. For this segment, feature demonstrations and productivity claims are ineffective.</a:t>
            </a:r>
            <a:endParaRPr lang="en-US" sz="1300" dirty="0"/>
          </a:p>
        </p:txBody>
      </p:sp>
      <p:sp>
        <p:nvSpPr>
          <p:cNvPr id="19" name="Text 17"/>
          <p:cNvSpPr/>
          <p:nvPr/>
        </p:nvSpPr>
        <p:spPr>
          <a:xfrm>
            <a:off x="7570232" y="6196132"/>
            <a:ext cx="6096357" cy="816531"/>
          </a:xfrm>
          <a:prstGeom prst="rect">
            <a:avLst/>
          </a:prstGeom>
          <a:noFill/>
          <a:ln/>
        </p:spPr>
        <p:txBody>
          <a:bodyPr wrap="square" lIns="0" tIns="0" rIns="0" bIns="0" rtlCol="0" anchor="t"/>
          <a:lstStyle/>
          <a:p>
            <a:pPr algn="l" indent="0" marL="0">
              <a:lnSpc>
                <a:spcPts val="2100"/>
              </a:lnSpc>
              <a:buNone/>
            </a:pPr>
            <a:r>
              <a:rPr lang="en-US" sz="1300" b="1" dirty="0">
                <a:solidFill>
                  <a:srgbClr val="FFFFFF"/>
                </a:solidFill>
                <a:latin typeface="Roboto" pitchFamily="34" charset="0"/>
                <a:ea typeface="Roboto" pitchFamily="34" charset="-122"/>
                <a:cs typeface="Roboto" pitchFamily="34" charset="-120"/>
              </a:rPr>
              <a:t>Required first:</a:t>
            </a:r>
            <a:pPr algn="l" indent="0" marL="0">
              <a:lnSpc>
                <a:spcPts val="2100"/>
              </a:lnSpc>
              <a:buNone/>
            </a:pPr>
            <a:r>
              <a:rPr lang="en-US" sz="1300" dirty="0">
                <a:solidFill>
                  <a:srgbClr val="FFFFFF"/>
                </a:solidFill>
                <a:latin typeface="Roboto" pitchFamily="34" charset="0"/>
                <a:ea typeface="Roboto" pitchFamily="34" charset="-122"/>
                <a:cs typeface="Roboto" pitchFamily="34" charset="-120"/>
              </a:rPr>
              <a:t> Transparency about AI limitations, control mechanisms, explainability features, and addressing ethical concerns. Only after establishing trust foundation can organizations productively discuss AI capabilities.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796409"/>
            <a:ext cx="6383893"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Study Limitations and Boundaries</a:t>
            </a:r>
            <a:endParaRPr lang="en-US" sz="3100" dirty="0"/>
          </a:p>
        </p:txBody>
      </p:sp>
      <p:sp>
        <p:nvSpPr>
          <p:cNvPr id="3" name="Shape 1"/>
          <p:cNvSpPr/>
          <p:nvPr/>
        </p:nvSpPr>
        <p:spPr>
          <a:xfrm>
            <a:off x="793790" y="1610082"/>
            <a:ext cx="13042821" cy="5823109"/>
          </a:xfrm>
          <a:prstGeom prst="roundRect">
            <a:avLst>
              <a:gd name="adj" fmla="val 409"/>
            </a:avLst>
          </a:prstGeom>
          <a:noFill/>
          <a:ln w="7620">
            <a:solidFill>
              <a:srgbClr val="000000">
                <a:alpha val="8000"/>
              </a:srgbClr>
            </a:solidFill>
            <a:prstDash val="solid"/>
          </a:ln>
        </p:spPr>
      </p:sp>
      <p:sp>
        <p:nvSpPr>
          <p:cNvPr id="4" name="Shape 2"/>
          <p:cNvSpPr/>
          <p:nvPr/>
        </p:nvSpPr>
        <p:spPr>
          <a:xfrm>
            <a:off x="801410" y="1617702"/>
            <a:ext cx="13027581" cy="459819"/>
          </a:xfrm>
          <a:prstGeom prst="rect">
            <a:avLst/>
          </a:prstGeom>
          <a:solidFill>
            <a:srgbClr val="FFFFFF">
              <a:alpha val="4000"/>
            </a:srgbClr>
          </a:solidFill>
          <a:ln/>
        </p:spPr>
      </p:sp>
      <p:sp>
        <p:nvSpPr>
          <p:cNvPr id="5" name="Text 3"/>
          <p:cNvSpPr/>
          <p:nvPr/>
        </p:nvSpPr>
        <p:spPr>
          <a:xfrm>
            <a:off x="960239" y="1720572"/>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Limitation</a:t>
            </a:r>
            <a:endParaRPr lang="en-US" sz="1250" dirty="0"/>
          </a:p>
        </p:txBody>
      </p:sp>
      <p:sp>
        <p:nvSpPr>
          <p:cNvPr id="6" name="Text 4"/>
          <p:cNvSpPr/>
          <p:nvPr/>
        </p:nvSpPr>
        <p:spPr>
          <a:xfrm>
            <a:off x="4872276" y="1720572"/>
            <a:ext cx="4234577"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Impact</a:t>
            </a:r>
            <a:endParaRPr lang="en-US" sz="1250" dirty="0"/>
          </a:p>
        </p:txBody>
      </p:sp>
      <p:sp>
        <p:nvSpPr>
          <p:cNvPr id="7" name="Text 5"/>
          <p:cNvSpPr/>
          <p:nvPr/>
        </p:nvSpPr>
        <p:spPr>
          <a:xfrm>
            <a:off x="9431893" y="1720572"/>
            <a:ext cx="4238387"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Mitigation Strategy</a:t>
            </a:r>
            <a:endParaRPr lang="en-US" sz="1250" dirty="0"/>
          </a:p>
        </p:txBody>
      </p:sp>
      <p:sp>
        <p:nvSpPr>
          <p:cNvPr id="8" name="Shape 6"/>
          <p:cNvSpPr/>
          <p:nvPr/>
        </p:nvSpPr>
        <p:spPr>
          <a:xfrm>
            <a:off x="801410" y="2077522"/>
            <a:ext cx="13027581" cy="967978"/>
          </a:xfrm>
          <a:prstGeom prst="rect">
            <a:avLst/>
          </a:prstGeom>
          <a:solidFill>
            <a:srgbClr val="000000">
              <a:alpha val="4000"/>
            </a:srgbClr>
          </a:solidFill>
          <a:ln/>
        </p:spPr>
      </p:sp>
      <p:sp>
        <p:nvSpPr>
          <p:cNvPr id="9" name="Text 7"/>
          <p:cNvSpPr/>
          <p:nvPr/>
        </p:nvSpPr>
        <p:spPr>
          <a:xfrm>
            <a:off x="960239" y="2180392"/>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Cross-Sectional Design</a:t>
            </a:r>
            <a:endParaRPr lang="en-US" sz="1250" dirty="0"/>
          </a:p>
        </p:txBody>
      </p:sp>
      <p:sp>
        <p:nvSpPr>
          <p:cNvPr id="10" name="Text 8"/>
          <p:cNvSpPr/>
          <p:nvPr/>
        </p:nvSpPr>
        <p:spPr>
          <a:xfrm>
            <a:off x="4872276" y="2180392"/>
            <a:ext cx="4234577"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Cannot establish causality; can only demonstrate correlation between constructs and behavioral intention</a:t>
            </a:r>
            <a:endParaRPr lang="en-US" sz="1250" dirty="0"/>
          </a:p>
        </p:txBody>
      </p:sp>
      <p:sp>
        <p:nvSpPr>
          <p:cNvPr id="11" name="Text 9"/>
          <p:cNvSpPr/>
          <p:nvPr/>
        </p:nvSpPr>
        <p:spPr>
          <a:xfrm>
            <a:off x="9431893" y="2180392"/>
            <a:ext cx="4238387" cy="76223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Longitudinal follow-up studies tracking actual adoption behavior over time are necessary to confirm causal relationships</a:t>
            </a:r>
            <a:endParaRPr lang="en-US" sz="1250" dirty="0"/>
          </a:p>
        </p:txBody>
      </p:sp>
      <p:sp>
        <p:nvSpPr>
          <p:cNvPr id="12" name="Shape 10"/>
          <p:cNvSpPr/>
          <p:nvPr/>
        </p:nvSpPr>
        <p:spPr>
          <a:xfrm>
            <a:off x="801410" y="3045500"/>
            <a:ext cx="13027581" cy="1222058"/>
          </a:xfrm>
          <a:prstGeom prst="rect">
            <a:avLst/>
          </a:prstGeom>
          <a:solidFill>
            <a:srgbClr val="FFFFFF">
              <a:alpha val="4000"/>
            </a:srgbClr>
          </a:solidFill>
          <a:ln/>
        </p:spPr>
      </p:sp>
      <p:sp>
        <p:nvSpPr>
          <p:cNvPr id="13" name="Text 11"/>
          <p:cNvSpPr/>
          <p:nvPr/>
        </p:nvSpPr>
        <p:spPr>
          <a:xfrm>
            <a:off x="960239" y="3148370"/>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Self-Reported Measures</a:t>
            </a:r>
            <a:endParaRPr lang="en-US" sz="1250" dirty="0"/>
          </a:p>
        </p:txBody>
      </p:sp>
      <p:sp>
        <p:nvSpPr>
          <p:cNvPr id="14" name="Text 12"/>
          <p:cNvSpPr/>
          <p:nvPr/>
        </p:nvSpPr>
        <p:spPr>
          <a:xfrm>
            <a:off x="4872276" y="3148370"/>
            <a:ext cx="4234577"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Behavioral intention may not perfectly predict actual usage behavior</a:t>
            </a:r>
            <a:endParaRPr lang="en-US" sz="1250" dirty="0"/>
          </a:p>
        </p:txBody>
      </p:sp>
      <p:sp>
        <p:nvSpPr>
          <p:cNvPr id="15" name="Text 13"/>
          <p:cNvSpPr/>
          <p:nvPr/>
        </p:nvSpPr>
        <p:spPr>
          <a:xfrm>
            <a:off x="9431893" y="3148370"/>
            <a:ext cx="4238387" cy="101631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Validated against actual AI usage (ρ = .69), providing strong evidence that intentions predict behavior. However, behavioral observation studies would strengthen conclusions.</a:t>
            </a:r>
            <a:endParaRPr lang="en-US" sz="1250" dirty="0"/>
          </a:p>
        </p:txBody>
      </p:sp>
      <p:sp>
        <p:nvSpPr>
          <p:cNvPr id="16" name="Shape 14"/>
          <p:cNvSpPr/>
          <p:nvPr/>
        </p:nvSpPr>
        <p:spPr>
          <a:xfrm>
            <a:off x="801410" y="4267557"/>
            <a:ext cx="13027581" cy="1222058"/>
          </a:xfrm>
          <a:prstGeom prst="rect">
            <a:avLst/>
          </a:prstGeom>
          <a:solidFill>
            <a:srgbClr val="000000">
              <a:alpha val="4000"/>
            </a:srgbClr>
          </a:solidFill>
          <a:ln/>
        </p:spPr>
      </p:sp>
      <p:sp>
        <p:nvSpPr>
          <p:cNvPr id="17" name="Text 15"/>
          <p:cNvSpPr/>
          <p:nvPr/>
        </p:nvSpPr>
        <p:spPr>
          <a:xfrm>
            <a:off x="960239" y="4370427"/>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Convenience Sample</a:t>
            </a:r>
            <a:endParaRPr lang="en-US" sz="1250" dirty="0"/>
          </a:p>
        </p:txBody>
      </p:sp>
      <p:sp>
        <p:nvSpPr>
          <p:cNvPr id="18" name="Text 16"/>
          <p:cNvSpPr/>
          <p:nvPr/>
        </p:nvSpPr>
        <p:spPr>
          <a:xfrm>
            <a:off x="4872276" y="4370427"/>
            <a:ext cx="4234577"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Centiment panel may not perfectly represent all working professionals and students</a:t>
            </a:r>
            <a:endParaRPr lang="en-US" sz="1250" dirty="0"/>
          </a:p>
        </p:txBody>
      </p:sp>
      <p:sp>
        <p:nvSpPr>
          <p:cNvPr id="19" name="Text 17"/>
          <p:cNvSpPr/>
          <p:nvPr/>
        </p:nvSpPr>
        <p:spPr>
          <a:xfrm>
            <a:off x="9431893" y="4370427"/>
            <a:ext cx="4238387" cy="101631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Sample demonstrates diversity across education, experience, and demographics. Rigorous quality controls eliminate low-effort responses. Replication across sampling methods recommended.</a:t>
            </a:r>
            <a:endParaRPr lang="en-US" sz="1250" dirty="0"/>
          </a:p>
        </p:txBody>
      </p:sp>
      <p:sp>
        <p:nvSpPr>
          <p:cNvPr id="20" name="Shape 18"/>
          <p:cNvSpPr/>
          <p:nvPr/>
        </p:nvSpPr>
        <p:spPr>
          <a:xfrm>
            <a:off x="801410" y="5489615"/>
            <a:ext cx="13027581" cy="967978"/>
          </a:xfrm>
          <a:prstGeom prst="rect">
            <a:avLst/>
          </a:prstGeom>
          <a:solidFill>
            <a:srgbClr val="FFFFFF">
              <a:alpha val="4000"/>
            </a:srgbClr>
          </a:solidFill>
          <a:ln/>
        </p:spPr>
      </p:sp>
      <p:sp>
        <p:nvSpPr>
          <p:cNvPr id="21" name="Text 19"/>
          <p:cNvSpPr/>
          <p:nvPr/>
        </p:nvSpPr>
        <p:spPr>
          <a:xfrm>
            <a:off x="960239" y="5592485"/>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US-Based Sample</a:t>
            </a:r>
            <a:endParaRPr lang="en-US" sz="1250" dirty="0"/>
          </a:p>
        </p:txBody>
      </p:sp>
      <p:sp>
        <p:nvSpPr>
          <p:cNvPr id="22" name="Text 20"/>
          <p:cNvSpPr/>
          <p:nvPr/>
        </p:nvSpPr>
        <p:spPr>
          <a:xfrm>
            <a:off x="4872276" y="5592485"/>
            <a:ext cx="4234577"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Cultural factors may limit generalizability to other national contexts</a:t>
            </a:r>
            <a:endParaRPr lang="en-US" sz="1250" dirty="0"/>
          </a:p>
        </p:txBody>
      </p:sp>
      <p:sp>
        <p:nvSpPr>
          <p:cNvPr id="23" name="Text 21"/>
          <p:cNvSpPr/>
          <p:nvPr/>
        </p:nvSpPr>
        <p:spPr>
          <a:xfrm>
            <a:off x="9431893" y="5592485"/>
            <a:ext cx="4238387" cy="76223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Cross-cultural replication studies essential. Collectivist cultures may show different patterns for Social Influence; high power-distance cultures may weight different factors.</a:t>
            </a:r>
            <a:endParaRPr lang="en-US" sz="1250" dirty="0"/>
          </a:p>
        </p:txBody>
      </p:sp>
      <p:sp>
        <p:nvSpPr>
          <p:cNvPr id="24" name="Shape 22"/>
          <p:cNvSpPr/>
          <p:nvPr/>
        </p:nvSpPr>
        <p:spPr>
          <a:xfrm>
            <a:off x="801410" y="6457593"/>
            <a:ext cx="13027581" cy="967978"/>
          </a:xfrm>
          <a:prstGeom prst="rect">
            <a:avLst/>
          </a:prstGeom>
          <a:solidFill>
            <a:srgbClr val="000000">
              <a:alpha val="4000"/>
            </a:srgbClr>
          </a:solidFill>
          <a:ln/>
        </p:spPr>
      </p:sp>
      <p:sp>
        <p:nvSpPr>
          <p:cNvPr id="25" name="Text 23"/>
          <p:cNvSpPr/>
          <p:nvPr/>
        </p:nvSpPr>
        <p:spPr>
          <a:xfrm>
            <a:off x="960239" y="6560463"/>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Dropped Constructs</a:t>
            </a:r>
            <a:endParaRPr lang="en-US" sz="1250" dirty="0"/>
          </a:p>
        </p:txBody>
      </p:sp>
      <p:sp>
        <p:nvSpPr>
          <p:cNvPr id="26" name="Text 24"/>
          <p:cNvSpPr/>
          <p:nvPr/>
        </p:nvSpPr>
        <p:spPr>
          <a:xfrm>
            <a:off x="4872276" y="6560463"/>
            <a:ext cx="4234577"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Four AI-specific constructs failed psychometric validation (α &lt; .60)</a:t>
            </a:r>
            <a:endParaRPr lang="en-US" sz="1250" dirty="0"/>
          </a:p>
        </p:txBody>
      </p:sp>
      <p:sp>
        <p:nvSpPr>
          <p:cNvPr id="27" name="Text 25"/>
          <p:cNvSpPr/>
          <p:nvPr/>
        </p:nvSpPr>
        <p:spPr>
          <a:xfrm>
            <a:off x="9431893" y="6560463"/>
            <a:ext cx="4238387" cy="76223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Requires construct redesign and revalidation. Conceptual importance remains; measurement approach needs refinement.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93301" y="544711"/>
            <a:ext cx="5121473" cy="402431"/>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Constructs That Failed Validation</a:t>
            </a:r>
            <a:endParaRPr lang="en-US" sz="2500" dirty="0"/>
          </a:p>
        </p:txBody>
      </p:sp>
      <p:sp>
        <p:nvSpPr>
          <p:cNvPr id="3" name="Text 1"/>
          <p:cNvSpPr/>
          <p:nvPr/>
        </p:nvSpPr>
        <p:spPr>
          <a:xfrm>
            <a:off x="693301" y="1204555"/>
            <a:ext cx="13243798" cy="205859"/>
          </a:xfrm>
          <a:prstGeom prst="rect">
            <a:avLst/>
          </a:prstGeom>
          <a:noFill/>
          <a:ln/>
        </p:spPr>
        <p:txBody>
          <a:bodyPr wrap="none" lIns="0" tIns="0" rIns="0" bIns="0" rtlCol="0" anchor="t"/>
          <a:lstStyle/>
          <a:p>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Four AI-specific constructs demonstrated inadequate psychometric properties and were excluded from the final instrument:</a:t>
            </a:r>
            <a:endParaRPr lang="en-US" sz="1000" dirty="0"/>
          </a:p>
        </p:txBody>
      </p:sp>
      <p:sp>
        <p:nvSpPr>
          <p:cNvPr id="4" name="Shape 2"/>
          <p:cNvSpPr/>
          <p:nvPr/>
        </p:nvSpPr>
        <p:spPr>
          <a:xfrm>
            <a:off x="693301" y="1748314"/>
            <a:ext cx="4328755" cy="3079433"/>
          </a:xfrm>
          <a:prstGeom prst="roundRect">
            <a:avLst>
              <a:gd name="adj" fmla="val 2376"/>
            </a:avLst>
          </a:prstGeom>
          <a:solidFill>
            <a:srgbClr val="FBFCFE"/>
          </a:solidFill>
          <a:ln/>
        </p:spPr>
      </p:sp>
      <p:pic>
        <p:nvPicPr>
          <p:cNvPr id="5" name="Image 0" descr="preencoded.png">    </p:cNvPr>
          <p:cNvPicPr>
            <a:picLocks noChangeAspect="1"/>
          </p:cNvPicPr>
          <p:nvPr/>
        </p:nvPicPr>
        <p:blipFill>
          <a:blip r:embed="rId1"/>
          <a:stretch>
            <a:fillRect/>
          </a:stretch>
        </p:blipFill>
        <p:spPr>
          <a:xfrm>
            <a:off x="693301" y="1733074"/>
            <a:ext cx="4328755" cy="60960"/>
          </a:xfrm>
          <a:prstGeom prst="rect">
            <a:avLst/>
          </a:prstGeom>
        </p:spPr>
      </p:pic>
      <p:pic>
        <p:nvPicPr>
          <p:cNvPr id="6" name="Image 1" descr="preencoded.png">    </p:cNvPr>
          <p:cNvPicPr>
            <a:picLocks noChangeAspect="1"/>
          </p:cNvPicPr>
          <p:nvPr/>
        </p:nvPicPr>
        <p:blipFill>
          <a:blip r:embed="rId2"/>
          <a:stretch>
            <a:fillRect/>
          </a:stretch>
        </p:blipFill>
        <p:spPr>
          <a:xfrm>
            <a:off x="2664500" y="1555194"/>
            <a:ext cx="386239" cy="386239"/>
          </a:xfrm>
          <a:prstGeom prst="rect">
            <a:avLst/>
          </a:prstGeom>
        </p:spPr>
      </p:pic>
      <p:sp>
        <p:nvSpPr>
          <p:cNvPr id="7" name="Text 3"/>
          <p:cNvSpPr/>
          <p:nvPr/>
        </p:nvSpPr>
        <p:spPr>
          <a:xfrm>
            <a:off x="1982391" y="2070140"/>
            <a:ext cx="1750457" cy="201216"/>
          </a:xfrm>
          <a:prstGeom prst="rect">
            <a:avLst/>
          </a:prstGeom>
          <a:noFill/>
          <a:ln/>
        </p:spPr>
        <p:txBody>
          <a:bodyPr wrap="none" lIns="0" tIns="0" rIns="0" bIns="0" rtlCol="0" anchor="t"/>
          <a:lstStyle/>
          <a:p>
            <a:pPr algn="ctr" indent="0" marL="0">
              <a:lnSpc>
                <a:spcPts val="1550"/>
              </a:lnSpc>
              <a:buNone/>
            </a:pPr>
            <a:r>
              <a:rPr lang="en-US" sz="1250" dirty="0">
                <a:solidFill>
                  <a:srgbClr val="15213F"/>
                </a:solidFill>
                <a:latin typeface="Roboto Slab" pitchFamily="34" charset="0"/>
                <a:ea typeface="Roboto Slab" pitchFamily="34" charset="-122"/>
                <a:cs typeface="Roboto Slab" pitchFamily="34" charset="-120"/>
              </a:rPr>
              <a:t>Voluntariness (α = .301)</a:t>
            </a:r>
            <a:endParaRPr lang="en-US" sz="1250" dirty="0"/>
          </a:p>
        </p:txBody>
      </p:sp>
      <p:sp>
        <p:nvSpPr>
          <p:cNvPr id="8" name="Text 4"/>
          <p:cNvSpPr/>
          <p:nvPr/>
        </p:nvSpPr>
        <p:spPr>
          <a:xfrm>
            <a:off x="1892022" y="2322790"/>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The Problem</a:t>
            </a:r>
            <a:endParaRPr lang="en-US" sz="1500" dirty="0"/>
          </a:p>
        </p:txBody>
      </p:sp>
      <p:sp>
        <p:nvSpPr>
          <p:cNvPr id="9" name="Text 5"/>
          <p:cNvSpPr/>
          <p:nvPr/>
        </p:nvSpPr>
        <p:spPr>
          <a:xfrm>
            <a:off x="837248" y="2641282"/>
            <a:ext cx="4040862" cy="1029295"/>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Items conceptually conflicted—"My organization requires AI use" and "I choose to use AI voluntarily" were intended as opposite ends of a continuum, but participants interpreted them inconsistently, possibly reflecting that organizational requirements and personal choice aren't psychologically opposite.</a:t>
            </a:r>
            <a:endParaRPr lang="en-US" sz="1000" dirty="0"/>
          </a:p>
        </p:txBody>
      </p:sp>
      <p:sp>
        <p:nvSpPr>
          <p:cNvPr id="10" name="Text 6"/>
          <p:cNvSpPr/>
          <p:nvPr/>
        </p:nvSpPr>
        <p:spPr>
          <a:xfrm>
            <a:off x="1892022" y="3747730"/>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Future Direction</a:t>
            </a:r>
            <a:endParaRPr lang="en-US" sz="1500" dirty="0"/>
          </a:p>
        </p:txBody>
      </p:sp>
      <p:sp>
        <p:nvSpPr>
          <p:cNvPr id="11" name="Text 7"/>
          <p:cNvSpPr/>
          <p:nvPr/>
        </p:nvSpPr>
        <p:spPr>
          <a:xfrm>
            <a:off x="837248" y="4066222"/>
            <a:ext cx="4040862" cy="617577"/>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Reframe as "perceived pressure to adopt" rather than voluntary choice dichotomy. Measure degree of felt obligation rather than presence/absence of choice.</a:t>
            </a:r>
            <a:endParaRPr lang="en-US" sz="1000" dirty="0"/>
          </a:p>
        </p:txBody>
      </p:sp>
      <p:sp>
        <p:nvSpPr>
          <p:cNvPr id="12" name="Shape 8"/>
          <p:cNvSpPr/>
          <p:nvPr/>
        </p:nvSpPr>
        <p:spPr>
          <a:xfrm>
            <a:off x="5150763" y="1748314"/>
            <a:ext cx="4328755" cy="3079433"/>
          </a:xfrm>
          <a:prstGeom prst="roundRect">
            <a:avLst>
              <a:gd name="adj" fmla="val 2376"/>
            </a:avLst>
          </a:prstGeom>
          <a:solidFill>
            <a:srgbClr val="FBFCFE"/>
          </a:solidFill>
          <a:ln/>
        </p:spPr>
      </p:sp>
      <p:pic>
        <p:nvPicPr>
          <p:cNvPr id="13" name="Image 2" descr="preencoded.png">    </p:cNvPr>
          <p:cNvPicPr>
            <a:picLocks noChangeAspect="1"/>
          </p:cNvPicPr>
          <p:nvPr/>
        </p:nvPicPr>
        <p:blipFill>
          <a:blip r:embed="rId3"/>
          <a:stretch>
            <a:fillRect/>
          </a:stretch>
        </p:blipFill>
        <p:spPr>
          <a:xfrm>
            <a:off x="5150763" y="1733074"/>
            <a:ext cx="4328755" cy="60960"/>
          </a:xfrm>
          <a:prstGeom prst="rect">
            <a:avLst/>
          </a:prstGeom>
        </p:spPr>
      </p:pic>
      <p:pic>
        <p:nvPicPr>
          <p:cNvPr id="14" name="Image 3" descr="preencoded.png">    </p:cNvPr>
          <p:cNvPicPr>
            <a:picLocks noChangeAspect="1"/>
          </p:cNvPicPr>
          <p:nvPr/>
        </p:nvPicPr>
        <p:blipFill>
          <a:blip r:embed="rId4"/>
          <a:stretch>
            <a:fillRect/>
          </a:stretch>
        </p:blipFill>
        <p:spPr>
          <a:xfrm>
            <a:off x="7121962" y="1555194"/>
            <a:ext cx="386239" cy="386239"/>
          </a:xfrm>
          <a:prstGeom prst="rect">
            <a:avLst/>
          </a:prstGeom>
        </p:spPr>
      </p:pic>
      <p:sp>
        <p:nvSpPr>
          <p:cNvPr id="15" name="Text 9"/>
          <p:cNvSpPr/>
          <p:nvPr/>
        </p:nvSpPr>
        <p:spPr>
          <a:xfrm>
            <a:off x="6425327" y="2070140"/>
            <a:ext cx="1779627" cy="201216"/>
          </a:xfrm>
          <a:prstGeom prst="rect">
            <a:avLst/>
          </a:prstGeom>
          <a:noFill/>
          <a:ln/>
        </p:spPr>
        <p:txBody>
          <a:bodyPr wrap="none" lIns="0" tIns="0" rIns="0" bIns="0" rtlCol="0" anchor="t"/>
          <a:lstStyle/>
          <a:p>
            <a:pPr algn="ctr" indent="0" marL="0">
              <a:lnSpc>
                <a:spcPts val="1550"/>
              </a:lnSpc>
              <a:buNone/>
            </a:pPr>
            <a:r>
              <a:rPr lang="en-US" sz="1250" dirty="0">
                <a:solidFill>
                  <a:srgbClr val="15213F"/>
                </a:solidFill>
                <a:latin typeface="Roboto Slab" pitchFamily="34" charset="0"/>
                <a:ea typeface="Roboto Slab" pitchFamily="34" charset="-122"/>
                <a:cs typeface="Roboto Slab" pitchFamily="34" charset="-120"/>
              </a:rPr>
              <a:t>Explainability (α = .503)</a:t>
            </a:r>
            <a:endParaRPr lang="en-US" sz="1250" dirty="0"/>
          </a:p>
        </p:txBody>
      </p:sp>
      <p:sp>
        <p:nvSpPr>
          <p:cNvPr id="16" name="Text 10"/>
          <p:cNvSpPr/>
          <p:nvPr/>
        </p:nvSpPr>
        <p:spPr>
          <a:xfrm>
            <a:off x="6349484" y="2322790"/>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The Problem</a:t>
            </a:r>
            <a:endParaRPr lang="en-US" sz="1500" dirty="0"/>
          </a:p>
        </p:txBody>
      </p:sp>
      <p:sp>
        <p:nvSpPr>
          <p:cNvPr id="17" name="Text 11"/>
          <p:cNvSpPr/>
          <p:nvPr/>
        </p:nvSpPr>
        <p:spPr>
          <a:xfrm>
            <a:off x="5294709" y="2641282"/>
            <a:ext cx="4040862" cy="1029295"/>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AI explanation is multi-dimensional—how a model works (transparency), why it made a specific decision (interpretability), and whether decisions can be audited (accountability) are conceptually distinct. Items attempting to capture all dimensions with broad phrasing failed to cohere.</a:t>
            </a:r>
            <a:endParaRPr lang="en-US" sz="1000" dirty="0"/>
          </a:p>
        </p:txBody>
      </p:sp>
      <p:sp>
        <p:nvSpPr>
          <p:cNvPr id="18" name="Text 12"/>
          <p:cNvSpPr/>
          <p:nvPr/>
        </p:nvSpPr>
        <p:spPr>
          <a:xfrm>
            <a:off x="6349484" y="3747730"/>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Future Direction</a:t>
            </a:r>
            <a:endParaRPr lang="en-US" sz="1500" dirty="0"/>
          </a:p>
        </p:txBody>
      </p:sp>
      <p:sp>
        <p:nvSpPr>
          <p:cNvPr id="19" name="Text 13"/>
          <p:cNvSpPr/>
          <p:nvPr/>
        </p:nvSpPr>
        <p:spPr>
          <a:xfrm>
            <a:off x="5294709" y="4066222"/>
            <a:ext cx="4040862" cy="411718"/>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Decompose into transparency, interpretability, and auditability sub-dimensions. Measure each separately with construct-specific items.</a:t>
            </a:r>
            <a:endParaRPr lang="en-US" sz="1000" dirty="0"/>
          </a:p>
        </p:txBody>
      </p:sp>
      <p:sp>
        <p:nvSpPr>
          <p:cNvPr id="20" name="Shape 14"/>
          <p:cNvSpPr/>
          <p:nvPr/>
        </p:nvSpPr>
        <p:spPr>
          <a:xfrm>
            <a:off x="9608225" y="1748314"/>
            <a:ext cx="4328755" cy="3079433"/>
          </a:xfrm>
          <a:prstGeom prst="roundRect">
            <a:avLst>
              <a:gd name="adj" fmla="val 2376"/>
            </a:avLst>
          </a:prstGeom>
          <a:solidFill>
            <a:srgbClr val="FBFCFE"/>
          </a:solidFill>
          <a:ln/>
        </p:spPr>
      </p:sp>
      <p:pic>
        <p:nvPicPr>
          <p:cNvPr id="21" name="Image 4" descr="preencoded.png">    </p:cNvPr>
          <p:cNvPicPr>
            <a:picLocks noChangeAspect="1"/>
          </p:cNvPicPr>
          <p:nvPr/>
        </p:nvPicPr>
        <p:blipFill>
          <a:blip r:embed="rId5"/>
          <a:stretch>
            <a:fillRect/>
          </a:stretch>
        </p:blipFill>
        <p:spPr>
          <a:xfrm>
            <a:off x="9608225" y="1733074"/>
            <a:ext cx="4328755" cy="60960"/>
          </a:xfrm>
          <a:prstGeom prst="rect">
            <a:avLst/>
          </a:prstGeom>
        </p:spPr>
      </p:pic>
      <p:pic>
        <p:nvPicPr>
          <p:cNvPr id="22" name="Image 5" descr="preencoded.png">    </p:cNvPr>
          <p:cNvPicPr>
            <a:picLocks noChangeAspect="1"/>
          </p:cNvPicPr>
          <p:nvPr/>
        </p:nvPicPr>
        <p:blipFill>
          <a:blip r:embed="rId6"/>
          <a:stretch>
            <a:fillRect/>
          </a:stretch>
        </p:blipFill>
        <p:spPr>
          <a:xfrm>
            <a:off x="11579423" y="1555194"/>
            <a:ext cx="386239" cy="386239"/>
          </a:xfrm>
          <a:prstGeom prst="rect">
            <a:avLst/>
          </a:prstGeom>
        </p:spPr>
      </p:pic>
      <p:sp>
        <p:nvSpPr>
          <p:cNvPr id="23" name="Text 15"/>
          <p:cNvSpPr/>
          <p:nvPr/>
        </p:nvSpPr>
        <p:spPr>
          <a:xfrm>
            <a:off x="10957917" y="2070140"/>
            <a:ext cx="1629370" cy="201216"/>
          </a:xfrm>
          <a:prstGeom prst="rect">
            <a:avLst/>
          </a:prstGeom>
          <a:noFill/>
          <a:ln/>
        </p:spPr>
        <p:txBody>
          <a:bodyPr wrap="none" lIns="0" tIns="0" rIns="0" bIns="0" rtlCol="0" anchor="t"/>
          <a:lstStyle/>
          <a:p>
            <a:pPr algn="ctr" indent="0" marL="0">
              <a:lnSpc>
                <a:spcPts val="1550"/>
              </a:lnSpc>
              <a:buNone/>
            </a:pPr>
            <a:r>
              <a:rPr lang="en-US" sz="1250" dirty="0">
                <a:solidFill>
                  <a:srgbClr val="15213F"/>
                </a:solidFill>
                <a:latin typeface="Roboto Slab" pitchFamily="34" charset="0"/>
                <a:ea typeface="Roboto Slab" pitchFamily="34" charset="-122"/>
                <a:cs typeface="Roboto Slab" pitchFamily="34" charset="-120"/>
              </a:rPr>
              <a:t>Ethical Risk (α = .582)</a:t>
            </a:r>
            <a:endParaRPr lang="en-US" sz="1250" dirty="0"/>
          </a:p>
        </p:txBody>
      </p:sp>
      <p:sp>
        <p:nvSpPr>
          <p:cNvPr id="24" name="Text 16"/>
          <p:cNvSpPr/>
          <p:nvPr/>
        </p:nvSpPr>
        <p:spPr>
          <a:xfrm>
            <a:off x="10806946" y="2322790"/>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The Problem</a:t>
            </a:r>
            <a:endParaRPr lang="en-US" sz="1500" dirty="0"/>
          </a:p>
        </p:txBody>
      </p:sp>
      <p:sp>
        <p:nvSpPr>
          <p:cNvPr id="25" name="Text 17"/>
          <p:cNvSpPr/>
          <p:nvPr/>
        </p:nvSpPr>
        <p:spPr>
          <a:xfrm>
            <a:off x="9752171" y="2641282"/>
            <a:ext cx="4040862" cy="823436"/>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Items conflated personal ethical concerns ("AI could make biased decisions affecting me") with societal ethical concerns ("AI could harm society"). These represent different psychological constructs that don't load together reliably.</a:t>
            </a:r>
            <a:endParaRPr lang="en-US" sz="1000" dirty="0"/>
          </a:p>
        </p:txBody>
      </p:sp>
      <p:sp>
        <p:nvSpPr>
          <p:cNvPr id="26" name="Text 18"/>
          <p:cNvSpPr/>
          <p:nvPr/>
        </p:nvSpPr>
        <p:spPr>
          <a:xfrm>
            <a:off x="10806946" y="3541871"/>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Future Direction</a:t>
            </a:r>
            <a:endParaRPr lang="en-US" sz="1500" dirty="0"/>
          </a:p>
        </p:txBody>
      </p:sp>
      <p:sp>
        <p:nvSpPr>
          <p:cNvPr id="27" name="Text 19"/>
          <p:cNvSpPr/>
          <p:nvPr/>
        </p:nvSpPr>
        <p:spPr>
          <a:xfrm>
            <a:off x="9752171" y="3860363"/>
            <a:ext cx="4040862" cy="617577"/>
          </a:xfrm>
          <a:prstGeom prst="rect">
            <a:avLst/>
          </a:prstGeom>
          <a:noFill/>
          <a:ln/>
        </p:spPr>
        <p:txBody>
          <a:bodyPr wrap="squar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Separate individual ethical risk perception from societal ethical concerns. Create distinct measures for personal risk and broader ethical implications.</a:t>
            </a:r>
            <a:endParaRPr lang="en-US" sz="1000" dirty="0"/>
          </a:p>
        </p:txBody>
      </p:sp>
      <p:sp>
        <p:nvSpPr>
          <p:cNvPr id="28" name="Shape 20"/>
          <p:cNvSpPr/>
          <p:nvPr/>
        </p:nvSpPr>
        <p:spPr>
          <a:xfrm>
            <a:off x="693301" y="5149572"/>
            <a:ext cx="13243679" cy="1844278"/>
          </a:xfrm>
          <a:prstGeom prst="roundRect">
            <a:avLst>
              <a:gd name="adj" fmla="val 3966"/>
            </a:avLst>
          </a:prstGeom>
          <a:solidFill>
            <a:srgbClr val="FBFCFE"/>
          </a:solidFill>
          <a:ln/>
        </p:spPr>
      </p:sp>
      <p:pic>
        <p:nvPicPr>
          <p:cNvPr id="29" name="Image 6" descr="preencoded.png">    </p:cNvPr>
          <p:cNvPicPr>
            <a:picLocks noChangeAspect="1"/>
          </p:cNvPicPr>
          <p:nvPr/>
        </p:nvPicPr>
        <p:blipFill>
          <a:blip r:embed="rId7"/>
          <a:stretch>
            <a:fillRect/>
          </a:stretch>
        </p:blipFill>
        <p:spPr>
          <a:xfrm>
            <a:off x="693301" y="5134332"/>
            <a:ext cx="13243679" cy="60960"/>
          </a:xfrm>
          <a:prstGeom prst="rect">
            <a:avLst/>
          </a:prstGeom>
        </p:spPr>
      </p:pic>
      <p:pic>
        <p:nvPicPr>
          <p:cNvPr id="30" name="Image 7" descr="preencoded.png">    </p:cNvPr>
          <p:cNvPicPr>
            <a:picLocks noChangeAspect="1"/>
          </p:cNvPicPr>
          <p:nvPr/>
        </p:nvPicPr>
        <p:blipFill>
          <a:blip r:embed="rId8"/>
          <a:stretch>
            <a:fillRect/>
          </a:stretch>
        </p:blipFill>
        <p:spPr>
          <a:xfrm>
            <a:off x="7121962" y="4956453"/>
            <a:ext cx="386239" cy="386239"/>
          </a:xfrm>
          <a:prstGeom prst="rect">
            <a:avLst/>
          </a:prstGeom>
        </p:spPr>
      </p:pic>
      <p:sp>
        <p:nvSpPr>
          <p:cNvPr id="31" name="Text 21"/>
          <p:cNvSpPr/>
          <p:nvPr/>
        </p:nvSpPr>
        <p:spPr>
          <a:xfrm>
            <a:off x="6510457" y="5471398"/>
            <a:ext cx="1609368" cy="201216"/>
          </a:xfrm>
          <a:prstGeom prst="rect">
            <a:avLst/>
          </a:prstGeom>
          <a:noFill/>
          <a:ln/>
        </p:spPr>
        <p:txBody>
          <a:bodyPr wrap="none" lIns="0" tIns="0" rIns="0" bIns="0" rtlCol="0" anchor="t"/>
          <a:lstStyle/>
          <a:p>
            <a:pPr algn="ctr" indent="0" marL="0">
              <a:lnSpc>
                <a:spcPts val="1550"/>
              </a:lnSpc>
              <a:buNone/>
            </a:pPr>
            <a:r>
              <a:rPr lang="en-US" sz="1250" dirty="0">
                <a:solidFill>
                  <a:srgbClr val="15213F"/>
                </a:solidFill>
                <a:latin typeface="Roboto Slab" pitchFamily="34" charset="0"/>
                <a:ea typeface="Roboto Slab" pitchFamily="34" charset="-122"/>
                <a:cs typeface="Roboto Slab" pitchFamily="34" charset="-120"/>
              </a:rPr>
              <a:t>AI Anxiety (α = .423)</a:t>
            </a:r>
            <a:endParaRPr lang="en-US" sz="1250" dirty="0"/>
          </a:p>
        </p:txBody>
      </p:sp>
      <p:sp>
        <p:nvSpPr>
          <p:cNvPr id="32" name="Text 22"/>
          <p:cNvSpPr/>
          <p:nvPr/>
        </p:nvSpPr>
        <p:spPr>
          <a:xfrm>
            <a:off x="6349484" y="5724049"/>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The Problem</a:t>
            </a:r>
            <a:endParaRPr lang="en-US" sz="1500" dirty="0"/>
          </a:p>
        </p:txBody>
      </p:sp>
      <p:sp>
        <p:nvSpPr>
          <p:cNvPr id="33" name="Text 23"/>
          <p:cNvSpPr/>
          <p:nvPr/>
        </p:nvSpPr>
        <p:spPr>
          <a:xfrm>
            <a:off x="837248" y="6042541"/>
            <a:ext cx="12955786" cy="205859"/>
          </a:xfrm>
          <a:prstGeom prst="rect">
            <a:avLst/>
          </a:prstGeom>
          <a:noFill/>
          <a:ln/>
        </p:spPr>
        <p:txBody>
          <a:bodyPr wrap="non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Measured anxiety overlapped substantially with general technology anxiety rather than capturing AI-specific concerns. Discriminant validity failure indicates items weren't sufficiently AI-specific.</a:t>
            </a:r>
            <a:endParaRPr lang="en-US" sz="1000" dirty="0"/>
          </a:p>
        </p:txBody>
      </p:sp>
      <p:sp>
        <p:nvSpPr>
          <p:cNvPr id="34" name="Text 24"/>
          <p:cNvSpPr/>
          <p:nvPr/>
        </p:nvSpPr>
        <p:spPr>
          <a:xfrm>
            <a:off x="6349484" y="6325553"/>
            <a:ext cx="1931313" cy="241340"/>
          </a:xfrm>
          <a:prstGeom prst="rect">
            <a:avLst/>
          </a:prstGeom>
          <a:noFill/>
          <a:ln/>
        </p:spPr>
        <p:txBody>
          <a:bodyPr wrap="none" lIns="0" tIns="0" rIns="0" bIns="0" rtlCol="0" anchor="t"/>
          <a:lstStyle/>
          <a:p>
            <a:pPr algn="ctr" indent="0" marL="0">
              <a:lnSpc>
                <a:spcPts val="1900"/>
              </a:lnSpc>
              <a:buNone/>
            </a:pPr>
            <a:r>
              <a:rPr lang="en-US" sz="1500" dirty="0">
                <a:solidFill>
                  <a:srgbClr val="15213F"/>
                </a:solidFill>
                <a:latin typeface="Roboto Slab" pitchFamily="34" charset="0"/>
                <a:ea typeface="Roboto Slab" pitchFamily="34" charset="-122"/>
                <a:cs typeface="Roboto Slab" pitchFamily="34" charset="-120"/>
              </a:rPr>
              <a:t>Future Direction</a:t>
            </a:r>
            <a:endParaRPr lang="en-US" sz="1500" dirty="0"/>
          </a:p>
        </p:txBody>
      </p:sp>
      <p:sp>
        <p:nvSpPr>
          <p:cNvPr id="35" name="Text 25"/>
          <p:cNvSpPr/>
          <p:nvPr/>
        </p:nvSpPr>
        <p:spPr>
          <a:xfrm>
            <a:off x="837248" y="6644045"/>
            <a:ext cx="12955786" cy="205859"/>
          </a:xfrm>
          <a:prstGeom prst="rect">
            <a:avLst/>
          </a:prstGeom>
          <a:noFill/>
          <a:ln/>
        </p:spPr>
        <p:txBody>
          <a:bodyPr wrap="none" lIns="0" tIns="0" rIns="0" bIns="0" rtlCol="0" anchor="t"/>
          <a:lstStyle/>
          <a:p>
            <a:pPr algn="ctr" indent="0" marL="0">
              <a:lnSpc>
                <a:spcPts val="1600"/>
              </a:lnSpc>
              <a:buNone/>
            </a:pPr>
            <a:r>
              <a:rPr lang="en-US" sz="1000" dirty="0">
                <a:solidFill>
                  <a:srgbClr val="15213F"/>
                </a:solidFill>
                <a:latin typeface="Roboto" pitchFamily="34" charset="0"/>
                <a:ea typeface="Roboto" pitchFamily="34" charset="-122"/>
                <a:cs typeface="Roboto" pitchFamily="34" charset="-120"/>
              </a:rPr>
              <a:t>Develop items distinguishing AI-specific anxiety (fear of algorithmic bias, opacity, autonomy) from general technology discomfort. Focus on unique AI characteristics causing anxiety.</a:t>
            </a:r>
            <a:endParaRPr lang="en-US" sz="1000" dirty="0"/>
          </a:p>
        </p:txBody>
      </p:sp>
      <p:sp>
        <p:nvSpPr>
          <p:cNvPr id="36" name="Shape 26"/>
          <p:cNvSpPr/>
          <p:nvPr/>
        </p:nvSpPr>
        <p:spPr>
          <a:xfrm>
            <a:off x="693301" y="7138630"/>
            <a:ext cx="13243798" cy="546854"/>
          </a:xfrm>
          <a:prstGeom prst="roundRect">
            <a:avLst>
              <a:gd name="adj" fmla="val 3532"/>
            </a:avLst>
          </a:prstGeom>
          <a:solidFill>
            <a:srgbClr val="C3CFEF"/>
          </a:solidFill>
          <a:ln/>
        </p:spPr>
      </p:sp>
      <p:pic>
        <p:nvPicPr>
          <p:cNvPr id="37" name="Image 8" descr="preencoded.png">    </p:cNvPr>
          <p:cNvPicPr>
            <a:picLocks noChangeAspect="1"/>
          </p:cNvPicPr>
          <p:nvPr/>
        </p:nvPicPr>
        <p:blipFill>
          <a:blip r:embed="rId9"/>
          <a:stretch>
            <a:fillRect/>
          </a:stretch>
        </p:blipFill>
        <p:spPr>
          <a:xfrm>
            <a:off x="822008" y="7331631"/>
            <a:ext cx="160853" cy="128707"/>
          </a:xfrm>
          <a:prstGeom prst="rect">
            <a:avLst/>
          </a:prstGeom>
        </p:spPr>
      </p:pic>
      <p:sp>
        <p:nvSpPr>
          <p:cNvPr id="38" name="Text 27"/>
          <p:cNvSpPr/>
          <p:nvPr/>
        </p:nvSpPr>
        <p:spPr>
          <a:xfrm>
            <a:off x="1111568" y="7299484"/>
            <a:ext cx="12696825" cy="205859"/>
          </a:xfrm>
          <a:prstGeom prst="rect">
            <a:avLst/>
          </a:prstGeom>
          <a:noFill/>
          <a:ln/>
        </p:spPr>
        <p:txBody>
          <a:bodyPr wrap="none" lIns="0" tIns="0" rIns="0" bIns="0" rtlCol="0" anchor="t"/>
          <a:lstStyle/>
          <a:p>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Important Note:</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These are measurement failures, not theoretical failures. The constructs remain conceptually important—we simply need better items to measure them reliably.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0932" y="631746"/>
            <a:ext cx="8713589" cy="600194"/>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Future Research Directions: Validation</a:t>
            </a:r>
            <a:endParaRPr lang="en-US" sz="3750" dirty="0"/>
          </a:p>
        </p:txBody>
      </p:sp>
      <p:sp>
        <p:nvSpPr>
          <p:cNvPr id="3" name="Shape 1"/>
          <p:cNvSpPr/>
          <p:nvPr/>
        </p:nvSpPr>
        <p:spPr>
          <a:xfrm>
            <a:off x="1079063" y="2384346"/>
            <a:ext cx="3933230" cy="192048"/>
          </a:xfrm>
          <a:prstGeom prst="roundRect">
            <a:avLst>
              <a:gd name="adj" fmla="val 15003"/>
            </a:avLst>
          </a:prstGeom>
          <a:solidFill>
            <a:srgbClr val="E9ECF2"/>
          </a:solidFill>
          <a:ln/>
        </p:spPr>
      </p:sp>
      <p:sp>
        <p:nvSpPr>
          <p:cNvPr id="4" name="Shape 2"/>
          <p:cNvSpPr/>
          <p:nvPr/>
        </p:nvSpPr>
        <p:spPr>
          <a:xfrm>
            <a:off x="790932" y="2192298"/>
            <a:ext cx="576263" cy="576263"/>
          </a:xfrm>
          <a:prstGeom prst="roundRect">
            <a:avLst>
              <a:gd name="adj" fmla="val 79339"/>
            </a:avLst>
          </a:prstGeom>
          <a:solidFill>
            <a:srgbClr val="E9ECF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4998" y="2336363"/>
            <a:ext cx="288131" cy="288131"/>
          </a:xfrm>
          <a:prstGeom prst="rect">
            <a:avLst/>
          </a:prstGeom>
        </p:spPr>
      </p:pic>
      <p:sp>
        <p:nvSpPr>
          <p:cNvPr id="6" name="Text 3"/>
          <p:cNvSpPr/>
          <p:nvPr/>
        </p:nvSpPr>
        <p:spPr>
          <a:xfrm>
            <a:off x="982980" y="2960608"/>
            <a:ext cx="3837384" cy="720328"/>
          </a:xfrm>
          <a:prstGeom prst="rect">
            <a:avLst/>
          </a:prstGeom>
          <a:noFill/>
          <a:ln/>
        </p:spPr>
        <p:txBody>
          <a:bodyPr wrap="squar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Longitudinal Validation Studies</a:t>
            </a:r>
            <a:endParaRPr lang="en-US" sz="2250" dirty="0"/>
          </a:p>
        </p:txBody>
      </p:sp>
      <p:sp>
        <p:nvSpPr>
          <p:cNvPr id="7" name="Text 4"/>
          <p:cNvSpPr/>
          <p:nvPr/>
        </p:nvSpPr>
        <p:spPr>
          <a:xfrm>
            <a:off x="982980" y="3796189"/>
            <a:ext cx="3837384" cy="614363"/>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Purpose: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Establish temporal precedence and causal relationships</a:t>
            </a:r>
            <a:endParaRPr lang="en-US" sz="1500" dirty="0"/>
          </a:p>
        </p:txBody>
      </p:sp>
      <p:sp>
        <p:nvSpPr>
          <p:cNvPr id="8" name="Text 5"/>
          <p:cNvSpPr/>
          <p:nvPr/>
        </p:nvSpPr>
        <p:spPr>
          <a:xfrm>
            <a:off x="982980" y="4525804"/>
            <a:ext cx="3837384" cy="1228725"/>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Method:</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Track participants over 6-12 months, measuring AIRS-16 scores at Time 1 and actual AI adoption behavior at Time 2 and Time 3</a:t>
            </a:r>
            <a:endParaRPr lang="en-US" sz="1500" dirty="0"/>
          </a:p>
        </p:txBody>
      </p:sp>
      <p:sp>
        <p:nvSpPr>
          <p:cNvPr id="9" name="Text 6"/>
          <p:cNvSpPr/>
          <p:nvPr/>
        </p:nvSpPr>
        <p:spPr>
          <a:xfrm>
            <a:off x="982980" y="5869781"/>
            <a:ext cx="3837384" cy="1535906"/>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Research Questions: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Do high behavioral intention scores predict sustained adoption? How do factor scores change as users gain experience? What triggers adoption acceleration or abandonment?</a:t>
            </a:r>
            <a:endParaRPr lang="en-US" sz="1500" dirty="0"/>
          </a:p>
        </p:txBody>
      </p:sp>
      <p:sp>
        <p:nvSpPr>
          <p:cNvPr id="10" name="Shape 7"/>
          <p:cNvSpPr/>
          <p:nvPr/>
        </p:nvSpPr>
        <p:spPr>
          <a:xfrm>
            <a:off x="5492591" y="2096214"/>
            <a:ext cx="3933230" cy="192048"/>
          </a:xfrm>
          <a:prstGeom prst="roundRect">
            <a:avLst>
              <a:gd name="adj" fmla="val 15003"/>
            </a:avLst>
          </a:prstGeom>
          <a:solidFill>
            <a:srgbClr val="E9ECF2"/>
          </a:solidFill>
          <a:ln/>
        </p:spPr>
      </p:sp>
      <p:sp>
        <p:nvSpPr>
          <p:cNvPr id="11" name="Shape 8"/>
          <p:cNvSpPr/>
          <p:nvPr/>
        </p:nvSpPr>
        <p:spPr>
          <a:xfrm>
            <a:off x="5204460" y="1904167"/>
            <a:ext cx="576263" cy="576263"/>
          </a:xfrm>
          <a:prstGeom prst="roundRect">
            <a:avLst>
              <a:gd name="adj" fmla="val 79339"/>
            </a:avLst>
          </a:prstGeom>
          <a:solidFill>
            <a:srgbClr val="E9ECF2"/>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48526" y="2048232"/>
            <a:ext cx="288131" cy="288131"/>
          </a:xfrm>
          <a:prstGeom prst="rect">
            <a:avLst/>
          </a:prstGeom>
        </p:spPr>
      </p:pic>
      <p:sp>
        <p:nvSpPr>
          <p:cNvPr id="13" name="Text 9"/>
          <p:cNvSpPr/>
          <p:nvPr/>
        </p:nvSpPr>
        <p:spPr>
          <a:xfrm>
            <a:off x="5396508" y="2672477"/>
            <a:ext cx="3837384" cy="720328"/>
          </a:xfrm>
          <a:prstGeom prst="rect">
            <a:avLst/>
          </a:prstGeom>
          <a:noFill/>
          <a:ln/>
        </p:spPr>
        <p:txBody>
          <a:bodyPr wrap="squar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AI-Specific Construct Development</a:t>
            </a:r>
            <a:endParaRPr lang="en-US" sz="2250" dirty="0"/>
          </a:p>
        </p:txBody>
      </p:sp>
      <p:sp>
        <p:nvSpPr>
          <p:cNvPr id="14" name="Text 10"/>
          <p:cNvSpPr/>
          <p:nvPr/>
        </p:nvSpPr>
        <p:spPr>
          <a:xfrm>
            <a:off x="5396508" y="3508058"/>
            <a:ext cx="3837384" cy="614363"/>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Purpose: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Address the four constructs that failed psychometric validation</a:t>
            </a:r>
            <a:endParaRPr lang="en-US" sz="1500" dirty="0"/>
          </a:p>
        </p:txBody>
      </p:sp>
      <p:sp>
        <p:nvSpPr>
          <p:cNvPr id="15" name="Text 11"/>
          <p:cNvSpPr/>
          <p:nvPr/>
        </p:nvSpPr>
        <p:spPr>
          <a:xfrm>
            <a:off x="5396508" y="4237673"/>
            <a:ext cx="3837384" cy="1228725"/>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Priority:</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Redesign Explainability, Ethical Risk, Voluntariness, and AI Anxiety measures through iterative item development, cognitive interviews, and psychometric testing</a:t>
            </a:r>
            <a:endParaRPr lang="en-US" sz="1500" dirty="0"/>
          </a:p>
        </p:txBody>
      </p:sp>
      <p:sp>
        <p:nvSpPr>
          <p:cNvPr id="16" name="Text 12"/>
          <p:cNvSpPr/>
          <p:nvPr/>
        </p:nvSpPr>
        <p:spPr>
          <a:xfrm>
            <a:off x="5396508" y="5581650"/>
            <a:ext cx="3837384" cy="1535906"/>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Theoretical Gap:</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Venkatesh (2021) identified nine AI-specific challenges; this research addressed four. Future work should develop and validate measures for the remaining five challenges.</a:t>
            </a:r>
            <a:endParaRPr lang="en-US" sz="1500" dirty="0"/>
          </a:p>
        </p:txBody>
      </p:sp>
      <p:sp>
        <p:nvSpPr>
          <p:cNvPr id="17" name="Shape 13"/>
          <p:cNvSpPr/>
          <p:nvPr/>
        </p:nvSpPr>
        <p:spPr>
          <a:xfrm>
            <a:off x="9906119" y="1808083"/>
            <a:ext cx="3933230" cy="192048"/>
          </a:xfrm>
          <a:prstGeom prst="roundRect">
            <a:avLst>
              <a:gd name="adj" fmla="val 15003"/>
            </a:avLst>
          </a:prstGeom>
          <a:solidFill>
            <a:srgbClr val="E9ECF2"/>
          </a:solidFill>
          <a:ln/>
        </p:spPr>
      </p:sp>
      <p:sp>
        <p:nvSpPr>
          <p:cNvPr id="18" name="Shape 14"/>
          <p:cNvSpPr/>
          <p:nvPr/>
        </p:nvSpPr>
        <p:spPr>
          <a:xfrm>
            <a:off x="9617988" y="1616035"/>
            <a:ext cx="576263" cy="576263"/>
          </a:xfrm>
          <a:prstGeom prst="roundRect">
            <a:avLst>
              <a:gd name="adj" fmla="val 79339"/>
            </a:avLst>
          </a:prstGeom>
          <a:solidFill>
            <a:srgbClr val="E9ECF2"/>
          </a:solidFill>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62053" y="1760101"/>
            <a:ext cx="288131" cy="288131"/>
          </a:xfrm>
          <a:prstGeom prst="rect">
            <a:avLst/>
          </a:prstGeom>
        </p:spPr>
      </p:pic>
      <p:sp>
        <p:nvSpPr>
          <p:cNvPr id="20" name="Text 15"/>
          <p:cNvSpPr/>
          <p:nvPr/>
        </p:nvSpPr>
        <p:spPr>
          <a:xfrm>
            <a:off x="9810036" y="2384346"/>
            <a:ext cx="3837384" cy="720328"/>
          </a:xfrm>
          <a:prstGeom prst="rect">
            <a:avLst/>
          </a:prstGeom>
          <a:noFill/>
          <a:ln/>
        </p:spPr>
        <p:txBody>
          <a:bodyPr wrap="squar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Intervention Effectiveness Testing</a:t>
            </a:r>
            <a:endParaRPr lang="en-US" sz="2250" dirty="0"/>
          </a:p>
        </p:txBody>
      </p:sp>
      <p:sp>
        <p:nvSpPr>
          <p:cNvPr id="21" name="Text 16"/>
          <p:cNvSpPr/>
          <p:nvPr/>
        </p:nvSpPr>
        <p:spPr>
          <a:xfrm>
            <a:off x="9810036" y="3219926"/>
            <a:ext cx="3837384" cy="921544"/>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Purpose: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Validate segment-specific intervention strategies through experimental design</a:t>
            </a:r>
            <a:endParaRPr lang="en-US" sz="1500" dirty="0"/>
          </a:p>
        </p:txBody>
      </p:sp>
      <p:sp>
        <p:nvSpPr>
          <p:cNvPr id="22" name="Text 17"/>
          <p:cNvSpPr/>
          <p:nvPr/>
        </p:nvSpPr>
        <p:spPr>
          <a:xfrm>
            <a:off x="9810036" y="4256723"/>
            <a:ext cx="3837384" cy="1535906"/>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Method:</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Randomize organizations or teams to targeted (segment-based) vs. generic (one-size-fits-all) AI adoption interventions. Measure adoption rates, sustained usage, and return on intervention investment.</a:t>
            </a:r>
            <a:endParaRPr lang="en-US" sz="1500" dirty="0"/>
          </a:p>
        </p:txBody>
      </p:sp>
      <p:sp>
        <p:nvSpPr>
          <p:cNvPr id="23" name="Text 18"/>
          <p:cNvSpPr/>
          <p:nvPr/>
        </p:nvSpPr>
        <p:spPr>
          <a:xfrm>
            <a:off x="9810036" y="5907881"/>
            <a:ext cx="3837384" cy="921544"/>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Hypothesis:</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Segment-targeted interventions will demonstrate superior cost-effectiveness compared to blanket training programs.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723662"/>
            <a:ext cx="7761923" cy="531614"/>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Future Research Directions: Expansion</a:t>
            </a:r>
            <a:endParaRPr lang="en-US" sz="3300" dirty="0"/>
          </a:p>
        </p:txBody>
      </p:sp>
      <p:pic>
        <p:nvPicPr>
          <p:cNvPr id="3" name="Image 0" descr="preencoded.png">    </p:cNvPr>
          <p:cNvPicPr>
            <a:picLocks noChangeAspect="1"/>
          </p:cNvPicPr>
          <p:nvPr/>
        </p:nvPicPr>
        <p:blipFill>
          <a:blip r:embed="rId1"/>
          <a:stretch>
            <a:fillRect/>
          </a:stretch>
        </p:blipFill>
        <p:spPr>
          <a:xfrm>
            <a:off x="793790" y="1595438"/>
            <a:ext cx="850583" cy="2819162"/>
          </a:xfrm>
          <a:prstGeom prst="rect">
            <a:avLst/>
          </a:prstGeom>
        </p:spPr>
      </p:pic>
      <p:sp>
        <p:nvSpPr>
          <p:cNvPr id="4" name="Text 1"/>
          <p:cNvSpPr/>
          <p:nvPr/>
        </p:nvSpPr>
        <p:spPr>
          <a:xfrm>
            <a:off x="1814393" y="1765459"/>
            <a:ext cx="3163491"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Cross-Cultural Replication</a:t>
            </a:r>
            <a:endParaRPr lang="en-US" sz="2000" dirty="0"/>
          </a:p>
        </p:txBody>
      </p:sp>
      <p:sp>
        <p:nvSpPr>
          <p:cNvPr id="5" name="Text 2"/>
          <p:cNvSpPr/>
          <p:nvPr/>
        </p:nvSpPr>
        <p:spPr>
          <a:xfrm>
            <a:off x="1814393" y="2186345"/>
            <a:ext cx="12022217" cy="272177"/>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Critical Question:</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Do these findings generalize beyond U.S. contexts?</a:t>
            </a:r>
            <a:endParaRPr lang="en-US" sz="1300" dirty="0"/>
          </a:p>
        </p:txBody>
      </p:sp>
      <p:sp>
        <p:nvSpPr>
          <p:cNvPr id="6" name="Text 3"/>
          <p:cNvSpPr/>
          <p:nvPr/>
        </p:nvSpPr>
        <p:spPr>
          <a:xfrm>
            <a:off x="1814393" y="2560558"/>
            <a:ext cx="12022217" cy="272177"/>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Hypotheses to Test:</a:t>
            </a:r>
            <a:endParaRPr lang="en-US" sz="1300" dirty="0"/>
          </a:p>
        </p:txBody>
      </p:sp>
      <p:sp>
        <p:nvSpPr>
          <p:cNvPr id="7" name="Text 4"/>
          <p:cNvSpPr/>
          <p:nvPr/>
        </p:nvSpPr>
        <p:spPr>
          <a:xfrm>
            <a:off x="1814393" y="2934772"/>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Does Price Value dominance hold in collectivist cultures where group benefit may matter more than individual value?</a:t>
            </a:r>
            <a:endParaRPr lang="en-US" sz="1300" dirty="0"/>
          </a:p>
        </p:txBody>
      </p:sp>
      <p:sp>
        <p:nvSpPr>
          <p:cNvPr id="8" name="Text 5"/>
          <p:cNvSpPr/>
          <p:nvPr/>
        </p:nvSpPr>
        <p:spPr>
          <a:xfrm>
            <a:off x="1814393" y="3266480"/>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Does Social Influence operate differently in high power-distance cultures where hierarchical endorsement carries greater weight?</a:t>
            </a:r>
            <a:endParaRPr lang="en-US" sz="1300" dirty="0"/>
          </a:p>
        </p:txBody>
      </p:sp>
      <p:sp>
        <p:nvSpPr>
          <p:cNvPr id="9" name="Text 6"/>
          <p:cNvSpPr/>
          <p:nvPr/>
        </p:nvSpPr>
        <p:spPr>
          <a:xfrm>
            <a:off x="1814393" y="3598188"/>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Do cultural attitudes toward technology, privacy, and autonomy moderate adoption patterns?</a:t>
            </a:r>
            <a:endParaRPr lang="en-US" sz="1300" dirty="0"/>
          </a:p>
        </p:txBody>
      </p:sp>
      <p:sp>
        <p:nvSpPr>
          <p:cNvPr id="10" name="Text 7"/>
          <p:cNvSpPr/>
          <p:nvPr/>
        </p:nvSpPr>
        <p:spPr>
          <a:xfrm>
            <a:off x="1814393" y="3972401"/>
            <a:ext cx="12022217" cy="272177"/>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Required:</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Test measurement invariance across languages and cultural contexts. Develop culturally appropriate norm tables for AIRS-16 scoring.</a:t>
            </a:r>
            <a:endParaRPr lang="en-US" sz="1300" dirty="0"/>
          </a:p>
        </p:txBody>
      </p:sp>
      <p:pic>
        <p:nvPicPr>
          <p:cNvPr id="11" name="Image 1" descr="preencoded.png">    </p:cNvPr>
          <p:cNvPicPr>
            <a:picLocks noChangeAspect="1"/>
          </p:cNvPicPr>
          <p:nvPr/>
        </p:nvPicPr>
        <p:blipFill>
          <a:blip r:embed="rId2"/>
          <a:stretch>
            <a:fillRect/>
          </a:stretch>
        </p:blipFill>
        <p:spPr>
          <a:xfrm>
            <a:off x="793790" y="4414599"/>
            <a:ext cx="850583" cy="3091339"/>
          </a:xfrm>
          <a:prstGeom prst="rect">
            <a:avLst/>
          </a:prstGeom>
        </p:spPr>
      </p:pic>
      <p:sp>
        <p:nvSpPr>
          <p:cNvPr id="12" name="Text 8"/>
          <p:cNvSpPr/>
          <p:nvPr/>
        </p:nvSpPr>
        <p:spPr>
          <a:xfrm>
            <a:off x="1814393" y="4584621"/>
            <a:ext cx="3406616"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Domain-Specific Adaptation</a:t>
            </a:r>
            <a:endParaRPr lang="en-US" sz="2000" dirty="0"/>
          </a:p>
        </p:txBody>
      </p:sp>
      <p:sp>
        <p:nvSpPr>
          <p:cNvPr id="13" name="Text 9"/>
          <p:cNvSpPr/>
          <p:nvPr/>
        </p:nvSpPr>
        <p:spPr>
          <a:xfrm>
            <a:off x="1814393" y="5005507"/>
            <a:ext cx="12022217" cy="272177"/>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Recognition:</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AI in healthcare differs from AI in marketing, finance, or education</a:t>
            </a:r>
            <a:endParaRPr lang="en-US" sz="1300" dirty="0"/>
          </a:p>
        </p:txBody>
      </p:sp>
      <p:sp>
        <p:nvSpPr>
          <p:cNvPr id="14" name="Text 10"/>
          <p:cNvSpPr/>
          <p:nvPr/>
        </p:nvSpPr>
        <p:spPr>
          <a:xfrm>
            <a:off x="1814393" y="5379720"/>
            <a:ext cx="12022217" cy="272177"/>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Key Differences:</a:t>
            </a:r>
            <a:endParaRPr lang="en-US" sz="1300" dirty="0"/>
          </a:p>
        </p:txBody>
      </p:sp>
      <p:sp>
        <p:nvSpPr>
          <p:cNvPr id="15" name="Text 11"/>
          <p:cNvSpPr/>
          <p:nvPr/>
        </p:nvSpPr>
        <p:spPr>
          <a:xfrm>
            <a:off x="1814393" y="5753933"/>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Regulated vs. unregulated applications have different risk profiles</a:t>
            </a:r>
            <a:endParaRPr lang="en-US" sz="1300" dirty="0"/>
          </a:p>
        </p:txBody>
      </p:sp>
      <p:sp>
        <p:nvSpPr>
          <p:cNvPr id="16" name="Text 12"/>
          <p:cNvSpPr/>
          <p:nvPr/>
        </p:nvSpPr>
        <p:spPr>
          <a:xfrm>
            <a:off x="1814393" y="6085642"/>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Consequentiality varies—medical diagnosis AI has life-or-death implications; recommendation engine AI does not</a:t>
            </a:r>
            <a:endParaRPr lang="en-US" sz="1300" dirty="0"/>
          </a:p>
        </p:txBody>
      </p:sp>
      <p:sp>
        <p:nvSpPr>
          <p:cNvPr id="17" name="Text 13"/>
          <p:cNvSpPr/>
          <p:nvPr/>
        </p:nvSpPr>
        <p:spPr>
          <a:xfrm>
            <a:off x="1814393" y="6417350"/>
            <a:ext cx="1202221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15213F"/>
                </a:solidFill>
                <a:latin typeface="Roboto" pitchFamily="34" charset="0"/>
                <a:ea typeface="Roboto" pitchFamily="34" charset="-122"/>
                <a:cs typeface="Roboto" pitchFamily="34" charset="-120"/>
              </a:rPr>
              <a:t>Professional identity factors—physicians may perceive AI differently than marketers</a:t>
            </a:r>
            <a:endParaRPr lang="en-US" sz="1300" dirty="0"/>
          </a:p>
        </p:txBody>
      </p:sp>
      <p:sp>
        <p:nvSpPr>
          <p:cNvPr id="18" name="Text 14"/>
          <p:cNvSpPr/>
          <p:nvPr/>
        </p:nvSpPr>
        <p:spPr>
          <a:xfrm>
            <a:off x="1814393" y="6791563"/>
            <a:ext cx="12022217" cy="544354"/>
          </a:xfrm>
          <a:prstGeom prst="rect">
            <a:avLst/>
          </a:prstGeom>
          <a:noFill/>
          <a:ln/>
        </p:spPr>
        <p:txBody>
          <a:bodyPr wrap="squar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Research Need:</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Develop domain-specific modules for AIRS-16 that capture context-specific adoption factors while maintaining core structure for cross-domain comparisons.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808196"/>
            <a:ext cx="5888712"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Roboto Slab" pitchFamily="34" charset="0"/>
                <a:ea typeface="Roboto Slab" pitchFamily="34" charset="-122"/>
                <a:cs typeface="Roboto Slab" pitchFamily="34" charset="-120"/>
              </a:rPr>
              <a:t>Research Contributions Summary</a:t>
            </a:r>
            <a:endParaRPr lang="en-US" sz="2900" dirty="0"/>
          </a:p>
        </p:txBody>
      </p:sp>
      <p:sp>
        <p:nvSpPr>
          <p:cNvPr id="3" name="Text 1"/>
          <p:cNvSpPr/>
          <p:nvPr/>
        </p:nvSpPr>
        <p:spPr>
          <a:xfrm>
            <a:off x="793790" y="1637467"/>
            <a:ext cx="294870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Theoretical</a:t>
            </a:r>
            <a:endParaRPr lang="en-US" sz="2300" dirty="0"/>
          </a:p>
        </p:txBody>
      </p:sp>
      <p:sp>
        <p:nvSpPr>
          <p:cNvPr id="4" name="Shape 2"/>
          <p:cNvSpPr/>
          <p:nvPr/>
        </p:nvSpPr>
        <p:spPr>
          <a:xfrm>
            <a:off x="793790" y="2171938"/>
            <a:ext cx="331708" cy="331708"/>
          </a:xfrm>
          <a:prstGeom prst="roundRect">
            <a:avLst>
              <a:gd name="adj" fmla="val 6667"/>
            </a:avLst>
          </a:prstGeom>
          <a:solidFill>
            <a:srgbClr val="E9ECF2"/>
          </a:solidFill>
          <a:ln/>
        </p:spPr>
      </p:sp>
      <p:sp>
        <p:nvSpPr>
          <p:cNvPr id="5" name="Text 3"/>
          <p:cNvSpPr/>
          <p:nvPr/>
        </p:nvSpPr>
        <p:spPr>
          <a:xfrm>
            <a:off x="1272897" y="2222540"/>
            <a:ext cx="2012513"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Value-dominant model</a:t>
            </a:r>
            <a:endParaRPr lang="en-US" sz="1450" dirty="0"/>
          </a:p>
        </p:txBody>
      </p:sp>
      <p:sp>
        <p:nvSpPr>
          <p:cNvPr id="6" name="Text 4"/>
          <p:cNvSpPr/>
          <p:nvPr/>
        </p:nvSpPr>
        <p:spPr>
          <a:xfrm>
            <a:off x="1272897" y="2600325"/>
            <a:ext cx="3584019"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Price Value (β = .505) reverses 30 years of technology acceptance research where productivity has traditionally dominated</a:t>
            </a:r>
            <a:endParaRPr lang="en-US" sz="1150" dirty="0"/>
          </a:p>
        </p:txBody>
      </p:sp>
      <p:sp>
        <p:nvSpPr>
          <p:cNvPr id="7" name="Shape 5"/>
          <p:cNvSpPr/>
          <p:nvPr/>
        </p:nvSpPr>
        <p:spPr>
          <a:xfrm>
            <a:off x="793790" y="3602355"/>
            <a:ext cx="331708" cy="331708"/>
          </a:xfrm>
          <a:prstGeom prst="roundRect">
            <a:avLst>
              <a:gd name="adj" fmla="val 6667"/>
            </a:avLst>
          </a:prstGeom>
          <a:solidFill>
            <a:srgbClr val="E9ECF2"/>
          </a:solidFill>
          <a:ln/>
        </p:spPr>
      </p:sp>
      <p:sp>
        <p:nvSpPr>
          <p:cNvPr id="8" name="Text 6"/>
          <p:cNvSpPr/>
          <p:nvPr/>
        </p:nvSpPr>
        <p:spPr>
          <a:xfrm>
            <a:off x="1272897" y="365295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 Trust extension</a:t>
            </a:r>
            <a:endParaRPr lang="en-US" sz="1450" dirty="0"/>
          </a:p>
        </p:txBody>
      </p:sp>
      <p:sp>
        <p:nvSpPr>
          <p:cNvPr id="9" name="Text 7"/>
          <p:cNvSpPr/>
          <p:nvPr/>
        </p:nvSpPr>
        <p:spPr>
          <a:xfrm>
            <a:off x="1272897" y="4030742"/>
            <a:ext cx="3584019"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Establishes AI Trust as diagnostic factor within UTAUT2 framework, addressing AI-specific adoption psychology</a:t>
            </a:r>
            <a:endParaRPr lang="en-US" sz="1150" dirty="0"/>
          </a:p>
        </p:txBody>
      </p:sp>
      <p:sp>
        <p:nvSpPr>
          <p:cNvPr id="10" name="Shape 8"/>
          <p:cNvSpPr/>
          <p:nvPr/>
        </p:nvSpPr>
        <p:spPr>
          <a:xfrm>
            <a:off x="793790" y="5032772"/>
            <a:ext cx="331708" cy="331708"/>
          </a:xfrm>
          <a:prstGeom prst="roundRect">
            <a:avLst>
              <a:gd name="adj" fmla="val 6667"/>
            </a:avLst>
          </a:prstGeom>
          <a:solidFill>
            <a:srgbClr val="E9ECF2"/>
          </a:solidFill>
          <a:ln/>
        </p:spPr>
      </p:sp>
      <p:sp>
        <p:nvSpPr>
          <p:cNvPr id="11" name="Text 9"/>
          <p:cNvSpPr/>
          <p:nvPr/>
        </p:nvSpPr>
        <p:spPr>
          <a:xfrm>
            <a:off x="1272897" y="5083373"/>
            <a:ext cx="1964412"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Traditional drivers fail</a:t>
            </a:r>
            <a:endParaRPr lang="en-US" sz="1450" dirty="0"/>
          </a:p>
        </p:txBody>
      </p:sp>
      <p:sp>
        <p:nvSpPr>
          <p:cNvPr id="12" name="Text 10"/>
          <p:cNvSpPr/>
          <p:nvPr/>
        </p:nvSpPr>
        <p:spPr>
          <a:xfrm>
            <a:off x="1272897" y="5461159"/>
            <a:ext cx="3584019"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Performance Expectancy, Effort Expectancy, Facilitating Conditions, and Habit show no predictive power for AI—challenging foundational assumptions</a:t>
            </a:r>
            <a:endParaRPr lang="en-US" sz="1150" dirty="0"/>
          </a:p>
        </p:txBody>
      </p:sp>
      <p:sp>
        <p:nvSpPr>
          <p:cNvPr id="13" name="Text 11"/>
          <p:cNvSpPr/>
          <p:nvPr/>
        </p:nvSpPr>
        <p:spPr>
          <a:xfrm>
            <a:off x="5224105" y="1637467"/>
            <a:ext cx="294870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Methodological</a:t>
            </a:r>
            <a:endParaRPr lang="en-US" sz="2300" dirty="0"/>
          </a:p>
        </p:txBody>
      </p:sp>
      <p:sp>
        <p:nvSpPr>
          <p:cNvPr id="14" name="Shape 12"/>
          <p:cNvSpPr/>
          <p:nvPr/>
        </p:nvSpPr>
        <p:spPr>
          <a:xfrm>
            <a:off x="5224105" y="2171938"/>
            <a:ext cx="331708" cy="331708"/>
          </a:xfrm>
          <a:prstGeom prst="roundRect">
            <a:avLst>
              <a:gd name="adj" fmla="val 6667"/>
            </a:avLst>
          </a:prstGeom>
          <a:solidFill>
            <a:srgbClr val="E9ECF2"/>
          </a:solidFill>
          <a:ln/>
        </p:spPr>
      </p:sp>
      <p:sp>
        <p:nvSpPr>
          <p:cNvPr id="15" name="Text 13"/>
          <p:cNvSpPr/>
          <p:nvPr/>
        </p:nvSpPr>
        <p:spPr>
          <a:xfrm>
            <a:off x="5703213" y="222254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AIRS-16 instrument</a:t>
            </a:r>
            <a:endParaRPr lang="en-US" sz="1450" dirty="0"/>
          </a:p>
        </p:txBody>
      </p:sp>
      <p:sp>
        <p:nvSpPr>
          <p:cNvPr id="16" name="Text 14"/>
          <p:cNvSpPr/>
          <p:nvPr/>
        </p:nvSpPr>
        <p:spPr>
          <a:xfrm>
            <a:off x="5703213" y="2600325"/>
            <a:ext cx="3584019"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First psychometrically validated AI adoption readiness instrument (8 factors, 16 items)</a:t>
            </a:r>
            <a:endParaRPr lang="en-US" sz="1150" dirty="0"/>
          </a:p>
        </p:txBody>
      </p:sp>
      <p:sp>
        <p:nvSpPr>
          <p:cNvPr id="17" name="Shape 15"/>
          <p:cNvSpPr/>
          <p:nvPr/>
        </p:nvSpPr>
        <p:spPr>
          <a:xfrm>
            <a:off x="5224105" y="3366611"/>
            <a:ext cx="331708" cy="331708"/>
          </a:xfrm>
          <a:prstGeom prst="roundRect">
            <a:avLst>
              <a:gd name="adj" fmla="val 6667"/>
            </a:avLst>
          </a:prstGeom>
          <a:solidFill>
            <a:srgbClr val="E9ECF2"/>
          </a:solidFill>
          <a:ln/>
        </p:spPr>
      </p:sp>
      <p:sp>
        <p:nvSpPr>
          <p:cNvPr id="18" name="Text 16"/>
          <p:cNvSpPr/>
          <p:nvPr/>
        </p:nvSpPr>
        <p:spPr>
          <a:xfrm>
            <a:off x="5703213" y="3417213"/>
            <a:ext cx="1897142"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Strong psychometrics</a:t>
            </a:r>
            <a:endParaRPr lang="en-US" sz="1450" dirty="0"/>
          </a:p>
        </p:txBody>
      </p:sp>
      <p:sp>
        <p:nvSpPr>
          <p:cNvPr id="19" name="Text 17"/>
          <p:cNvSpPr/>
          <p:nvPr/>
        </p:nvSpPr>
        <p:spPr>
          <a:xfrm>
            <a:off x="5703213" y="3794998"/>
            <a:ext cx="3584019"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CFI = .975, TLI = .960, all reliability coefficients α &gt; .74</a:t>
            </a:r>
            <a:endParaRPr lang="en-US" sz="1150" dirty="0"/>
          </a:p>
        </p:txBody>
      </p:sp>
      <p:sp>
        <p:nvSpPr>
          <p:cNvPr id="20" name="Shape 18"/>
          <p:cNvSpPr/>
          <p:nvPr/>
        </p:nvSpPr>
        <p:spPr>
          <a:xfrm>
            <a:off x="5224105" y="4325541"/>
            <a:ext cx="331708" cy="331708"/>
          </a:xfrm>
          <a:prstGeom prst="roundRect">
            <a:avLst>
              <a:gd name="adj" fmla="val 6667"/>
            </a:avLst>
          </a:prstGeom>
          <a:solidFill>
            <a:srgbClr val="E9ECF2"/>
          </a:solidFill>
          <a:ln/>
        </p:spPr>
      </p:sp>
      <p:sp>
        <p:nvSpPr>
          <p:cNvPr id="21" name="Text 19"/>
          <p:cNvSpPr/>
          <p:nvPr/>
        </p:nvSpPr>
        <p:spPr>
          <a:xfrm>
            <a:off x="5703213" y="4376142"/>
            <a:ext cx="1969294"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Exceptional prediction</a:t>
            </a:r>
            <a:endParaRPr lang="en-US" sz="1450" dirty="0"/>
          </a:p>
        </p:txBody>
      </p:sp>
      <p:sp>
        <p:nvSpPr>
          <p:cNvPr id="22" name="Text 20"/>
          <p:cNvSpPr/>
          <p:nvPr/>
        </p:nvSpPr>
        <p:spPr>
          <a:xfrm>
            <a:off x="5703213" y="4753928"/>
            <a:ext cx="3584019" cy="707231"/>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Model explains 85.2% of variance in behavioral intention—nearly double typical technology acceptance models</a:t>
            </a:r>
            <a:endParaRPr lang="en-US" sz="1150" dirty="0"/>
          </a:p>
        </p:txBody>
      </p:sp>
      <p:sp>
        <p:nvSpPr>
          <p:cNvPr id="23" name="Text 21"/>
          <p:cNvSpPr/>
          <p:nvPr/>
        </p:nvSpPr>
        <p:spPr>
          <a:xfrm>
            <a:off x="9654421" y="1637467"/>
            <a:ext cx="294870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Practical</a:t>
            </a:r>
            <a:endParaRPr lang="en-US" sz="2300" dirty="0"/>
          </a:p>
        </p:txBody>
      </p:sp>
      <p:sp>
        <p:nvSpPr>
          <p:cNvPr id="24" name="Shape 22"/>
          <p:cNvSpPr/>
          <p:nvPr/>
        </p:nvSpPr>
        <p:spPr>
          <a:xfrm>
            <a:off x="9654421" y="2171938"/>
            <a:ext cx="331708" cy="331708"/>
          </a:xfrm>
          <a:prstGeom prst="roundRect">
            <a:avLst>
              <a:gd name="adj" fmla="val 6667"/>
            </a:avLst>
          </a:prstGeom>
          <a:solidFill>
            <a:srgbClr val="E9ECF2"/>
          </a:solidFill>
          <a:ln/>
        </p:spPr>
      </p:sp>
      <p:sp>
        <p:nvSpPr>
          <p:cNvPr id="25" name="Text 23"/>
          <p:cNvSpPr/>
          <p:nvPr/>
        </p:nvSpPr>
        <p:spPr>
          <a:xfrm>
            <a:off x="10133528" y="222254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User segmentation</a:t>
            </a:r>
            <a:endParaRPr lang="en-US" sz="1450" dirty="0"/>
          </a:p>
        </p:txBody>
      </p:sp>
      <p:sp>
        <p:nvSpPr>
          <p:cNvPr id="26" name="Text 24"/>
          <p:cNvSpPr/>
          <p:nvPr/>
        </p:nvSpPr>
        <p:spPr>
          <a:xfrm>
            <a:off x="10133528" y="2600325"/>
            <a:ext cx="371808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Four distinct AI adoption profiles with targeted intervention strategies for each segment</a:t>
            </a:r>
            <a:endParaRPr lang="en-US" sz="1150" dirty="0"/>
          </a:p>
        </p:txBody>
      </p:sp>
      <p:sp>
        <p:nvSpPr>
          <p:cNvPr id="27" name="Shape 25"/>
          <p:cNvSpPr/>
          <p:nvPr/>
        </p:nvSpPr>
        <p:spPr>
          <a:xfrm>
            <a:off x="9654421" y="3366611"/>
            <a:ext cx="331708" cy="331708"/>
          </a:xfrm>
          <a:prstGeom prst="roundRect">
            <a:avLst>
              <a:gd name="adj" fmla="val 6667"/>
            </a:avLst>
          </a:prstGeom>
          <a:solidFill>
            <a:srgbClr val="E9ECF2"/>
          </a:solidFill>
          <a:ln/>
        </p:spPr>
      </p:sp>
      <p:sp>
        <p:nvSpPr>
          <p:cNvPr id="28" name="Text 26"/>
          <p:cNvSpPr/>
          <p:nvPr/>
        </p:nvSpPr>
        <p:spPr>
          <a:xfrm>
            <a:off x="10133528" y="341721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Diagnostic tool</a:t>
            </a:r>
            <a:endParaRPr lang="en-US" sz="1450" dirty="0"/>
          </a:p>
        </p:txBody>
      </p:sp>
      <p:sp>
        <p:nvSpPr>
          <p:cNvPr id="29" name="Text 27"/>
          <p:cNvSpPr/>
          <p:nvPr/>
        </p:nvSpPr>
        <p:spPr>
          <a:xfrm>
            <a:off x="10133528" y="3794998"/>
            <a:ext cx="371808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3-minute assessment identifies specific adoption barriers, enabling targeted resource allocation</a:t>
            </a:r>
            <a:endParaRPr lang="en-US" sz="1150" dirty="0"/>
          </a:p>
        </p:txBody>
      </p:sp>
      <p:sp>
        <p:nvSpPr>
          <p:cNvPr id="30" name="Shape 28"/>
          <p:cNvSpPr/>
          <p:nvPr/>
        </p:nvSpPr>
        <p:spPr>
          <a:xfrm>
            <a:off x="9654421" y="4561284"/>
            <a:ext cx="331708" cy="331708"/>
          </a:xfrm>
          <a:prstGeom prst="roundRect">
            <a:avLst>
              <a:gd name="adj" fmla="val 6667"/>
            </a:avLst>
          </a:prstGeom>
          <a:solidFill>
            <a:srgbClr val="E9ECF2"/>
          </a:solidFill>
          <a:ln/>
        </p:spPr>
      </p:sp>
      <p:sp>
        <p:nvSpPr>
          <p:cNvPr id="31" name="Text 29"/>
          <p:cNvSpPr/>
          <p:nvPr/>
        </p:nvSpPr>
        <p:spPr>
          <a:xfrm>
            <a:off x="10133528" y="4611886"/>
            <a:ext cx="2221825"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Evidence-based guidance</a:t>
            </a:r>
            <a:endParaRPr lang="en-US" sz="1450" dirty="0"/>
          </a:p>
        </p:txBody>
      </p:sp>
      <p:sp>
        <p:nvSpPr>
          <p:cNvPr id="32" name="Text 30"/>
          <p:cNvSpPr/>
          <p:nvPr/>
        </p:nvSpPr>
        <p:spPr>
          <a:xfrm>
            <a:off x="10133528" y="4989671"/>
            <a:ext cx="3718084" cy="471488"/>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Actionable recommendations grounded in empirical findings rather than intuition or conventional wisdom</a:t>
            </a:r>
            <a:endParaRPr lang="en-US" sz="1150" dirty="0"/>
          </a:p>
        </p:txBody>
      </p:sp>
      <p:sp>
        <p:nvSpPr>
          <p:cNvPr id="33" name="Text 31"/>
          <p:cNvSpPr/>
          <p:nvPr/>
        </p:nvSpPr>
        <p:spPr>
          <a:xfrm>
            <a:off x="1014889" y="6665952"/>
            <a:ext cx="12821722" cy="589598"/>
          </a:xfrm>
          <a:prstGeom prst="rect">
            <a:avLst/>
          </a:prstGeom>
          <a:noFill/>
          <a:ln/>
        </p:spPr>
        <p:txBody>
          <a:bodyPr wrap="square" lIns="0" tIns="0" rIns="0" bIns="0" rtlCol="0" anchor="t"/>
          <a:lstStyle/>
          <a:p>
            <a:pPr algn="l" indent="0" marL="0">
              <a:lnSpc>
                <a:spcPts val="2300"/>
              </a:lnSpc>
              <a:buNone/>
            </a:pPr>
            <a:r>
              <a:rPr lang="en-US" sz="1450" b="1" dirty="0">
                <a:solidFill>
                  <a:srgbClr val="15213F"/>
                </a:solidFill>
                <a:latin typeface="Roboto" pitchFamily="34" charset="0"/>
                <a:ea typeface="Roboto" pitchFamily="34" charset="-122"/>
                <a:cs typeface="Roboto" pitchFamily="34" charset="-120"/>
              </a:rPr>
              <a:t>Core Insight:</a:t>
            </a:r>
            <a:pPr algn="l" indent="0" marL="0">
              <a:lnSpc>
                <a:spcPts val="2300"/>
              </a:lnSpc>
              <a:buNone/>
            </a:pPr>
            <a:r>
              <a:rPr lang="en-US" sz="1450" dirty="0">
                <a:solidFill>
                  <a:srgbClr val="15213F"/>
                </a:solidFill>
                <a:latin typeface="Roboto" pitchFamily="34" charset="0"/>
                <a:ea typeface="Roboto" pitchFamily="34" charset="-122"/>
                <a:cs typeface="Roboto" pitchFamily="34" charset="-120"/>
              </a:rPr>
              <a:t> Organizations don't have an AI technology problem—they have an AI adoption problem. This research provides the diagnostic tools to understand and address it.</a:t>
            </a:r>
            <a:endParaRPr lang="en-US" sz="1450" dirty="0"/>
          </a:p>
        </p:txBody>
      </p:sp>
      <p:sp>
        <p:nvSpPr>
          <p:cNvPr id="34" name="Shape 32"/>
          <p:cNvSpPr/>
          <p:nvPr/>
        </p:nvSpPr>
        <p:spPr>
          <a:xfrm>
            <a:off x="793790" y="6500098"/>
            <a:ext cx="15240" cy="921306"/>
          </a:xfrm>
          <a:prstGeom prst="rect">
            <a:avLst/>
          </a:prstGeom>
          <a:solidFill>
            <a:srgbClr val="3257B8"/>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763905"/>
            <a:ext cx="7331988"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Key Numbers to Remember</a:t>
            </a:r>
            <a:endParaRPr lang="en-US" sz="4450" dirty="0"/>
          </a:p>
        </p:txBody>
      </p:sp>
      <p:sp>
        <p:nvSpPr>
          <p:cNvPr id="3" name="Text 1"/>
          <p:cNvSpPr/>
          <p:nvPr/>
        </p:nvSpPr>
        <p:spPr>
          <a:xfrm>
            <a:off x="793790" y="2039660"/>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523</a:t>
            </a:r>
            <a:endParaRPr lang="en-US" sz="5850" dirty="0"/>
          </a:p>
        </p:txBody>
      </p:sp>
      <p:sp>
        <p:nvSpPr>
          <p:cNvPr id="4" name="Text 2"/>
          <p:cNvSpPr/>
          <p:nvPr/>
        </p:nvSpPr>
        <p:spPr>
          <a:xfrm>
            <a:off x="900113" y="307145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Participants</a:t>
            </a:r>
            <a:endParaRPr lang="en-US" sz="2200" dirty="0"/>
          </a:p>
        </p:txBody>
      </p:sp>
      <p:sp>
        <p:nvSpPr>
          <p:cNvPr id="5" name="Text 3"/>
          <p:cNvSpPr/>
          <p:nvPr/>
        </p:nvSpPr>
        <p:spPr>
          <a:xfrm>
            <a:off x="793790" y="3561874"/>
            <a:ext cx="3048000" cy="1088708"/>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Diverse sample across academic and professional contexts</a:t>
            </a:r>
            <a:endParaRPr lang="en-US" sz="1750" dirty="0"/>
          </a:p>
        </p:txBody>
      </p:sp>
      <p:sp>
        <p:nvSpPr>
          <p:cNvPr id="6" name="Text 4"/>
          <p:cNvSpPr/>
          <p:nvPr/>
        </p:nvSpPr>
        <p:spPr>
          <a:xfrm>
            <a:off x="4125278" y="203966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.505</a:t>
            </a:r>
            <a:endParaRPr lang="en-US" sz="5850" dirty="0"/>
          </a:p>
        </p:txBody>
      </p:sp>
      <p:sp>
        <p:nvSpPr>
          <p:cNvPr id="7" name="Text 5"/>
          <p:cNvSpPr/>
          <p:nvPr/>
        </p:nvSpPr>
        <p:spPr>
          <a:xfrm>
            <a:off x="4231719" y="307145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Price Value β</a:t>
            </a:r>
            <a:endParaRPr lang="en-US" sz="2200" dirty="0"/>
          </a:p>
        </p:txBody>
      </p:sp>
      <p:sp>
        <p:nvSpPr>
          <p:cNvPr id="8" name="Text 6"/>
          <p:cNvSpPr/>
          <p:nvPr/>
        </p:nvSpPr>
        <p:spPr>
          <a:xfrm>
            <a:off x="4125278" y="3561874"/>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Strongest predictor of AI adoption intention</a:t>
            </a:r>
            <a:endParaRPr lang="en-US" sz="1750" dirty="0"/>
          </a:p>
        </p:txBody>
      </p:sp>
      <p:sp>
        <p:nvSpPr>
          <p:cNvPr id="9" name="Text 7"/>
          <p:cNvSpPr/>
          <p:nvPr/>
        </p:nvSpPr>
        <p:spPr>
          <a:xfrm>
            <a:off x="7456884" y="203966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85.2%</a:t>
            </a:r>
            <a:endParaRPr lang="en-US" sz="5850" dirty="0"/>
          </a:p>
        </p:txBody>
      </p:sp>
      <p:sp>
        <p:nvSpPr>
          <p:cNvPr id="10" name="Text 8"/>
          <p:cNvSpPr/>
          <p:nvPr/>
        </p:nvSpPr>
        <p:spPr>
          <a:xfrm>
            <a:off x="7563326" y="307145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Variance Explained</a:t>
            </a:r>
            <a:endParaRPr lang="en-US" sz="2200" dirty="0"/>
          </a:p>
        </p:txBody>
      </p:sp>
      <p:sp>
        <p:nvSpPr>
          <p:cNvPr id="11" name="Text 9"/>
          <p:cNvSpPr/>
          <p:nvPr/>
        </p:nvSpPr>
        <p:spPr>
          <a:xfrm>
            <a:off x="7456884" y="3561874"/>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Model R² demonstrates exceptional predictive power</a:t>
            </a:r>
            <a:endParaRPr lang="en-US" sz="1750" dirty="0"/>
          </a:p>
        </p:txBody>
      </p:sp>
      <p:sp>
        <p:nvSpPr>
          <p:cNvPr id="12" name="Text 10"/>
          <p:cNvSpPr/>
          <p:nvPr/>
        </p:nvSpPr>
        <p:spPr>
          <a:xfrm>
            <a:off x="10788491" y="2039660"/>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.975</a:t>
            </a:r>
            <a:endParaRPr lang="en-US" sz="5850" dirty="0"/>
          </a:p>
        </p:txBody>
      </p:sp>
      <p:sp>
        <p:nvSpPr>
          <p:cNvPr id="13" name="Text 11"/>
          <p:cNvSpPr/>
          <p:nvPr/>
        </p:nvSpPr>
        <p:spPr>
          <a:xfrm>
            <a:off x="10894933" y="307145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CFI Model Fit</a:t>
            </a:r>
            <a:endParaRPr lang="en-US" sz="2200" dirty="0"/>
          </a:p>
        </p:txBody>
      </p:sp>
      <p:sp>
        <p:nvSpPr>
          <p:cNvPr id="14" name="Text 12"/>
          <p:cNvSpPr/>
          <p:nvPr/>
        </p:nvSpPr>
        <p:spPr>
          <a:xfrm>
            <a:off x="10788491" y="3561874"/>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Exceeds excellent threshold for measurement quality</a:t>
            </a:r>
            <a:endParaRPr lang="en-US" sz="1750" dirty="0"/>
          </a:p>
        </p:txBody>
      </p:sp>
      <p:sp>
        <p:nvSpPr>
          <p:cNvPr id="15" name="Text 13"/>
          <p:cNvSpPr/>
          <p:nvPr/>
        </p:nvSpPr>
        <p:spPr>
          <a:xfrm>
            <a:off x="793790" y="5217557"/>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4</a:t>
            </a:r>
            <a:endParaRPr lang="en-US" sz="5850" dirty="0"/>
          </a:p>
        </p:txBody>
      </p:sp>
      <p:sp>
        <p:nvSpPr>
          <p:cNvPr id="16" name="Text 14"/>
          <p:cNvSpPr/>
          <p:nvPr/>
        </p:nvSpPr>
        <p:spPr>
          <a:xfrm>
            <a:off x="900113" y="6249353"/>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User Segments</a:t>
            </a:r>
            <a:endParaRPr lang="en-US" sz="2200" dirty="0"/>
          </a:p>
        </p:txBody>
      </p:sp>
      <p:sp>
        <p:nvSpPr>
          <p:cNvPr id="17" name="Text 15"/>
          <p:cNvSpPr/>
          <p:nvPr/>
        </p:nvSpPr>
        <p:spPr>
          <a:xfrm>
            <a:off x="793790" y="6739771"/>
            <a:ext cx="3048000"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Distinct adoption profiles requiring different strategies</a:t>
            </a:r>
            <a:endParaRPr lang="en-US" sz="1750" dirty="0"/>
          </a:p>
        </p:txBody>
      </p:sp>
      <p:sp>
        <p:nvSpPr>
          <p:cNvPr id="18" name="Text 16"/>
          <p:cNvSpPr/>
          <p:nvPr/>
        </p:nvSpPr>
        <p:spPr>
          <a:xfrm>
            <a:off x="4125278" y="5217557"/>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16</a:t>
            </a:r>
            <a:endParaRPr lang="en-US" sz="5850" dirty="0"/>
          </a:p>
        </p:txBody>
      </p:sp>
      <p:sp>
        <p:nvSpPr>
          <p:cNvPr id="19" name="Text 17"/>
          <p:cNvSpPr/>
          <p:nvPr/>
        </p:nvSpPr>
        <p:spPr>
          <a:xfrm>
            <a:off x="4231719" y="6249353"/>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Final Items</a:t>
            </a:r>
            <a:endParaRPr lang="en-US" sz="2200" dirty="0"/>
          </a:p>
        </p:txBody>
      </p:sp>
      <p:sp>
        <p:nvSpPr>
          <p:cNvPr id="20" name="Text 18"/>
          <p:cNvSpPr/>
          <p:nvPr/>
        </p:nvSpPr>
        <p:spPr>
          <a:xfrm>
            <a:off x="4125278" y="6739771"/>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Refined from 28 items through rigorous validation</a:t>
            </a:r>
            <a:endParaRPr lang="en-US" sz="1750" dirty="0"/>
          </a:p>
        </p:txBody>
      </p:sp>
      <p:sp>
        <p:nvSpPr>
          <p:cNvPr id="21" name="Text 19"/>
          <p:cNvSpPr/>
          <p:nvPr/>
        </p:nvSpPr>
        <p:spPr>
          <a:xfrm>
            <a:off x="7456884" y="5217557"/>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a:t>
            </a:r>
            <a:endParaRPr lang="en-US" sz="5850" dirty="0"/>
          </a:p>
        </p:txBody>
      </p:sp>
      <p:sp>
        <p:nvSpPr>
          <p:cNvPr id="22" name="Text 20"/>
          <p:cNvSpPr/>
          <p:nvPr/>
        </p:nvSpPr>
        <p:spPr>
          <a:xfrm>
            <a:off x="7563326" y="6249353"/>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Validated Factors</a:t>
            </a:r>
            <a:endParaRPr lang="en-US" sz="2200" dirty="0"/>
          </a:p>
        </p:txBody>
      </p:sp>
      <p:sp>
        <p:nvSpPr>
          <p:cNvPr id="23" name="Text 21"/>
          <p:cNvSpPr/>
          <p:nvPr/>
        </p:nvSpPr>
        <p:spPr>
          <a:xfrm>
            <a:off x="7456884" y="6739771"/>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Comprehensive AI adoption readiness framework</a:t>
            </a:r>
            <a:endParaRPr lang="en-US" sz="1750" dirty="0"/>
          </a:p>
        </p:txBody>
      </p:sp>
      <p:sp>
        <p:nvSpPr>
          <p:cNvPr id="24" name="Text 22"/>
          <p:cNvSpPr/>
          <p:nvPr/>
        </p:nvSpPr>
        <p:spPr>
          <a:xfrm>
            <a:off x="10788491" y="5217557"/>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3</a:t>
            </a:r>
            <a:endParaRPr lang="en-US" sz="5850" dirty="0"/>
          </a:p>
        </p:txBody>
      </p:sp>
      <p:sp>
        <p:nvSpPr>
          <p:cNvPr id="25" name="Text 23"/>
          <p:cNvSpPr/>
          <p:nvPr/>
        </p:nvSpPr>
        <p:spPr>
          <a:xfrm>
            <a:off x="10894933" y="6249353"/>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Minutes</a:t>
            </a:r>
            <a:endParaRPr lang="en-US" sz="2200" dirty="0"/>
          </a:p>
        </p:txBody>
      </p:sp>
      <p:sp>
        <p:nvSpPr>
          <p:cNvPr id="26" name="Text 24"/>
          <p:cNvSpPr/>
          <p:nvPr/>
        </p:nvSpPr>
        <p:spPr>
          <a:xfrm>
            <a:off x="10788491" y="6739771"/>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Time required to administer AIRS-16 assessment</a:t>
            </a:r>
            <a:endParaRPr lang="en-US" sz="1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72890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Thank You</a:t>
            </a:r>
            <a:endParaRPr lang="en-US" sz="4450" dirty="0"/>
          </a:p>
        </p:txBody>
      </p:sp>
      <p:sp>
        <p:nvSpPr>
          <p:cNvPr id="3" name="Text 1"/>
          <p:cNvSpPr/>
          <p:nvPr/>
        </p:nvSpPr>
        <p:spPr>
          <a:xfrm>
            <a:off x="793790" y="1777841"/>
            <a:ext cx="11341298" cy="1417677"/>
          </a:xfrm>
          <a:prstGeom prst="rect">
            <a:avLst/>
          </a:prstGeom>
          <a:noFill/>
          <a:ln/>
        </p:spPr>
        <p:txBody>
          <a:bodyPr wrap="none" lIns="0" tIns="0" rIns="0" bIns="0" rtlCol="0" anchor="t"/>
          <a:lstStyle/>
          <a:p>
            <a:pPr algn="l" indent="0" marL="0">
              <a:lnSpc>
                <a:spcPts val="11150"/>
              </a:lnSpc>
              <a:buNone/>
            </a:pPr>
            <a:r>
              <a:rPr lang="en-US" sz="8900" dirty="0">
                <a:solidFill>
                  <a:srgbClr val="3257B8"/>
                </a:solidFill>
                <a:latin typeface="Roboto Slab" pitchFamily="34" charset="0"/>
                <a:ea typeface="Roboto Slab" pitchFamily="34" charset="-122"/>
                <a:cs typeface="Roboto Slab" pitchFamily="34" charset="-120"/>
              </a:rPr>
              <a:t>Questions?</a:t>
            </a:r>
            <a:endParaRPr lang="en-US" sz="8900" dirty="0"/>
          </a:p>
        </p:txBody>
      </p:sp>
      <p:sp>
        <p:nvSpPr>
          <p:cNvPr id="4" name="Shape 2"/>
          <p:cNvSpPr/>
          <p:nvPr/>
        </p:nvSpPr>
        <p:spPr>
          <a:xfrm>
            <a:off x="793790" y="3649061"/>
            <a:ext cx="13042821" cy="35957"/>
          </a:xfrm>
          <a:prstGeom prst="rect">
            <a:avLst/>
          </a:prstGeom>
          <a:solidFill>
            <a:srgbClr val="15213F">
              <a:alpha val="50000"/>
            </a:srgbClr>
          </a:solidFill>
          <a:ln/>
        </p:spPr>
      </p:sp>
      <p:sp>
        <p:nvSpPr>
          <p:cNvPr id="5" name="Text 3"/>
          <p:cNvSpPr/>
          <p:nvPr/>
        </p:nvSpPr>
        <p:spPr>
          <a:xfrm>
            <a:off x="793790" y="3940135"/>
            <a:ext cx="13042821" cy="1360527"/>
          </a:xfrm>
          <a:prstGeom prst="rect">
            <a:avLst/>
          </a:prstGeom>
          <a:noFill/>
          <a:ln/>
        </p:spPr>
        <p:txBody>
          <a:bodyPr wrap="square" lIns="0" tIns="0" rIns="0" bIns="0" rtlCol="0" anchor="t"/>
          <a:lstStyle/>
          <a:p>
            <a:pPr algn="l" indent="0" marL="0">
              <a:lnSpc>
                <a:spcPts val="3550"/>
              </a:lnSpc>
              <a:buNone/>
            </a:pPr>
            <a:r>
              <a:rPr lang="en-US" sz="2200" b="1" dirty="0">
                <a:solidFill>
                  <a:srgbClr val="15213F"/>
                </a:solidFill>
                <a:latin typeface="Roboto" pitchFamily="34" charset="0"/>
                <a:ea typeface="Roboto" pitchFamily="34" charset="-122"/>
                <a:cs typeface="Roboto" pitchFamily="34" charset="-120"/>
              </a:rPr>
              <a:t>Fabio Correa</a:t>
            </a:r>
            <a:pPr algn="l" indent="0" marL="0">
              <a:lnSpc>
                <a:spcPts val="3550"/>
              </a:lnSpc>
              <a:buNone/>
            </a:pPr>
            <a:r>
              <a:rPr lang="en-US" sz="2200" dirty="0">
                <a:solidFill>
                  <a:srgbClr val="15213F"/>
                </a:solidFill>
                <a:latin typeface="Roboto" pitchFamily="34" charset="0"/>
                <a:ea typeface="Roboto" pitchFamily="34" charset="-122"/>
                <a:cs typeface="Roboto" pitchFamily="34" charset="-120"/>
              </a:rPr>
              <a:t>Doctor of Business Administration Candidate</a:t>
            </a:r>
            <a:endParaRPr lang="en-US" sz="2200" dirty="0"/>
          </a:p>
          <a:p>
            <a:pPr algn="l" indent="0" marL="0">
              <a:lnSpc>
                <a:spcPts val="3550"/>
              </a:lnSpc>
              <a:buNone/>
            </a:pPr>
            <a:r>
              <a:rPr lang="en-US" sz="2200" dirty="0">
                <a:solidFill>
                  <a:srgbClr val="15213F"/>
                </a:solidFill>
                <a:latin typeface="Roboto" pitchFamily="34" charset="0"/>
                <a:ea typeface="Roboto" pitchFamily="34" charset="-122"/>
                <a:cs typeface="Roboto" pitchFamily="34" charset="-120"/>
              </a:rPr>
              <a:t>Touro University Worldwide</a:t>
            </a:r>
            <a:endParaRPr lang="en-US" sz="2200" dirty="0"/>
          </a:p>
        </p:txBody>
      </p:sp>
      <p:sp>
        <p:nvSpPr>
          <p:cNvPr id="6" name="Text 4"/>
          <p:cNvSpPr/>
          <p:nvPr/>
        </p:nvSpPr>
        <p:spPr>
          <a:xfrm>
            <a:off x="1133951" y="5810964"/>
            <a:ext cx="12702659" cy="453509"/>
          </a:xfrm>
          <a:prstGeom prst="rect">
            <a:avLst/>
          </a:prstGeom>
          <a:noFill/>
          <a:ln/>
        </p:spPr>
        <p:txBody>
          <a:bodyPr wrap="none" lIns="0" tIns="0" rIns="0" bIns="0" rtlCol="0" anchor="t"/>
          <a:lstStyle/>
          <a:p>
            <a:pPr algn="l" indent="0" marL="0">
              <a:lnSpc>
                <a:spcPts val="3550"/>
              </a:lnSpc>
              <a:buNone/>
            </a:pPr>
            <a:r>
              <a:rPr lang="en-US" sz="2200" i="1" dirty="0">
                <a:solidFill>
                  <a:srgbClr val="15213F"/>
                </a:solidFill>
                <a:latin typeface="Roboto" pitchFamily="34" charset="0"/>
                <a:ea typeface="Roboto" pitchFamily="34" charset="-122"/>
                <a:cs typeface="Roboto" pitchFamily="34" charset="-120"/>
              </a:rPr>
              <a:t>"Organizations don't have an AI technology problem—they have an AI adoption problem."</a:t>
            </a:r>
            <a:endParaRPr lang="en-US" sz="2200" dirty="0"/>
          </a:p>
        </p:txBody>
      </p:sp>
      <p:sp>
        <p:nvSpPr>
          <p:cNvPr id="7" name="Shape 5"/>
          <p:cNvSpPr/>
          <p:nvPr/>
        </p:nvSpPr>
        <p:spPr>
          <a:xfrm>
            <a:off x="793790" y="5555813"/>
            <a:ext cx="30480" cy="963811"/>
          </a:xfrm>
          <a:prstGeom prst="rect">
            <a:avLst/>
          </a:prstGeom>
          <a:solidFill>
            <a:srgbClr val="3257B8"/>
          </a:solidFill>
          <a:ln/>
        </p:spPr>
      </p:sp>
      <p:sp>
        <p:nvSpPr>
          <p:cNvPr id="8" name="Text 6"/>
          <p:cNvSpPr/>
          <p:nvPr/>
        </p:nvSpPr>
        <p:spPr>
          <a:xfrm>
            <a:off x="793790" y="677477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I welcome your questions, feedback, and insights on this research. Thank you to Dr. Kasztelnik, Dr. Jones, and Dr. Day for your guidance throughout this journey.</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827961"/>
            <a:ext cx="8569166"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Backup Slide B1: Complete Hypothesis Results</a:t>
            </a:r>
            <a:endParaRPr lang="en-US" sz="3100" dirty="0"/>
          </a:p>
        </p:txBody>
      </p:sp>
      <p:sp>
        <p:nvSpPr>
          <p:cNvPr id="3" name="Shape 1"/>
          <p:cNvSpPr/>
          <p:nvPr/>
        </p:nvSpPr>
        <p:spPr>
          <a:xfrm>
            <a:off x="793790" y="1641634"/>
            <a:ext cx="13042821" cy="5073253"/>
          </a:xfrm>
          <a:prstGeom prst="roundRect">
            <a:avLst>
              <a:gd name="adj" fmla="val 469"/>
            </a:avLst>
          </a:prstGeom>
          <a:noFill/>
          <a:ln w="7620">
            <a:solidFill>
              <a:srgbClr val="000000">
                <a:alpha val="8000"/>
              </a:srgbClr>
            </a:solidFill>
            <a:prstDash val="solid"/>
          </a:ln>
        </p:spPr>
      </p:sp>
      <p:sp>
        <p:nvSpPr>
          <p:cNvPr id="4" name="Shape 2"/>
          <p:cNvSpPr/>
          <p:nvPr/>
        </p:nvSpPr>
        <p:spPr>
          <a:xfrm>
            <a:off x="801410" y="1649254"/>
            <a:ext cx="13027581" cy="459819"/>
          </a:xfrm>
          <a:prstGeom prst="rect">
            <a:avLst/>
          </a:prstGeom>
          <a:solidFill>
            <a:srgbClr val="FFFFFF">
              <a:alpha val="4000"/>
            </a:srgbClr>
          </a:solidFill>
          <a:ln/>
        </p:spPr>
      </p:sp>
      <p:sp>
        <p:nvSpPr>
          <p:cNvPr id="5" name="Text 3"/>
          <p:cNvSpPr/>
          <p:nvPr/>
        </p:nvSpPr>
        <p:spPr>
          <a:xfrm>
            <a:off x="960477" y="1752124"/>
            <a:ext cx="720923"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H</a:t>
            </a:r>
            <a:endParaRPr lang="en-US" sz="1250" dirty="0"/>
          </a:p>
        </p:txBody>
      </p:sp>
      <p:sp>
        <p:nvSpPr>
          <p:cNvPr id="6" name="Text 4"/>
          <p:cNvSpPr/>
          <p:nvPr/>
        </p:nvSpPr>
        <p:spPr>
          <a:xfrm>
            <a:off x="2006441" y="1752124"/>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Path</a:t>
            </a:r>
            <a:endParaRPr lang="en-US" sz="1250" dirty="0"/>
          </a:p>
        </p:txBody>
      </p:sp>
      <p:sp>
        <p:nvSpPr>
          <p:cNvPr id="7" name="Text 5"/>
          <p:cNvSpPr/>
          <p:nvPr/>
        </p:nvSpPr>
        <p:spPr>
          <a:xfrm>
            <a:off x="5263277" y="1752124"/>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8" name="Text 6"/>
          <p:cNvSpPr/>
          <p:nvPr/>
        </p:nvSpPr>
        <p:spPr>
          <a:xfrm>
            <a:off x="6826568" y="1752124"/>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9" name="Text 7"/>
          <p:cNvSpPr/>
          <p:nvPr/>
        </p:nvSpPr>
        <p:spPr>
          <a:xfrm>
            <a:off x="8129230" y="1752124"/>
            <a:ext cx="3583186"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95% CI</a:t>
            </a:r>
            <a:endParaRPr lang="en-US" sz="1250" dirty="0"/>
          </a:p>
        </p:txBody>
      </p:sp>
      <p:sp>
        <p:nvSpPr>
          <p:cNvPr id="10" name="Text 8"/>
          <p:cNvSpPr/>
          <p:nvPr/>
        </p:nvSpPr>
        <p:spPr>
          <a:xfrm>
            <a:off x="12037457" y="1752124"/>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Result</a:t>
            </a:r>
            <a:endParaRPr lang="en-US" sz="1250" dirty="0"/>
          </a:p>
        </p:txBody>
      </p:sp>
      <p:sp>
        <p:nvSpPr>
          <p:cNvPr id="11" name="Shape 9"/>
          <p:cNvSpPr/>
          <p:nvPr/>
        </p:nvSpPr>
        <p:spPr>
          <a:xfrm>
            <a:off x="801410" y="2109073"/>
            <a:ext cx="13027581" cy="459819"/>
          </a:xfrm>
          <a:prstGeom prst="rect">
            <a:avLst/>
          </a:prstGeom>
          <a:solidFill>
            <a:srgbClr val="000000">
              <a:alpha val="4000"/>
            </a:srgbClr>
          </a:solidFill>
          <a:ln/>
        </p:spPr>
      </p:sp>
      <p:sp>
        <p:nvSpPr>
          <p:cNvPr id="12" name="Text 10"/>
          <p:cNvSpPr/>
          <p:nvPr/>
        </p:nvSpPr>
        <p:spPr>
          <a:xfrm>
            <a:off x="960477" y="2211943"/>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H1a</a:t>
            </a:r>
            <a:endParaRPr lang="en-US" sz="1250" dirty="0"/>
          </a:p>
        </p:txBody>
      </p:sp>
      <p:sp>
        <p:nvSpPr>
          <p:cNvPr id="13" name="Text 11"/>
          <p:cNvSpPr/>
          <p:nvPr/>
        </p:nvSpPr>
        <p:spPr>
          <a:xfrm>
            <a:off x="2006441" y="2211943"/>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 → BI</a:t>
            </a:r>
            <a:endParaRPr lang="en-US" sz="1250" dirty="0"/>
          </a:p>
        </p:txBody>
      </p:sp>
      <p:sp>
        <p:nvSpPr>
          <p:cNvPr id="14" name="Text 12"/>
          <p:cNvSpPr/>
          <p:nvPr/>
        </p:nvSpPr>
        <p:spPr>
          <a:xfrm>
            <a:off x="5263277" y="221194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15" name="Text 13"/>
          <p:cNvSpPr/>
          <p:nvPr/>
        </p:nvSpPr>
        <p:spPr>
          <a:xfrm>
            <a:off x="6826568" y="2211943"/>
            <a:ext cx="97762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16" name="Text 14"/>
          <p:cNvSpPr/>
          <p:nvPr/>
        </p:nvSpPr>
        <p:spPr>
          <a:xfrm>
            <a:off x="8129230" y="2211943"/>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[−.234, .178]</a:t>
            </a:r>
            <a:endParaRPr lang="en-US" sz="1250" dirty="0"/>
          </a:p>
        </p:txBody>
      </p:sp>
      <p:sp>
        <p:nvSpPr>
          <p:cNvPr id="17" name="Text 15"/>
          <p:cNvSpPr/>
          <p:nvPr/>
        </p:nvSpPr>
        <p:spPr>
          <a:xfrm>
            <a:off x="12037457" y="2211943"/>
            <a:ext cx="16328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Supported</a:t>
            </a:r>
            <a:endParaRPr lang="en-US" sz="1250" dirty="0"/>
          </a:p>
        </p:txBody>
      </p:sp>
      <p:sp>
        <p:nvSpPr>
          <p:cNvPr id="18" name="Shape 16"/>
          <p:cNvSpPr/>
          <p:nvPr/>
        </p:nvSpPr>
        <p:spPr>
          <a:xfrm>
            <a:off x="801410" y="2568893"/>
            <a:ext cx="13027581" cy="459819"/>
          </a:xfrm>
          <a:prstGeom prst="rect">
            <a:avLst/>
          </a:prstGeom>
          <a:solidFill>
            <a:srgbClr val="FFFFFF">
              <a:alpha val="4000"/>
            </a:srgbClr>
          </a:solidFill>
          <a:ln/>
        </p:spPr>
      </p:sp>
      <p:sp>
        <p:nvSpPr>
          <p:cNvPr id="19" name="Text 17"/>
          <p:cNvSpPr/>
          <p:nvPr/>
        </p:nvSpPr>
        <p:spPr>
          <a:xfrm>
            <a:off x="960477" y="2671763"/>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H1b</a:t>
            </a:r>
            <a:endParaRPr lang="en-US" sz="1250" dirty="0"/>
          </a:p>
        </p:txBody>
      </p:sp>
      <p:sp>
        <p:nvSpPr>
          <p:cNvPr id="20" name="Text 18"/>
          <p:cNvSpPr/>
          <p:nvPr/>
        </p:nvSpPr>
        <p:spPr>
          <a:xfrm>
            <a:off x="2006441" y="2671763"/>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EE → BI</a:t>
            </a:r>
            <a:endParaRPr lang="en-US" sz="1250" dirty="0"/>
          </a:p>
        </p:txBody>
      </p:sp>
      <p:sp>
        <p:nvSpPr>
          <p:cNvPr id="21" name="Text 19"/>
          <p:cNvSpPr/>
          <p:nvPr/>
        </p:nvSpPr>
        <p:spPr>
          <a:xfrm>
            <a:off x="5263277" y="267176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22" name="Text 20"/>
          <p:cNvSpPr/>
          <p:nvPr/>
        </p:nvSpPr>
        <p:spPr>
          <a:xfrm>
            <a:off x="6826568" y="2671763"/>
            <a:ext cx="97762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23" name="Text 21"/>
          <p:cNvSpPr/>
          <p:nvPr/>
        </p:nvSpPr>
        <p:spPr>
          <a:xfrm>
            <a:off x="8129230" y="2671763"/>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[−.108, .092]</a:t>
            </a:r>
            <a:endParaRPr lang="en-US" sz="1250" dirty="0"/>
          </a:p>
        </p:txBody>
      </p:sp>
      <p:sp>
        <p:nvSpPr>
          <p:cNvPr id="24" name="Text 22"/>
          <p:cNvSpPr/>
          <p:nvPr/>
        </p:nvSpPr>
        <p:spPr>
          <a:xfrm>
            <a:off x="12037457" y="2671763"/>
            <a:ext cx="16328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Supported</a:t>
            </a:r>
            <a:endParaRPr lang="en-US" sz="1250" dirty="0"/>
          </a:p>
        </p:txBody>
      </p:sp>
      <p:sp>
        <p:nvSpPr>
          <p:cNvPr id="25" name="Shape 23"/>
          <p:cNvSpPr/>
          <p:nvPr/>
        </p:nvSpPr>
        <p:spPr>
          <a:xfrm>
            <a:off x="801410" y="3028712"/>
            <a:ext cx="13027581" cy="459819"/>
          </a:xfrm>
          <a:prstGeom prst="rect">
            <a:avLst/>
          </a:prstGeom>
          <a:solidFill>
            <a:srgbClr val="000000">
              <a:alpha val="4000"/>
            </a:srgbClr>
          </a:solidFill>
          <a:ln/>
        </p:spPr>
      </p:sp>
      <p:sp>
        <p:nvSpPr>
          <p:cNvPr id="26" name="Text 24"/>
          <p:cNvSpPr/>
          <p:nvPr/>
        </p:nvSpPr>
        <p:spPr>
          <a:xfrm>
            <a:off x="960477" y="3131582"/>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H1c</a:t>
            </a:r>
            <a:endParaRPr lang="en-US" sz="1250" dirty="0"/>
          </a:p>
        </p:txBody>
      </p:sp>
      <p:sp>
        <p:nvSpPr>
          <p:cNvPr id="27" name="Text 25"/>
          <p:cNvSpPr/>
          <p:nvPr/>
        </p:nvSpPr>
        <p:spPr>
          <a:xfrm>
            <a:off x="2006441" y="3131582"/>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SI → BI</a:t>
            </a:r>
            <a:endParaRPr lang="en-US" sz="1250" dirty="0"/>
          </a:p>
        </p:txBody>
      </p:sp>
      <p:sp>
        <p:nvSpPr>
          <p:cNvPr id="28" name="Text 26"/>
          <p:cNvSpPr/>
          <p:nvPr/>
        </p:nvSpPr>
        <p:spPr>
          <a:xfrm>
            <a:off x="5263277" y="3131582"/>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.136</a:t>
            </a:r>
            <a:endParaRPr lang="en-US" sz="1250" dirty="0"/>
          </a:p>
        </p:txBody>
      </p:sp>
      <p:sp>
        <p:nvSpPr>
          <p:cNvPr id="29" name="Text 27"/>
          <p:cNvSpPr/>
          <p:nvPr/>
        </p:nvSpPr>
        <p:spPr>
          <a:xfrm>
            <a:off x="6826568" y="3131582"/>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.024</a:t>
            </a:r>
            <a:endParaRPr lang="en-US" sz="1250" dirty="0"/>
          </a:p>
        </p:txBody>
      </p:sp>
      <p:sp>
        <p:nvSpPr>
          <p:cNvPr id="30" name="Text 28"/>
          <p:cNvSpPr/>
          <p:nvPr/>
        </p:nvSpPr>
        <p:spPr>
          <a:xfrm>
            <a:off x="8129230" y="3131582"/>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[.018, .254]</a:t>
            </a:r>
            <a:endParaRPr lang="en-US" sz="1250" dirty="0"/>
          </a:p>
        </p:txBody>
      </p:sp>
      <p:sp>
        <p:nvSpPr>
          <p:cNvPr id="31" name="Text 29"/>
          <p:cNvSpPr/>
          <p:nvPr/>
        </p:nvSpPr>
        <p:spPr>
          <a:xfrm>
            <a:off x="12037457" y="3131582"/>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Supported</a:t>
            </a:r>
            <a:endParaRPr lang="en-US" sz="1250" dirty="0"/>
          </a:p>
        </p:txBody>
      </p:sp>
      <p:sp>
        <p:nvSpPr>
          <p:cNvPr id="32" name="Shape 30"/>
          <p:cNvSpPr/>
          <p:nvPr/>
        </p:nvSpPr>
        <p:spPr>
          <a:xfrm>
            <a:off x="801410" y="3488531"/>
            <a:ext cx="13027581" cy="459819"/>
          </a:xfrm>
          <a:prstGeom prst="rect">
            <a:avLst/>
          </a:prstGeom>
          <a:solidFill>
            <a:srgbClr val="FFFFFF">
              <a:alpha val="4000"/>
            </a:srgbClr>
          </a:solidFill>
          <a:ln/>
        </p:spPr>
      </p:sp>
      <p:sp>
        <p:nvSpPr>
          <p:cNvPr id="33" name="Text 31"/>
          <p:cNvSpPr/>
          <p:nvPr/>
        </p:nvSpPr>
        <p:spPr>
          <a:xfrm>
            <a:off x="960477" y="3591401"/>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H1d</a:t>
            </a:r>
            <a:endParaRPr lang="en-US" sz="1250" dirty="0"/>
          </a:p>
        </p:txBody>
      </p:sp>
      <p:sp>
        <p:nvSpPr>
          <p:cNvPr id="34" name="Text 32"/>
          <p:cNvSpPr/>
          <p:nvPr/>
        </p:nvSpPr>
        <p:spPr>
          <a:xfrm>
            <a:off x="2006441" y="35914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FC → BI</a:t>
            </a:r>
            <a:endParaRPr lang="en-US" sz="1250" dirty="0"/>
          </a:p>
        </p:txBody>
      </p:sp>
      <p:sp>
        <p:nvSpPr>
          <p:cNvPr id="35" name="Text 33"/>
          <p:cNvSpPr/>
          <p:nvPr/>
        </p:nvSpPr>
        <p:spPr>
          <a:xfrm>
            <a:off x="5263277" y="359140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36" name="Text 34"/>
          <p:cNvSpPr/>
          <p:nvPr/>
        </p:nvSpPr>
        <p:spPr>
          <a:xfrm>
            <a:off x="6826568" y="3591401"/>
            <a:ext cx="97762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37" name="Text 35"/>
          <p:cNvSpPr/>
          <p:nvPr/>
        </p:nvSpPr>
        <p:spPr>
          <a:xfrm>
            <a:off x="8129230" y="3591401"/>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[−.062, .180]</a:t>
            </a:r>
            <a:endParaRPr lang="en-US" sz="1250" dirty="0"/>
          </a:p>
        </p:txBody>
      </p:sp>
      <p:sp>
        <p:nvSpPr>
          <p:cNvPr id="38" name="Text 36"/>
          <p:cNvSpPr/>
          <p:nvPr/>
        </p:nvSpPr>
        <p:spPr>
          <a:xfrm>
            <a:off x="12037457" y="3591401"/>
            <a:ext cx="16328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Supported</a:t>
            </a:r>
            <a:endParaRPr lang="en-US" sz="1250" dirty="0"/>
          </a:p>
        </p:txBody>
      </p:sp>
      <p:sp>
        <p:nvSpPr>
          <p:cNvPr id="39" name="Shape 37"/>
          <p:cNvSpPr/>
          <p:nvPr/>
        </p:nvSpPr>
        <p:spPr>
          <a:xfrm>
            <a:off x="801410" y="3948351"/>
            <a:ext cx="13027581" cy="459819"/>
          </a:xfrm>
          <a:prstGeom prst="rect">
            <a:avLst/>
          </a:prstGeom>
          <a:solidFill>
            <a:srgbClr val="000000">
              <a:alpha val="4000"/>
            </a:srgbClr>
          </a:solidFill>
          <a:ln/>
        </p:spPr>
      </p:sp>
      <p:sp>
        <p:nvSpPr>
          <p:cNvPr id="40" name="Text 38"/>
          <p:cNvSpPr/>
          <p:nvPr/>
        </p:nvSpPr>
        <p:spPr>
          <a:xfrm>
            <a:off x="960477" y="4051221"/>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H1e</a:t>
            </a:r>
            <a:endParaRPr lang="en-US" sz="1250" dirty="0"/>
          </a:p>
        </p:txBody>
      </p:sp>
      <p:sp>
        <p:nvSpPr>
          <p:cNvPr id="41" name="Text 39"/>
          <p:cNvSpPr/>
          <p:nvPr/>
        </p:nvSpPr>
        <p:spPr>
          <a:xfrm>
            <a:off x="2006441" y="405122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HM → BI</a:t>
            </a:r>
            <a:endParaRPr lang="en-US" sz="1250" dirty="0"/>
          </a:p>
        </p:txBody>
      </p:sp>
      <p:sp>
        <p:nvSpPr>
          <p:cNvPr id="42" name="Text 40"/>
          <p:cNvSpPr/>
          <p:nvPr/>
        </p:nvSpPr>
        <p:spPr>
          <a:xfrm>
            <a:off x="5263277" y="4051221"/>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.217</a:t>
            </a:r>
            <a:endParaRPr lang="en-US" sz="1250" dirty="0"/>
          </a:p>
        </p:txBody>
      </p:sp>
      <p:sp>
        <p:nvSpPr>
          <p:cNvPr id="43" name="Text 41"/>
          <p:cNvSpPr/>
          <p:nvPr/>
        </p:nvSpPr>
        <p:spPr>
          <a:xfrm>
            <a:off x="6826568" y="4051221"/>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.014</a:t>
            </a:r>
            <a:endParaRPr lang="en-US" sz="1250" dirty="0"/>
          </a:p>
        </p:txBody>
      </p:sp>
      <p:sp>
        <p:nvSpPr>
          <p:cNvPr id="44" name="Text 42"/>
          <p:cNvSpPr/>
          <p:nvPr/>
        </p:nvSpPr>
        <p:spPr>
          <a:xfrm>
            <a:off x="8129230" y="4051221"/>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[.044, .390]</a:t>
            </a:r>
            <a:endParaRPr lang="en-US" sz="1250" dirty="0"/>
          </a:p>
        </p:txBody>
      </p:sp>
      <p:sp>
        <p:nvSpPr>
          <p:cNvPr id="45" name="Text 43"/>
          <p:cNvSpPr/>
          <p:nvPr/>
        </p:nvSpPr>
        <p:spPr>
          <a:xfrm>
            <a:off x="12037457" y="4051221"/>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Supported</a:t>
            </a:r>
            <a:endParaRPr lang="en-US" sz="1250" dirty="0"/>
          </a:p>
        </p:txBody>
      </p:sp>
      <p:sp>
        <p:nvSpPr>
          <p:cNvPr id="46" name="Shape 44"/>
          <p:cNvSpPr/>
          <p:nvPr/>
        </p:nvSpPr>
        <p:spPr>
          <a:xfrm>
            <a:off x="801410" y="4408170"/>
            <a:ext cx="13027581" cy="459819"/>
          </a:xfrm>
          <a:prstGeom prst="rect">
            <a:avLst/>
          </a:prstGeom>
          <a:solidFill>
            <a:srgbClr val="FFFFFF">
              <a:alpha val="4000"/>
            </a:srgbClr>
          </a:solidFill>
          <a:ln/>
        </p:spPr>
      </p:sp>
      <p:sp>
        <p:nvSpPr>
          <p:cNvPr id="47" name="Text 45"/>
          <p:cNvSpPr/>
          <p:nvPr/>
        </p:nvSpPr>
        <p:spPr>
          <a:xfrm>
            <a:off x="960477" y="4511040"/>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H1f</a:t>
            </a:r>
            <a:endParaRPr lang="en-US" sz="1250" dirty="0"/>
          </a:p>
        </p:txBody>
      </p:sp>
      <p:sp>
        <p:nvSpPr>
          <p:cNvPr id="48" name="Text 46"/>
          <p:cNvSpPr/>
          <p:nvPr/>
        </p:nvSpPr>
        <p:spPr>
          <a:xfrm>
            <a:off x="2006441" y="451104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PV → BI</a:t>
            </a:r>
            <a:endParaRPr lang="en-US" sz="1250" dirty="0"/>
          </a:p>
        </p:txBody>
      </p:sp>
      <p:sp>
        <p:nvSpPr>
          <p:cNvPr id="49" name="Text 47"/>
          <p:cNvSpPr/>
          <p:nvPr/>
        </p:nvSpPr>
        <p:spPr>
          <a:xfrm>
            <a:off x="5263277" y="4511040"/>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.505</a:t>
            </a:r>
            <a:endParaRPr lang="en-US" sz="1250" dirty="0"/>
          </a:p>
        </p:txBody>
      </p:sp>
      <p:sp>
        <p:nvSpPr>
          <p:cNvPr id="50" name="Text 48"/>
          <p:cNvSpPr/>
          <p:nvPr/>
        </p:nvSpPr>
        <p:spPr>
          <a:xfrm>
            <a:off x="6826568" y="4511040"/>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&lt;.001</a:t>
            </a:r>
            <a:endParaRPr lang="en-US" sz="1250" dirty="0"/>
          </a:p>
        </p:txBody>
      </p:sp>
      <p:sp>
        <p:nvSpPr>
          <p:cNvPr id="51" name="Text 49"/>
          <p:cNvSpPr/>
          <p:nvPr/>
        </p:nvSpPr>
        <p:spPr>
          <a:xfrm>
            <a:off x="8129230" y="4511040"/>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[.352, .658]</a:t>
            </a:r>
            <a:endParaRPr lang="en-US" sz="1250" dirty="0"/>
          </a:p>
        </p:txBody>
      </p:sp>
      <p:sp>
        <p:nvSpPr>
          <p:cNvPr id="52" name="Text 50"/>
          <p:cNvSpPr/>
          <p:nvPr/>
        </p:nvSpPr>
        <p:spPr>
          <a:xfrm>
            <a:off x="12037457" y="4511040"/>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Supported (Strongest)</a:t>
            </a:r>
            <a:endParaRPr lang="en-US" sz="1250" dirty="0"/>
          </a:p>
        </p:txBody>
      </p:sp>
      <p:sp>
        <p:nvSpPr>
          <p:cNvPr id="53" name="Shape 51"/>
          <p:cNvSpPr/>
          <p:nvPr/>
        </p:nvSpPr>
        <p:spPr>
          <a:xfrm>
            <a:off x="801410" y="4867989"/>
            <a:ext cx="13027581" cy="459819"/>
          </a:xfrm>
          <a:prstGeom prst="rect">
            <a:avLst/>
          </a:prstGeom>
          <a:solidFill>
            <a:srgbClr val="000000">
              <a:alpha val="4000"/>
            </a:srgbClr>
          </a:solidFill>
          <a:ln/>
        </p:spPr>
      </p:sp>
      <p:sp>
        <p:nvSpPr>
          <p:cNvPr id="54" name="Text 52"/>
          <p:cNvSpPr/>
          <p:nvPr/>
        </p:nvSpPr>
        <p:spPr>
          <a:xfrm>
            <a:off x="960477" y="4970859"/>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H1g</a:t>
            </a:r>
            <a:endParaRPr lang="en-US" sz="1250" dirty="0"/>
          </a:p>
        </p:txBody>
      </p:sp>
      <p:sp>
        <p:nvSpPr>
          <p:cNvPr id="55" name="Text 53"/>
          <p:cNvSpPr/>
          <p:nvPr/>
        </p:nvSpPr>
        <p:spPr>
          <a:xfrm>
            <a:off x="2006441" y="49708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HB → BI</a:t>
            </a:r>
            <a:endParaRPr lang="en-US" sz="1250" dirty="0"/>
          </a:p>
        </p:txBody>
      </p:sp>
      <p:sp>
        <p:nvSpPr>
          <p:cNvPr id="56" name="Text 54"/>
          <p:cNvSpPr/>
          <p:nvPr/>
        </p:nvSpPr>
        <p:spPr>
          <a:xfrm>
            <a:off x="5263277" y="497085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57" name="Text 55"/>
          <p:cNvSpPr/>
          <p:nvPr/>
        </p:nvSpPr>
        <p:spPr>
          <a:xfrm>
            <a:off x="6826568" y="4970859"/>
            <a:ext cx="97762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58" name="Text 56"/>
          <p:cNvSpPr/>
          <p:nvPr/>
        </p:nvSpPr>
        <p:spPr>
          <a:xfrm>
            <a:off x="8129230" y="4970859"/>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[−.071, .117]</a:t>
            </a:r>
            <a:endParaRPr lang="en-US" sz="1250" dirty="0"/>
          </a:p>
        </p:txBody>
      </p:sp>
      <p:sp>
        <p:nvSpPr>
          <p:cNvPr id="59" name="Text 57"/>
          <p:cNvSpPr/>
          <p:nvPr/>
        </p:nvSpPr>
        <p:spPr>
          <a:xfrm>
            <a:off x="12037457" y="4970859"/>
            <a:ext cx="16328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 Supported</a:t>
            </a:r>
            <a:endParaRPr lang="en-US" sz="1250" dirty="0"/>
          </a:p>
        </p:txBody>
      </p:sp>
      <p:sp>
        <p:nvSpPr>
          <p:cNvPr id="60" name="Shape 58"/>
          <p:cNvSpPr/>
          <p:nvPr/>
        </p:nvSpPr>
        <p:spPr>
          <a:xfrm>
            <a:off x="801410" y="5327809"/>
            <a:ext cx="13027581" cy="459819"/>
          </a:xfrm>
          <a:prstGeom prst="rect">
            <a:avLst/>
          </a:prstGeom>
          <a:solidFill>
            <a:srgbClr val="FFFFFF">
              <a:alpha val="4000"/>
            </a:srgbClr>
          </a:solidFill>
          <a:ln/>
        </p:spPr>
      </p:sp>
      <p:sp>
        <p:nvSpPr>
          <p:cNvPr id="61" name="Text 59"/>
          <p:cNvSpPr/>
          <p:nvPr/>
        </p:nvSpPr>
        <p:spPr>
          <a:xfrm>
            <a:off x="960477" y="5430679"/>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H2</a:t>
            </a:r>
            <a:endParaRPr lang="en-US" sz="1250" dirty="0"/>
          </a:p>
        </p:txBody>
      </p:sp>
      <p:sp>
        <p:nvSpPr>
          <p:cNvPr id="62" name="Text 60"/>
          <p:cNvSpPr/>
          <p:nvPr/>
        </p:nvSpPr>
        <p:spPr>
          <a:xfrm>
            <a:off x="2006441" y="543067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TR → BI</a:t>
            </a:r>
            <a:endParaRPr lang="en-US" sz="1250" dirty="0"/>
          </a:p>
        </p:txBody>
      </p:sp>
      <p:sp>
        <p:nvSpPr>
          <p:cNvPr id="63" name="Text 61"/>
          <p:cNvSpPr/>
          <p:nvPr/>
        </p:nvSpPr>
        <p:spPr>
          <a:xfrm>
            <a:off x="5263277" y="543067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64" name="Text 62"/>
          <p:cNvSpPr/>
          <p:nvPr/>
        </p:nvSpPr>
        <p:spPr>
          <a:xfrm>
            <a:off x="6826568" y="5430679"/>
            <a:ext cx="97762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65" name="Text 63"/>
          <p:cNvSpPr/>
          <p:nvPr/>
        </p:nvSpPr>
        <p:spPr>
          <a:xfrm>
            <a:off x="8129230" y="5430679"/>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[−.006, .218]</a:t>
            </a:r>
            <a:endParaRPr lang="en-US" sz="1250" dirty="0"/>
          </a:p>
        </p:txBody>
      </p:sp>
      <p:sp>
        <p:nvSpPr>
          <p:cNvPr id="66" name="Text 64"/>
          <p:cNvSpPr/>
          <p:nvPr/>
        </p:nvSpPr>
        <p:spPr>
          <a:xfrm>
            <a:off x="12037457" y="5430679"/>
            <a:ext cx="16328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Marginal</a:t>
            </a:r>
            <a:endParaRPr lang="en-US" sz="1250" dirty="0"/>
          </a:p>
        </p:txBody>
      </p:sp>
      <p:sp>
        <p:nvSpPr>
          <p:cNvPr id="67" name="Shape 65"/>
          <p:cNvSpPr/>
          <p:nvPr/>
        </p:nvSpPr>
        <p:spPr>
          <a:xfrm>
            <a:off x="801410" y="5787628"/>
            <a:ext cx="13027581" cy="459819"/>
          </a:xfrm>
          <a:prstGeom prst="rect">
            <a:avLst/>
          </a:prstGeom>
          <a:solidFill>
            <a:srgbClr val="000000">
              <a:alpha val="4000"/>
            </a:srgbClr>
          </a:solidFill>
          <a:ln/>
        </p:spPr>
      </p:sp>
      <p:sp>
        <p:nvSpPr>
          <p:cNvPr id="68" name="Text 66"/>
          <p:cNvSpPr/>
          <p:nvPr/>
        </p:nvSpPr>
        <p:spPr>
          <a:xfrm>
            <a:off x="960477" y="5890498"/>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H3</a:t>
            </a:r>
            <a:endParaRPr lang="en-US" sz="1250" dirty="0"/>
          </a:p>
        </p:txBody>
      </p:sp>
      <p:sp>
        <p:nvSpPr>
          <p:cNvPr id="69" name="Text 67"/>
          <p:cNvSpPr/>
          <p:nvPr/>
        </p:nvSpPr>
        <p:spPr>
          <a:xfrm>
            <a:off x="2006441" y="5890498"/>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Experience moderates paths</a:t>
            </a:r>
            <a:endParaRPr lang="en-US" sz="1250" dirty="0"/>
          </a:p>
        </p:txBody>
      </p:sp>
      <p:sp>
        <p:nvSpPr>
          <p:cNvPr id="70" name="Text 68"/>
          <p:cNvSpPr/>
          <p:nvPr/>
        </p:nvSpPr>
        <p:spPr>
          <a:xfrm>
            <a:off x="5263277" y="5890498"/>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.136</a:t>
            </a:r>
            <a:endParaRPr lang="en-US" sz="1250" dirty="0"/>
          </a:p>
        </p:txBody>
      </p:sp>
      <p:sp>
        <p:nvSpPr>
          <p:cNvPr id="71" name="Text 69"/>
          <p:cNvSpPr/>
          <p:nvPr/>
        </p:nvSpPr>
        <p:spPr>
          <a:xfrm>
            <a:off x="6826568" y="5890498"/>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.009</a:t>
            </a:r>
            <a:endParaRPr lang="en-US" sz="1250" dirty="0"/>
          </a:p>
        </p:txBody>
      </p:sp>
      <p:sp>
        <p:nvSpPr>
          <p:cNvPr id="72" name="Text 70"/>
          <p:cNvSpPr/>
          <p:nvPr/>
        </p:nvSpPr>
        <p:spPr>
          <a:xfrm>
            <a:off x="8129230" y="5890498"/>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73" name="Text 71"/>
          <p:cNvSpPr/>
          <p:nvPr/>
        </p:nvSpPr>
        <p:spPr>
          <a:xfrm>
            <a:off x="12037457" y="5890498"/>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Partial Support (HM)</a:t>
            </a:r>
            <a:endParaRPr lang="en-US" sz="1250" dirty="0"/>
          </a:p>
        </p:txBody>
      </p:sp>
      <p:sp>
        <p:nvSpPr>
          <p:cNvPr id="74" name="Shape 72"/>
          <p:cNvSpPr/>
          <p:nvPr/>
        </p:nvSpPr>
        <p:spPr>
          <a:xfrm>
            <a:off x="801410" y="6247448"/>
            <a:ext cx="13027581" cy="459819"/>
          </a:xfrm>
          <a:prstGeom prst="rect">
            <a:avLst/>
          </a:prstGeom>
          <a:solidFill>
            <a:srgbClr val="FFFFFF">
              <a:alpha val="4000"/>
            </a:srgbClr>
          </a:solidFill>
          <a:ln/>
        </p:spPr>
      </p:sp>
      <p:sp>
        <p:nvSpPr>
          <p:cNvPr id="75" name="Text 73"/>
          <p:cNvSpPr/>
          <p:nvPr/>
        </p:nvSpPr>
        <p:spPr>
          <a:xfrm>
            <a:off x="960477" y="6350317"/>
            <a:ext cx="720923"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H4</a:t>
            </a:r>
            <a:endParaRPr lang="en-US" sz="1250" dirty="0"/>
          </a:p>
        </p:txBody>
      </p:sp>
      <p:sp>
        <p:nvSpPr>
          <p:cNvPr id="76" name="Text 74"/>
          <p:cNvSpPr/>
          <p:nvPr/>
        </p:nvSpPr>
        <p:spPr>
          <a:xfrm>
            <a:off x="2006441" y="6350317"/>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Population moderates paths</a:t>
            </a:r>
            <a:endParaRPr lang="en-US" sz="1250" dirty="0"/>
          </a:p>
        </p:txBody>
      </p:sp>
      <p:sp>
        <p:nvSpPr>
          <p:cNvPr id="77" name="Text 75"/>
          <p:cNvSpPr/>
          <p:nvPr/>
        </p:nvSpPr>
        <p:spPr>
          <a:xfrm>
            <a:off x="5263277" y="6350317"/>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−.750</a:t>
            </a:r>
            <a:endParaRPr lang="en-US" sz="1250" dirty="0"/>
          </a:p>
        </p:txBody>
      </p:sp>
      <p:sp>
        <p:nvSpPr>
          <p:cNvPr id="78" name="Text 76"/>
          <p:cNvSpPr/>
          <p:nvPr/>
        </p:nvSpPr>
        <p:spPr>
          <a:xfrm>
            <a:off x="6826568" y="6350317"/>
            <a:ext cx="977622"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.041</a:t>
            </a:r>
            <a:endParaRPr lang="en-US" sz="1250" dirty="0"/>
          </a:p>
        </p:txBody>
      </p:sp>
      <p:sp>
        <p:nvSpPr>
          <p:cNvPr id="79" name="Text 77"/>
          <p:cNvSpPr/>
          <p:nvPr/>
        </p:nvSpPr>
        <p:spPr>
          <a:xfrm>
            <a:off x="8129230" y="6350317"/>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80" name="Text 78"/>
          <p:cNvSpPr/>
          <p:nvPr/>
        </p:nvSpPr>
        <p:spPr>
          <a:xfrm>
            <a:off x="12037457" y="6350317"/>
            <a:ext cx="1632823"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Partial Support (HM)</a:t>
            </a:r>
            <a:endParaRPr lang="en-US" sz="1250" dirty="0"/>
          </a:p>
        </p:txBody>
      </p:sp>
      <p:sp>
        <p:nvSpPr>
          <p:cNvPr id="81" name="Text 79"/>
          <p:cNvSpPr/>
          <p:nvPr/>
        </p:nvSpPr>
        <p:spPr>
          <a:xfrm>
            <a:off x="793790" y="6893481"/>
            <a:ext cx="13042821" cy="508159"/>
          </a:xfrm>
          <a:prstGeom prst="rect">
            <a:avLst/>
          </a:prstGeom>
          <a:noFill/>
          <a:ln/>
        </p:spPr>
        <p:txBody>
          <a:bodyPr wrap="squar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Key Observation:</a:t>
            </a:r>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Notice that all three supported UTAUT2 hypotheses (H1c, H1e, H1f) have 95% confidence intervals that do not cross zero, while non-significant paths all have wide intervals crossing zero. This confirms genuine effects versus noise.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667345"/>
            <a:ext cx="7334012"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Backup Slide B2: Model Fit Comparison</a:t>
            </a:r>
            <a:endParaRPr lang="en-US" sz="3100" dirty="0"/>
          </a:p>
        </p:txBody>
      </p:sp>
      <p:sp>
        <p:nvSpPr>
          <p:cNvPr id="3" name="Text 1"/>
          <p:cNvSpPr/>
          <p:nvPr/>
        </p:nvSpPr>
        <p:spPr>
          <a:xfrm>
            <a:off x="793790" y="1481018"/>
            <a:ext cx="13042821"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The measurement model demonstrates excellent fit across all standard evaluation criteria:</a:t>
            </a:r>
            <a:endParaRPr lang="en-US" sz="1250" dirty="0"/>
          </a:p>
        </p:txBody>
      </p:sp>
      <p:sp>
        <p:nvSpPr>
          <p:cNvPr id="4" name="Shape 2"/>
          <p:cNvSpPr/>
          <p:nvPr/>
        </p:nvSpPr>
        <p:spPr>
          <a:xfrm>
            <a:off x="793790" y="1913692"/>
            <a:ext cx="13042821" cy="2314337"/>
          </a:xfrm>
          <a:prstGeom prst="roundRect">
            <a:avLst>
              <a:gd name="adj" fmla="val 1029"/>
            </a:avLst>
          </a:prstGeom>
          <a:noFill/>
          <a:ln w="7620">
            <a:solidFill>
              <a:srgbClr val="000000">
                <a:alpha val="8000"/>
              </a:srgbClr>
            </a:solidFill>
            <a:prstDash val="solid"/>
          </a:ln>
        </p:spPr>
      </p:sp>
      <p:sp>
        <p:nvSpPr>
          <p:cNvPr id="5" name="Shape 3"/>
          <p:cNvSpPr/>
          <p:nvPr/>
        </p:nvSpPr>
        <p:spPr>
          <a:xfrm>
            <a:off x="801410" y="1921312"/>
            <a:ext cx="13027581" cy="459819"/>
          </a:xfrm>
          <a:prstGeom prst="rect">
            <a:avLst/>
          </a:prstGeom>
          <a:solidFill>
            <a:srgbClr val="FFFFFF">
              <a:alpha val="4000"/>
            </a:srgbClr>
          </a:solidFill>
          <a:ln/>
        </p:spPr>
      </p:sp>
      <p:sp>
        <p:nvSpPr>
          <p:cNvPr id="6" name="Text 4"/>
          <p:cNvSpPr/>
          <p:nvPr/>
        </p:nvSpPr>
        <p:spPr>
          <a:xfrm>
            <a:off x="960358" y="2024182"/>
            <a:ext cx="3586996"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Fit Index</a:t>
            </a:r>
            <a:endParaRPr lang="en-US" sz="1250" dirty="0"/>
          </a:p>
        </p:txBody>
      </p:sp>
      <p:sp>
        <p:nvSpPr>
          <p:cNvPr id="7" name="Text 5"/>
          <p:cNvSpPr/>
          <p:nvPr/>
        </p:nvSpPr>
        <p:spPr>
          <a:xfrm>
            <a:off x="4872395" y="202418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Obtained Value</a:t>
            </a:r>
            <a:endParaRPr lang="en-US" sz="1250" dirty="0"/>
          </a:p>
        </p:txBody>
      </p:sp>
      <p:sp>
        <p:nvSpPr>
          <p:cNvPr id="8" name="Text 6"/>
          <p:cNvSpPr/>
          <p:nvPr/>
        </p:nvSpPr>
        <p:spPr>
          <a:xfrm>
            <a:off x="8129230" y="2024182"/>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Excellent Threshold</a:t>
            </a:r>
            <a:endParaRPr lang="en-US" sz="1250" dirty="0"/>
          </a:p>
        </p:txBody>
      </p:sp>
      <p:sp>
        <p:nvSpPr>
          <p:cNvPr id="9" name="Text 7"/>
          <p:cNvSpPr/>
          <p:nvPr/>
        </p:nvSpPr>
        <p:spPr>
          <a:xfrm>
            <a:off x="11386066" y="2024182"/>
            <a:ext cx="2284214"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Acceptable Threshold</a:t>
            </a:r>
            <a:endParaRPr lang="en-US" sz="1250" dirty="0"/>
          </a:p>
        </p:txBody>
      </p:sp>
      <p:sp>
        <p:nvSpPr>
          <p:cNvPr id="10" name="Shape 8"/>
          <p:cNvSpPr/>
          <p:nvPr/>
        </p:nvSpPr>
        <p:spPr>
          <a:xfrm>
            <a:off x="801410" y="2381131"/>
            <a:ext cx="13027581" cy="459819"/>
          </a:xfrm>
          <a:prstGeom prst="rect">
            <a:avLst/>
          </a:prstGeom>
          <a:solidFill>
            <a:srgbClr val="000000">
              <a:alpha val="4000"/>
            </a:srgbClr>
          </a:solidFill>
          <a:ln/>
        </p:spPr>
      </p:sp>
      <p:sp>
        <p:nvSpPr>
          <p:cNvPr id="11" name="Text 9"/>
          <p:cNvSpPr/>
          <p:nvPr/>
        </p:nvSpPr>
        <p:spPr>
          <a:xfrm>
            <a:off x="960358" y="2484001"/>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CFI (Comparative Fit Index)</a:t>
            </a:r>
            <a:endParaRPr lang="en-US" sz="1250" dirty="0"/>
          </a:p>
        </p:txBody>
      </p:sp>
      <p:sp>
        <p:nvSpPr>
          <p:cNvPr id="12" name="Text 10"/>
          <p:cNvSpPr/>
          <p:nvPr/>
        </p:nvSpPr>
        <p:spPr>
          <a:xfrm>
            <a:off x="4872395" y="2484001"/>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.975</a:t>
            </a:r>
            <a:endParaRPr lang="en-US" sz="1250" dirty="0"/>
          </a:p>
        </p:txBody>
      </p:sp>
      <p:sp>
        <p:nvSpPr>
          <p:cNvPr id="13" name="Text 11"/>
          <p:cNvSpPr/>
          <p:nvPr/>
        </p:nvSpPr>
        <p:spPr>
          <a:xfrm>
            <a:off x="8129230" y="2484001"/>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.95</a:t>
            </a:r>
            <a:endParaRPr lang="en-US" sz="1250" dirty="0"/>
          </a:p>
        </p:txBody>
      </p:sp>
      <p:sp>
        <p:nvSpPr>
          <p:cNvPr id="14" name="Text 12"/>
          <p:cNvSpPr/>
          <p:nvPr/>
        </p:nvSpPr>
        <p:spPr>
          <a:xfrm>
            <a:off x="11386066" y="2484001"/>
            <a:ext cx="2284214"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.90</a:t>
            </a:r>
            <a:endParaRPr lang="en-US" sz="1250" dirty="0"/>
          </a:p>
        </p:txBody>
      </p:sp>
      <p:sp>
        <p:nvSpPr>
          <p:cNvPr id="15" name="Shape 13"/>
          <p:cNvSpPr/>
          <p:nvPr/>
        </p:nvSpPr>
        <p:spPr>
          <a:xfrm>
            <a:off x="801410" y="2840950"/>
            <a:ext cx="13027581" cy="459819"/>
          </a:xfrm>
          <a:prstGeom prst="rect">
            <a:avLst/>
          </a:prstGeom>
          <a:solidFill>
            <a:srgbClr val="FFFFFF">
              <a:alpha val="4000"/>
            </a:srgbClr>
          </a:solidFill>
          <a:ln/>
        </p:spPr>
      </p:sp>
      <p:sp>
        <p:nvSpPr>
          <p:cNvPr id="16" name="Text 14"/>
          <p:cNvSpPr/>
          <p:nvPr/>
        </p:nvSpPr>
        <p:spPr>
          <a:xfrm>
            <a:off x="960358" y="2943820"/>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TLI (Tucker-Lewis Index)</a:t>
            </a:r>
            <a:endParaRPr lang="en-US" sz="1250" dirty="0"/>
          </a:p>
        </p:txBody>
      </p:sp>
      <p:sp>
        <p:nvSpPr>
          <p:cNvPr id="17" name="Text 15"/>
          <p:cNvSpPr/>
          <p:nvPr/>
        </p:nvSpPr>
        <p:spPr>
          <a:xfrm>
            <a:off x="4872395" y="2943820"/>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.960</a:t>
            </a:r>
            <a:endParaRPr lang="en-US" sz="1250" dirty="0"/>
          </a:p>
        </p:txBody>
      </p:sp>
      <p:sp>
        <p:nvSpPr>
          <p:cNvPr id="18" name="Text 16"/>
          <p:cNvSpPr/>
          <p:nvPr/>
        </p:nvSpPr>
        <p:spPr>
          <a:xfrm>
            <a:off x="8129230" y="294382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.95</a:t>
            </a:r>
            <a:endParaRPr lang="en-US" sz="1250" dirty="0"/>
          </a:p>
        </p:txBody>
      </p:sp>
      <p:sp>
        <p:nvSpPr>
          <p:cNvPr id="19" name="Text 17"/>
          <p:cNvSpPr/>
          <p:nvPr/>
        </p:nvSpPr>
        <p:spPr>
          <a:xfrm>
            <a:off x="11386066" y="2943820"/>
            <a:ext cx="2284214"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.90</a:t>
            </a:r>
            <a:endParaRPr lang="en-US" sz="1250" dirty="0"/>
          </a:p>
        </p:txBody>
      </p:sp>
      <p:sp>
        <p:nvSpPr>
          <p:cNvPr id="20" name="Shape 18"/>
          <p:cNvSpPr/>
          <p:nvPr/>
        </p:nvSpPr>
        <p:spPr>
          <a:xfrm>
            <a:off x="801410" y="3300770"/>
            <a:ext cx="13027581" cy="459819"/>
          </a:xfrm>
          <a:prstGeom prst="rect">
            <a:avLst/>
          </a:prstGeom>
          <a:solidFill>
            <a:srgbClr val="000000">
              <a:alpha val="4000"/>
            </a:srgbClr>
          </a:solidFill>
          <a:ln/>
        </p:spPr>
      </p:sp>
      <p:sp>
        <p:nvSpPr>
          <p:cNvPr id="21" name="Text 19"/>
          <p:cNvSpPr/>
          <p:nvPr/>
        </p:nvSpPr>
        <p:spPr>
          <a:xfrm>
            <a:off x="960358" y="3403640"/>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RMSEA (Root Mean Square Error)</a:t>
            </a:r>
            <a:endParaRPr lang="en-US" sz="1250" dirty="0"/>
          </a:p>
        </p:txBody>
      </p:sp>
      <p:sp>
        <p:nvSpPr>
          <p:cNvPr id="22" name="Text 20"/>
          <p:cNvSpPr/>
          <p:nvPr/>
        </p:nvSpPr>
        <p:spPr>
          <a:xfrm>
            <a:off x="4872395" y="3403640"/>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.065</a:t>
            </a:r>
            <a:endParaRPr lang="en-US" sz="1250" dirty="0"/>
          </a:p>
        </p:txBody>
      </p:sp>
      <p:sp>
        <p:nvSpPr>
          <p:cNvPr id="23" name="Text 21"/>
          <p:cNvSpPr/>
          <p:nvPr/>
        </p:nvSpPr>
        <p:spPr>
          <a:xfrm>
            <a:off x="8129230" y="3403640"/>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.06</a:t>
            </a:r>
            <a:endParaRPr lang="en-US" sz="1250" dirty="0"/>
          </a:p>
        </p:txBody>
      </p:sp>
      <p:sp>
        <p:nvSpPr>
          <p:cNvPr id="24" name="Text 22"/>
          <p:cNvSpPr/>
          <p:nvPr/>
        </p:nvSpPr>
        <p:spPr>
          <a:xfrm>
            <a:off x="11386066" y="3403640"/>
            <a:ext cx="2284214"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.08</a:t>
            </a:r>
            <a:endParaRPr lang="en-US" sz="1250" dirty="0"/>
          </a:p>
        </p:txBody>
      </p:sp>
      <p:sp>
        <p:nvSpPr>
          <p:cNvPr id="25" name="Shape 23"/>
          <p:cNvSpPr/>
          <p:nvPr/>
        </p:nvSpPr>
        <p:spPr>
          <a:xfrm>
            <a:off x="801410" y="3760589"/>
            <a:ext cx="13027581" cy="459819"/>
          </a:xfrm>
          <a:prstGeom prst="rect">
            <a:avLst/>
          </a:prstGeom>
          <a:solidFill>
            <a:srgbClr val="FFFFFF">
              <a:alpha val="4000"/>
            </a:srgbClr>
          </a:solidFill>
          <a:ln/>
        </p:spPr>
      </p:sp>
      <p:sp>
        <p:nvSpPr>
          <p:cNvPr id="26" name="Text 24"/>
          <p:cNvSpPr/>
          <p:nvPr/>
        </p:nvSpPr>
        <p:spPr>
          <a:xfrm>
            <a:off x="960358" y="3863459"/>
            <a:ext cx="358699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SRMR (Standardized Root Mean Square Residual)</a:t>
            </a:r>
            <a:endParaRPr lang="en-US" sz="1250" dirty="0"/>
          </a:p>
        </p:txBody>
      </p:sp>
      <p:sp>
        <p:nvSpPr>
          <p:cNvPr id="27" name="Text 25"/>
          <p:cNvSpPr/>
          <p:nvPr/>
        </p:nvSpPr>
        <p:spPr>
          <a:xfrm>
            <a:off x="4872395" y="3863459"/>
            <a:ext cx="2931795" cy="254079"/>
          </a:xfrm>
          <a:prstGeom prst="rect">
            <a:avLst/>
          </a:prstGeom>
          <a:noFill/>
          <a:ln/>
        </p:spPr>
        <p:txBody>
          <a:bodyPr wrap="none" lIns="0" tIns="0" rIns="0" bIns="0" rtlCol="0" anchor="t"/>
          <a:lstStyle/>
          <a:p>
            <a:pPr algn="l" indent="0" marL="0">
              <a:lnSpc>
                <a:spcPts val="2000"/>
              </a:lnSpc>
              <a:buNone/>
            </a:pPr>
            <a:r>
              <a:rPr lang="en-US" sz="1250" b="1" dirty="0">
                <a:solidFill>
                  <a:srgbClr val="3257B8"/>
                </a:solidFill>
                <a:latin typeface="Roboto" pitchFamily="34" charset="0"/>
                <a:ea typeface="Roboto" pitchFamily="34" charset="-122"/>
                <a:cs typeface="Roboto" pitchFamily="34" charset="-120"/>
              </a:rPr>
              <a:t>.044</a:t>
            </a:r>
            <a:endParaRPr lang="en-US" sz="1250" dirty="0"/>
          </a:p>
        </p:txBody>
      </p:sp>
      <p:sp>
        <p:nvSpPr>
          <p:cNvPr id="28" name="Text 26"/>
          <p:cNvSpPr/>
          <p:nvPr/>
        </p:nvSpPr>
        <p:spPr>
          <a:xfrm>
            <a:off x="8129230" y="3863459"/>
            <a:ext cx="2931795"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.08</a:t>
            </a:r>
            <a:endParaRPr lang="en-US" sz="1250" dirty="0"/>
          </a:p>
        </p:txBody>
      </p:sp>
      <p:sp>
        <p:nvSpPr>
          <p:cNvPr id="29" name="Text 27"/>
          <p:cNvSpPr/>
          <p:nvPr/>
        </p:nvSpPr>
        <p:spPr>
          <a:xfrm>
            <a:off x="11386066" y="3863459"/>
            <a:ext cx="2284214"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.10</a:t>
            </a:r>
            <a:endParaRPr lang="en-US" sz="1250" dirty="0"/>
          </a:p>
        </p:txBody>
      </p:sp>
      <p:sp>
        <p:nvSpPr>
          <p:cNvPr id="30" name="Text 28"/>
          <p:cNvSpPr/>
          <p:nvPr/>
        </p:nvSpPr>
        <p:spPr>
          <a:xfrm>
            <a:off x="793790" y="4466153"/>
            <a:ext cx="3175516"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Interpretation</a:t>
            </a:r>
            <a:endParaRPr lang="en-US" sz="2500" dirty="0"/>
          </a:p>
        </p:txBody>
      </p:sp>
      <p:sp>
        <p:nvSpPr>
          <p:cNvPr id="31" name="Text 29"/>
          <p:cNvSpPr/>
          <p:nvPr/>
        </p:nvSpPr>
        <p:spPr>
          <a:xfrm>
            <a:off x="793790" y="5259824"/>
            <a:ext cx="2620685" cy="297656"/>
          </a:xfrm>
          <a:prstGeom prst="rect">
            <a:avLst/>
          </a:prstGeom>
          <a:noFill/>
          <a:ln/>
        </p:spPr>
        <p:txBody>
          <a:bodyPr wrap="none" lIns="0" tIns="0" rIns="0" bIns="0" rtlCol="0" anchor="t"/>
          <a:lstStyle/>
          <a:p>
            <a:pPr algn="l" indent="0" marL="0">
              <a:lnSpc>
                <a:spcPts val="2300"/>
              </a:lnSpc>
              <a:buNone/>
            </a:pPr>
            <a:r>
              <a:rPr lang="en-US" sz="1850" dirty="0">
                <a:solidFill>
                  <a:srgbClr val="3257B8"/>
                </a:solidFill>
                <a:latin typeface="Roboto Slab" pitchFamily="34" charset="0"/>
                <a:ea typeface="Roboto Slab" pitchFamily="34" charset="-122"/>
                <a:cs typeface="Roboto Slab" pitchFamily="34" charset="-120"/>
              </a:rPr>
              <a:t>Incremental Fit Indices</a:t>
            </a:r>
            <a:endParaRPr lang="en-US" sz="1850" dirty="0"/>
          </a:p>
        </p:txBody>
      </p:sp>
      <p:sp>
        <p:nvSpPr>
          <p:cNvPr id="32" name="Text 30"/>
          <p:cNvSpPr/>
          <p:nvPr/>
        </p:nvSpPr>
        <p:spPr>
          <a:xfrm>
            <a:off x="793790" y="5716191"/>
            <a:ext cx="6327815" cy="101631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Both CFI (.975) and TLI (.960) exceed the .95 threshold for excellent fit. These indices compare the specified model against a baseline independence model, indicating that the AIRS-16 measurement structure substantially improves upon a model assuming no relationships among variables.</a:t>
            </a:r>
            <a:endParaRPr lang="en-US" sz="1250" dirty="0"/>
          </a:p>
        </p:txBody>
      </p:sp>
      <p:sp>
        <p:nvSpPr>
          <p:cNvPr id="33" name="Text 31"/>
          <p:cNvSpPr/>
          <p:nvPr/>
        </p:nvSpPr>
        <p:spPr>
          <a:xfrm>
            <a:off x="7516416" y="5259824"/>
            <a:ext cx="2381607" cy="297656"/>
          </a:xfrm>
          <a:prstGeom prst="rect">
            <a:avLst/>
          </a:prstGeom>
          <a:noFill/>
          <a:ln/>
        </p:spPr>
        <p:txBody>
          <a:bodyPr wrap="none" lIns="0" tIns="0" rIns="0" bIns="0" rtlCol="0" anchor="t"/>
          <a:lstStyle/>
          <a:p>
            <a:pPr algn="l" indent="0" marL="0">
              <a:lnSpc>
                <a:spcPts val="2300"/>
              </a:lnSpc>
              <a:buNone/>
            </a:pPr>
            <a:r>
              <a:rPr lang="en-US" sz="1850" dirty="0">
                <a:solidFill>
                  <a:srgbClr val="3257B8"/>
                </a:solidFill>
                <a:latin typeface="Roboto Slab" pitchFamily="34" charset="0"/>
                <a:ea typeface="Roboto Slab" pitchFamily="34" charset="-122"/>
                <a:cs typeface="Roboto Slab" pitchFamily="34" charset="-120"/>
              </a:rPr>
              <a:t>Absolute Fit Indices</a:t>
            </a:r>
            <a:endParaRPr lang="en-US" sz="1850" dirty="0"/>
          </a:p>
        </p:txBody>
      </p:sp>
      <p:sp>
        <p:nvSpPr>
          <p:cNvPr id="34" name="Text 32"/>
          <p:cNvSpPr/>
          <p:nvPr/>
        </p:nvSpPr>
        <p:spPr>
          <a:xfrm>
            <a:off x="7516416" y="5716191"/>
            <a:ext cx="6327815" cy="1016318"/>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RMSEA at .065 falls in the acceptable range, slightly above the .06 excellent threshold—typical for models with our sample size and complexity. SRMR at .044 is excellent, well below the .08 threshold. These indices assess absolute fit to the data without reference to a baseline model.</a:t>
            </a:r>
            <a:endParaRPr lang="en-US" sz="1250" dirty="0"/>
          </a:p>
        </p:txBody>
      </p:sp>
      <p:sp>
        <p:nvSpPr>
          <p:cNvPr id="35" name="Text 33"/>
          <p:cNvSpPr/>
          <p:nvPr/>
        </p:nvSpPr>
        <p:spPr>
          <a:xfrm>
            <a:off x="793790" y="7053977"/>
            <a:ext cx="13042821" cy="508159"/>
          </a:xfrm>
          <a:prstGeom prst="rect">
            <a:avLst/>
          </a:prstGeom>
          <a:noFill/>
          <a:ln/>
        </p:spPr>
        <p:txBody>
          <a:bodyPr wrap="squar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Conclusion:</a:t>
            </a:r>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 The measurement model fits the data very well across both incremental and absolute fit criteria, providing strong evidence for the validity of the eight-factor AIRS-16 structure.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733187"/>
            <a:ext cx="822900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Backup Slide B3: Understanding Price Value</a:t>
            </a:r>
            <a:endParaRPr lang="en-US" sz="3100" dirty="0"/>
          </a:p>
        </p:txBody>
      </p:sp>
      <p:sp>
        <p:nvSpPr>
          <p:cNvPr id="3" name="Text 1"/>
          <p:cNvSpPr/>
          <p:nvPr/>
        </p:nvSpPr>
        <p:spPr>
          <a:xfrm>
            <a:off x="793790" y="1546860"/>
            <a:ext cx="13042821"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Price Value is the most commonly misunderstood construct in the model. It's not simply "Is this expensive?"—it's a comprehensive evaluation of worth relative to total investment.</a:t>
            </a:r>
            <a:endParaRPr lang="en-US" sz="1250" dirty="0"/>
          </a:p>
        </p:txBody>
      </p:sp>
      <p:sp>
        <p:nvSpPr>
          <p:cNvPr id="4" name="Text 2"/>
          <p:cNvSpPr/>
          <p:nvPr/>
        </p:nvSpPr>
        <p:spPr>
          <a:xfrm>
            <a:off x="793790" y="2039064"/>
            <a:ext cx="4875848"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Components of Total Investment</a:t>
            </a:r>
            <a:endParaRPr lang="en-US" sz="2500" dirty="0"/>
          </a:p>
        </p:txBody>
      </p:sp>
      <p:sp>
        <p:nvSpPr>
          <p:cNvPr id="5" name="Shape 3"/>
          <p:cNvSpPr/>
          <p:nvPr/>
        </p:nvSpPr>
        <p:spPr>
          <a:xfrm>
            <a:off x="793790" y="2674025"/>
            <a:ext cx="6441996" cy="1214557"/>
          </a:xfrm>
          <a:prstGeom prst="roundRect">
            <a:avLst>
              <a:gd name="adj" fmla="val 1961"/>
            </a:avLst>
          </a:prstGeom>
          <a:solidFill>
            <a:srgbClr val="FBFCFE"/>
          </a:solidFill>
          <a:ln w="22860">
            <a:solidFill>
              <a:srgbClr val="CFD2D8"/>
            </a:solidFill>
            <a:prstDash val="solid"/>
          </a:ln>
        </p:spPr>
      </p:sp>
      <p:sp>
        <p:nvSpPr>
          <p:cNvPr id="6" name="Text 4"/>
          <p:cNvSpPr/>
          <p:nvPr/>
        </p:nvSpPr>
        <p:spPr>
          <a:xfrm>
            <a:off x="975360" y="2855595"/>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Roboto Slab" pitchFamily="34" charset="0"/>
                <a:ea typeface="Roboto Slab" pitchFamily="34" charset="-122"/>
                <a:cs typeface="Roboto Slab" pitchFamily="34" charset="-120"/>
              </a:rPr>
              <a:t>Direct Costs</a:t>
            </a:r>
            <a:endParaRPr lang="en-US" sz="1550" dirty="0"/>
          </a:p>
        </p:txBody>
      </p:sp>
      <p:sp>
        <p:nvSpPr>
          <p:cNvPr id="7" name="Text 5"/>
          <p:cNvSpPr/>
          <p:nvPr/>
        </p:nvSpPr>
        <p:spPr>
          <a:xfrm>
            <a:off x="975360" y="3198852"/>
            <a:ext cx="6078855"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Obvious monetary expenses including software licensing fees, subscription costs, required hardware upgrades, and infrastructure investments</a:t>
            </a:r>
            <a:endParaRPr lang="en-US" sz="1250" dirty="0"/>
          </a:p>
        </p:txBody>
      </p:sp>
      <p:sp>
        <p:nvSpPr>
          <p:cNvPr id="8" name="Shape 6"/>
          <p:cNvSpPr/>
          <p:nvPr/>
        </p:nvSpPr>
        <p:spPr>
          <a:xfrm>
            <a:off x="7394496" y="2674025"/>
            <a:ext cx="6442115" cy="1214557"/>
          </a:xfrm>
          <a:prstGeom prst="roundRect">
            <a:avLst>
              <a:gd name="adj" fmla="val 1961"/>
            </a:avLst>
          </a:prstGeom>
          <a:solidFill>
            <a:srgbClr val="FBFCFE"/>
          </a:solidFill>
          <a:ln w="22860">
            <a:solidFill>
              <a:srgbClr val="CFD2D8"/>
            </a:solidFill>
            <a:prstDash val="solid"/>
          </a:ln>
        </p:spPr>
      </p:sp>
      <p:sp>
        <p:nvSpPr>
          <p:cNvPr id="9" name="Text 7"/>
          <p:cNvSpPr/>
          <p:nvPr/>
        </p:nvSpPr>
        <p:spPr>
          <a:xfrm>
            <a:off x="7576066" y="2855595"/>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Roboto Slab" pitchFamily="34" charset="0"/>
                <a:ea typeface="Roboto Slab" pitchFamily="34" charset="-122"/>
                <a:cs typeface="Roboto Slab" pitchFamily="34" charset="-120"/>
              </a:rPr>
              <a:t>Indirect Costs</a:t>
            </a:r>
            <a:endParaRPr lang="en-US" sz="1550" dirty="0"/>
          </a:p>
        </p:txBody>
      </p:sp>
      <p:sp>
        <p:nvSpPr>
          <p:cNvPr id="10" name="Text 8"/>
          <p:cNvSpPr/>
          <p:nvPr/>
        </p:nvSpPr>
        <p:spPr>
          <a:xfrm>
            <a:off x="7576066" y="3198852"/>
            <a:ext cx="6078974"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Time investment in learning curves, workflow disruption during transition period, temporary productivity losses, and adjustment period inefficiencies</a:t>
            </a:r>
            <a:endParaRPr lang="en-US" sz="1250" dirty="0"/>
          </a:p>
        </p:txBody>
      </p:sp>
      <p:sp>
        <p:nvSpPr>
          <p:cNvPr id="11" name="Shape 9"/>
          <p:cNvSpPr/>
          <p:nvPr/>
        </p:nvSpPr>
        <p:spPr>
          <a:xfrm>
            <a:off x="793790" y="4047292"/>
            <a:ext cx="6441996" cy="1214557"/>
          </a:xfrm>
          <a:prstGeom prst="roundRect">
            <a:avLst>
              <a:gd name="adj" fmla="val 1961"/>
            </a:avLst>
          </a:prstGeom>
          <a:solidFill>
            <a:srgbClr val="FBFCFE"/>
          </a:solidFill>
          <a:ln w="22860">
            <a:solidFill>
              <a:srgbClr val="CFD2D8"/>
            </a:solidFill>
            <a:prstDash val="solid"/>
          </a:ln>
        </p:spPr>
      </p:sp>
      <p:sp>
        <p:nvSpPr>
          <p:cNvPr id="12" name="Text 10"/>
          <p:cNvSpPr/>
          <p:nvPr/>
        </p:nvSpPr>
        <p:spPr>
          <a:xfrm>
            <a:off x="975360" y="4228862"/>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Roboto Slab" pitchFamily="34" charset="0"/>
                <a:ea typeface="Roboto Slab" pitchFamily="34" charset="-122"/>
                <a:cs typeface="Roboto Slab" pitchFamily="34" charset="-120"/>
              </a:rPr>
              <a:t>Hidden Costs</a:t>
            </a:r>
            <a:endParaRPr lang="en-US" sz="1550" dirty="0"/>
          </a:p>
        </p:txBody>
      </p:sp>
      <p:sp>
        <p:nvSpPr>
          <p:cNvPr id="13" name="Text 11"/>
          <p:cNvSpPr/>
          <p:nvPr/>
        </p:nvSpPr>
        <p:spPr>
          <a:xfrm>
            <a:off x="975360" y="4572119"/>
            <a:ext cx="6078855"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Less obvious expenses including data privacy risks, potential security vulnerabilities, vendor lock-in concerns, and integration complexities with existing systems</a:t>
            </a:r>
            <a:endParaRPr lang="en-US" sz="1250" dirty="0"/>
          </a:p>
        </p:txBody>
      </p:sp>
      <p:sp>
        <p:nvSpPr>
          <p:cNvPr id="14" name="Shape 12"/>
          <p:cNvSpPr/>
          <p:nvPr/>
        </p:nvSpPr>
        <p:spPr>
          <a:xfrm>
            <a:off x="7394496" y="4047292"/>
            <a:ext cx="6442115" cy="1214557"/>
          </a:xfrm>
          <a:prstGeom prst="roundRect">
            <a:avLst>
              <a:gd name="adj" fmla="val 1961"/>
            </a:avLst>
          </a:prstGeom>
          <a:solidFill>
            <a:srgbClr val="FBFCFE"/>
          </a:solidFill>
          <a:ln w="22860">
            <a:solidFill>
              <a:srgbClr val="CFD2D8"/>
            </a:solidFill>
            <a:prstDash val="solid"/>
          </a:ln>
        </p:spPr>
      </p:sp>
      <p:sp>
        <p:nvSpPr>
          <p:cNvPr id="15" name="Text 13"/>
          <p:cNvSpPr/>
          <p:nvPr/>
        </p:nvSpPr>
        <p:spPr>
          <a:xfrm>
            <a:off x="7576066" y="4228862"/>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Roboto Slab" pitchFamily="34" charset="0"/>
                <a:ea typeface="Roboto Slab" pitchFamily="34" charset="-122"/>
                <a:cs typeface="Roboto Slab" pitchFamily="34" charset="-120"/>
              </a:rPr>
              <a:t>Opportunity Costs</a:t>
            </a:r>
            <a:endParaRPr lang="en-US" sz="1550" dirty="0"/>
          </a:p>
        </p:txBody>
      </p:sp>
      <p:sp>
        <p:nvSpPr>
          <p:cNvPr id="16" name="Text 14"/>
          <p:cNvSpPr/>
          <p:nvPr/>
        </p:nvSpPr>
        <p:spPr>
          <a:xfrm>
            <a:off x="7576066" y="4572119"/>
            <a:ext cx="6078974"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Time spent learning AI is time not spent on current productive work; cognitive resources devoted to new systems aren't available for existing priorities</a:t>
            </a:r>
            <a:endParaRPr lang="en-US" sz="1250" dirty="0"/>
          </a:p>
        </p:txBody>
      </p:sp>
      <p:sp>
        <p:nvSpPr>
          <p:cNvPr id="17" name="Text 15"/>
          <p:cNvSpPr/>
          <p:nvPr/>
        </p:nvSpPr>
        <p:spPr>
          <a:xfrm>
            <a:off x="793790" y="5499973"/>
            <a:ext cx="3774519"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The Price Value Question</a:t>
            </a:r>
            <a:endParaRPr lang="en-US" sz="2500" dirty="0"/>
          </a:p>
        </p:txBody>
      </p:sp>
      <p:sp>
        <p:nvSpPr>
          <p:cNvPr id="18" name="Text 16"/>
          <p:cNvSpPr/>
          <p:nvPr/>
        </p:nvSpPr>
        <p:spPr>
          <a:xfrm>
            <a:off x="1031915" y="6313527"/>
            <a:ext cx="12804696"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"Is the </a:t>
            </a:r>
            <a:pPr algn="l" indent="0" marL="0">
              <a:lnSpc>
                <a:spcPts val="2500"/>
              </a:lnSpc>
              <a:buNone/>
            </a:pPr>
            <a:r>
              <a:rPr lang="en-US" sz="1550" dirty="0">
                <a:solidFill>
                  <a:srgbClr val="FFFFFF"/>
                </a:solidFill>
                <a:highlight>
                  <a:srgbClr val="3257B8"/>
                </a:highlight>
                <a:latin typeface="Roboto" pitchFamily="34" charset="0"/>
                <a:ea typeface="Roboto" pitchFamily="34" charset="-122"/>
                <a:cs typeface="Roboto" pitchFamily="34" charset="-120"/>
              </a:rPr>
              <a:t>total value I will receive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worth the </a:t>
            </a:r>
            <a:pPr algn="l" indent="0" marL="0">
              <a:lnSpc>
                <a:spcPts val="2500"/>
              </a:lnSpc>
              <a:buNone/>
            </a:pPr>
            <a:r>
              <a:rPr lang="en-US" sz="1550" dirty="0">
                <a:solidFill>
                  <a:srgbClr val="FFFFFF"/>
                </a:solidFill>
                <a:highlight>
                  <a:srgbClr val="3257B8"/>
                </a:highlight>
                <a:latin typeface="Roboto" pitchFamily="34" charset="0"/>
                <a:ea typeface="Roboto" pitchFamily="34" charset="-122"/>
                <a:cs typeface="Roboto" pitchFamily="34" charset="-120"/>
              </a:rPr>
              <a:t>total investment I must make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across all cost dimensions?"</a:t>
            </a:r>
            <a:endParaRPr lang="en-US" sz="1550" dirty="0"/>
          </a:p>
        </p:txBody>
      </p:sp>
      <p:sp>
        <p:nvSpPr>
          <p:cNvPr id="19" name="Shape 17"/>
          <p:cNvSpPr/>
          <p:nvPr/>
        </p:nvSpPr>
        <p:spPr>
          <a:xfrm>
            <a:off x="793790" y="6134933"/>
            <a:ext cx="22860" cy="674727"/>
          </a:xfrm>
          <a:prstGeom prst="rect">
            <a:avLst/>
          </a:prstGeom>
          <a:solidFill>
            <a:srgbClr val="3257B8"/>
          </a:solidFill>
          <a:ln/>
        </p:spPr>
      </p:sp>
      <p:sp>
        <p:nvSpPr>
          <p:cNvPr id="20" name="Text 18"/>
          <p:cNvSpPr/>
          <p:nvPr/>
        </p:nvSpPr>
        <p:spPr>
          <a:xfrm>
            <a:off x="793790" y="6988254"/>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This holistic evaluation explains why Price Value dominates the model at β = .505. Users aren't asking "How much does this cost?" but rather "Is this worth it when I account for everything I'm giving up and everything I'm risking?"</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1647" y="621983"/>
            <a:ext cx="7764423" cy="459343"/>
          </a:xfrm>
          <a:prstGeom prst="rect">
            <a:avLst/>
          </a:prstGeom>
          <a:noFill/>
          <a:ln/>
        </p:spPr>
        <p:txBody>
          <a:bodyPr wrap="none" lIns="0" tIns="0" rIns="0" bIns="0" rtlCol="0" anchor="t"/>
          <a:lstStyle/>
          <a:p>
            <a:pPr algn="l" indent="0" marL="0">
              <a:lnSpc>
                <a:spcPts val="3600"/>
              </a:lnSpc>
              <a:buNone/>
            </a:pPr>
            <a:r>
              <a:rPr lang="en-US" sz="2850" dirty="0">
                <a:solidFill>
                  <a:srgbClr val="3257B8"/>
                </a:solidFill>
                <a:latin typeface="Roboto Slab" pitchFamily="34" charset="0"/>
                <a:ea typeface="Roboto Slab" pitchFamily="34" charset="-122"/>
                <a:cs typeface="Roboto Slab" pitchFamily="34" charset="-120"/>
              </a:rPr>
              <a:t>Backup Slide B4: Why Four Constructs Failed</a:t>
            </a:r>
            <a:endParaRPr lang="en-US" sz="2850" dirty="0"/>
          </a:p>
        </p:txBody>
      </p:sp>
      <p:sp>
        <p:nvSpPr>
          <p:cNvPr id="3" name="Shape 1"/>
          <p:cNvSpPr/>
          <p:nvPr/>
        </p:nvSpPr>
        <p:spPr>
          <a:xfrm>
            <a:off x="791647" y="1375291"/>
            <a:ext cx="13047107" cy="5207318"/>
          </a:xfrm>
          <a:prstGeom prst="roundRect">
            <a:avLst>
              <a:gd name="adj" fmla="val 424"/>
            </a:avLst>
          </a:prstGeom>
          <a:noFill/>
          <a:ln w="7620">
            <a:solidFill>
              <a:srgbClr val="000000">
                <a:alpha val="8000"/>
              </a:srgbClr>
            </a:solidFill>
            <a:prstDash val="solid"/>
          </a:ln>
        </p:spPr>
      </p:sp>
      <p:sp>
        <p:nvSpPr>
          <p:cNvPr id="4" name="Shape 2"/>
          <p:cNvSpPr/>
          <p:nvPr/>
        </p:nvSpPr>
        <p:spPr>
          <a:xfrm>
            <a:off x="799267" y="1382911"/>
            <a:ext cx="13031867" cy="426720"/>
          </a:xfrm>
          <a:prstGeom prst="rect">
            <a:avLst/>
          </a:prstGeom>
          <a:solidFill>
            <a:srgbClr val="FFFFFF">
              <a:alpha val="4000"/>
            </a:srgbClr>
          </a:solidFill>
          <a:ln/>
        </p:spPr>
      </p:sp>
      <p:sp>
        <p:nvSpPr>
          <p:cNvPr id="5" name="Text 3"/>
          <p:cNvSpPr/>
          <p:nvPr/>
        </p:nvSpPr>
        <p:spPr>
          <a:xfrm>
            <a:off x="946547" y="1478637"/>
            <a:ext cx="230862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Construct</a:t>
            </a:r>
            <a:endParaRPr lang="en-US" sz="1150" dirty="0"/>
          </a:p>
        </p:txBody>
      </p:sp>
      <p:sp>
        <p:nvSpPr>
          <p:cNvPr id="6" name="Text 4"/>
          <p:cNvSpPr/>
          <p:nvPr/>
        </p:nvSpPr>
        <p:spPr>
          <a:xfrm>
            <a:off x="3556635" y="1478637"/>
            <a:ext cx="1262301"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α</a:t>
            </a:r>
            <a:endParaRPr lang="en-US" sz="1150" dirty="0"/>
          </a:p>
        </p:txBody>
      </p:sp>
      <p:sp>
        <p:nvSpPr>
          <p:cNvPr id="7" name="Text 5"/>
          <p:cNvSpPr/>
          <p:nvPr/>
        </p:nvSpPr>
        <p:spPr>
          <a:xfrm>
            <a:off x="5120402" y="1478637"/>
            <a:ext cx="4259580"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What Went Wrong</a:t>
            </a:r>
            <a:endParaRPr lang="en-US" sz="1150" dirty="0"/>
          </a:p>
        </p:txBody>
      </p:sp>
      <p:sp>
        <p:nvSpPr>
          <p:cNvPr id="8" name="Text 6"/>
          <p:cNvSpPr/>
          <p:nvPr/>
        </p:nvSpPr>
        <p:spPr>
          <a:xfrm>
            <a:off x="9681448" y="1478637"/>
            <a:ext cx="400276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Future Direction</a:t>
            </a:r>
            <a:endParaRPr lang="en-US" sz="1150" dirty="0"/>
          </a:p>
        </p:txBody>
      </p:sp>
      <p:sp>
        <p:nvSpPr>
          <p:cNvPr id="9" name="Shape 7"/>
          <p:cNvSpPr/>
          <p:nvPr/>
        </p:nvSpPr>
        <p:spPr>
          <a:xfrm>
            <a:off x="799267" y="1809631"/>
            <a:ext cx="13031867" cy="1132523"/>
          </a:xfrm>
          <a:prstGeom prst="rect">
            <a:avLst/>
          </a:prstGeom>
          <a:solidFill>
            <a:srgbClr val="000000">
              <a:alpha val="4000"/>
            </a:srgbClr>
          </a:solidFill>
          <a:ln/>
        </p:spPr>
      </p:sp>
      <p:sp>
        <p:nvSpPr>
          <p:cNvPr id="10" name="Text 8"/>
          <p:cNvSpPr/>
          <p:nvPr/>
        </p:nvSpPr>
        <p:spPr>
          <a:xfrm>
            <a:off x="946547" y="1905357"/>
            <a:ext cx="230862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Voluntariness</a:t>
            </a:r>
            <a:endParaRPr lang="en-US" sz="1150" dirty="0"/>
          </a:p>
        </p:txBody>
      </p:sp>
      <p:sp>
        <p:nvSpPr>
          <p:cNvPr id="11" name="Text 9"/>
          <p:cNvSpPr/>
          <p:nvPr/>
        </p:nvSpPr>
        <p:spPr>
          <a:xfrm>
            <a:off x="3556635" y="1905357"/>
            <a:ext cx="1262301" cy="235268"/>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.301</a:t>
            </a:r>
            <a:endParaRPr lang="en-US" sz="1150" dirty="0"/>
          </a:p>
        </p:txBody>
      </p:sp>
      <p:sp>
        <p:nvSpPr>
          <p:cNvPr id="12" name="Text 10"/>
          <p:cNvSpPr/>
          <p:nvPr/>
        </p:nvSpPr>
        <p:spPr>
          <a:xfrm>
            <a:off x="5120402" y="1905357"/>
            <a:ext cx="4259580" cy="941070"/>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Items conceptually conflicted—"My organization requires AI use" and "I choose to use AI voluntarily" don't represent opposite ends of a single continuum as intended. Participants interpreted these as addressing different questions.</a:t>
            </a:r>
            <a:endParaRPr lang="en-US" sz="1150" dirty="0"/>
          </a:p>
        </p:txBody>
      </p:sp>
      <p:sp>
        <p:nvSpPr>
          <p:cNvPr id="13" name="Text 11"/>
          <p:cNvSpPr/>
          <p:nvPr/>
        </p:nvSpPr>
        <p:spPr>
          <a:xfrm>
            <a:off x="9681448" y="1905357"/>
            <a:ext cx="4002762" cy="705803"/>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Reframe as "perceived pressure to adopt" measured on a continuum from low to high pressure. Avoid forced choice between mandatory and voluntary.</a:t>
            </a:r>
            <a:endParaRPr lang="en-US" sz="1150" dirty="0"/>
          </a:p>
        </p:txBody>
      </p:sp>
      <p:sp>
        <p:nvSpPr>
          <p:cNvPr id="14" name="Shape 12"/>
          <p:cNvSpPr/>
          <p:nvPr/>
        </p:nvSpPr>
        <p:spPr>
          <a:xfrm>
            <a:off x="799267" y="2942153"/>
            <a:ext cx="13031867" cy="1367790"/>
          </a:xfrm>
          <a:prstGeom prst="rect">
            <a:avLst/>
          </a:prstGeom>
          <a:solidFill>
            <a:srgbClr val="FFFFFF">
              <a:alpha val="4000"/>
            </a:srgbClr>
          </a:solidFill>
          <a:ln/>
        </p:spPr>
      </p:sp>
      <p:sp>
        <p:nvSpPr>
          <p:cNvPr id="15" name="Text 13"/>
          <p:cNvSpPr/>
          <p:nvPr/>
        </p:nvSpPr>
        <p:spPr>
          <a:xfrm>
            <a:off x="946547" y="3037880"/>
            <a:ext cx="230862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Explainability</a:t>
            </a:r>
            <a:endParaRPr lang="en-US" sz="1150" dirty="0"/>
          </a:p>
        </p:txBody>
      </p:sp>
      <p:sp>
        <p:nvSpPr>
          <p:cNvPr id="16" name="Text 14"/>
          <p:cNvSpPr/>
          <p:nvPr/>
        </p:nvSpPr>
        <p:spPr>
          <a:xfrm>
            <a:off x="3556635" y="3037880"/>
            <a:ext cx="1262301" cy="235268"/>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.503</a:t>
            </a:r>
            <a:endParaRPr lang="en-US" sz="1150" dirty="0"/>
          </a:p>
        </p:txBody>
      </p:sp>
      <p:sp>
        <p:nvSpPr>
          <p:cNvPr id="17" name="Text 15"/>
          <p:cNvSpPr/>
          <p:nvPr/>
        </p:nvSpPr>
        <p:spPr>
          <a:xfrm>
            <a:off x="5120402" y="3037880"/>
            <a:ext cx="4259580" cy="1176337"/>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 explanation is multi-dimensional: how a model works (transparency), why it made specific decisions (interpretability), and whether decisions can be audited (accountability) are conceptually distinct. Items attempting broad coverage failed to cohere.</a:t>
            </a:r>
            <a:endParaRPr lang="en-US" sz="1150" dirty="0"/>
          </a:p>
        </p:txBody>
      </p:sp>
      <p:sp>
        <p:nvSpPr>
          <p:cNvPr id="18" name="Text 16"/>
          <p:cNvSpPr/>
          <p:nvPr/>
        </p:nvSpPr>
        <p:spPr>
          <a:xfrm>
            <a:off x="9681448" y="3037880"/>
            <a:ext cx="4002762" cy="705803"/>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Decompose into transparency, interpretability, and auditability sub-dimensions. Develop construct-specific items for each rather than attempting single explainability measure.</a:t>
            </a:r>
            <a:endParaRPr lang="en-US" sz="1150" dirty="0"/>
          </a:p>
        </p:txBody>
      </p:sp>
      <p:sp>
        <p:nvSpPr>
          <p:cNvPr id="19" name="Shape 17"/>
          <p:cNvSpPr/>
          <p:nvPr/>
        </p:nvSpPr>
        <p:spPr>
          <a:xfrm>
            <a:off x="799267" y="4309943"/>
            <a:ext cx="13031867" cy="1132523"/>
          </a:xfrm>
          <a:prstGeom prst="rect">
            <a:avLst/>
          </a:prstGeom>
          <a:solidFill>
            <a:srgbClr val="000000">
              <a:alpha val="4000"/>
            </a:srgbClr>
          </a:solidFill>
          <a:ln/>
        </p:spPr>
      </p:sp>
      <p:sp>
        <p:nvSpPr>
          <p:cNvPr id="20" name="Text 18"/>
          <p:cNvSpPr/>
          <p:nvPr/>
        </p:nvSpPr>
        <p:spPr>
          <a:xfrm>
            <a:off x="946547" y="4405670"/>
            <a:ext cx="230862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Ethical Risk</a:t>
            </a:r>
            <a:endParaRPr lang="en-US" sz="1150" dirty="0"/>
          </a:p>
        </p:txBody>
      </p:sp>
      <p:sp>
        <p:nvSpPr>
          <p:cNvPr id="21" name="Text 19"/>
          <p:cNvSpPr/>
          <p:nvPr/>
        </p:nvSpPr>
        <p:spPr>
          <a:xfrm>
            <a:off x="3556635" y="4405670"/>
            <a:ext cx="1262301" cy="235268"/>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.582</a:t>
            </a:r>
            <a:endParaRPr lang="en-US" sz="1150" dirty="0"/>
          </a:p>
        </p:txBody>
      </p:sp>
      <p:sp>
        <p:nvSpPr>
          <p:cNvPr id="22" name="Text 20"/>
          <p:cNvSpPr/>
          <p:nvPr/>
        </p:nvSpPr>
        <p:spPr>
          <a:xfrm>
            <a:off x="5120402" y="4405670"/>
            <a:ext cx="4259580" cy="941070"/>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Items conflated personal ethical concerns ("AI could make biased decisions affecting me personally") with societal ethical concerns ("AI could harm society broadly"). These represent different psychological constructs.</a:t>
            </a:r>
            <a:endParaRPr lang="en-US" sz="1150" dirty="0"/>
          </a:p>
        </p:txBody>
      </p:sp>
      <p:sp>
        <p:nvSpPr>
          <p:cNvPr id="23" name="Text 21"/>
          <p:cNvSpPr/>
          <p:nvPr/>
        </p:nvSpPr>
        <p:spPr>
          <a:xfrm>
            <a:off x="9681448" y="4405670"/>
            <a:ext cx="4002762" cy="941070"/>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Separate individual ethical risk perception from societal ethical concerns. Create distinct measures: personal ethics focus on direct individual impact; societal ethics focus on broader implications.</a:t>
            </a:r>
            <a:endParaRPr lang="en-US" sz="1150" dirty="0"/>
          </a:p>
        </p:txBody>
      </p:sp>
      <p:sp>
        <p:nvSpPr>
          <p:cNvPr id="24" name="Shape 22"/>
          <p:cNvSpPr/>
          <p:nvPr/>
        </p:nvSpPr>
        <p:spPr>
          <a:xfrm>
            <a:off x="799267" y="5442466"/>
            <a:ext cx="13031867" cy="1132523"/>
          </a:xfrm>
          <a:prstGeom prst="rect">
            <a:avLst/>
          </a:prstGeom>
          <a:solidFill>
            <a:srgbClr val="FFFFFF">
              <a:alpha val="4000"/>
            </a:srgbClr>
          </a:solidFill>
          <a:ln/>
        </p:spPr>
      </p:sp>
      <p:sp>
        <p:nvSpPr>
          <p:cNvPr id="25" name="Text 23"/>
          <p:cNvSpPr/>
          <p:nvPr/>
        </p:nvSpPr>
        <p:spPr>
          <a:xfrm>
            <a:off x="946547" y="5538192"/>
            <a:ext cx="2308622" cy="235268"/>
          </a:xfrm>
          <a:prstGeom prst="rect">
            <a:avLst/>
          </a:prstGeom>
          <a:noFill/>
          <a:ln/>
        </p:spPr>
        <p:txBody>
          <a:bodyPr wrap="none" lIns="0" tIns="0" rIns="0" bIns="0" rtlCol="0" anchor="t"/>
          <a:lstStyle/>
          <a:p>
            <a:pPr algn="l" indent="0" marL="0">
              <a:lnSpc>
                <a:spcPts val="1850"/>
              </a:lnSpc>
              <a:buNone/>
            </a:pPr>
            <a:r>
              <a:rPr lang="en-US" sz="1150" b="1" dirty="0">
                <a:solidFill>
                  <a:srgbClr val="15213F"/>
                </a:solidFill>
                <a:latin typeface="Roboto" pitchFamily="34" charset="0"/>
                <a:ea typeface="Roboto" pitchFamily="34" charset="-122"/>
                <a:cs typeface="Roboto" pitchFamily="34" charset="-120"/>
              </a:rPr>
              <a:t>AI Anxiety</a:t>
            </a:r>
            <a:endParaRPr lang="en-US" sz="1150" dirty="0"/>
          </a:p>
        </p:txBody>
      </p:sp>
      <p:sp>
        <p:nvSpPr>
          <p:cNvPr id="26" name="Text 24"/>
          <p:cNvSpPr/>
          <p:nvPr/>
        </p:nvSpPr>
        <p:spPr>
          <a:xfrm>
            <a:off x="3556635" y="5538192"/>
            <a:ext cx="1262301" cy="235268"/>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.423</a:t>
            </a:r>
            <a:endParaRPr lang="en-US" sz="1150" dirty="0"/>
          </a:p>
        </p:txBody>
      </p:sp>
      <p:sp>
        <p:nvSpPr>
          <p:cNvPr id="27" name="Text 25"/>
          <p:cNvSpPr/>
          <p:nvPr/>
        </p:nvSpPr>
        <p:spPr>
          <a:xfrm>
            <a:off x="5120402" y="5538192"/>
            <a:ext cx="4259580" cy="941070"/>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Measured anxiety overlapped substantially with general technology anxiety rather than capturing AI-specific concerns. Poor discriminant validity indicates items weren't sufficiently AI-specific.</a:t>
            </a:r>
            <a:endParaRPr lang="en-US" sz="1150" dirty="0"/>
          </a:p>
        </p:txBody>
      </p:sp>
      <p:sp>
        <p:nvSpPr>
          <p:cNvPr id="28" name="Text 26"/>
          <p:cNvSpPr/>
          <p:nvPr/>
        </p:nvSpPr>
        <p:spPr>
          <a:xfrm>
            <a:off x="9681448" y="5538192"/>
            <a:ext cx="4002762" cy="941070"/>
          </a:xfrm>
          <a:prstGeom prst="rect">
            <a:avLst/>
          </a:prstGeom>
          <a:noFill/>
          <a:ln/>
        </p:spPr>
        <p:txBody>
          <a:bodyPr wrap="squar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Develop items that distinguish AI-specific anxiety sources (fear of algorithmic bias, opacity, autonomous decision-making) from general technology discomfort. Focus on unique AI characteristics.</a:t>
            </a:r>
            <a:endParaRPr lang="en-US" sz="1150" dirty="0"/>
          </a:p>
        </p:txBody>
      </p:sp>
      <p:sp>
        <p:nvSpPr>
          <p:cNvPr id="29" name="Shape 27"/>
          <p:cNvSpPr/>
          <p:nvPr/>
        </p:nvSpPr>
        <p:spPr>
          <a:xfrm>
            <a:off x="791647" y="6747986"/>
            <a:ext cx="13047107" cy="859869"/>
          </a:xfrm>
          <a:prstGeom prst="roundRect">
            <a:avLst>
              <a:gd name="adj" fmla="val 2565"/>
            </a:avLst>
          </a:prstGeom>
          <a:solidFill>
            <a:srgbClr val="C3CFEF"/>
          </a:solidFill>
          <a:ln/>
        </p:spPr>
      </p:sp>
      <p:pic>
        <p:nvPicPr>
          <p:cNvPr id="30" name="Image 0" descr="preencoded.png">    </p:cNvPr>
          <p:cNvPicPr>
            <a:picLocks noChangeAspect="1"/>
          </p:cNvPicPr>
          <p:nvPr/>
        </p:nvPicPr>
        <p:blipFill>
          <a:blip r:embed="rId1"/>
          <a:stretch>
            <a:fillRect/>
          </a:stretch>
        </p:blipFill>
        <p:spPr>
          <a:xfrm>
            <a:off x="938570" y="6963013"/>
            <a:ext cx="183713" cy="146923"/>
          </a:xfrm>
          <a:prstGeom prst="rect">
            <a:avLst/>
          </a:prstGeom>
        </p:spPr>
      </p:pic>
      <p:sp>
        <p:nvSpPr>
          <p:cNvPr id="31" name="Text 28"/>
          <p:cNvSpPr/>
          <p:nvPr/>
        </p:nvSpPr>
        <p:spPr>
          <a:xfrm>
            <a:off x="1269206" y="6931581"/>
            <a:ext cx="12422624" cy="470535"/>
          </a:xfrm>
          <a:prstGeom prst="rect">
            <a:avLst/>
          </a:prstGeom>
          <a:noFill/>
          <a:ln/>
        </p:spPr>
        <p:txBody>
          <a:bodyPr wrap="square" lIns="0" tIns="0" rIns="0" bIns="0" rtlCol="0" anchor="t"/>
          <a:lstStyle/>
          <a:p>
            <a:pPr algn="l" indent="0" marL="0">
              <a:lnSpc>
                <a:spcPts val="1850"/>
              </a:lnSpc>
              <a:buNone/>
            </a:pPr>
            <a:r>
              <a:rPr lang="en-US" sz="1150" b="1" dirty="0">
                <a:solidFill>
                  <a:srgbClr val="000000"/>
                </a:solidFill>
                <a:latin typeface="Roboto" pitchFamily="34" charset="0"/>
                <a:ea typeface="Roboto" pitchFamily="34" charset="-122"/>
                <a:cs typeface="Roboto" pitchFamily="34" charset="-120"/>
              </a:rPr>
              <a:t>Critical Point:</a:t>
            </a:r>
            <a:pPr algn="l" indent="0" marL="0">
              <a:lnSpc>
                <a:spcPts val="1850"/>
              </a:lnSpc>
              <a:buNone/>
            </a:pPr>
            <a:r>
              <a:rPr lang="en-US" sz="1150" dirty="0">
                <a:solidFill>
                  <a:srgbClr val="000000"/>
                </a:solidFill>
                <a:latin typeface="Roboto" pitchFamily="34" charset="0"/>
                <a:ea typeface="Roboto" pitchFamily="34" charset="-122"/>
                <a:cs typeface="Roboto" pitchFamily="34" charset="-120"/>
              </a:rPr>
              <a:t> These represent measurement challenges, not theoretical failures. The constructs remain conceptually important for understanding AI adoption—we simply need better measurement approaches. Future research should prioritize construct refinement using cognitive interviewing and iterative item testing.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2025-12-30T00:21:57Z</dcterms:created>
  <dcterms:modified xsi:type="dcterms:W3CDTF">2025-12-30T00:21:57Z</dcterms:modified>
</cp:coreProperties>
</file>