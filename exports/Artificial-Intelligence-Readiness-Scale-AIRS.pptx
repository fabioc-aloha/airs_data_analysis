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4630400" cy="8229600"/>
  <p:notesSz cx="8229600" cy="14630400"/>
  <p:embeddedFontLst>
    <p:embeddedFont>
      <p:font typeface="Inter"/>
      <p:regular r:id="rId37"/>
    </p:embeddedFont>
    <p:embeddedFont>
      <p:font typeface="Inter"/>
      <p:regular r:id="rId38"/>
    </p:embeddedFont>
    <p:embeddedFont>
      <p:font typeface="Inter"/>
      <p:regular r:id="rId39"/>
    </p:embeddedFont>
    <p:embeddedFont>
      <p:font typeface="Inter"/>
      <p:regular r:id="rId40"/>
    </p:embeddedFont>
    <p:embeddedFont>
      <p:font typeface="Inter"/>
      <p:regular r:id="rId41"/>
    </p:embeddedFont>
    <p:embeddedFont>
      <p:font typeface="Inter"/>
      <p:regular r:id="rId42"/>
    </p:embeddedFont>
    <p:embeddedFont>
      <p:font typeface="Inter"/>
      <p:regular r:id="rId43"/>
    </p:embeddedFont>
    <p:embeddedFont>
      <p:font typeface="Inter"/>
      <p:regular r:id="rId4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Relationship Id="rId41" Type="http://schemas.openxmlformats.org/officeDocument/2006/relationships/font" Target="fonts/font5.fntdata"/><Relationship Id="rId42" Type="http://schemas.openxmlformats.org/officeDocument/2006/relationships/font" Target="fonts/font6.fntdata"/><Relationship Id="rId43" Type="http://schemas.openxmlformats.org/officeDocument/2006/relationships/font" Target="fonts/font7.fntdata"/><Relationship Id="rId4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8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slideLayout" Target="../slideLayouts/slideLayout2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slideLayout" Target="../slideLayouts/slideLayout24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27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image" Target="../media/image-29-4.png"/><Relationship Id="rId5" Type="http://schemas.openxmlformats.org/officeDocument/2006/relationships/image" Target="../media/image-29-5.sv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30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image" Target="../media/image-30-4.png"/><Relationship Id="rId5" Type="http://schemas.openxmlformats.org/officeDocument/2006/relationships/image" Target="../media/image-30-5.svg"/><Relationship Id="rId6" Type="http://schemas.openxmlformats.org/officeDocument/2006/relationships/image" Target="../media/image-30-6.png"/><Relationship Id="rId7" Type="http://schemas.openxmlformats.org/officeDocument/2006/relationships/image" Target="../media/image-30-7.svg"/><Relationship Id="rId8" Type="http://schemas.openxmlformats.org/officeDocument/2006/relationships/image" Target="../media/image-30-8.png"/><Relationship Id="rId9" Type="http://schemas.openxmlformats.org/officeDocument/2006/relationships/image" Target="../media/image-30-9.sv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31.xml"/><Relationship Id="rId1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287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Intelligence Readiness Scale (AIRS)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864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Extending UTAUT2 for Enterprise AI Adoption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804529"/>
            <a:ext cx="2872264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7498" y="4880134"/>
            <a:ext cx="258484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DBA DISSERTATION DEFENSE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79401" y="4804529"/>
            <a:ext cx="159877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23109" y="4880134"/>
            <a:ext cx="13113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FABIO CORREA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3790" y="5359360"/>
            <a:ext cx="457057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7498" y="5434965"/>
            <a:ext cx="4283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TOURO UNIVERSITY WORLDWIDE ·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6275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Presentation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 and core challenge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69500"/>
            <a:ext cx="3199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Theoretical Framework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and research questions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pipeline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results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Contributions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and practice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Research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and appendix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5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Core Problem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0398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 use rose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→ 72% → 88%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among knowledge workers (2023–2025). Yet only a small minority of organizations report measurable value, and 90–95% of generative AI pilots fail to scale.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647843"/>
            <a:ext cx="75564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04" y="4991933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4931331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Problem: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Not whether organizations deploy AI — but whether people are actually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adopt it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9062"/>
            <a:ext cx="7622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Research Matters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8146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Theoretical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063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validated for consumer tech — unclear if its predictor structure holds for AI tools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8146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Measurement Gap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9063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validated psychometric instrument existed for AI-specific adoption readiness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8146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Practice Gap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90632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lacked an evidence-based diagnostic to identify specific adoption barriers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4846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dissertation extends UTAUT2 with AI Trust, develops the AIRS instrument, and produces an organizational assessment tool — answering all three gaps simultaneously.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2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Questions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34006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what extent does UTAUT2, extended with AI Trust, explain behavioral intention to adopt AI tools among U.S. students and professionals?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84909"/>
            <a:ext cx="30480" cy="1236107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576167"/>
            <a:ext cx="3090505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4833461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5323880"/>
            <a:ext cx="257591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Factorial validity and psychometric adequacy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4576167"/>
            <a:ext cx="309062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403" y="483346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68403" y="5323880"/>
            <a:ext cx="25760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and role as moderators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576167"/>
            <a:ext cx="309062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5842" y="483346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5842" y="5323880"/>
            <a:ext cx="25760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intention vs. actual tool usage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4576167"/>
            <a:ext cx="3090624" cy="1730812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03280" y="4833461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RQ5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03280" y="5323880"/>
            <a:ext cx="25760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typologies from readiness patterns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495"/>
            <a:ext cx="813399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Theoretical Foundation: UTAUT2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184202"/>
            <a:ext cx="62724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builds on seven established UTAUT2 constructs as predictors of behavioral intention — the proven backbone for technology adoption research.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71780" y="2225635"/>
            <a:ext cx="6272451" cy="4691777"/>
          </a:xfrm>
          <a:prstGeom prst="roundRect">
            <a:avLst>
              <a:gd name="adj" fmla="val 18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79400" y="2233255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83473" y="235100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15888" y="235100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79400" y="2779038"/>
            <a:ext cx="625721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83473" y="2896791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Expectancy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15888" y="2896791"/>
            <a:ext cx="2716649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performance improvement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79400" y="3635097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83473" y="375285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Expectancy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15888" y="375285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Perceived ease of use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79400" y="4180880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83473" y="429863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Influence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15888" y="429863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Encouragement from others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9400" y="4726662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83473" y="4844415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Facilitating Conditions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15888" y="4844415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infrastructure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79400" y="5272445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83473" y="539019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Hedonic Motivation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15888" y="539019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Enjoyment and engagement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79400" y="5818227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83473" y="593598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Value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15888" y="593598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relative to cost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79400" y="6364010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83473" y="648176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15888" y="648176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Automaticity of use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67621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AI-Specific Extension: Why Add AI Trust?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033" y="2862382"/>
            <a:ext cx="323136" cy="3231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396" y="2851785"/>
            <a:ext cx="2815114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tools differ from conventional tech in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opacity, probabilistic outputs, and apparent autonomy</a:t>
            </a:r>
            <a:endParaRPr lang="en-US" sz="16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1033" y="4952286"/>
            <a:ext cx="323136" cy="3231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80396" y="4941689"/>
            <a:ext cx="2815114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becomes theoretically essential — not just usefulness or ease</a:t>
            </a:r>
            <a:endParaRPr lang="en-US" sz="16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1033" y="6369963"/>
            <a:ext cx="323136" cy="32313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980396" y="6359366"/>
            <a:ext cx="28151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Trust introduced as an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eighth predictor construct</a:t>
            </a:r>
            <a:endParaRPr lang="en-US" sz="1650" dirty="0"/>
          </a:p>
        </p:txBody>
      </p:sp>
      <p:sp>
        <p:nvSpPr>
          <p:cNvPr id="10" name="Shape 4"/>
          <p:cNvSpPr/>
          <p:nvPr/>
        </p:nvSpPr>
        <p:spPr>
          <a:xfrm>
            <a:off x="10328910" y="2851785"/>
            <a:ext cx="3515320" cy="2903101"/>
          </a:xfrm>
          <a:prstGeom prst="roundRect">
            <a:avLst>
              <a:gd name="adj" fmla="val 3118"/>
            </a:avLst>
          </a:prstGeom>
          <a:solidFill>
            <a:srgbClr val="C7C9EA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4294" y="3176349"/>
            <a:ext cx="269319" cy="21538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028998" y="3110270"/>
            <a:ext cx="2599849" cy="2352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Rationale: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adoption depends on whether users believe AI systems are reliable and trustworthy — an extension, not a replacement, of UTAUT2.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751999"/>
            <a:ext cx="4758095" cy="594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Design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021" y="1666042"/>
            <a:ext cx="10104239" cy="535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39076" y="5491003"/>
            <a:ext cx="2521174" cy="312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Quantitative Primary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484322" y="5892114"/>
            <a:ext cx="2675929" cy="45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validation and hypothesis testing.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684874" y="2332074"/>
            <a:ext cx="2498274" cy="312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Qualitative Support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2507219" y="2733186"/>
            <a:ext cx="2675929" cy="45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elaboration and participant insights.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03075" y="2332074"/>
            <a:ext cx="2498274" cy="312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Cross-Validation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503075" y="2733186"/>
            <a:ext cx="2675930" cy="45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Reproduce analyses in Python and R/lavaan.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46868" y="5491176"/>
            <a:ext cx="2498274" cy="312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Synthesis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446868" y="5892288"/>
            <a:ext cx="2675929" cy="459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findings into coherent conclusions.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83669" y="7197447"/>
            <a:ext cx="1306306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Post-positivist, sequential mixed-methods design with quantitative primacy. Authoritative fit indices and bootstrap validation taken from R/lavaan.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657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 Development: From 28 Items to AIRS-16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69444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03878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Pool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85022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constructs · 28 items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9551" y="3169444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3985" y="3403878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AIRS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63985" y="3985022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factors · 16 predictor items + 4 BI items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141107"/>
            <a:ext cx="28852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Constructs Excluded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722251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Voluntariness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conflated mandates with personal freedom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mixed understanding with preference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Risk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conflated distinct concerns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Anxiety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collapsed different coping patterns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6109097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53188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639258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instrument is shorter, stronger psychometrically, and more usable in organizational settings.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981"/>
            <a:ext cx="7594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and Data Collection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79420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523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66418" y="4011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Adults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92360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U.S. participants, Oct–Nov 2025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057888" y="2979420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130516" y="4011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With Disability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57888" y="4592360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neurodiversity analysis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2866073"/>
            <a:ext cx="6244709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141" y="2873693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34789" y="301740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914573" y="3017401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990546" y="301740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607141" y="3524012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34789" y="366772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914573" y="366772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216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990546" y="366772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41.3%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607141" y="4174331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34789" y="431804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14573" y="431804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184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990546" y="431804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35.2%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607141" y="4824651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834789" y="496835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914573" y="4968359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1990546" y="496835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23.5%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599521" y="57377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Topic-blinded recruitment through Centiment ensured unbiased participation.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11" y="591741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Analytical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6511" y="1103709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8911" y="1355169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09675" y="1225629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Splitting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6511" y="1900714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8911" y="2152174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9675" y="2022634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6511" y="2697718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911" y="2949178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9675" y="2819638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CFA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511" y="3494723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911" y="3746183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9675" y="3616643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Invariance 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11" y="4291727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911" y="4543187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9675" y="4413647"/>
            <a:ext cx="1524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6511" y="5088731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911" y="5340191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9675" y="5210651"/>
            <a:ext cx="17748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Mediation &amp; Moderation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6511" y="5885736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911" y="6137196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9675" y="6007656"/>
            <a:ext cx="15703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Behavioral Validation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11" y="6682740"/>
            <a:ext cx="487680" cy="731520"/>
          </a:xfrm>
          <a:prstGeom prst="roundRect">
            <a:avLst>
              <a:gd name="adj" fmla="val 36001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911" y="6934200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9675" y="6804660"/>
            <a:ext cx="1582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Qualitative Synthesis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11" y="7487960"/>
            <a:ext cx="13317379" cy="14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was staged, not ad hoc. R/lavaan values are authoritative for fit indices and bootstrap conclusions.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31031"/>
            <a:ext cx="8023979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Adequacy and Model Fit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7956" y="1894165"/>
            <a:ext cx="305407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.937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7733" y="291715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7956" y="3403044"/>
            <a:ext cx="3054072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sampling adequacy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1348" y="1894165"/>
            <a:ext cx="3054191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.975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41244" y="291715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CFI (Holdout)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1348" y="3403044"/>
            <a:ext cx="3054191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model fit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4860" y="1894165"/>
            <a:ext cx="305407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.065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74637" y="291715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4860" y="3403044"/>
            <a:ext cx="3054072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fit index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253" y="1894165"/>
            <a:ext cx="3054191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.026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908149" y="2917150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SRMR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253" y="3403044"/>
            <a:ext cx="3054191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 fit index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87956" y="4372094"/>
            <a:ext cx="13054489" cy="3226356"/>
          </a:xfrm>
          <a:prstGeom prst="roundRect">
            <a:avLst>
              <a:gd name="adj" fmla="val 293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76" y="4379714"/>
            <a:ext cx="13039249" cy="642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0723" y="4521398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84345" y="4521398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4157" y="4521398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Sample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803969" y="4521398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5576" y="5021937"/>
            <a:ext cx="13039249" cy="642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0723" y="5163622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CFI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284345" y="5163622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.975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4157" y="5163622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.979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803969" y="5163622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95576" y="5664160"/>
            <a:ext cx="13039249" cy="642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20723" y="5805845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TLI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4284345" y="5805845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.960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544157" y="5805845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.966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803969" y="5805845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95576" y="6306383"/>
            <a:ext cx="13039249" cy="642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20723" y="6448068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RMSEA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4284345" y="6448068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.065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544157" y="6448068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.061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0803969" y="6448068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</a:t>
            </a:r>
            <a:endParaRPr lang="en-US" sz="1750" dirty="0"/>
          </a:p>
        </p:txBody>
      </p:sp>
      <p:sp>
        <p:nvSpPr>
          <p:cNvPr id="36" name="Shape 34"/>
          <p:cNvSpPr/>
          <p:nvPr/>
        </p:nvSpPr>
        <p:spPr>
          <a:xfrm>
            <a:off x="795576" y="6948607"/>
            <a:ext cx="13039249" cy="642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20723" y="7090291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SRMR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4284345" y="7090291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.026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7544157" y="7090291"/>
            <a:ext cx="280189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.022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10803969" y="7090291"/>
            <a:ext cx="2805708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176"/>
            <a:ext cx="9467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Reliability, Validity, and Invariance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459117"/>
            <a:ext cx="6571417" cy="4360307"/>
          </a:xfrm>
          <a:prstGeom prst="roundRect">
            <a:avLst>
              <a:gd name="adj" fmla="val 3746"/>
            </a:avLst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6859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 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267075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Cronbach's α &gt; .74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composite reliability &gt; .75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AVE &gt; .50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685931"/>
            <a:ext cx="42644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Discriminant Validity — Caveat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26707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HTMT ratios exceeded .85, concentrated in the PE-HM-PV triad. Partly structural for 2-item adjacent constructs; reported transparently. Does not eliminate diagnostic usefulness.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945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Invariance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552664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Configural invariance achieved; metric invariance was partial — sufficient for comparing structural relationships across groups.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311"/>
            <a:ext cx="6812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Structural Model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906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.897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0808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R-Squared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7128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explained in behavioral intention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4906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.505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0808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PV → BI (β)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7128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predictor, p &lt; .001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189333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410" y="41969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34066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34066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434066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434066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84727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99098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Value → BI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99098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.505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99098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.001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99098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Bootstrap-confirmed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49759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64130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Hedonic Motivation → BI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64130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.217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64130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.014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64130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Suggestive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1479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629162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Influence → BI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62916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.136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62916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.024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629162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Suggestive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801410" y="679823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28462" y="69419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Trust → BI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289108" y="69419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.106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45943" y="69419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.064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802779" y="69419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Marginal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08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Finding: Performance Expectancy Was Not the Driver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3622"/>
            <a:ext cx="35937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UTAUT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873103"/>
            <a:ext cx="300894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873103"/>
            <a:ext cx="121920" cy="124039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130397"/>
            <a:ext cx="24029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 strongest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utility-centric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029551" y="3873103"/>
            <a:ext cx="3008948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99071" y="3873103"/>
            <a:ext cx="121920" cy="124039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378285" y="4130397"/>
            <a:ext cx="24029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 and support matter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263622"/>
            <a:ext cx="3127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AIRS Pattern (AI Tools)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99521" y="3873103"/>
            <a:ext cx="3008948" cy="1194673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955" y="4107537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 strongest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value-centric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835283" y="3873103"/>
            <a:ext cx="3008948" cy="1194673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9717" y="4107537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and affect dominate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62379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967889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907286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AI tools, usefulness may already be assumed. The decision shifts toward whether benefits justify the cost, effort, or tradeoffs.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16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Interpretation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5718"/>
            <a:ext cx="3008948" cy="1821537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43012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Path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724156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Marginal — β=.106, p=.064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9551" y="2885718"/>
            <a:ext cx="3008948" cy="1821537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845" y="3143012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Parsimony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86845" y="3724156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7-factor model slightly preferred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34069"/>
            <a:ext cx="6244709" cy="1458635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Retained?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772507"/>
            <a:ext cx="57301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 — for diagnostic insight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2885718"/>
            <a:ext cx="6244709" cy="2052518"/>
          </a:xfrm>
          <a:prstGeom prst="roundRect">
            <a:avLst>
              <a:gd name="adj" fmla="val 4642"/>
            </a:avLst>
          </a:prstGeom>
          <a:solidFill>
            <a:srgbClr val="C7C9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3229808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36637" y="3169206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Meaning: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Trust functions more as a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condition for intervention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as the primary direct driver of intention. This is not a failure — it is a different kind of contribution.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2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Moderation Effects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3051"/>
            <a:ext cx="32173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 Moderation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3123843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112532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significantly moderated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 → BI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303276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291965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Newer users emphasized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strongly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5448657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5437346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Experienced users weighted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strongly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599521" y="2503051"/>
            <a:ext cx="3141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Population Moderation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7599521" y="3112532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33955" y="334696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833955" y="3928110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 strongly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adoption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10835283" y="3112532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069717" y="3346966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1069717" y="3928110"/>
            <a:ext cx="25400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HM was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adoption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394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mechanisms are not uniform — population and experience shape how readiness translates into intention.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592"/>
            <a:ext cx="58416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Behavioral Validation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7031"/>
            <a:ext cx="62447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.69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498527" y="39488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Spearman 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299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 vs. actual AI tool use, p &lt; .001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5148024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492115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5431512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AIRS predicts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behavior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survey sentiment.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599521" y="2803684"/>
            <a:ext cx="6244709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141" y="2811304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34074" y="295501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952559" y="295501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ρ vs. BI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607141" y="346162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834074" y="3605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952559" y="3605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.57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607141" y="411194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834074" y="425565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Copilot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952559" y="425565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.54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607141" y="476226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34074" y="49059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0952559" y="49059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.52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118"/>
            <a:ext cx="119131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Typology: Three Readiness Segments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6252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96960"/>
            <a:ext cx="2993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Enthusiasts — 31%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7873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engagement across all readiness dimensions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6252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296960"/>
            <a:ext cx="3268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Moderate Users — 47%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7873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the population mean; the largest segment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6252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296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Skeptics — 22%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7873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readiness and higher resistance to adoption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00276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346859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286256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workforce is not homogeneous. Different segments require different intervention strategies — uniform rollout will underserve most employees.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645"/>
            <a:ext cx="1298733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Neurodiversity, Disability, and Hypothesis 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06680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Disability Insight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569369"/>
            <a:ext cx="62724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 with disabilities showed a consistent disadvantage profile: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3790" y="3396615"/>
            <a:ext cx="6272451" cy="1652588"/>
          </a:xfrm>
          <a:prstGeom prst="roundRect">
            <a:avLst>
              <a:gd name="adj" fmla="val 51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404235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483" y="352198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37898" y="3521988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1410" y="3950018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483" y="406777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Anxiety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37898" y="4067770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d=.36, p=.006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410" y="4495800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483" y="461355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Hedonic Motivation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37898" y="4613553"/>
            <a:ext cx="2716649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d=.28, p=.030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5255895"/>
            <a:ext cx="6272451" cy="1122521"/>
          </a:xfrm>
          <a:prstGeom prst="roundRect">
            <a:avLst>
              <a:gd name="adj" fmla="val 7638"/>
            </a:avLst>
          </a:prstGeom>
          <a:solidFill>
            <a:srgbClr val="C7C9E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3" y="5560933"/>
            <a:ext cx="255151" cy="2040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57087" y="5490567"/>
            <a:ext cx="540508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is an adoption condition, not a secondary implementation issue.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71780" y="2066806"/>
            <a:ext cx="268450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Hypothesis Summary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571780" y="2592348"/>
            <a:ext cx="6272451" cy="3674983"/>
          </a:xfrm>
          <a:prstGeom prst="roundRect">
            <a:avLst>
              <a:gd name="adj" fmla="val 233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79400" y="2599968"/>
            <a:ext cx="6257211" cy="856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783711" y="2717721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51764" y="2717721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16007" y="2717721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480250" y="2717721"/>
            <a:ext cx="115228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Supported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79400" y="3456027"/>
            <a:ext cx="625721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783711" y="3573780"/>
            <a:ext cx="115228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UTAUT2 Core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51764" y="3573780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16007" y="3573780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2480250" y="3573780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79400" y="4312087"/>
            <a:ext cx="6257211" cy="856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783711" y="4429839"/>
            <a:ext cx="115228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Extension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351764" y="4429839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916007" y="4429839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2480250" y="4429839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579400" y="5168146"/>
            <a:ext cx="625721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783711" y="5285899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351764" y="5285899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916007" y="5285899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2480250" y="5285899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79400" y="5713928"/>
            <a:ext cx="625721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783711" y="5831681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351764" y="5831681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916007" y="5831681"/>
            <a:ext cx="11484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2480250" y="5831681"/>
            <a:ext cx="115228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571780" y="6474023"/>
            <a:ext cx="62724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pattern itself is a finding: AI adoption follows a different predictor structure than conventional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946"/>
            <a:ext cx="115178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Contributions to Scholarship and Practice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9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Scholarship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10395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2979182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purpose-built psychometric validation of UTAUT2 for AI adoption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28339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4158615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Value can displace Performance Expectancy in AI contexts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46282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5338048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Career-stage logic integrated with technology adoption theory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664225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1133951" y="6517481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Three-segment readiness typology established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23697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99521" y="310395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7939683" y="2979182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AI adoption 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terms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only capability terms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99521" y="428339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7939683" y="4158615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the workforce; avoid uniform rollout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99521" y="509992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939683" y="4975146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trust and anxiety as intervention targets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99521" y="591645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939683" y="5791676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accessibility as a central adoption design principle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9886"/>
            <a:ext cx="839783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AIRS as a Diagnostic Instrument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17503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Diagnostic Logic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3790" y="2741890"/>
            <a:ext cx="6258520" cy="3411022"/>
          </a:xfrm>
          <a:prstGeom prst="roundRect">
            <a:avLst>
              <a:gd name="adj" fmla="val 265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749510"/>
            <a:ext cx="6242566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7508" y="2879884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Score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101935" y="2879884"/>
            <a:ext cx="1642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182553" y="2879884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1410" y="3346371"/>
            <a:ext cx="6242566" cy="9329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17508" y="3476744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101935" y="3476744"/>
            <a:ext cx="164222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value communication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182553" y="3476744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framing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410" y="4279344"/>
            <a:ext cx="6242566" cy="9329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7508" y="4409718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101935" y="4409718"/>
            <a:ext cx="1642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deficit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182553" y="4409718"/>
            <a:ext cx="164603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Confidence-building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1410" y="5212318"/>
            <a:ext cx="6242566" cy="9329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7508" y="5342692"/>
            <a:ext cx="164603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101935" y="5342692"/>
            <a:ext cx="164222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advocacy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82553" y="5342692"/>
            <a:ext cx="1646039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Peer/leader endorsement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93790" y="6383179"/>
            <a:ext cx="6258520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enough for large-scale administration; detailed enough to diagnose specific barrier patterns.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85710" y="217503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AIRS Enterprise</a:t>
            </a:r>
            <a:endParaRPr lang="en-US" sz="2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6553" y="2752487"/>
            <a:ext cx="323136" cy="3231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85917" y="2741890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into a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SaaS platform</a:t>
            </a:r>
            <a:endParaRPr lang="en-US" sz="16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6553" y="3818930"/>
            <a:ext cx="323136" cy="32313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85917" y="3808333"/>
            <a:ext cx="55583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assessment, segmentation, personalized guidance, and longitudinal tracking</a:t>
            </a:r>
            <a:endParaRPr lang="en-US" sz="16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6553" y="4900493"/>
            <a:ext cx="323136" cy="3231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85917" y="4889897"/>
            <a:ext cx="55583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Credible pathway from academic validation to real-world use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781"/>
            <a:ext cx="544175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Research Roadmap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63930" y="1765697"/>
            <a:ext cx="170021" cy="765453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1654016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306" y="1781651"/>
            <a:ext cx="255151" cy="2551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608" y="168056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Expand to AIRS-28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31608" y="2022753"/>
            <a:ext cx="1240500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coverage of dropped constructs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19081" y="2913936"/>
            <a:ext cx="170021" cy="765453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8941" y="2802255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6457" y="2929890"/>
            <a:ext cx="255151" cy="2551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86758" y="2828806"/>
            <a:ext cx="23801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Longitudinal Validation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686758" y="3170992"/>
            <a:ext cx="1214985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readiness and adoption over time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474232" y="4062174"/>
            <a:ext cx="170021" cy="765453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04092" y="3950494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1608" y="4078129"/>
            <a:ext cx="255151" cy="2551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41909" y="3977045"/>
            <a:ext cx="267128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Cross-Cultural Invariance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941909" y="4319230"/>
            <a:ext cx="118947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beyond the U.S. context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729383" y="5210413"/>
            <a:ext cx="170021" cy="765453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559243" y="5098733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86758" y="5226368"/>
            <a:ext cx="255151" cy="2551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97060" y="5125283"/>
            <a:ext cx="273427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Intervention Effectiveness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2197060" y="5467469"/>
            <a:ext cx="116395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by segment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474232" y="6358652"/>
            <a:ext cx="170021" cy="765453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304092" y="6246971"/>
            <a:ext cx="510302" cy="510302"/>
          </a:xfrm>
          <a:prstGeom prst="roundRect">
            <a:avLst>
              <a:gd name="adj" fmla="val 895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31608" y="6374606"/>
            <a:ext cx="255151" cy="2551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41909" y="6273522"/>
            <a:ext cx="217955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Appropriate Reliance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941909" y="6615708"/>
            <a:ext cx="118947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over- and under-reliance post-adoption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93790" y="7267694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dissertation establishes Phase 0 of a broader research program.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67170"/>
            <a:ext cx="7057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Closing: Main 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2471261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dissertation shows that AI adoption readiness can be measured validly, interpreted meaningfully, and used diagnostically.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216110"/>
            <a:ext cx="30480" cy="159900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4070271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7810" y="4077891"/>
            <a:ext cx="3770590" cy="1669852"/>
          </a:xfrm>
          <a:prstGeom prst="roundRect">
            <a:avLst>
              <a:gd name="adj" fmla="val 5705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6514624" y="4304705"/>
            <a:ext cx="2889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Validated Instrument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4795123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AIRS-16 with strong psychometric properties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058400" y="4077891"/>
            <a:ext cx="3770590" cy="1669852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4077891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10285214" y="4304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Revised Theory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5214" y="4795123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Value-led, not utility-led, AI adoption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5747742"/>
            <a:ext cx="7541181" cy="1306949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10" y="5747742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6514624" y="5974556"/>
            <a:ext cx="2843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Foundation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464975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tool for effective AI implementation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670" y="634841"/>
            <a:ext cx="1412915" cy="422434"/>
          </a:xfrm>
          <a:prstGeom prst="roundRect">
            <a:avLst>
              <a:gd name="adj" fmla="val 1792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3806" y="702350"/>
            <a:ext cx="1142643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8670" y="1146810"/>
            <a:ext cx="10107573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Converging 2025 Industry Validation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88670" y="2186821"/>
            <a:ext cx="13053060" cy="71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independent industry reports aligned with AIRS findings — convergent themes included perceived value, readiness heterogeneity, and failure of one-size-fits-all rollout strategies.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88670" y="3157538"/>
            <a:ext cx="13053060" cy="3231713"/>
          </a:xfrm>
          <a:prstGeom prst="roundRect">
            <a:avLst>
              <a:gd name="adj" fmla="val 29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6290" y="3165158"/>
            <a:ext cx="13037820" cy="6432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1556" y="3307080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4276" y="3307080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AIRS-Aligned Theme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6290" y="3808452"/>
            <a:ext cx="13037820" cy="643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1556" y="3950375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McKinsey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4276" y="3950375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realization gap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6290" y="4451747"/>
            <a:ext cx="13037820" cy="6432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1556" y="4593669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Media Lab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4276" y="4593669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fail to scale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6290" y="5095042"/>
            <a:ext cx="13037820" cy="6432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1556" y="5236964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/ Deloitte / BCG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4276" y="5236964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heterogeneity and implementation difficulty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6290" y="5738336"/>
            <a:ext cx="13037820" cy="6432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1556" y="5880259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Georgian / ISG / Capgemini / Lucidworks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4276" y="5880259"/>
            <a:ext cx="6064568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barriers and workforce segmentation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88670" y="6641068"/>
            <a:ext cx="13053060" cy="953691"/>
          </a:xfrm>
          <a:prstGeom prst="roundRect">
            <a:avLst>
              <a:gd name="adj" fmla="val 9925"/>
            </a:avLst>
          </a:prstGeom>
          <a:solidFill>
            <a:srgbClr val="C7C9EA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936" y="6984563"/>
            <a:ext cx="281702" cy="22526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20904" y="6921222"/>
            <a:ext cx="12095559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convergence — not formal replication — supports the interpretation of AIRS findings.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32742"/>
            <a:ext cx="1464588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000726"/>
            <a:ext cx="11924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449711"/>
            <a:ext cx="86978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Research on AI Anxiety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498652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4253" y="3498652"/>
            <a:ext cx="2868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Anticipatory Anxiety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44253" y="39890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future AI-driven change before it occurs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498652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6356" y="3498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Existential Anxiety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86356" y="39890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concerns about identity and human purpose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498652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28459" y="3498652"/>
            <a:ext cx="3048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Displacement Anxiety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528459" y="39890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Concerns tied to job loss and skill obsolescence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970026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5314117"/>
            <a:ext cx="283488" cy="2268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30906" y="525351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Anxiety failed psychometrically in AIRS-16 but remains theoretically important. The AIRS-28 expansion should revisit it with better measurement logic.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5436"/>
            <a:ext cx="1465898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653421"/>
            <a:ext cx="11937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02406"/>
            <a:ext cx="110663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Appropriate Reliance and Over-Reliance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406497"/>
            <a:ext cx="3008948" cy="213872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640931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222075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AI Reliance — rely on AI when AI is right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029551" y="3406497"/>
            <a:ext cx="3008948" cy="2138720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3985" y="3640931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63985" y="4222075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Self-Reliance — rely on oneself when AI is wrong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3406497"/>
            <a:ext cx="6244709" cy="2052518"/>
          </a:xfrm>
          <a:prstGeom prst="roundRect">
            <a:avLst>
              <a:gd name="adj" fmla="val 4642"/>
            </a:avLst>
          </a:prstGeom>
          <a:solidFill>
            <a:srgbClr val="C7C9E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3750588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3689985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target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calibrated adoption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maximal adoption. How can organizations improve adoption without creating dependence, complacency, or skill erosion?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571416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appendix foreshadows the next phase of AIRS research.</a:t>
            </a: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21656"/>
            <a:ext cx="1471136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89641"/>
            <a:ext cx="11989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38626"/>
            <a:ext cx="87546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 Contextual Developments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38756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3622000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Frontier Models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46674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Changed the meaning of cost and value — Price Value dynamics are shifting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8756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1396" y="3622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Agentic 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51396" y="411241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Raises stronger trust, control, and oversight questions beyond current AIRS scope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38756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4568" y="3622000"/>
            <a:ext cx="3045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Regulation (EU AI Act)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4568" y="411241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compliance as a new adoption dimension not yet captured in AIRS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0450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AIRS findings remain valid, but the construct space will likely need expansion as the AI environment evolves rapidly.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4482" y="482798"/>
            <a:ext cx="1074658" cy="285274"/>
          </a:xfrm>
          <a:prstGeom prst="roundRect">
            <a:avLst>
              <a:gd name="adj" fmla="val 1964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14494" y="532805"/>
            <a:ext cx="874633" cy="18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4482" y="817126"/>
            <a:ext cx="8910518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AlexBooks Extension: The Life of Alex Finch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82" y="1660327"/>
            <a:ext cx="6172319" cy="6172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26298" y="1632704"/>
            <a:ext cx="6497241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Life of Alex Finch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published documentary biography of human-AI collaboration. Its calibrated confidence material extends the dissertation's concern with verification and human judgment.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8806" y="2473643"/>
            <a:ext cx="250150" cy="250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68389" y="2465427"/>
            <a:ext cx="595514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the appropriate-reliance agenda into public narrative form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8806" y="3227546"/>
            <a:ext cx="250150" cy="250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8389" y="3219331"/>
            <a:ext cx="5955149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broader questions of human agency and AI partnership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526298" y="3865959"/>
            <a:ext cx="6497241" cy="589598"/>
          </a:xfrm>
          <a:prstGeom prst="roundRect">
            <a:avLst>
              <a:gd name="adj" fmla="val 11883"/>
            </a:avLst>
          </a:prstGeom>
          <a:solidFill>
            <a:srgbClr val="C7C9EA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3104" y="4103727"/>
            <a:ext cx="208478" cy="1668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68389" y="4030266"/>
            <a:ext cx="578834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Research-program extension — not a promotional detour.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1041"/>
            <a:ext cx="1100376" cy="292418"/>
          </a:xfrm>
          <a:prstGeom prst="roundRect">
            <a:avLst>
              <a:gd name="adj" fmla="val 1954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95826" y="762000"/>
            <a:ext cx="8963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54418"/>
            <a:ext cx="950166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AIRS Enterprise as Longitudinal Infrastructure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13" y="1777365"/>
            <a:ext cx="9782056" cy="405550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7147" y="4502059"/>
            <a:ext cx="486832" cy="486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56161" y="4471632"/>
            <a:ext cx="2473105" cy="54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Normative Benchmarks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413383" y="4471632"/>
            <a:ext cx="2473105" cy="54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Repeated Measurement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6966" y="4502059"/>
            <a:ext cx="486832" cy="486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2195" y="2739120"/>
            <a:ext cx="2190742" cy="27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AIRS Enterprise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6704" y="2622889"/>
            <a:ext cx="486831" cy="4868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77764" y="2748857"/>
            <a:ext cx="2429898" cy="27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Dissertation Validation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8060" y="2642362"/>
            <a:ext cx="486831" cy="48683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93790" y="6119812"/>
            <a:ext cx="3093125" cy="1255276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986671" y="6312694"/>
            <a:ext cx="222635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Pre-Post Comparison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986671" y="6705957"/>
            <a:ext cx="270736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intervention evaluation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014430" y="6119812"/>
            <a:ext cx="3093244" cy="1255276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207312" y="6312694"/>
            <a:ext cx="244018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Normative Benchmarks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207312" y="6705957"/>
            <a:ext cx="27074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industries and populations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530346" y="6119812"/>
            <a:ext cx="6313884" cy="1084183"/>
          </a:xfrm>
          <a:prstGeom prst="roundRect">
            <a:avLst>
              <a:gd name="adj" fmla="val 6590"/>
            </a:avLst>
          </a:prstGeom>
          <a:solidFill>
            <a:srgbClr val="C7C9EA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0367" y="6366391"/>
            <a:ext cx="212646" cy="1700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83034" y="6289834"/>
            <a:ext cx="55911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creates a practical pathway from dissertation validation to an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research program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research infrastructure, not just a product.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2026-03-12T18:22:05Z</dcterms:created>
  <dcterms:modified xsi:type="dcterms:W3CDTF">2026-03-12T18:22:05Z</dcterms:modified>
</cp:coreProperties>
</file>