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4630400" cy="8229600"/>
  <p:notesSz cx="8229600" cy="14630400"/>
  <p:embeddedFontLst>
    <p:embeddedFont>
      <p:font typeface="Raleway"/>
      <p:regular r:id="rId51"/>
    </p:embeddedFont>
    <p:embeddedFont>
      <p:font typeface="Raleway"/>
      <p:regular r:id="rId52"/>
    </p:embeddedFont>
    <p:embeddedFont>
      <p:font typeface="Raleway"/>
      <p:regular r:id="rId53"/>
    </p:embeddedFont>
    <p:embeddedFont>
      <p:font typeface="Raleway"/>
      <p:regular r:id="rId54"/>
    </p:embeddedFont>
    <p:embeddedFont>
      <p:font typeface="Roboto"/>
      <p:regular r:id="rId55"/>
    </p:embeddedFont>
    <p:embeddedFont>
      <p:font typeface="Roboto"/>
      <p:regular r:id="rId56"/>
    </p:embeddedFont>
    <p:embeddedFont>
      <p:font typeface="Roboto"/>
      <p:regular r:id="rId57"/>
    </p:embeddedFont>
    <p:embeddedFont>
      <p:font typeface="Roboto"/>
      <p:regular r:id="rId5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Relationship Id="rId51" Type="http://schemas.openxmlformats.org/officeDocument/2006/relationships/font" Target="fonts/font1.fntdata"/><Relationship Id="rId52" Type="http://schemas.openxmlformats.org/officeDocument/2006/relationships/font" Target="fonts/font2.fntdata"/><Relationship Id="rId53" Type="http://schemas.openxmlformats.org/officeDocument/2006/relationships/font" Target="fonts/font3.fntdata"/><Relationship Id="rId54" Type="http://schemas.openxmlformats.org/officeDocument/2006/relationships/font" Target="fonts/font4.fntdata"/><Relationship Id="rId55" Type="http://schemas.openxmlformats.org/officeDocument/2006/relationships/font" Target="fonts/font5.fntdata"/><Relationship Id="rId56" Type="http://schemas.openxmlformats.org/officeDocument/2006/relationships/font" Target="fonts/font6.fntdata"/><Relationship Id="rId57" Type="http://schemas.openxmlformats.org/officeDocument/2006/relationships/font" Target="fonts/font7.fntdata"/><Relationship Id="rId58" Type="http://schemas.openxmlformats.org/officeDocument/2006/relationships/font" Target="fonts/font8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1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2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3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4 master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CECF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image" Target="../media/image-8-6.png"/><Relationship Id="rId7" Type="http://schemas.openxmlformats.org/officeDocument/2006/relationships/image" Target="../media/image-8-7.svg"/><Relationship Id="rId8" Type="http://schemas.openxmlformats.org/officeDocument/2006/relationships/image" Target="../media/image-8-8.png"/><Relationship Id="rId9" Type="http://schemas.openxmlformats.org/officeDocument/2006/relationships/image" Target="../media/image-8-9.svg"/><Relationship Id="rId10" Type="http://schemas.openxmlformats.org/officeDocument/2006/relationships/slideLayout" Target="../slideLayouts/slideLayout9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0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slideLayout" Target="../slideLayouts/slideLayout14.xml"/><Relationship Id="rId5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6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8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22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slideLayout" Target="../slideLayouts/slideLayout23.xml"/><Relationship Id="rId6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slideLayout" Target="../slideLayouts/slideLayout24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26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slideLayout" Target="../slideLayouts/slideLayout28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0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image" Target="../media/image-33-4.png"/><Relationship Id="rId5" Type="http://schemas.openxmlformats.org/officeDocument/2006/relationships/slideLayout" Target="../slideLayouts/slideLayout34.xml"/><Relationship Id="rId6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5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8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9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image" Target="../media/image-39-9.png"/><Relationship Id="rId10" Type="http://schemas.openxmlformats.org/officeDocument/2006/relationships/image" Target="../media/image-39-10.svg"/><Relationship Id="rId11" Type="http://schemas.openxmlformats.org/officeDocument/2006/relationships/image" Target="../media/image-39-11.png"/><Relationship Id="rId12" Type="http://schemas.openxmlformats.org/officeDocument/2006/relationships/image" Target="../media/image-39-12.svg"/><Relationship Id="rId13" Type="http://schemas.openxmlformats.org/officeDocument/2006/relationships/slideLayout" Target="../slideLayouts/slideLayout40.xml"/><Relationship Id="rId1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42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image" Target="../media/image-43-2.png"/><Relationship Id="rId3" Type="http://schemas.openxmlformats.org/officeDocument/2006/relationships/image" Target="../media/image-43-3.svg"/><Relationship Id="rId4" Type="http://schemas.openxmlformats.org/officeDocument/2006/relationships/slideLayout" Target="../slideLayouts/slideLayout44.xml"/><Relationship Id="rId5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3032522"/>
            <a:ext cx="581227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Readiness Scale (AIRS)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3950256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Development and Validation of a Psychometric Instrument for Assessing Enterprise AI Adoption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4816197"/>
            <a:ext cx="3184565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6" name="Text 3"/>
          <p:cNvSpPr/>
          <p:nvPr/>
        </p:nvSpPr>
        <p:spPr>
          <a:xfrm>
            <a:off x="912852" y="4875728"/>
            <a:ext cx="2946440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DOCTOR OF BUSINESS ADMINISTRATION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4077533" y="4808577"/>
            <a:ext cx="2956798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204216" y="4875728"/>
            <a:ext cx="270343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= 523 · OCTOBER–NOVEMBER 2025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3958"/>
            <a:ext cx="563868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Adoption-Value Gap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260050"/>
            <a:ext cx="41821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88%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644372" y="41630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Tool Usage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592241"/>
            <a:ext cx="41821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Among knowledge workers in 2025, up from 50% in 2023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5223986" y="3260050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5%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6074688" y="41630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Value Realized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5223986" y="4592241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reporting measurable value from AI implementations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9654302" y="3260050"/>
            <a:ext cx="4182308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90–95%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10505003" y="41630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Pilots Stall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9654302" y="4592241"/>
            <a:ext cx="41823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Generative AI pilot programs that never progress beyond initial trials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45056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invest heavily in AI tools but consistently fail to realize meaningful returns. This adoption-value gap — not a lack of tools, but a failure to convert adoption into value — is the central problem this research addresses.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51272"/>
            <a:ext cx="7556421" cy="117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Interconnected Research Gaps</a:t>
            </a:r>
            <a:endParaRPr lang="en-US" sz="3700" dirty="0"/>
          </a:p>
        </p:txBody>
      </p:sp>
      <p:sp>
        <p:nvSpPr>
          <p:cNvPr id="4" name="Shape 1"/>
          <p:cNvSpPr/>
          <p:nvPr/>
        </p:nvSpPr>
        <p:spPr>
          <a:xfrm>
            <a:off x="6280190" y="2098119"/>
            <a:ext cx="7556421" cy="1707356"/>
          </a:xfrm>
          <a:prstGeom prst="roundRect">
            <a:avLst>
              <a:gd name="adj" fmla="val 642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257330" y="2098119"/>
            <a:ext cx="91440" cy="1707356"/>
          </a:xfrm>
          <a:prstGeom prst="roundRect">
            <a:avLst>
              <a:gd name="adj" fmla="val 86605"/>
            </a:avLst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6560106" y="2309455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Theoretical Gap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6560106" y="2711529"/>
            <a:ext cx="7065169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UTAUT2 was validated for consumer mobile technologies. Whether its predictor structure holds for AI — characterized by autonomous decision-making and probabilistic outputs — remained empirically untested.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80190" y="3984546"/>
            <a:ext cx="7556421" cy="1707356"/>
          </a:xfrm>
          <a:prstGeom prst="roundRect">
            <a:avLst>
              <a:gd name="adj" fmla="val 642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257330" y="3984546"/>
            <a:ext cx="91440" cy="1707356"/>
          </a:xfrm>
          <a:prstGeom prst="roundRect">
            <a:avLst>
              <a:gd name="adj" fmla="val 86605"/>
            </a:avLst>
          </a:prstGeom>
          <a:solidFill>
            <a:srgbClr val="1B1B27"/>
          </a:solidFill>
          <a:ln/>
        </p:spPr>
      </p:sp>
      <p:sp>
        <p:nvSpPr>
          <p:cNvPr id="10" name="Text 7"/>
          <p:cNvSpPr/>
          <p:nvPr/>
        </p:nvSpPr>
        <p:spPr>
          <a:xfrm>
            <a:off x="6560106" y="4195882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Measurement Gap</a:t>
            </a:r>
            <a:endParaRPr lang="en-US" sz="1850" dirty="0"/>
          </a:p>
        </p:txBody>
      </p:sp>
      <p:sp>
        <p:nvSpPr>
          <p:cNvPr id="11" name="Text 8"/>
          <p:cNvSpPr/>
          <p:nvPr/>
        </p:nvSpPr>
        <p:spPr>
          <a:xfrm>
            <a:off x="6560106" y="4597956"/>
            <a:ext cx="7065169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 validated psychometric instrument existed for measuring AI-specific adoption readiness. Existing scales addressed general technology acceptance or narrow AI applications like healthcare robotics.</a:t>
            </a:r>
            <a:endParaRPr lang="en-US" sz="1450" dirty="0"/>
          </a:p>
        </p:txBody>
      </p:sp>
      <p:sp>
        <p:nvSpPr>
          <p:cNvPr id="12" name="Shape 9"/>
          <p:cNvSpPr/>
          <p:nvPr/>
        </p:nvSpPr>
        <p:spPr>
          <a:xfrm>
            <a:off x="6280190" y="5870972"/>
            <a:ext cx="7556421" cy="1707356"/>
          </a:xfrm>
          <a:prstGeom prst="roundRect">
            <a:avLst>
              <a:gd name="adj" fmla="val 6427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7330" y="5870972"/>
            <a:ext cx="91440" cy="1707356"/>
          </a:xfrm>
          <a:prstGeom prst="roundRect">
            <a:avLst>
              <a:gd name="adj" fmla="val 86605"/>
            </a:avLst>
          </a:prstGeom>
          <a:solidFill>
            <a:srgbClr val="1B1B27"/>
          </a:solidFill>
          <a:ln/>
        </p:spPr>
      </p:sp>
      <p:sp>
        <p:nvSpPr>
          <p:cNvPr id="14" name="Text 11"/>
          <p:cNvSpPr/>
          <p:nvPr/>
        </p:nvSpPr>
        <p:spPr>
          <a:xfrm>
            <a:off x="6560106" y="6082308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Practice Gap</a:t>
            </a:r>
            <a:endParaRPr lang="en-US" sz="1850" dirty="0"/>
          </a:p>
        </p:txBody>
      </p:sp>
      <p:sp>
        <p:nvSpPr>
          <p:cNvPr id="15" name="Text 12"/>
          <p:cNvSpPr/>
          <p:nvPr/>
        </p:nvSpPr>
        <p:spPr>
          <a:xfrm>
            <a:off x="6560106" y="6484382"/>
            <a:ext cx="7065169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lacked evidence-based frameworks to identify specific barriers and design targeted interventions, leaving AI implementation strategies generic rather than responsive to each workforce's readiness profile.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8530"/>
            <a:ext cx="90445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Solution: The AIRS Instrument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3446264"/>
            <a:ext cx="6565106" cy="2254687"/>
          </a:xfrm>
          <a:prstGeom prst="roundRect">
            <a:avLst>
              <a:gd name="adj" fmla="val 633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36446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Was Built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4153138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Readiness Scale (AIRS) — a 16-item psychometric instrument extending UTAUT2 with an AI Trust construct.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9273" y="4966811"/>
            <a:ext cx="61683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factors × 2 items each, plus 4 Behavioral Intention outcome items.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64462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What It Addresses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153138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Provides a theoretical account of AI adoption drivers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Offers a practical diagnostic tool for organizational assessment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Enables targeted, evidence-based intervention design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Fills all three identified research gaps simultaneously</a:t>
            </a:r>
            <a:endParaRPr lang="en-US" sz="15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23211"/>
            <a:ext cx="73785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Theoretical Foundation: UTAUT2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94012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study built upon UTAUT2 — the most comprehensive and widely validated model of technology acceptance — which integrates seven constructs predicting Behavioral Intention to use a technology.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798445"/>
            <a:ext cx="4215289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768" y="3004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3433643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Expectancy: Perceived improvement in job performance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2798445"/>
            <a:ext cx="4215408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415" y="3004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3433643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Effort Expectancy: Perceived ease of learning and use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2798445"/>
            <a:ext cx="4215289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7181" y="300442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3433643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Social Influence: Degree to which important others encourage use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4473059"/>
            <a:ext cx="4215289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99768" y="46790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FC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99768" y="5108258"/>
            <a:ext cx="380333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Facilitating Conditions: Available resources and support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5207437" y="4473059"/>
            <a:ext cx="4215408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13415" y="46790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HM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5413415" y="5108258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Motivation: Pleasure derived from use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9621203" y="4473059"/>
            <a:ext cx="4215289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27181" y="467903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PV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27181" y="5108258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Value: Perceived cost-benefit balance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793790" y="6147673"/>
            <a:ext cx="13042702" cy="1158716"/>
          </a:xfrm>
          <a:prstGeom prst="roundRect">
            <a:avLst>
              <a:gd name="adj" fmla="val 7194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9768" y="63536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HB</a:t>
            </a:r>
            <a:endParaRPr lang="en-US" sz="1950" dirty="0"/>
          </a:p>
        </p:txBody>
      </p:sp>
      <p:sp>
        <p:nvSpPr>
          <p:cNvPr id="24" name="Text 22"/>
          <p:cNvSpPr/>
          <p:nvPr/>
        </p:nvSpPr>
        <p:spPr>
          <a:xfrm>
            <a:off x="999768" y="6782872"/>
            <a:ext cx="1263074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Habit: Extent to which use has become automatic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098000"/>
            <a:ext cx="603158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8th Construct: AI Trust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1091446" y="3238976"/>
            <a:ext cx="72587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tools differ from conventional technologies in their capacity for autonomous reasoning, opaque decision processes, and evolving behaviors.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3015734"/>
            <a:ext cx="22860" cy="1081564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6" name="Text 3"/>
          <p:cNvSpPr/>
          <p:nvPr/>
        </p:nvSpPr>
        <p:spPr>
          <a:xfrm>
            <a:off x="793790" y="4320540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study introduced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Trust (TR)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as an eighth construct — capturing the degree to which users believe AI systems will provide accurate, reliable information and operate in a trustworthy manner.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93790" y="5496401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extension was grounded in emerging literature identifying trust as a unique barrier to AI adoption not adequately captured by existing UTAUT2 constructs.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08998"/>
            <a:ext cx="789205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Questions &amp; Hypotheses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625090"/>
            <a:ext cx="309538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Research Question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133606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To what extent does UTAUT2, extended with AI Trust, explain Behavioral Intention to adopt AI tools among U.S. students and professionals?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408616"/>
            <a:ext cx="6279356" cy="32385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66415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Secondary RQs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5172670"/>
            <a:ext cx="6279356" cy="1478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RQ2: Factorial validity and psychometric adequacy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RQ3: Experience and role moderation of structural paths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RQ4: Relationship between behavioral intention and actual usage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RQ5: User typology based on readiness patterns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564874" y="2625090"/>
            <a:ext cx="249876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12 Hypotheses Tested</a:t>
            </a:r>
            <a:endParaRPr lang="en-US" sz="1950" dirty="0"/>
          </a:p>
        </p:txBody>
      </p:sp>
      <p:sp>
        <p:nvSpPr>
          <p:cNvPr id="9" name="Shape 7"/>
          <p:cNvSpPr/>
          <p:nvPr/>
        </p:nvSpPr>
        <p:spPr>
          <a:xfrm>
            <a:off x="7564874" y="3158490"/>
            <a:ext cx="3040499" cy="1555552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0852" y="33644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H1a–H1g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770852" y="3872984"/>
            <a:ext cx="26285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7 core UTAUT2 path hypotheses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10803731" y="3158490"/>
            <a:ext cx="3040499" cy="1555552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009709" y="336446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H2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1009709" y="3872984"/>
            <a:ext cx="262854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Trust hypothesis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564874" y="4912400"/>
            <a:ext cx="3040499" cy="1555552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0852" y="51183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H3–H4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7770852" y="5626894"/>
            <a:ext cx="262854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moderation hypotheses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10803731" y="4912400"/>
            <a:ext cx="3040499" cy="1555552"/>
          </a:xfrm>
          <a:prstGeom prst="roundRect">
            <a:avLst>
              <a:gd name="adj" fmla="val 535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009709" y="511837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H5–H6</a:t>
            </a:r>
            <a:endParaRPr lang="en-US" sz="1950" dirty="0"/>
          </a:p>
        </p:txBody>
      </p:sp>
      <p:sp>
        <p:nvSpPr>
          <p:cNvPr id="20" name="Text 18"/>
          <p:cNvSpPr/>
          <p:nvPr/>
        </p:nvSpPr>
        <p:spPr>
          <a:xfrm>
            <a:off x="11009709" y="5626894"/>
            <a:ext cx="2628543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 behavioral validation hypotheses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6178"/>
            <a:ext cx="715232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Methodology: Research Design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3852" y="1873091"/>
            <a:ext cx="10142696" cy="4642009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91188" y="3032076"/>
            <a:ext cx="652132" cy="65213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010178" y="541276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Triangulation</a:t>
            </a:r>
            <a:endParaRPr lang="en-US" sz="2300" dirty="0"/>
          </a:p>
        </p:txBody>
      </p:sp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203771" y="3033299"/>
            <a:ext cx="652132" cy="652133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610329" y="541276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Qualitative</a:t>
            </a:r>
            <a:endParaRPr lang="en-US" sz="23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6964" y="3033299"/>
            <a:ext cx="652133" cy="652133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5223523" y="541276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Psychometric</a:t>
            </a:r>
            <a:endParaRPr lang="en-US" sz="2300" dirty="0"/>
          </a:p>
        </p:txBody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417115" y="3033299"/>
            <a:ext cx="652133" cy="652133"/>
          </a:xfrm>
          <a:prstGeom prst="rect">
            <a:avLst/>
          </a:prstGeom>
        </p:spPr>
      </p:pic>
      <p:sp>
        <p:nvSpPr>
          <p:cNvPr id="11" name="Text 4"/>
          <p:cNvSpPr/>
          <p:nvPr/>
        </p:nvSpPr>
        <p:spPr>
          <a:xfrm>
            <a:off x="2784546" y="5412769"/>
            <a:ext cx="1904228" cy="3668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850"/>
              </a:lnSpc>
              <a:buNone/>
            </a:pPr>
            <a:r>
              <a:rPr lang="en-US" sz="23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Quantitative</a:t>
            </a:r>
            <a:endParaRPr lang="en-US" sz="2300" dirty="0"/>
          </a:p>
        </p:txBody>
      </p:sp>
      <p:sp>
        <p:nvSpPr>
          <p:cNvPr id="12" name="Text 5"/>
          <p:cNvSpPr/>
          <p:nvPr/>
        </p:nvSpPr>
        <p:spPr>
          <a:xfrm>
            <a:off x="793790" y="673834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 post-positivist, sequential mixed-methods design with quantitative primacy. The quantitative phase provided the primary evidence base; the qualitative phase offered contextual elaboration and triangulation.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35581"/>
            <a:ext cx="767274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Instrument Development Process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1091446" y="2348627"/>
            <a:ext cx="6124456" cy="198358"/>
          </a:xfrm>
          <a:prstGeom prst="roundRect">
            <a:avLst>
              <a:gd name="adj" fmla="val 4202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93790" y="2150150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42618" y="2298978"/>
            <a:ext cx="297656" cy="297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294382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Initial Item Pool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373041"/>
            <a:ext cx="6025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28 items across 12 constructs, adapted from validated UTAUT2 scales and supplemented with AI-specific items for Trust, Explainability, Ethical Risk, and AI Anxiety.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7712035" y="2050971"/>
            <a:ext cx="6124456" cy="198358"/>
          </a:xfrm>
          <a:prstGeom prst="roundRect">
            <a:avLst>
              <a:gd name="adj" fmla="val 4202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414379" y="1852493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563207" y="2001322"/>
            <a:ext cx="297656" cy="29765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612737" y="2646164"/>
            <a:ext cx="307336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Exploratory Factor Analysis</a:t>
            </a:r>
            <a:endParaRPr lang="en-US" sz="1950" dirty="0"/>
          </a:p>
        </p:txBody>
      </p:sp>
      <p:sp>
        <p:nvSpPr>
          <p:cNvPr id="12" name="Text 8"/>
          <p:cNvSpPr/>
          <p:nvPr/>
        </p:nvSpPr>
        <p:spPr>
          <a:xfrm>
            <a:off x="7612737" y="3075384"/>
            <a:ext cx="6025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competing factor models (A–D) evaluated on the development subsample. Model D — the 8-factor, 16-item solution — selected for optimal structure, reliability, and theoretical interpretability.</a:t>
            </a:r>
            <a:endParaRPr lang="en-US" sz="1550" dirty="0"/>
          </a:p>
        </p:txBody>
      </p:sp>
      <p:sp>
        <p:nvSpPr>
          <p:cNvPr id="13" name="Shape 9"/>
          <p:cNvSpPr/>
          <p:nvPr/>
        </p:nvSpPr>
        <p:spPr>
          <a:xfrm>
            <a:off x="1091446" y="5218509"/>
            <a:ext cx="6124456" cy="198358"/>
          </a:xfrm>
          <a:prstGeom prst="roundRect">
            <a:avLst>
              <a:gd name="adj" fmla="val 4202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793790" y="5020032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2618" y="5168860"/>
            <a:ext cx="297656" cy="29765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92148" y="58137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Construct Exclusion</a:t>
            </a:r>
            <a:endParaRPr lang="en-US" sz="1950" dirty="0"/>
          </a:p>
        </p:txBody>
      </p:sp>
      <p:sp>
        <p:nvSpPr>
          <p:cNvPr id="17" name="Text 12"/>
          <p:cNvSpPr/>
          <p:nvPr/>
        </p:nvSpPr>
        <p:spPr>
          <a:xfrm>
            <a:off x="992148" y="6242923"/>
            <a:ext cx="60255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constructs dropped due to inadequate reliability: Voluntariness (α = .41), Explainability (α = .58), Ethical Risk (α = .55), AI Anxiety (α = .30).</a:t>
            </a:r>
            <a:endParaRPr lang="en-US" sz="1550" dirty="0"/>
          </a:p>
        </p:txBody>
      </p:sp>
      <p:sp>
        <p:nvSpPr>
          <p:cNvPr id="18" name="Shape 13"/>
          <p:cNvSpPr/>
          <p:nvPr/>
        </p:nvSpPr>
        <p:spPr>
          <a:xfrm>
            <a:off x="7712035" y="4920853"/>
            <a:ext cx="6124456" cy="198358"/>
          </a:xfrm>
          <a:prstGeom prst="roundRect">
            <a:avLst>
              <a:gd name="adj" fmla="val 42025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7414379" y="4722376"/>
            <a:ext cx="595313" cy="595313"/>
          </a:xfrm>
          <a:prstGeom prst="roundRect">
            <a:avLst>
              <a:gd name="adj" fmla="val 7680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563207" y="4871204"/>
            <a:ext cx="297656" cy="29765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612737" y="551604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Final Instrument</a:t>
            </a:r>
            <a:endParaRPr lang="en-US" sz="1950" dirty="0"/>
          </a:p>
        </p:txBody>
      </p:sp>
      <p:sp>
        <p:nvSpPr>
          <p:cNvPr id="22" name="Text 16"/>
          <p:cNvSpPr/>
          <p:nvPr/>
        </p:nvSpPr>
        <p:spPr>
          <a:xfrm>
            <a:off x="7612737" y="5945267"/>
            <a:ext cx="60255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 factors × 2 items each = 16 items, plus 4 Behavioral Intention items as the outcome variable.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7946"/>
            <a:ext cx="585597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Sample &amp; Data Collection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1625679"/>
            <a:ext cx="6565106" cy="4511873"/>
          </a:xfrm>
          <a:prstGeom prst="roundRect">
            <a:avLst>
              <a:gd name="adj" fmla="val 3167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18240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Sample Overview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2332553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 = 523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U.S. adults recruited via Centiment using topic-blinded recruitment — respondents did not know the survey concerned AI, mitigating self-selection bias.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9273" y="3463766"/>
            <a:ext cx="61683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Collection Period: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October–November 2025 (3-week window)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18240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Role Distribution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7564874" y="2456617"/>
            <a:ext cx="2448044" cy="248007"/>
          </a:xfrm>
          <a:prstGeom prst="roundRect">
            <a:avLst>
              <a:gd name="adj" fmla="val 3361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64874" y="2456617"/>
            <a:ext cx="1003697" cy="248007"/>
          </a:xfrm>
          <a:prstGeom prst="roundRect">
            <a:avLst>
              <a:gd name="adj" fmla="val 33612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10161746" y="2456617"/>
            <a:ext cx="418743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41%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64874" y="29526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Academic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564874" y="3461147"/>
            <a:ext cx="30156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Students (n = 216)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10828496" y="2456617"/>
            <a:ext cx="2422208" cy="248007"/>
          </a:xfrm>
          <a:prstGeom prst="roundRect">
            <a:avLst>
              <a:gd name="adj" fmla="val 3361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0828496" y="2456617"/>
            <a:ext cx="847725" cy="248007"/>
          </a:xfrm>
          <a:prstGeom prst="roundRect">
            <a:avLst>
              <a:gd name="adj" fmla="val 33612"/>
            </a:avLst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13399532" y="2456617"/>
            <a:ext cx="44469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35%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828496" y="295263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Professional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828496" y="3461147"/>
            <a:ext cx="301573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contributors, freelancers (n = 184)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7564874" y="4592241"/>
            <a:ext cx="2425065" cy="248007"/>
          </a:xfrm>
          <a:prstGeom prst="roundRect">
            <a:avLst>
              <a:gd name="adj" fmla="val 3361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64874" y="4592241"/>
            <a:ext cx="581978" cy="248007"/>
          </a:xfrm>
          <a:prstGeom prst="roundRect">
            <a:avLst>
              <a:gd name="adj" fmla="val 33612"/>
            </a:avLst>
          </a:prstGeom>
          <a:solidFill>
            <a:srgbClr val="1B1B27"/>
          </a:solidFill>
          <a:ln/>
        </p:spPr>
      </p:sp>
      <p:sp>
        <p:nvSpPr>
          <p:cNvPr id="20" name="Text 18"/>
          <p:cNvSpPr/>
          <p:nvPr/>
        </p:nvSpPr>
        <p:spPr>
          <a:xfrm>
            <a:off x="10138767" y="4592241"/>
            <a:ext cx="441722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24%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7564874" y="50882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Leader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7564874" y="5596771"/>
            <a:ext cx="301561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Managers, executives (n = 123)</a:t>
            </a:r>
            <a:endParaRPr lang="en-US" sz="1550" dirty="0"/>
          </a:p>
        </p:txBody>
      </p:sp>
      <p:sp>
        <p:nvSpPr>
          <p:cNvPr id="23" name="Shape 21"/>
          <p:cNvSpPr/>
          <p:nvPr/>
        </p:nvSpPr>
        <p:spPr>
          <a:xfrm>
            <a:off x="793790" y="6360795"/>
            <a:ext cx="13042821" cy="1160740"/>
          </a:xfrm>
          <a:prstGeom prst="roundRect">
            <a:avLst>
              <a:gd name="adj" fmla="val 7182"/>
            </a:avLst>
          </a:prstGeom>
          <a:solidFill>
            <a:srgbClr val="D2D2E0"/>
          </a:solidFill>
          <a:ln/>
        </p:spPr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6656070"/>
            <a:ext cx="248007" cy="19835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1438513" y="6608683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68 participants (13.0%) reported a disability — a proportion consistent with U.S. Census Bureau estimates and sufficient for exploratory between-group analysis.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1039"/>
            <a:ext cx="5784294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10-Phase Analytical Pipeline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7303770" y="1570673"/>
            <a:ext cx="22860" cy="5244108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6601361" y="1760101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</p:sp>
      <p:sp>
        <p:nvSpPr>
          <p:cNvPr id="5" name="Shape 3"/>
          <p:cNvSpPr/>
          <p:nvPr/>
        </p:nvSpPr>
        <p:spPr>
          <a:xfrm>
            <a:off x="7114282" y="1570673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81195" y="1604070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4189333" y="163199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0–1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2007394"/>
            <a:ext cx="562832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Sample splitting (50/50, stratified) + EFA on development sample (n = 261)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493258" y="2796064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</p:sp>
      <p:sp>
        <p:nvSpPr>
          <p:cNvPr id="10" name="Shape 8"/>
          <p:cNvSpPr/>
          <p:nvPr/>
        </p:nvSpPr>
        <p:spPr>
          <a:xfrm>
            <a:off x="7114282" y="2606635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181195" y="2640032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8208288" y="266795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2–3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8208288" y="3043357"/>
            <a:ext cx="562832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CFA on holdout sample (n = 262) + Measurement invariance testing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601361" y="3701891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</p:sp>
      <p:sp>
        <p:nvSpPr>
          <p:cNvPr id="15" name="Shape 13"/>
          <p:cNvSpPr/>
          <p:nvPr/>
        </p:nvSpPr>
        <p:spPr>
          <a:xfrm>
            <a:off x="7114282" y="3512463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81195" y="3545860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4189333" y="3573780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4–6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793790" y="3949184"/>
            <a:ext cx="562832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Structural Equation Modeling + Mediation analysis + Moderation analysis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7493258" y="4607838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</p:sp>
      <p:sp>
        <p:nvSpPr>
          <p:cNvPr id="20" name="Shape 18"/>
          <p:cNvSpPr/>
          <p:nvPr/>
        </p:nvSpPr>
        <p:spPr>
          <a:xfrm>
            <a:off x="7114282" y="4418409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81195" y="4451806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8208288" y="4479727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7–8</a:t>
            </a:r>
            <a:endParaRPr lang="en-US" sz="1750" dirty="0"/>
          </a:p>
        </p:txBody>
      </p:sp>
      <p:sp>
        <p:nvSpPr>
          <p:cNvPr id="23" name="Text 21"/>
          <p:cNvSpPr/>
          <p:nvPr/>
        </p:nvSpPr>
        <p:spPr>
          <a:xfrm>
            <a:off x="8208288" y="4855131"/>
            <a:ext cx="5628323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validation (tool usage) + Qualitative content analysis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6601361" y="5513784"/>
            <a:ext cx="535781" cy="22860"/>
          </a:xfrm>
          <a:prstGeom prst="roundRect">
            <a:avLst>
              <a:gd name="adj" fmla="val 328186"/>
            </a:avLst>
          </a:prstGeom>
          <a:solidFill>
            <a:srgbClr val="C7C7D0"/>
          </a:solidFill>
          <a:ln/>
        </p:spPr>
      </p:sp>
      <p:sp>
        <p:nvSpPr>
          <p:cNvPr id="25" name="Shape 23"/>
          <p:cNvSpPr/>
          <p:nvPr/>
        </p:nvSpPr>
        <p:spPr>
          <a:xfrm>
            <a:off x="7114282" y="5324356"/>
            <a:ext cx="401836" cy="401836"/>
          </a:xfrm>
          <a:prstGeom prst="roundRect">
            <a:avLst>
              <a:gd name="adj" fmla="val 1867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81195" y="5357753"/>
            <a:ext cx="267891" cy="3349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21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4189333" y="5385673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1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9–10</a:t>
            </a:r>
            <a:endParaRPr lang="en-US" sz="1750" dirty="0"/>
          </a:p>
        </p:txBody>
      </p:sp>
      <p:sp>
        <p:nvSpPr>
          <p:cNvPr id="28" name="Text 26"/>
          <p:cNvSpPr/>
          <p:nvPr/>
        </p:nvSpPr>
        <p:spPr>
          <a:xfrm>
            <a:off x="793790" y="5761077"/>
            <a:ext cx="5628323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review and synthesis across dual platforms (Python + R/lavaan)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3790" y="6995636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 validation used 1,000 resamples for path coefficient robustness. CFA/SEM used Maximum Likelihood with Satorra-Bentler robust corrections (MLM) via R/lavaan 0.6.21.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80160"/>
            <a:ext cx="1269683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339691"/>
            <a:ext cx="1031558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KEY FINDINGS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732598"/>
            <a:ext cx="1121223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Measurement Model: Psychometric Performance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65033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16-item data demonstrated excellent suitability for factor analysis: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KMO = .937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(superb), Bartlett's Test χ² = 4,668.45, p &lt; .001, with no multivariate outliers detected.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508653"/>
            <a:ext cx="13042821" cy="3440668"/>
          </a:xfrm>
          <a:prstGeom prst="roundRect">
            <a:avLst>
              <a:gd name="adj" fmla="val 2423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351627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1000125" y="3642955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Index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912162" y="364295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Holdout Value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17606" y="364295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Sample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123051" y="3642955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Threshold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2077105" y="3642955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Assessment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801410" y="408717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0125" y="4213860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CFI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912162" y="421386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.975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517606" y="4213860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.979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123051" y="4213860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 .95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2077105" y="4213860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801410" y="465808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0125" y="4784765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TLI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4912162" y="478476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.960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517606" y="4784765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.966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123051" y="4784765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≥ .95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2077105" y="4784765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01410" y="522898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0125" y="5355669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RMSEA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4912162" y="535566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.065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7517606" y="535566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.061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10123051" y="5355669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≤ .08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12077105" y="5355669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801410" y="579989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1000125" y="5926574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SRMR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4912162" y="592657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.026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7517606" y="5926574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.022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10123051" y="5926574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≤ .08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12077105" y="5926574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Excellent</a:t>
            </a:r>
            <a:endParaRPr lang="en-US" sz="1550" dirty="0"/>
          </a:p>
        </p:txBody>
      </p:sp>
      <p:sp>
        <p:nvSpPr>
          <p:cNvPr id="37" name="Shape 35"/>
          <p:cNvSpPr/>
          <p:nvPr/>
        </p:nvSpPr>
        <p:spPr>
          <a:xfrm>
            <a:off x="801410" y="6370796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00125" y="6497479"/>
            <a:ext cx="350770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χ²/df</a:t>
            </a:r>
            <a:endParaRPr lang="en-US" sz="1550" dirty="0"/>
          </a:p>
        </p:txBody>
      </p:sp>
      <p:sp>
        <p:nvSpPr>
          <p:cNvPr id="39" name="Text 37"/>
          <p:cNvSpPr/>
          <p:nvPr/>
        </p:nvSpPr>
        <p:spPr>
          <a:xfrm>
            <a:off x="4912162" y="649747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2.10</a:t>
            </a:r>
            <a:endParaRPr lang="en-US" sz="1550" dirty="0"/>
          </a:p>
        </p:txBody>
      </p:sp>
      <p:sp>
        <p:nvSpPr>
          <p:cNvPr id="40" name="Text 38"/>
          <p:cNvSpPr/>
          <p:nvPr/>
        </p:nvSpPr>
        <p:spPr>
          <a:xfrm>
            <a:off x="7517606" y="6497479"/>
            <a:ext cx="22011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—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10123051" y="6497479"/>
            <a:ext cx="154971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≤ 3.0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12077105" y="6497479"/>
            <a:ext cx="15535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Good</a:t>
            </a:r>
            <a:endParaRPr lang="en-US" sz="15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2460"/>
            <a:ext cx="541841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900"/>
              </a:lnSpc>
              <a:buNone/>
            </a:pPr>
            <a:r>
              <a:rPr lang="en-US" sz="31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Reliability Across All 8 Factors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382554"/>
            <a:ext cx="13042821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All eight factors exceeded conventional thresholds for internal consistency. All composite reliabilities exceeded .750 and all AVE values exceeded .50, confirming convergent validity.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93790" y="1754029"/>
            <a:ext cx="1409491" cy="296396"/>
          </a:xfrm>
          <a:prstGeom prst="roundRect">
            <a:avLst>
              <a:gd name="adj" fmla="val 4319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9872" y="1819871"/>
            <a:ext cx="164712" cy="16471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09488" y="1795207"/>
            <a:ext cx="939589" cy="214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Cronbach's α</a:t>
            </a:r>
            <a:endParaRPr lang="en-US" sz="700" dirty="0"/>
          </a:p>
        </p:txBody>
      </p:sp>
      <p:sp>
        <p:nvSpPr>
          <p:cNvPr id="7" name="Shape 4"/>
          <p:cNvSpPr/>
          <p:nvPr/>
        </p:nvSpPr>
        <p:spPr>
          <a:xfrm>
            <a:off x="2313089" y="1754029"/>
            <a:ext cx="700885" cy="296396"/>
          </a:xfrm>
          <a:prstGeom prst="roundRect">
            <a:avLst>
              <a:gd name="adj" fmla="val 43191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9172" y="1819871"/>
            <a:ext cx="164712" cy="16471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570667" y="1795207"/>
            <a:ext cx="301972" cy="2140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AVE</a:t>
            </a:r>
            <a:endParaRPr lang="en-US" sz="7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187685"/>
            <a:ext cx="10431780" cy="549041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41559"/>
            <a:ext cx="8214598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Discriminant Validity: HTMT Analysis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57651"/>
            <a:ext cx="284047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Factor Correlation Range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666167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 = .516 (EE × SI) to r = .911 (PE × PV)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306097"/>
            <a:ext cx="6279356" cy="32385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3561636"/>
            <a:ext cx="28157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HTMT Violations (4 pairs)</a:t>
            </a:r>
            <a:endParaRPr lang="en-US" sz="1950" dirty="0"/>
          </a:p>
        </p:txBody>
      </p:sp>
      <p:sp>
        <p:nvSpPr>
          <p:cNvPr id="7" name="Shape 5"/>
          <p:cNvSpPr/>
          <p:nvPr/>
        </p:nvSpPr>
        <p:spPr>
          <a:xfrm>
            <a:off x="793790" y="4095036"/>
            <a:ext cx="6279356" cy="2869763"/>
          </a:xfrm>
          <a:prstGeom prst="roundRect">
            <a:avLst>
              <a:gd name="adj" fmla="val 290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01410" y="4102656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999768" y="4229338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Pair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4135636" y="4229338"/>
            <a:ext cx="116169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HTMT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5701665" y="4229338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Status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801410" y="4673560"/>
            <a:ext cx="6264116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999768" y="4800243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× PV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135636" y="4800243"/>
            <a:ext cx="116169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.902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5701665" y="4800243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Exceeds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801410" y="5244465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999768" y="5371148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× HM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4135636" y="5371148"/>
            <a:ext cx="116169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.900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5701665" y="5371148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Exceeds</a:t>
            </a:r>
            <a:endParaRPr lang="en-US" sz="1550" dirty="0"/>
          </a:p>
        </p:txBody>
      </p:sp>
      <p:sp>
        <p:nvSpPr>
          <p:cNvPr id="20" name="Shape 18"/>
          <p:cNvSpPr/>
          <p:nvPr/>
        </p:nvSpPr>
        <p:spPr>
          <a:xfrm>
            <a:off x="801410" y="5815370"/>
            <a:ext cx="6264116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999768" y="5942052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× PV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4135636" y="5942052"/>
            <a:ext cx="116169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.904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5701665" y="5942052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Exceeds</a:t>
            </a:r>
            <a:endParaRPr lang="en-US" sz="1550" dirty="0"/>
          </a:p>
        </p:txBody>
      </p:sp>
      <p:sp>
        <p:nvSpPr>
          <p:cNvPr id="24" name="Shape 22"/>
          <p:cNvSpPr/>
          <p:nvPr/>
        </p:nvSpPr>
        <p:spPr>
          <a:xfrm>
            <a:off x="801410" y="6386274"/>
            <a:ext cx="6264116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99768" y="6512957"/>
            <a:ext cx="273153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× TR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4135636" y="6512957"/>
            <a:ext cx="116169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.850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5701665" y="6512957"/>
            <a:ext cx="116550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At threshold</a:t>
            </a:r>
            <a:endParaRPr lang="en-US" sz="1550" dirty="0"/>
          </a:p>
        </p:txBody>
      </p:sp>
      <p:sp>
        <p:nvSpPr>
          <p:cNvPr id="28" name="Shape 26"/>
          <p:cNvSpPr/>
          <p:nvPr/>
        </p:nvSpPr>
        <p:spPr>
          <a:xfrm>
            <a:off x="7421999" y="1959293"/>
            <a:ext cx="6565106" cy="5228749"/>
          </a:xfrm>
          <a:prstGeom prst="roundRect">
            <a:avLst>
              <a:gd name="adj" fmla="val 2733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7620357" y="21576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Interpretation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7620357" y="2666167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Violations are structurally expected for 2-item-per-factor scales with conceptually adjacent constructs in the PE–HM–PV triad.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7620357" y="3479840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CFA model demonstrated excellent overall fit. The retained 8-factor structure provides essential diagnostic differentiation — each construct measures a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distinct intervention target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</a:t>
            </a:r>
            <a:endParaRPr lang="en-US" sz="15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643307"/>
            <a:ext cx="1576268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2702838"/>
            <a:ext cx="133814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CENTRAL FINDING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09574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Structural Model: 89.7% Variance Explained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4633555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structural model explained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R² = .897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of the variance in Behavioral Intention — an exceptionally high value indicating that the AIRS factors capture the vast majority of systematic variance in AI adoption intention.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2222"/>
            <a:ext cx="57532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Primary Path Coefficients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1649135"/>
            <a:ext cx="13042821" cy="5470922"/>
          </a:xfrm>
          <a:prstGeom prst="roundRect">
            <a:avLst>
              <a:gd name="adj" fmla="val 152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656755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1000006" y="1783437"/>
            <a:ext cx="6416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2045970" y="1783437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Path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5302806" y="1783437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866096" y="1783437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429387" y="1783437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Bootstrap 95% CI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12337613" y="1783437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Result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801410" y="222765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0006" y="2354342"/>
            <a:ext cx="6416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H1a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2045970" y="2354342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→ BI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302806" y="2354342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−.028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6866096" y="2354342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.791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8429387" y="2354342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[−.234, .178]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2337613" y="2354342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550" dirty="0"/>
          </a:p>
        </p:txBody>
      </p:sp>
      <p:sp>
        <p:nvSpPr>
          <p:cNvPr id="18" name="Shape 16"/>
          <p:cNvSpPr/>
          <p:nvPr/>
        </p:nvSpPr>
        <p:spPr>
          <a:xfrm>
            <a:off x="801410" y="2798564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1000006" y="2925247"/>
            <a:ext cx="6416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H1b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2045970" y="2925247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EE → BI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5302806" y="2925247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−.008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6866096" y="2925247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.875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8429387" y="2925247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[−.108, .092]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12337613" y="2925247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801410" y="3369469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00006" y="3496151"/>
            <a:ext cx="6416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H1c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2045970" y="3496151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 → BI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302806" y="3496151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.136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6866096" y="3496151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.024</a:t>
            </a:r>
            <a:endParaRPr lang="en-US" sz="1550" dirty="0"/>
          </a:p>
        </p:txBody>
      </p:sp>
      <p:sp>
        <p:nvSpPr>
          <p:cNvPr id="30" name="Text 28"/>
          <p:cNvSpPr/>
          <p:nvPr/>
        </p:nvSpPr>
        <p:spPr>
          <a:xfrm>
            <a:off x="8429387" y="3496151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[.018, .254]</a:t>
            </a:r>
            <a:endParaRPr lang="en-US" sz="1550" dirty="0"/>
          </a:p>
        </p:txBody>
      </p:sp>
      <p:sp>
        <p:nvSpPr>
          <p:cNvPr id="31" name="Text 29"/>
          <p:cNvSpPr/>
          <p:nvPr/>
        </p:nvSpPr>
        <p:spPr>
          <a:xfrm>
            <a:off x="12337613" y="3496151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Supported*</a:t>
            </a:r>
            <a:endParaRPr lang="en-US" sz="1550" dirty="0"/>
          </a:p>
        </p:txBody>
      </p:sp>
      <p:sp>
        <p:nvSpPr>
          <p:cNvPr id="32" name="Shape 30"/>
          <p:cNvSpPr/>
          <p:nvPr/>
        </p:nvSpPr>
        <p:spPr>
          <a:xfrm>
            <a:off x="801410" y="3940373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1000006" y="4067056"/>
            <a:ext cx="6416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H1d</a:t>
            </a:r>
            <a:endParaRPr lang="en-US" sz="1550" dirty="0"/>
          </a:p>
        </p:txBody>
      </p:sp>
      <p:sp>
        <p:nvSpPr>
          <p:cNvPr id="34" name="Text 32"/>
          <p:cNvSpPr/>
          <p:nvPr/>
        </p:nvSpPr>
        <p:spPr>
          <a:xfrm>
            <a:off x="2045970" y="4067056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FC → BI</a:t>
            </a:r>
            <a:endParaRPr lang="en-US" sz="1550" dirty="0"/>
          </a:p>
        </p:txBody>
      </p:sp>
      <p:sp>
        <p:nvSpPr>
          <p:cNvPr id="35" name="Text 33"/>
          <p:cNvSpPr/>
          <p:nvPr/>
        </p:nvSpPr>
        <p:spPr>
          <a:xfrm>
            <a:off x="5302806" y="4067056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.059</a:t>
            </a:r>
            <a:endParaRPr lang="en-US" sz="1550" dirty="0"/>
          </a:p>
        </p:txBody>
      </p:sp>
      <p:sp>
        <p:nvSpPr>
          <p:cNvPr id="36" name="Text 34"/>
          <p:cNvSpPr/>
          <p:nvPr/>
        </p:nvSpPr>
        <p:spPr>
          <a:xfrm>
            <a:off x="6866096" y="4067056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.338</a:t>
            </a:r>
            <a:endParaRPr lang="en-US" sz="1550" dirty="0"/>
          </a:p>
        </p:txBody>
      </p:sp>
      <p:sp>
        <p:nvSpPr>
          <p:cNvPr id="37" name="Text 35"/>
          <p:cNvSpPr/>
          <p:nvPr/>
        </p:nvSpPr>
        <p:spPr>
          <a:xfrm>
            <a:off x="8429387" y="4067056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[−.062, .180]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12337613" y="4067056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550" dirty="0"/>
          </a:p>
        </p:txBody>
      </p:sp>
      <p:sp>
        <p:nvSpPr>
          <p:cNvPr id="39" name="Shape 37"/>
          <p:cNvSpPr/>
          <p:nvPr/>
        </p:nvSpPr>
        <p:spPr>
          <a:xfrm>
            <a:off x="801410" y="4511278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1000006" y="4637961"/>
            <a:ext cx="6416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H1e</a:t>
            </a:r>
            <a:endParaRPr lang="en-US" sz="1550" dirty="0"/>
          </a:p>
        </p:txBody>
      </p:sp>
      <p:sp>
        <p:nvSpPr>
          <p:cNvPr id="41" name="Text 39"/>
          <p:cNvSpPr/>
          <p:nvPr/>
        </p:nvSpPr>
        <p:spPr>
          <a:xfrm>
            <a:off x="2045970" y="4637961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 → BI</a:t>
            </a:r>
            <a:endParaRPr lang="en-US" sz="1550" dirty="0"/>
          </a:p>
        </p:txBody>
      </p:sp>
      <p:sp>
        <p:nvSpPr>
          <p:cNvPr id="42" name="Text 40"/>
          <p:cNvSpPr/>
          <p:nvPr/>
        </p:nvSpPr>
        <p:spPr>
          <a:xfrm>
            <a:off x="5302806" y="4637961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.217</a:t>
            </a:r>
            <a:endParaRPr lang="en-US" sz="1550" dirty="0"/>
          </a:p>
        </p:txBody>
      </p:sp>
      <p:sp>
        <p:nvSpPr>
          <p:cNvPr id="43" name="Text 41"/>
          <p:cNvSpPr/>
          <p:nvPr/>
        </p:nvSpPr>
        <p:spPr>
          <a:xfrm>
            <a:off x="6866096" y="4637961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.014</a:t>
            </a:r>
            <a:endParaRPr lang="en-US" sz="1550" dirty="0"/>
          </a:p>
        </p:txBody>
      </p:sp>
      <p:sp>
        <p:nvSpPr>
          <p:cNvPr id="44" name="Text 42"/>
          <p:cNvSpPr/>
          <p:nvPr/>
        </p:nvSpPr>
        <p:spPr>
          <a:xfrm>
            <a:off x="8429387" y="4637961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[.044, .390]</a:t>
            </a:r>
            <a:endParaRPr lang="en-US" sz="1550" dirty="0"/>
          </a:p>
        </p:txBody>
      </p:sp>
      <p:sp>
        <p:nvSpPr>
          <p:cNvPr id="45" name="Text 43"/>
          <p:cNvSpPr/>
          <p:nvPr/>
        </p:nvSpPr>
        <p:spPr>
          <a:xfrm>
            <a:off x="12337613" y="4637961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Supported*</a:t>
            </a:r>
            <a:endParaRPr lang="en-US" sz="1550" dirty="0"/>
          </a:p>
        </p:txBody>
      </p:sp>
      <p:sp>
        <p:nvSpPr>
          <p:cNvPr id="46" name="Shape 44"/>
          <p:cNvSpPr/>
          <p:nvPr/>
        </p:nvSpPr>
        <p:spPr>
          <a:xfrm>
            <a:off x="801410" y="5082183"/>
            <a:ext cx="13027581" cy="88844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7" name="Text 45"/>
          <p:cNvSpPr/>
          <p:nvPr/>
        </p:nvSpPr>
        <p:spPr>
          <a:xfrm>
            <a:off x="1000006" y="5208865"/>
            <a:ext cx="6416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H1f</a:t>
            </a:r>
            <a:endParaRPr lang="en-US" sz="1550" dirty="0"/>
          </a:p>
        </p:txBody>
      </p:sp>
      <p:sp>
        <p:nvSpPr>
          <p:cNvPr id="48" name="Text 46"/>
          <p:cNvSpPr/>
          <p:nvPr/>
        </p:nvSpPr>
        <p:spPr>
          <a:xfrm>
            <a:off x="2045970" y="5208865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 → BI</a:t>
            </a:r>
            <a:endParaRPr lang="en-US" sz="1550" dirty="0"/>
          </a:p>
        </p:txBody>
      </p:sp>
      <p:sp>
        <p:nvSpPr>
          <p:cNvPr id="49" name="Text 47"/>
          <p:cNvSpPr/>
          <p:nvPr/>
        </p:nvSpPr>
        <p:spPr>
          <a:xfrm>
            <a:off x="5302806" y="5208865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.505</a:t>
            </a:r>
            <a:endParaRPr lang="en-US" sz="1550" dirty="0"/>
          </a:p>
        </p:txBody>
      </p:sp>
      <p:sp>
        <p:nvSpPr>
          <p:cNvPr id="50" name="Text 48"/>
          <p:cNvSpPr/>
          <p:nvPr/>
        </p:nvSpPr>
        <p:spPr>
          <a:xfrm>
            <a:off x="6866096" y="5208865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&lt;.001</a:t>
            </a:r>
            <a:endParaRPr lang="en-US" sz="1550" dirty="0"/>
          </a:p>
        </p:txBody>
      </p:sp>
      <p:sp>
        <p:nvSpPr>
          <p:cNvPr id="51" name="Text 49"/>
          <p:cNvSpPr/>
          <p:nvPr/>
        </p:nvSpPr>
        <p:spPr>
          <a:xfrm>
            <a:off x="8429387" y="5208865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[.352, .658]</a:t>
            </a:r>
            <a:endParaRPr lang="en-US" sz="1550" dirty="0"/>
          </a:p>
        </p:txBody>
      </p:sp>
      <p:sp>
        <p:nvSpPr>
          <p:cNvPr id="52" name="Text 50"/>
          <p:cNvSpPr/>
          <p:nvPr/>
        </p:nvSpPr>
        <p:spPr>
          <a:xfrm>
            <a:off x="12337613" y="5208865"/>
            <a:ext cx="129301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Confirmed — Strongest</a:t>
            </a:r>
            <a:endParaRPr lang="en-US" sz="1550" dirty="0"/>
          </a:p>
        </p:txBody>
      </p:sp>
      <p:sp>
        <p:nvSpPr>
          <p:cNvPr id="53" name="Shape 51"/>
          <p:cNvSpPr/>
          <p:nvPr/>
        </p:nvSpPr>
        <p:spPr>
          <a:xfrm>
            <a:off x="801410" y="5970627"/>
            <a:ext cx="13027581" cy="570905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1000006" y="6097310"/>
            <a:ext cx="6416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H1g</a:t>
            </a:r>
            <a:endParaRPr lang="en-US" sz="1550" dirty="0"/>
          </a:p>
        </p:txBody>
      </p:sp>
      <p:sp>
        <p:nvSpPr>
          <p:cNvPr id="55" name="Text 53"/>
          <p:cNvSpPr/>
          <p:nvPr/>
        </p:nvSpPr>
        <p:spPr>
          <a:xfrm>
            <a:off x="2045970" y="6097310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HB → BI</a:t>
            </a:r>
            <a:endParaRPr lang="en-US" sz="1550" dirty="0"/>
          </a:p>
        </p:txBody>
      </p:sp>
      <p:sp>
        <p:nvSpPr>
          <p:cNvPr id="56" name="Text 54"/>
          <p:cNvSpPr/>
          <p:nvPr/>
        </p:nvSpPr>
        <p:spPr>
          <a:xfrm>
            <a:off x="5302806" y="6097310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.023</a:t>
            </a:r>
            <a:endParaRPr lang="en-US" sz="1550" dirty="0"/>
          </a:p>
        </p:txBody>
      </p:sp>
      <p:sp>
        <p:nvSpPr>
          <p:cNvPr id="57" name="Text 55"/>
          <p:cNvSpPr/>
          <p:nvPr/>
        </p:nvSpPr>
        <p:spPr>
          <a:xfrm>
            <a:off x="6866096" y="6097310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.631</a:t>
            </a:r>
            <a:endParaRPr lang="en-US" sz="1550" dirty="0"/>
          </a:p>
        </p:txBody>
      </p:sp>
      <p:sp>
        <p:nvSpPr>
          <p:cNvPr id="58" name="Text 56"/>
          <p:cNvSpPr/>
          <p:nvPr/>
        </p:nvSpPr>
        <p:spPr>
          <a:xfrm>
            <a:off x="8429387" y="6097310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[−.071, .117]</a:t>
            </a:r>
            <a:endParaRPr lang="en-US" sz="1550" dirty="0"/>
          </a:p>
        </p:txBody>
      </p:sp>
      <p:sp>
        <p:nvSpPr>
          <p:cNvPr id="59" name="Text 57"/>
          <p:cNvSpPr/>
          <p:nvPr/>
        </p:nvSpPr>
        <p:spPr>
          <a:xfrm>
            <a:off x="12337613" y="6097310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 Supported</a:t>
            </a:r>
            <a:endParaRPr lang="en-US" sz="1550" dirty="0"/>
          </a:p>
        </p:txBody>
      </p:sp>
      <p:sp>
        <p:nvSpPr>
          <p:cNvPr id="60" name="Shape 58"/>
          <p:cNvSpPr/>
          <p:nvPr/>
        </p:nvSpPr>
        <p:spPr>
          <a:xfrm>
            <a:off x="801410" y="6541532"/>
            <a:ext cx="13027581" cy="570905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1" name="Text 59"/>
          <p:cNvSpPr/>
          <p:nvPr/>
        </p:nvSpPr>
        <p:spPr>
          <a:xfrm>
            <a:off x="1000006" y="6668214"/>
            <a:ext cx="64162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H2</a:t>
            </a:r>
            <a:endParaRPr lang="en-US" sz="1550" dirty="0"/>
          </a:p>
        </p:txBody>
      </p:sp>
      <p:sp>
        <p:nvSpPr>
          <p:cNvPr id="62" name="Text 60"/>
          <p:cNvSpPr/>
          <p:nvPr/>
        </p:nvSpPr>
        <p:spPr>
          <a:xfrm>
            <a:off x="2045970" y="6668214"/>
            <a:ext cx="285249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 → BI</a:t>
            </a:r>
            <a:endParaRPr lang="en-US" sz="1550" dirty="0"/>
          </a:p>
        </p:txBody>
      </p:sp>
      <p:sp>
        <p:nvSpPr>
          <p:cNvPr id="63" name="Text 61"/>
          <p:cNvSpPr/>
          <p:nvPr/>
        </p:nvSpPr>
        <p:spPr>
          <a:xfrm>
            <a:off x="5302806" y="6668214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.106</a:t>
            </a:r>
            <a:endParaRPr lang="en-US" sz="1550" dirty="0"/>
          </a:p>
        </p:txBody>
      </p:sp>
      <p:sp>
        <p:nvSpPr>
          <p:cNvPr id="64" name="Text 62"/>
          <p:cNvSpPr/>
          <p:nvPr/>
        </p:nvSpPr>
        <p:spPr>
          <a:xfrm>
            <a:off x="6866096" y="6668214"/>
            <a:ext cx="115895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.064</a:t>
            </a:r>
            <a:endParaRPr lang="en-US" sz="1550" dirty="0"/>
          </a:p>
        </p:txBody>
      </p:sp>
      <p:sp>
        <p:nvSpPr>
          <p:cNvPr id="65" name="Text 63"/>
          <p:cNvSpPr/>
          <p:nvPr/>
        </p:nvSpPr>
        <p:spPr>
          <a:xfrm>
            <a:off x="8429387" y="6668214"/>
            <a:ext cx="35038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[−.006, .218]</a:t>
            </a:r>
            <a:endParaRPr lang="en-US" sz="1550" dirty="0"/>
          </a:p>
        </p:txBody>
      </p:sp>
      <p:sp>
        <p:nvSpPr>
          <p:cNvPr id="66" name="Text 64"/>
          <p:cNvSpPr/>
          <p:nvPr/>
        </p:nvSpPr>
        <p:spPr>
          <a:xfrm>
            <a:off x="12337613" y="6668214"/>
            <a:ext cx="129301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Marginal</a:t>
            </a:r>
            <a:endParaRPr lang="en-US" sz="1550" dirty="0"/>
          </a:p>
        </p:txBody>
      </p:sp>
      <p:sp>
        <p:nvSpPr>
          <p:cNvPr id="67" name="Text 65"/>
          <p:cNvSpPr/>
          <p:nvPr/>
        </p:nvSpPr>
        <p:spPr>
          <a:xfrm>
            <a:off x="793790" y="7343299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*z-test significant; bootstrap CIs include zero — interpreted as suggestive rather than conclusive. Only Price Value's path was bootstrap-confirmed robust (CI [0.218, 1.083]).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1476256"/>
            <a:ext cx="2119432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1535787"/>
            <a:ext cx="188130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BREAKTHROUGH FINDING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1928693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 Value Dominates — A Paradigm Shift</a:t>
            </a:r>
            <a:endParaRPr lang="en-US" sz="3900" dirty="0"/>
          </a:p>
        </p:txBody>
      </p:sp>
      <p:sp>
        <p:nvSpPr>
          <p:cNvPr id="6" name="Shape 3"/>
          <p:cNvSpPr/>
          <p:nvPr/>
        </p:nvSpPr>
        <p:spPr>
          <a:xfrm>
            <a:off x="650915" y="3466505"/>
            <a:ext cx="3821906" cy="3286839"/>
          </a:xfrm>
          <a:prstGeom prst="roundRect">
            <a:avLst>
              <a:gd name="adj" fmla="val 4348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7" name="Text 4"/>
          <p:cNvSpPr/>
          <p:nvPr/>
        </p:nvSpPr>
        <p:spPr>
          <a:xfrm>
            <a:off x="849273" y="3664863"/>
            <a:ext cx="256889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 UTAUT Literature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849273" y="4173379"/>
            <a:ext cx="3425190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Blut et al. (2022) meta-analysis across 417+ studies: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Performance Expectancy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was the dominant predictor (weighted β = .39)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4821674" y="366486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Present Study</a:t>
            </a:r>
            <a:endParaRPr lang="en-US" sz="1950" dirty="0"/>
          </a:p>
        </p:txBody>
      </p:sp>
      <p:sp>
        <p:nvSpPr>
          <p:cNvPr id="10" name="Text 7"/>
          <p:cNvSpPr/>
          <p:nvPr/>
        </p:nvSpPr>
        <p:spPr>
          <a:xfrm>
            <a:off x="4821674" y="4173379"/>
            <a:ext cx="35361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 was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non-significant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(β = −.028), while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Price Value dominated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(β = .505)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821674" y="4987052"/>
            <a:ext cx="35361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Interpretation: When users already regard AI's usefulness as a baseline expectation, adoption decisions shift to whether perceived benefits justify the financial investment.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78700"/>
            <a:ext cx="66532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Trust: Why It Was Retained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9561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Although AI Trust did not reach conventional significance (p = .064) and model comparison favored the 7-factor model on parsimony grounds (ΔAIC = +2.01), the 8-factor model was retained as the recommended diagnostic instrument for three reasons: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4151590"/>
            <a:ext cx="4215289" cy="2099191"/>
          </a:xfrm>
          <a:prstGeom prst="roundRect">
            <a:avLst>
              <a:gd name="adj" fmla="val 522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93790" y="4128730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6" name="Shape 4"/>
          <p:cNvSpPr/>
          <p:nvPr/>
        </p:nvSpPr>
        <p:spPr>
          <a:xfrm>
            <a:off x="2603778" y="385393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2782372" y="400276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15008" y="4647724"/>
            <a:ext cx="3301484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Unique Diagnostic Capability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015008" y="5076944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deficits cannot be detected by other constructs — organizations need this signal separately.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4151590"/>
            <a:ext cx="4215408" cy="2099191"/>
          </a:xfrm>
          <a:prstGeom prst="roundRect">
            <a:avLst>
              <a:gd name="adj" fmla="val 522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5207437" y="4128730"/>
            <a:ext cx="4215408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2" name="Shape 10"/>
          <p:cNvSpPr/>
          <p:nvPr/>
        </p:nvSpPr>
        <p:spPr>
          <a:xfrm>
            <a:off x="7017425" y="385393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7196018" y="400276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850" dirty="0"/>
          </a:p>
        </p:txBody>
      </p:sp>
      <p:sp>
        <p:nvSpPr>
          <p:cNvPr id="14" name="Text 12"/>
          <p:cNvSpPr/>
          <p:nvPr/>
        </p:nvSpPr>
        <p:spPr>
          <a:xfrm>
            <a:off x="5428655" y="4647724"/>
            <a:ext cx="306371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Statistical Power Limitation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5428655" y="5076944"/>
            <a:ext cx="377297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Detecting the marginal effect (β = .106) at 80% power requires n &gt; 600; the present N = 523 yields only ~68% power.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621203" y="4151590"/>
            <a:ext cx="4215289" cy="2099191"/>
          </a:xfrm>
          <a:prstGeom prst="roundRect">
            <a:avLst>
              <a:gd name="adj" fmla="val 5227"/>
            </a:avLst>
          </a:prstGeom>
          <a:solidFill>
            <a:srgbClr val="FFFFFF">
              <a:alpha val="9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9621203" y="4128730"/>
            <a:ext cx="4215289" cy="91440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8" name="Shape 16"/>
          <p:cNvSpPr/>
          <p:nvPr/>
        </p:nvSpPr>
        <p:spPr>
          <a:xfrm>
            <a:off x="11431191" y="3853934"/>
            <a:ext cx="595313" cy="595313"/>
          </a:xfrm>
          <a:prstGeom prst="roundRect">
            <a:avLst>
              <a:gd name="adj" fmla="val 153600"/>
            </a:avLst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11609784" y="4002762"/>
            <a:ext cx="238125" cy="2976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9842421" y="4647724"/>
            <a:ext cx="343912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Actionable Intervention Target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842421" y="5076944"/>
            <a:ext cx="377285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Organizations gain actionable insight from separately measuring trust, enabling targeted confidence-building interventions.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75755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Moderation Effects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91847"/>
            <a:ext cx="547258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Experience Moderation (H3: Partially Supported)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2900363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experience significantly moderated the HM → BI path (β = .136, p = .007). Professionals with 4+ years weighted hedonic motivation more heavily.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4175372"/>
            <a:ext cx="6279356" cy="32385"/>
          </a:xfrm>
          <a:prstGeom prst="rect">
            <a:avLst/>
          </a:prstGeom>
          <a:solidFill>
            <a:srgbClr val="3C3939">
              <a:alpha val="5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93790" y="4430911"/>
            <a:ext cx="30012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Usage-Group Comparison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939427"/>
            <a:ext cx="6279356" cy="102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Low-usage group: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Performance Expectancy mattered (β = .371, significant)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High-usage group: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Price Value dominated (β = .878, significant)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6140053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Adoption drivers evolve with experience: new users focus on utility; experienced users focus on value.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21999" y="2193488"/>
            <a:ext cx="6565106" cy="4760238"/>
          </a:xfrm>
          <a:prstGeom prst="roundRect">
            <a:avLst>
              <a:gd name="adj" fmla="val 300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7620357" y="2391847"/>
            <a:ext cx="541972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Population Moderation (H4: Partially Supported)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620357" y="2900363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 showed significant population moderation (p = .041):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620357" y="3714036"/>
            <a:ext cx="6168390" cy="7044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 group: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HM β = 0.449 (strong positive)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Professional group: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HM β = −0.301 (negative)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620357" y="4597122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Academics adopt AI partly for the enjoyment of exploration; professionals may view "enjoyment" as irrelevant to task-focused work. Price Value remained dominant for both groups.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6419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Behavioral Validation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42511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ρ=.69</a:t>
            </a:r>
            <a:endParaRPr lang="en-US" sz="5150" dirty="0"/>
          </a:p>
        </p:txBody>
      </p:sp>
      <p:sp>
        <p:nvSpPr>
          <p:cNvPr id="4" name="Text 2"/>
          <p:cNvSpPr/>
          <p:nvPr/>
        </p:nvSpPr>
        <p:spPr>
          <a:xfrm>
            <a:off x="1090613" y="38454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BI → Usage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4274701"/>
            <a:ext cx="307467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Behavioral Intention strongly associated with actual AI tool usage frequency (p &lt; .001)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4116467" y="2942511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ρ=.57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4413290" y="38454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ChatGPT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4116467" y="4274701"/>
            <a:ext cx="307467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tool correlation with Behavioral Intention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39144" y="2942511"/>
            <a:ext cx="3074670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ρ=.54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7735967" y="38454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MS Copilot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39144" y="4274701"/>
            <a:ext cx="307467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tool correlation with Behavioral Intention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0761821" y="2942511"/>
            <a:ext cx="3074789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150"/>
              </a:lnSpc>
              <a:buNone/>
            </a:pPr>
            <a:r>
              <a:rPr lang="en-US" sz="51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ρ=.52</a:t>
            </a:r>
            <a:endParaRPr lang="en-US" sz="5150" dirty="0"/>
          </a:p>
        </p:txBody>
      </p:sp>
      <p:sp>
        <p:nvSpPr>
          <p:cNvPr id="13" name="Text 11"/>
          <p:cNvSpPr/>
          <p:nvPr/>
        </p:nvSpPr>
        <p:spPr>
          <a:xfrm>
            <a:off x="11058763" y="384548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Google Gemini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761821" y="4274701"/>
            <a:ext cx="30747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Individual tool correlation with Behavioral Intention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93790" y="5450562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 differences confirmed a clear hierarchy —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Leaders &gt; Professionals &gt; Academics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across tool breadth (F = 18.42, η² = .066), usage frequency (F = 22.15, η² = .078), and usage intensity (F = 15.87, η² = .058). Leaders showed particularly elevated Microsoft Copilot usage (Cohen's d = 1.14 vs. Professionals), reflecting enterprise licensing.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619363"/>
            <a:ext cx="708779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Three-Segment User Typology</a:t>
            </a:r>
            <a:endParaRPr lang="en-US" sz="3900" dirty="0"/>
          </a:p>
        </p:txBody>
      </p:sp>
      <p:sp>
        <p:nvSpPr>
          <p:cNvPr id="4" name="Shape 1"/>
          <p:cNvSpPr/>
          <p:nvPr/>
        </p:nvSpPr>
        <p:spPr>
          <a:xfrm>
            <a:off x="6280190" y="1537097"/>
            <a:ext cx="3679031" cy="2984540"/>
          </a:xfrm>
          <a:prstGeom prst="roundRect">
            <a:avLst>
              <a:gd name="adj" fmla="val 279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86168" y="17430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🚀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AI Enthusiasts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6486168" y="2172295"/>
            <a:ext cx="32670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31% (n = 162)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6486168" y="2608898"/>
            <a:ext cx="326707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Early adopters with high engagement across all dimensions. Mean BI = 4.23.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6486168" y="3680579"/>
            <a:ext cx="32670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Role: Deploy as change champions and peer influencers.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10157579" y="1537097"/>
            <a:ext cx="3679031" cy="2984540"/>
          </a:xfrm>
          <a:prstGeom prst="roundRect">
            <a:avLst>
              <a:gd name="adj" fmla="val 2793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363557" y="17430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⚖️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Moderate Users</a:t>
            </a:r>
            <a:endParaRPr lang="en-US" sz="1950" dirty="0"/>
          </a:p>
        </p:txBody>
      </p:sp>
      <p:sp>
        <p:nvSpPr>
          <p:cNvPr id="11" name="Text 8"/>
          <p:cNvSpPr/>
          <p:nvPr/>
        </p:nvSpPr>
        <p:spPr>
          <a:xfrm>
            <a:off x="10363557" y="2172295"/>
            <a:ext cx="326707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47% (n = 246)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0363557" y="2608898"/>
            <a:ext cx="32670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Pragmatic users near population means.</a:t>
            </a:r>
            <a:endParaRPr lang="en-US" sz="1550" dirty="0"/>
          </a:p>
        </p:txBody>
      </p:sp>
      <p:sp>
        <p:nvSpPr>
          <p:cNvPr id="13" name="Text 10"/>
          <p:cNvSpPr/>
          <p:nvPr/>
        </p:nvSpPr>
        <p:spPr>
          <a:xfrm>
            <a:off x="10363557" y="3363039"/>
            <a:ext cx="326707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Role: Provide value demonstrations and social proof from peers.</a:t>
            </a:r>
            <a:endParaRPr lang="en-US" sz="1550" dirty="0"/>
          </a:p>
        </p:txBody>
      </p:sp>
      <p:sp>
        <p:nvSpPr>
          <p:cNvPr id="14" name="Shape 11"/>
          <p:cNvSpPr/>
          <p:nvPr/>
        </p:nvSpPr>
        <p:spPr>
          <a:xfrm>
            <a:off x="6280190" y="4719995"/>
            <a:ext cx="7556421" cy="2031921"/>
          </a:xfrm>
          <a:prstGeom prst="roundRect">
            <a:avLst>
              <a:gd name="adj" fmla="val 4102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86168" y="49259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🛑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AI Skeptics</a:t>
            </a:r>
            <a:endParaRPr lang="en-US" sz="1950" dirty="0"/>
          </a:p>
        </p:txBody>
      </p:sp>
      <p:sp>
        <p:nvSpPr>
          <p:cNvPr id="16" name="Text 13"/>
          <p:cNvSpPr/>
          <p:nvPr/>
        </p:nvSpPr>
        <p:spPr>
          <a:xfrm>
            <a:off x="6486168" y="5355193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22% (n = 115)</a:t>
            </a:r>
            <a:endParaRPr lang="en-US" sz="1550" dirty="0"/>
          </a:p>
        </p:txBody>
      </p:sp>
      <p:sp>
        <p:nvSpPr>
          <p:cNvPr id="17" name="Text 14"/>
          <p:cNvSpPr/>
          <p:nvPr/>
        </p:nvSpPr>
        <p:spPr>
          <a:xfrm>
            <a:off x="6486168" y="5791795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Resistant users with below-mean readiness scores. Mean BI = 1.71.</a:t>
            </a:r>
            <a:endParaRPr lang="en-US" sz="1550" dirty="0"/>
          </a:p>
        </p:txBody>
      </p:sp>
      <p:sp>
        <p:nvSpPr>
          <p:cNvPr id="18" name="Text 15"/>
          <p:cNvSpPr/>
          <p:nvPr/>
        </p:nvSpPr>
        <p:spPr>
          <a:xfrm>
            <a:off x="6486168" y="6228398"/>
            <a:ext cx="71444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Role: Address trust barriers and anxiety before engagement strategies.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6280190" y="6975157"/>
            <a:ext cx="75564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K-means cluster analysis (k = 3, silhouette = 0.271) explained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65.9% of BI variance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(F(2, 520) = 503.47, p &lt; .001, η² = .659), confirming a clear readiness gradient.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9978" y="536258"/>
            <a:ext cx="5644634" cy="48756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30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Hypothesis Outcome Summary</a:t>
            </a:r>
            <a:endParaRPr lang="en-US" sz="3050" dirty="0"/>
          </a:p>
        </p:txBody>
      </p:sp>
      <p:sp>
        <p:nvSpPr>
          <p:cNvPr id="3" name="Shape 1"/>
          <p:cNvSpPr/>
          <p:nvPr/>
        </p:nvSpPr>
        <p:spPr>
          <a:xfrm>
            <a:off x="779978" y="1269087"/>
            <a:ext cx="1230742" cy="297046"/>
          </a:xfrm>
          <a:prstGeom prst="roundRect">
            <a:avLst>
              <a:gd name="adj" fmla="val 4309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271" y="1335074"/>
            <a:ext cx="165073" cy="16507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96369" y="1310355"/>
            <a:ext cx="769912" cy="214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Supported</a:t>
            </a:r>
            <a:endParaRPr lang="en-US" sz="700" dirty="0"/>
          </a:p>
        </p:txBody>
      </p:sp>
      <p:sp>
        <p:nvSpPr>
          <p:cNvPr id="6" name="Shape 3"/>
          <p:cNvSpPr/>
          <p:nvPr/>
        </p:nvSpPr>
        <p:spPr>
          <a:xfrm>
            <a:off x="2120769" y="1269087"/>
            <a:ext cx="1662339" cy="297046"/>
          </a:xfrm>
          <a:prstGeom prst="roundRect">
            <a:avLst>
              <a:gd name="adj" fmla="val 4309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7061" y="1335074"/>
            <a:ext cx="165073" cy="16507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389013" y="1310355"/>
            <a:ext cx="1197211" cy="214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Partial/Marginal</a:t>
            </a:r>
            <a:endParaRPr lang="en-US" sz="700" dirty="0"/>
          </a:p>
        </p:txBody>
      </p:sp>
      <p:sp>
        <p:nvSpPr>
          <p:cNvPr id="9" name="Shape 5"/>
          <p:cNvSpPr/>
          <p:nvPr/>
        </p:nvSpPr>
        <p:spPr>
          <a:xfrm>
            <a:off x="3893157" y="1269087"/>
            <a:ext cx="1558524" cy="297046"/>
          </a:xfrm>
          <a:prstGeom prst="roundRect">
            <a:avLst>
              <a:gd name="adj" fmla="val 43096"/>
            </a:avLst>
          </a:prstGeom>
          <a:solidFill>
            <a:srgbClr val="FFFFFF">
              <a:alpha val="20000"/>
            </a:srgbClr>
          </a:solidFill>
          <a:ln w="7620">
            <a:solidFill>
              <a:srgbClr val="000000"/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9450" y="1335074"/>
            <a:ext cx="165074" cy="16507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108956" y="1310355"/>
            <a:ext cx="1076631" cy="214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00" dirty="0">
                <a:solidFill>
                  <a:srgbClr val="3C3939"/>
                </a:solidFill>
                <a:latin typeface="-apple-system, BlinkMacSystemFont, Segoe UI, Roboto, Helvetica Neue, Arial, sans-serif Medium" pitchFamily="34" charset="0"/>
                <a:ea typeface="-apple-system, BlinkMacSystemFont, Segoe UI, Roboto, Helvetica Neue, Arial, sans-serif Medium" pitchFamily="34" charset="-122"/>
                <a:cs typeface="-apple-system, BlinkMacSystemFont, Segoe UI, Roboto, Helvetica Neue, Arial, sans-serif Medium" pitchFamily="34" charset="-120"/>
              </a:rPr>
              <a:t>Not Supported</a:t>
            </a:r>
            <a:endParaRPr lang="en-US" sz="70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978" y="1703694"/>
            <a:ext cx="10454640" cy="550244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779978" y="7262455"/>
            <a:ext cx="13070443" cy="445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Of 12 hypotheses: 5 supported (42%), 3 partial (25%), 4 not supported (33%). The pattern reveals that AI adoption follows a </a:t>
            </a:r>
            <a:pPr algn="l" indent="0" marL="0">
              <a:lnSpc>
                <a:spcPts val="1750"/>
              </a:lnSpc>
              <a:buNone/>
            </a:pPr>
            <a:r>
              <a:rPr lang="en-US" sz="12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different predictor structure</a:t>
            </a:r>
            <a:pPr algn="l" indent="0" marL="0">
              <a:lnSpc>
                <a:spcPts val="175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than traditional technology adoption — cost-value perceptions displace utility perceptions as the primary driver.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14406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Qualitative Themes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3131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Open-ended responses (n = 243, 46.5% response rate) revealed five dominant themes: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3472101"/>
            <a:ext cx="496133" cy="4961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37930" y="34721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Positive Experience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37930" y="3901321"/>
            <a:ext cx="343804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24.7% — Most prevalent theme; users describing satisfying AI interactions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23986" y="3472101"/>
            <a:ext cx="496133" cy="4961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968127" y="34721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 &amp; Productivity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968127" y="3901321"/>
            <a:ext cx="34381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19.3% — Efficiency gains and task completion as primary value drivers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654302" y="3472101"/>
            <a:ext cx="496133" cy="49613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0398443" y="347210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Human Element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10398443" y="3901321"/>
            <a:ext cx="343816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13.6% — Concerns about human judgment and AI's role in decision-making</a:t>
            </a:r>
            <a:endParaRPr lang="en-US" sz="15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250775"/>
            <a:ext cx="496133" cy="49613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37930" y="52507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Learning &amp; Education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1537930" y="5679996"/>
            <a:ext cx="343804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13.6% — Academics emphasized educational applications prominently</a:t>
            </a:r>
            <a:endParaRPr lang="en-US" sz="15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223986" y="5250775"/>
            <a:ext cx="496133" cy="49613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5968127" y="52507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Accuracy &amp; Reliability</a:t>
            </a:r>
            <a:endParaRPr lang="en-US" sz="1950" dirty="0"/>
          </a:p>
        </p:txBody>
      </p:sp>
      <p:sp>
        <p:nvSpPr>
          <p:cNvPr id="18" name="Text 11"/>
          <p:cNvSpPr/>
          <p:nvPr/>
        </p:nvSpPr>
        <p:spPr>
          <a:xfrm>
            <a:off x="5968127" y="5679996"/>
            <a:ext cx="343816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10.7% — Trust-related concerns about AI output quality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49010"/>
            <a:ext cx="2393394" cy="348377"/>
          </a:xfrm>
          <a:prstGeom prst="roundRect">
            <a:avLst>
              <a:gd name="adj" fmla="val 18185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06899" y="705564"/>
            <a:ext cx="2167176" cy="2352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5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THEORETICAL CONTRIBUTIONS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793790" y="1068943"/>
            <a:ext cx="6837283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Six Contributions to Knowledge</a:t>
            </a:r>
            <a:endParaRPr lang="en-US" sz="3700" dirty="0"/>
          </a:p>
        </p:txBody>
      </p:sp>
      <p:sp>
        <p:nvSpPr>
          <p:cNvPr id="5" name="Text 3"/>
          <p:cNvSpPr/>
          <p:nvPr/>
        </p:nvSpPr>
        <p:spPr>
          <a:xfrm>
            <a:off x="793790" y="1926669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93790" y="2224087"/>
            <a:ext cx="6431875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7" name="Text 5"/>
          <p:cNvSpPr/>
          <p:nvPr/>
        </p:nvSpPr>
        <p:spPr>
          <a:xfrm>
            <a:off x="793790" y="2363986"/>
            <a:ext cx="396347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Empirical Extension of UTAUT2 for AI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793790" y="2766060"/>
            <a:ext cx="6431875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First study to empirically validate UTAUT2 for AI tool adoption with a purpose-built psychometric instrument.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404735" y="1926669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7404735" y="2224087"/>
            <a:ext cx="6431875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1" name="Text 9"/>
          <p:cNvSpPr/>
          <p:nvPr/>
        </p:nvSpPr>
        <p:spPr>
          <a:xfrm>
            <a:off x="7404735" y="2363986"/>
            <a:ext cx="529947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 Value Dominance — AI as Distinct Category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7404735" y="2766060"/>
            <a:ext cx="6431875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Challenges decades of UTAUT research positioning PE as primary driver; utility functions as a baseline expectation in AI contexts.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793790" y="3674864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93790" y="3972282"/>
            <a:ext cx="6431875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5" name="Text 13"/>
          <p:cNvSpPr/>
          <p:nvPr/>
        </p:nvSpPr>
        <p:spPr>
          <a:xfrm>
            <a:off x="793790" y="4112181"/>
            <a:ext cx="3498890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Career Development Integration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93790" y="4514255"/>
            <a:ext cx="6431875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Adoption mechanisms are career-stage dependent — same technology produces fundamentally different dynamics in academic vs. professional contexts.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404735" y="3674864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7404735" y="3972282"/>
            <a:ext cx="6431875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19" name="Text 17"/>
          <p:cNvSpPr/>
          <p:nvPr/>
        </p:nvSpPr>
        <p:spPr>
          <a:xfrm>
            <a:off x="7404735" y="4112181"/>
            <a:ext cx="336613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Three-Segment User Typology</a:t>
            </a:r>
            <a:endParaRPr lang="en-US" sz="1850" dirty="0"/>
          </a:p>
        </p:txBody>
      </p:sp>
      <p:sp>
        <p:nvSpPr>
          <p:cNvPr id="20" name="Text 18"/>
          <p:cNvSpPr/>
          <p:nvPr/>
        </p:nvSpPr>
        <p:spPr>
          <a:xfrm>
            <a:off x="7404735" y="4514255"/>
            <a:ext cx="6431875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Empirically derived segmentation framework explaining 65.9% of BI variance — grounded in validated psychometric dimensions.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93790" y="5717262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05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793790" y="6014680"/>
            <a:ext cx="6431875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3" name="Text 21"/>
          <p:cNvSpPr/>
          <p:nvPr/>
        </p:nvSpPr>
        <p:spPr>
          <a:xfrm>
            <a:off x="793790" y="6154579"/>
            <a:ext cx="389870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Converging 2025 Industry Validation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793790" y="6556653"/>
            <a:ext cx="6431875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McKinsey (N = 1,993), BCG, MIT, Gartner, Deloitte, and others independently reported patterns consistent with AIRS findings.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7404735" y="5717262"/>
            <a:ext cx="188476" cy="235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06</a:t>
            </a:r>
            <a:endParaRPr lang="en-US" sz="1450" dirty="0"/>
          </a:p>
        </p:txBody>
      </p:sp>
      <p:sp>
        <p:nvSpPr>
          <p:cNvPr id="26" name="Shape 24"/>
          <p:cNvSpPr/>
          <p:nvPr/>
        </p:nvSpPr>
        <p:spPr>
          <a:xfrm>
            <a:off x="7404735" y="6014680"/>
            <a:ext cx="6431875" cy="22860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27" name="Text 25"/>
          <p:cNvSpPr/>
          <p:nvPr/>
        </p:nvSpPr>
        <p:spPr>
          <a:xfrm>
            <a:off x="7404735" y="6154579"/>
            <a:ext cx="3636883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Adoption-Value Gap Mechanisms</a:t>
            </a:r>
            <a:endParaRPr lang="en-US" sz="1850" dirty="0"/>
          </a:p>
        </p:txBody>
      </p:sp>
      <p:sp>
        <p:nvSpPr>
          <p:cNvPr id="28" name="Text 26"/>
          <p:cNvSpPr/>
          <p:nvPr/>
        </p:nvSpPr>
        <p:spPr>
          <a:xfrm>
            <a:off x="7404735" y="6556653"/>
            <a:ext cx="6431875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specific mechanisms identified: value communication misalignment, heterogeneous readiness, neglected affective barriers, and context-inappropriate frameworks.</a:t>
            </a:r>
            <a:endParaRPr lang="en-US" sz="14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80190" y="3578543"/>
            <a:ext cx="2171224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6399252" y="3638074"/>
            <a:ext cx="193309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PRACTICAL IMPLICATIONS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280190" y="4030980"/>
            <a:ext cx="702528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 Organizations Deploying AI</a:t>
            </a:r>
            <a:endParaRPr lang="en-US" sz="3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6652"/>
            <a:ext cx="723864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 With Value, Not Capability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1446" y="3026807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Because Price Value is the strongest predictor of adoption intention (β = .505), organizations should communicate AI investments in terms of tangible cost-benefit outcomes: time saved, errors reduced, and revenue generated.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03565"/>
            <a:ext cx="22860" cy="1081564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410837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Change initiatives centered primarily on technical capability claims are likely to be less effective than those that demonstrate concrete financial and productivity returns.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4966692"/>
            <a:ext cx="13042821" cy="1476256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1410" y="4974312"/>
            <a:ext cx="6513790" cy="1461016"/>
          </a:xfrm>
          <a:prstGeom prst="roundRect">
            <a:avLst>
              <a:gd name="adj" fmla="val 5706"/>
            </a:avLst>
          </a:prstGeom>
          <a:solidFill>
            <a:srgbClr val="E1E1EA"/>
          </a:solidFill>
          <a:ln/>
        </p:spPr>
      </p:sp>
      <p:sp>
        <p:nvSpPr>
          <p:cNvPr id="8" name="Text 6"/>
          <p:cNvSpPr/>
          <p:nvPr/>
        </p:nvSpPr>
        <p:spPr>
          <a:xfrm>
            <a:off x="999768" y="51726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Less Effective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999768" y="5601891"/>
            <a:ext cx="611707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"Our AI can do X, Y, and Z tasks autonomously."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315200" y="4974312"/>
            <a:ext cx="6513790" cy="1461016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0" y="4974312"/>
            <a:ext cx="22860" cy="1461016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</p:sp>
      <p:sp>
        <p:nvSpPr>
          <p:cNvPr id="12" name="Text 10"/>
          <p:cNvSpPr/>
          <p:nvPr/>
        </p:nvSpPr>
        <p:spPr>
          <a:xfrm>
            <a:off x="7513558" y="517267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More Effective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513558" y="5601891"/>
            <a:ext cx="611707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"Our AI saves 3 hours/week per employee and reduces error rates by 40%."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83375"/>
            <a:ext cx="651771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Segmented Rollout Strategy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30028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three-segment typology supports targeted intervention rather than uniform deployment. A single strategy will fail for at least one-third of the workforce.</a:t>
            </a:r>
            <a:endParaRPr lang="en-US" sz="15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3158609"/>
            <a:ext cx="1840111" cy="184011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2467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Enthusiasts (31%)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5675948"/>
            <a:ext cx="41821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Deploy as change champions and peer influencers. Provide access to advanced capabilities and mentorship structures.</a:t>
            </a:r>
            <a:endParaRPr lang="en-US" sz="15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3986" y="3158609"/>
            <a:ext cx="1840111" cy="184011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23986" y="52467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Moderate Users (47%)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223986" y="5675948"/>
            <a:ext cx="418230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Provide value demonstrations and social proof from peers. Structured skill development and ROI evidence move this group.</a:t>
            </a:r>
            <a:endParaRPr lang="en-US" sz="15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54302" y="3158609"/>
            <a:ext cx="1840111" cy="1840111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54302" y="524672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Skeptics (22%)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54302" y="5675948"/>
            <a:ext cx="41823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Address trust barriers and anxiety first. Generic training will not move this group — graduated exposure and evidence-based demonstrations are required.</a:t>
            </a:r>
            <a:endParaRPr lang="en-US" sz="15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53666"/>
            <a:ext cx="7541895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650"/>
              </a:lnSpc>
              <a:buNone/>
            </a:pPr>
            <a:r>
              <a:rPr lang="en-US" sz="2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 Structured Practitioner Recommendations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793790" y="1442085"/>
            <a:ext cx="334923" cy="33492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49570" y="1469946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1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1240274" y="1493163"/>
            <a:ext cx="242875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Diagnose before prescribing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240274" y="1792605"/>
            <a:ext cx="1259633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Conduct baseline AIRS assessment before designing AI adoption initiatives.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793790" y="2224207"/>
            <a:ext cx="334923" cy="33492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9570" y="2252067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1240274" y="2275284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Lead with value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1240274" y="2574727"/>
            <a:ext cx="1259633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Frame AI in terms of cost-benefit returns (PV dominance), not capability showcases.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93790" y="3006328"/>
            <a:ext cx="334923" cy="33492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9570" y="3034189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240274" y="3057406"/>
            <a:ext cx="228254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Attend to affective barriers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1240274" y="3356848"/>
            <a:ext cx="1259633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 and anxiety influence adoption beyond rational calculations.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93790" y="3788450"/>
            <a:ext cx="334923" cy="33492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9570" y="3816310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4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240274" y="3839528"/>
            <a:ext cx="2190988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Leverage social influence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240274" y="4138970"/>
            <a:ext cx="1259633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Peer champions and leadership endorsement are the third significant predictor (SI β = .136).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3790" y="4570571"/>
            <a:ext cx="334923" cy="33492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49570" y="4598432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</a:t>
            </a:r>
            <a:endParaRPr lang="en-US" sz="1750" dirty="0"/>
          </a:p>
        </p:txBody>
      </p:sp>
      <p:sp>
        <p:nvSpPr>
          <p:cNvPr id="21" name="Text 19"/>
          <p:cNvSpPr/>
          <p:nvPr/>
        </p:nvSpPr>
        <p:spPr>
          <a:xfrm>
            <a:off x="1240274" y="4621649"/>
            <a:ext cx="277368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Differentiate by experience level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1240274" y="4921091"/>
            <a:ext cx="1259633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Novice and experienced users respond to different adoption drivers.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793790" y="5352693"/>
            <a:ext cx="334923" cy="33492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9570" y="5380553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6</a:t>
            </a:r>
            <a:endParaRPr lang="en-US" sz="1750" dirty="0"/>
          </a:p>
        </p:txBody>
      </p:sp>
      <p:sp>
        <p:nvSpPr>
          <p:cNvPr id="25" name="Text 23"/>
          <p:cNvSpPr/>
          <p:nvPr/>
        </p:nvSpPr>
        <p:spPr>
          <a:xfrm>
            <a:off x="1240274" y="5403771"/>
            <a:ext cx="223885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Monitor trust continuously</a:t>
            </a:r>
            <a:endParaRPr lang="en-US" sz="1450" dirty="0"/>
          </a:p>
        </p:txBody>
      </p:sp>
      <p:sp>
        <p:nvSpPr>
          <p:cNvPr id="26" name="Text 24"/>
          <p:cNvSpPr/>
          <p:nvPr/>
        </p:nvSpPr>
        <p:spPr>
          <a:xfrm>
            <a:off x="1240274" y="5703213"/>
            <a:ext cx="1259633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functions as a diagnostic indicator and necessary condition, not just a predictor.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793790" y="6134814"/>
            <a:ext cx="334923" cy="33492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9570" y="6162675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7</a:t>
            </a:r>
            <a:endParaRPr lang="en-US" sz="1750" dirty="0"/>
          </a:p>
        </p:txBody>
      </p:sp>
      <p:sp>
        <p:nvSpPr>
          <p:cNvPr id="29" name="Text 27"/>
          <p:cNvSpPr/>
          <p:nvPr/>
        </p:nvSpPr>
        <p:spPr>
          <a:xfrm>
            <a:off x="1240274" y="6185892"/>
            <a:ext cx="196334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Design for accessibility</a:t>
            </a:r>
            <a:endParaRPr lang="en-US" sz="1450" dirty="0"/>
          </a:p>
        </p:txBody>
      </p:sp>
      <p:sp>
        <p:nvSpPr>
          <p:cNvPr id="30" name="Text 28"/>
          <p:cNvSpPr/>
          <p:nvPr/>
        </p:nvSpPr>
        <p:spPr>
          <a:xfrm>
            <a:off x="1240274" y="6485334"/>
            <a:ext cx="1259633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Universal design principles reduce anxiety-driven non-adoption among users with disabilities.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793790" y="6916936"/>
            <a:ext cx="334923" cy="334923"/>
          </a:xfrm>
          <a:prstGeom prst="roundRect">
            <a:avLst>
              <a:gd name="adj" fmla="val 18667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9570" y="6944797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75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8</a:t>
            </a:r>
            <a:endParaRPr lang="en-US" sz="1750" dirty="0"/>
          </a:p>
        </p:txBody>
      </p:sp>
      <p:sp>
        <p:nvSpPr>
          <p:cNvPr id="33" name="Text 31"/>
          <p:cNvSpPr/>
          <p:nvPr/>
        </p:nvSpPr>
        <p:spPr>
          <a:xfrm>
            <a:off x="1240274" y="6968014"/>
            <a:ext cx="2826306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Consider segment heterogeneity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1240274" y="7267456"/>
            <a:ext cx="12596336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Any single intervention strategy will fail for at least one-third of the workforce.</a:t>
            </a:r>
            <a:endParaRPr lang="en-US" sz="11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643307"/>
            <a:ext cx="1544717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2702838"/>
            <a:ext cx="130659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SPECIAL SECTION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09574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Neurodiversity &amp; Disability Insights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4633555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68 participants (13.0%) self-reported a disability — sufficient for exploratory between-group analysis. These findings are among the most practically salient results in the dissertation.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33920"/>
            <a:ext cx="6109930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Core Disability Finding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650915" y="2751653"/>
            <a:ext cx="6565106" cy="3644027"/>
          </a:xfrm>
          <a:prstGeom prst="roundRect">
            <a:avLst>
              <a:gd name="adj" fmla="val 3922"/>
            </a:avLst>
          </a:prstGeom>
          <a:solidFill>
            <a:srgbClr val="1B1B27">
              <a:alpha val="9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49273" y="295001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 Anxiety Gap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849273" y="3458528"/>
            <a:ext cx="616839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Participants with disabilities reported significantly higher AI-related anxiety: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49273" y="4272201"/>
            <a:ext cx="61683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 = 2.89 (SD = 1.08)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vs. M = 2.48 (SD = 0.96)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849273" y="4768334"/>
            <a:ext cx="6168390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t(521) = 2.76, p = .006,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Cohen's d = 0.36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849273" y="5264467"/>
            <a:ext cx="616839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Notably, this finding emerged from AI Anxiety items that were subsequently excluded from the final AIRS-16 — suggesting the true effect may be larger than observed.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64874" y="2950012"/>
            <a:ext cx="393120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Broader Pattern Across Constructs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564874" y="3458528"/>
            <a:ext cx="627935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findings reached significance: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7564874" y="3954661"/>
            <a:ext cx="6279356" cy="1022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Anxiety: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 = .36, p = .006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Hedonic Motivation: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 = .28, p = .030 — participants with disabilities report significantly less enjoyment from AI tools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564874" y="5155287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remaining six constructs show consistent directional differences (d = 0.12–0.24) all favoring the non-disabled group — a coherent disadvantage profile, not random noise.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4119"/>
            <a:ext cx="1030724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Disability: Design Problem, Not User Problem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541032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541032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762250"/>
            <a:ext cx="38847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Anxiety Reflects Lived Experience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191470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users who have repeatedly encountered inaccessible interfaces or algorithmic bias, elevated anxiety about AI is a rational response to historical exclusion — not a deficit to be corrected.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541032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2541032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2762250"/>
            <a:ext cx="4454009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HM Suppression Signals Design Failure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3191470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significant HM gap (d = .28) implies current AI tools are less enjoyable for users with disabilities — pointing to accessibility failures, not user limitations.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563666"/>
            <a:ext cx="6422231" cy="2141815"/>
          </a:xfrm>
          <a:prstGeom prst="roundRect">
            <a:avLst>
              <a:gd name="adj" fmla="val 512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563666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47848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Curb Cut Effect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3588" y="5214104"/>
            <a:ext cx="59112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Making AI tools more accessible would reduce anxiety-driven non-adoption broadly. If the disability–anxiety association reflects design-induced friction, removing that friction benefits the entire user population.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563666"/>
            <a:ext cx="6422231" cy="2141815"/>
          </a:xfrm>
          <a:prstGeom prst="roundRect">
            <a:avLst>
              <a:gd name="adj" fmla="val 5123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4563666"/>
            <a:ext cx="91440" cy="2141815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478488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AIRS-28 Priority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04177" y="5214104"/>
            <a:ext cx="5911215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Anxiety — the construct with the strongest disability signal — was excluded from the final scale. The AIRS-28 expansion should prioritize redesigning anxiety items using neurodiversity-informed language.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34741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Study Limitations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8508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Methodological</a:t>
            </a:r>
            <a:endParaRPr lang="en-US" sz="1950" dirty="0"/>
          </a:p>
        </p:txBody>
      </p:sp>
      <p:sp>
        <p:nvSpPr>
          <p:cNvPr id="4" name="Text 2"/>
          <p:cNvSpPr/>
          <p:nvPr/>
        </p:nvSpPr>
        <p:spPr>
          <a:xfrm>
            <a:off x="793790" y="3359348"/>
            <a:ext cx="6279356" cy="2748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Cross-sectional design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prevents causal inference about direction of relationships or how adoption intentions evolve over time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Self-reported intention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BI-Usage correlation (ρ = .69) confirms association, but intention does not perfectly predict behavior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Panel sampling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Centiment panel may not perfectly represent the broader U.S. population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Western sample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all U.S.-based, limiting cross-cultural generalizability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28508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Measurement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564874" y="3359348"/>
            <a:ext cx="6279356" cy="3066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Two items per factor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constrains reliability and contributes to elevated inter-factor correlations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Four dropped constructs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Voluntariness, Explainability, Ethical Risk, and AI Anxiety warrant item redesign and re-investigation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Marginal AI Trust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— did not reach conventional significance; diagnostic value supported by organizational logic rather than predictive superiority</a:t>
            </a:r>
            <a:endParaRPr lang="en-US" sz="1550" dirty="0"/>
          </a:p>
          <a:p>
            <a:pPr algn="l" marL="342900" indent="-342900">
              <a:lnSpc>
                <a:spcPts val="2500"/>
              </a:lnSpc>
              <a:buSzPct val="100000"/>
              <a:buChar char="•"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Small disability subgroup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(n = 68) — limits power for multi-category disability analysis</a:t>
            </a:r>
            <a:endParaRPr lang="en-US" sz="1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174909"/>
            <a:ext cx="1644134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3" name="Text 1"/>
          <p:cNvSpPr/>
          <p:nvPr/>
        </p:nvSpPr>
        <p:spPr>
          <a:xfrm>
            <a:off x="912852" y="1234440"/>
            <a:ext cx="1406009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FUTURE RESEARCH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627346"/>
            <a:ext cx="72420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Four-Phase Research Roadmap</a:t>
            </a:r>
            <a:endParaRPr lang="en-US" sz="39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2545080"/>
            <a:ext cx="6521410" cy="7937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92148" y="35372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1 (2026–27)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992148" y="3966448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AIRS-28 Development: Expand to 3–4 items per factor; redesign Explainability, Ethical Risk, and AI Anxiety items</a:t>
            </a:r>
            <a:endParaRPr lang="en-US" sz="15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2545080"/>
            <a:ext cx="6521410" cy="7937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7513558" y="353722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2 (2026–28)</a:t>
            </a:r>
            <a:endParaRPr lang="en-US" sz="1950" dirty="0"/>
          </a:p>
        </p:txBody>
      </p:sp>
      <p:sp>
        <p:nvSpPr>
          <p:cNvPr id="10" name="Text 6"/>
          <p:cNvSpPr/>
          <p:nvPr/>
        </p:nvSpPr>
        <p:spPr>
          <a:xfrm>
            <a:off x="7513558" y="3966448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Longitudinal Panel + Cross-Cultural Validation: 12-month panel tracking readiness evolution; validate across non-Western contexts</a:t>
            </a:r>
            <a:endParaRPr lang="en-US" sz="15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4799886"/>
            <a:ext cx="6521410" cy="7937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992148" y="57920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3 (2028–29)</a:t>
            </a:r>
            <a:endParaRPr lang="en-US" sz="1950" dirty="0"/>
          </a:p>
        </p:txBody>
      </p:sp>
      <p:sp>
        <p:nvSpPr>
          <p:cNvPr id="13" name="Text 8"/>
          <p:cNvSpPr/>
          <p:nvPr/>
        </p:nvSpPr>
        <p:spPr>
          <a:xfrm>
            <a:off x="992148" y="6221254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Intervention Framework Development: Design and test AIRS-informed interventions; compare against generic AI training approaches</a:t>
            </a:r>
            <a:endParaRPr lang="en-US" sz="15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0" y="4799886"/>
            <a:ext cx="6521410" cy="79379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7513558" y="57920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Phase 4 (2029+)</a:t>
            </a:r>
            <a:endParaRPr lang="en-US" sz="1950" dirty="0"/>
          </a:p>
        </p:txBody>
      </p:sp>
      <p:sp>
        <p:nvSpPr>
          <p:cNvPr id="16" name="Text 10"/>
          <p:cNvSpPr/>
          <p:nvPr/>
        </p:nvSpPr>
        <p:spPr>
          <a:xfrm>
            <a:off x="7513558" y="6221254"/>
            <a:ext cx="612469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Comprehensive Prediction System: Integrate AIRS with behavioral data, organizational context, and industry-specific moderators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5580"/>
            <a:ext cx="899600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Appropriate Reliance: The Next Frontier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1091446" y="3025735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goal should not be maximum adoption but appropriate adoption — knowing when to use AI and when to rely on human judgment.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802493"/>
            <a:ext cx="22860" cy="764024"/>
          </a:xfrm>
          <a:prstGeom prst="rect">
            <a:avLst/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789759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AETHER group's Calibrated AI Reliance (CAIR) and Calibrated Self-Reliance (CSR) constructs reframe the research program from "more adoption is better" to "calibrated adoption is optimal." This evolution addresses the paradox that optimizing AI adoption may inadvertently increase over-reliance.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4965621"/>
            <a:ext cx="13042821" cy="1478280"/>
          </a:xfrm>
          <a:prstGeom prst="roundRect">
            <a:avLst>
              <a:gd name="adj" fmla="val 5639"/>
            </a:avLst>
          </a:prstGeom>
          <a:solidFill>
            <a:srgbClr val="D2D2E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48" y="5260896"/>
            <a:ext cx="248007" cy="19835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38513" y="5213509"/>
            <a:ext cx="1219973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This line of inquiry is extended in </a:t>
            </a:r>
            <a:pPr algn="l" indent="0" marL="0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Life of Alex Finch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(AlexBooks, March 2026), a documentary biography of human-AI collaboration whose "Calibrated Confidence" chapter addresses over-reliance, verification, and preservation of human judgment in a public-facing narrative form.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41565"/>
            <a:ext cx="72014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2026 Contextual Developments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05847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landscape has shifted materially since data collection (October–November 2025). Three developments frame the ongoing research agenda: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99259"/>
            <a:ext cx="4215289" cy="2111335"/>
          </a:xfrm>
          <a:prstGeom prst="roundRect">
            <a:avLst>
              <a:gd name="adj" fmla="val 39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9768" y="3805238"/>
            <a:ext cx="250495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DeepSeek R1 Release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4234458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Open-source frontier AI capabilities are no longer exclusive to well-resourced organizations — fundamentally changing the Price Value calculation for all users.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599259"/>
            <a:ext cx="4215408" cy="2111335"/>
          </a:xfrm>
          <a:prstGeom prst="roundRect">
            <a:avLst>
              <a:gd name="adj" fmla="val 39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415" y="380523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Agentic AI Systems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4234458"/>
            <a:ext cx="3803452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operating with greater autonomy raises new trust and control questions beyond the original AIRS scope — expanding the required construct space.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599259"/>
            <a:ext cx="4215289" cy="2111335"/>
          </a:xfrm>
          <a:prstGeom prst="roundRect">
            <a:avLst>
              <a:gd name="adj" fmla="val 3948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827181" y="3805238"/>
            <a:ext cx="260711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EU AI Act Enforcement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4234458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Regulatory compliance emerges as a new adoption consideration absent from the current UTAUT2 framework — requiring future model expansion.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5933837"/>
            <a:ext cx="1304282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These developments do not invalidate the AIRS findings but indicate that the construct space will need to expand to remain comprehensive.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4361"/>
            <a:ext cx="595395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350"/>
              </a:lnSpc>
              <a:buNone/>
            </a:pPr>
            <a:r>
              <a:rPr lang="en-US" sz="35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AIRS-16 Final Instrument</a:t>
            </a:r>
            <a:endParaRPr lang="en-US" sz="3500" dirty="0"/>
          </a:p>
        </p:txBody>
      </p:sp>
      <p:sp>
        <p:nvSpPr>
          <p:cNvPr id="3" name="Text 1"/>
          <p:cNvSpPr/>
          <p:nvPr/>
        </p:nvSpPr>
        <p:spPr>
          <a:xfrm>
            <a:off x="793790" y="1483995"/>
            <a:ext cx="13042821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Readiness Scale consists of 16 predictor items across 8 constructs plus 4 Behavioral Intention outcome items, measured on a 5-point Likert scale (1 = Strongly Disagree to 5 = Strongly Agree).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793790" y="2207776"/>
            <a:ext cx="13042821" cy="5417344"/>
          </a:xfrm>
          <a:prstGeom prst="roundRect">
            <a:avLst>
              <a:gd name="adj" fmla="val 1385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215396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980361" y="2319457"/>
            <a:ext cx="9416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Construct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86833" y="2319457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328988" y="2319457"/>
            <a:ext cx="44553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Statement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49114" y="2319457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Item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191268" y="2319457"/>
            <a:ext cx="44591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Statement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1410" y="2694980"/>
            <a:ext cx="13027581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980361" y="2799040"/>
            <a:ext cx="9416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86833" y="2799040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PE1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328988" y="2799040"/>
            <a:ext cx="44553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tools help me accomplish tasks more quickly.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149114" y="2799040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91268" y="2799040"/>
            <a:ext cx="44591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AI improves the quality of my work or studies.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01410" y="3174563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980361" y="3278624"/>
            <a:ext cx="9416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286833" y="3278624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EE1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328988" y="3278624"/>
            <a:ext cx="44553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Learning to use AI tools is easy for me.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149114" y="3278624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EE2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191268" y="3278624"/>
            <a:ext cx="44591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Interacting with AI tools is clear and understandable.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801410" y="3654147"/>
            <a:ext cx="13027581" cy="7510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980361" y="3758208"/>
            <a:ext cx="9416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286833" y="3758208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SI1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3328988" y="3758208"/>
            <a:ext cx="445531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People whose opinions I value encourage me to use AI tools.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49114" y="3758208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SI2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9191268" y="3758208"/>
            <a:ext cx="44591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Leaders in my organization or school support the use of AI tools.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01410" y="4405193"/>
            <a:ext cx="13027581" cy="7510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80361" y="4509254"/>
            <a:ext cx="9416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FC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286833" y="4509254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FC1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3328988" y="4509254"/>
            <a:ext cx="445531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have access to training or tutorials for the AI tools I use.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149114" y="4509254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FC2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191268" y="4509254"/>
            <a:ext cx="44591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 tools I use are compatible with other tools or systems I use.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801410" y="5156240"/>
            <a:ext cx="13027581" cy="47958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980361" y="5260300"/>
            <a:ext cx="9416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286833" y="5260300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HM1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3328988" y="5260300"/>
            <a:ext cx="44553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AI tools is stimulating and engaging.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8149114" y="5260300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HM2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191268" y="5260300"/>
            <a:ext cx="44591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 tools make my work or studies more interesting.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801410" y="5635823"/>
            <a:ext cx="13027581" cy="75104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42" name="Text 40"/>
          <p:cNvSpPr/>
          <p:nvPr/>
        </p:nvSpPr>
        <p:spPr>
          <a:xfrm>
            <a:off x="980361" y="5739884"/>
            <a:ext cx="9416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2286833" y="5739884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PV1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3328988" y="5739884"/>
            <a:ext cx="445531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get more value from AI tools than the effort they require.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8149114" y="5739884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PV2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9191268" y="5739884"/>
            <a:ext cx="44591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AI tools is worth the learning curve.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801410" y="6386870"/>
            <a:ext cx="13027581" cy="75104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980361" y="6490930"/>
            <a:ext cx="9416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HB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2286833" y="6490930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HB1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3328988" y="6490930"/>
            <a:ext cx="44553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Using AI tools has become a habit for me.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8149114" y="6490930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HB2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9191268" y="6490930"/>
            <a:ext cx="44591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tend to rely on AI tools by default when I need help with tasks.</a:t>
            </a:r>
            <a:endParaRPr lang="en-US" sz="1400" dirty="0"/>
          </a:p>
        </p:txBody>
      </p:sp>
      <p:sp>
        <p:nvSpPr>
          <p:cNvPr id="53" name="Shape 51"/>
          <p:cNvSpPr/>
          <p:nvPr/>
        </p:nvSpPr>
        <p:spPr>
          <a:xfrm>
            <a:off x="801410" y="7137916"/>
            <a:ext cx="13027581" cy="47958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4" name="Text 52"/>
          <p:cNvSpPr/>
          <p:nvPr/>
        </p:nvSpPr>
        <p:spPr>
          <a:xfrm>
            <a:off x="980361" y="7241977"/>
            <a:ext cx="941665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2286833" y="7241977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TR1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3328988" y="7241977"/>
            <a:ext cx="445531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trust AI tools to provide reliable information.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8149114" y="7241977"/>
            <a:ext cx="677347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TR2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9191268" y="7241977"/>
            <a:ext cx="44591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 trust the AI tools that are available to me.</a:t>
            </a:r>
            <a:endParaRPr lang="en-US" sz="14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8778"/>
            <a:ext cx="6626543" cy="5891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00"/>
              </a:lnSpc>
              <a:buNone/>
            </a:pPr>
            <a:r>
              <a:rPr lang="en-US" sz="37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AIRS Scoring &amp; Diagnostic Use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1646039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Compute the mean of each construct's items. The 8 predictor scores serve as inputs to the structural model; BI is the outcome.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3790" y="2141696"/>
            <a:ext cx="6431875" cy="1969294"/>
          </a:xfrm>
          <a:prstGeom prst="roundRect">
            <a:avLst>
              <a:gd name="adj" fmla="val 402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6650" y="2164556"/>
            <a:ext cx="6386155" cy="565547"/>
          </a:xfrm>
          <a:prstGeom prst="roundRect">
            <a:avLst>
              <a:gd name="adj" fmla="val 9152"/>
            </a:avLst>
          </a:prstGeom>
          <a:solidFill>
            <a:srgbClr val="E1E1EA"/>
          </a:solidFill>
          <a:ln/>
        </p:spPr>
      </p:sp>
      <p:sp>
        <p:nvSpPr>
          <p:cNvPr id="6" name="Text 4"/>
          <p:cNvSpPr/>
          <p:nvPr/>
        </p:nvSpPr>
        <p:spPr>
          <a:xfrm>
            <a:off x="1005126" y="290917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PV Score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1005126" y="3311247"/>
            <a:ext cx="6009203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Value communication gap — organization is not demonstrating tangible ROI from AI investments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7404735" y="2141696"/>
            <a:ext cx="6431875" cy="1969294"/>
          </a:xfrm>
          <a:prstGeom prst="roundRect">
            <a:avLst>
              <a:gd name="adj" fmla="val 402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27595" y="2164556"/>
            <a:ext cx="6386155" cy="565547"/>
          </a:xfrm>
          <a:prstGeom prst="roundRect">
            <a:avLst>
              <a:gd name="adj" fmla="val 9152"/>
            </a:avLst>
          </a:prstGeom>
          <a:solidFill>
            <a:srgbClr val="E1E1EA"/>
          </a:solidFill>
          <a:ln/>
        </p:spPr>
      </p:sp>
      <p:sp>
        <p:nvSpPr>
          <p:cNvPr id="10" name="Text 8"/>
          <p:cNvSpPr/>
          <p:nvPr/>
        </p:nvSpPr>
        <p:spPr>
          <a:xfrm>
            <a:off x="7616071" y="290917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TR Score</a:t>
            </a:r>
            <a:endParaRPr lang="en-US" sz="1850" dirty="0"/>
          </a:p>
        </p:txBody>
      </p:sp>
      <p:sp>
        <p:nvSpPr>
          <p:cNvPr id="11" name="Text 9"/>
          <p:cNvSpPr/>
          <p:nvPr/>
        </p:nvSpPr>
        <p:spPr>
          <a:xfrm>
            <a:off x="7616071" y="3311247"/>
            <a:ext cx="6009203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 deficit — requires explainability tools, human-in-the-loop safeguards, and transparent error reporting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793790" y="4290060"/>
            <a:ext cx="6431875" cy="1969294"/>
          </a:xfrm>
          <a:prstGeom prst="roundRect">
            <a:avLst>
              <a:gd name="adj" fmla="val 402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6650" y="4312920"/>
            <a:ext cx="6386155" cy="565547"/>
          </a:xfrm>
          <a:prstGeom prst="roundRect">
            <a:avLst>
              <a:gd name="adj" fmla="val 9152"/>
            </a:avLst>
          </a:prstGeom>
          <a:solidFill>
            <a:srgbClr val="E1E1EA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126" y="5057537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SI Score</a:t>
            </a:r>
            <a:endParaRPr lang="en-US" sz="1850" dirty="0"/>
          </a:p>
        </p:txBody>
      </p:sp>
      <p:sp>
        <p:nvSpPr>
          <p:cNvPr id="15" name="Text 13"/>
          <p:cNvSpPr/>
          <p:nvPr/>
        </p:nvSpPr>
        <p:spPr>
          <a:xfrm>
            <a:off x="1005126" y="5459611"/>
            <a:ext cx="6009203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Insufficient peer/leadership advocacy — requires champion programs and endorsement campaigns</a:t>
            </a:r>
            <a:endParaRPr lang="en-US" sz="1450" dirty="0"/>
          </a:p>
        </p:txBody>
      </p:sp>
      <p:sp>
        <p:nvSpPr>
          <p:cNvPr id="16" name="Shape 14"/>
          <p:cNvSpPr/>
          <p:nvPr/>
        </p:nvSpPr>
        <p:spPr>
          <a:xfrm>
            <a:off x="7404735" y="4290060"/>
            <a:ext cx="6431875" cy="1969294"/>
          </a:xfrm>
          <a:prstGeom prst="roundRect">
            <a:avLst>
              <a:gd name="adj" fmla="val 4021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27595" y="4312920"/>
            <a:ext cx="6386155" cy="565547"/>
          </a:xfrm>
          <a:prstGeom prst="roundRect">
            <a:avLst>
              <a:gd name="adj" fmla="val 9152"/>
            </a:avLst>
          </a:prstGeom>
          <a:solidFill>
            <a:srgbClr val="E1E1EA"/>
          </a:solidFill>
          <a:ln/>
        </p:spPr>
      </p:sp>
      <p:sp>
        <p:nvSpPr>
          <p:cNvPr id="18" name="Text 16"/>
          <p:cNvSpPr/>
          <p:nvPr/>
        </p:nvSpPr>
        <p:spPr>
          <a:xfrm>
            <a:off x="7616071" y="5057537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8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Low HM Score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7616071" y="5459611"/>
            <a:ext cx="6009203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Engagement deficit — requires gamification, AI sandboxes, and social learning communities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793790" y="6460807"/>
            <a:ext cx="13042821" cy="1069896"/>
          </a:xfrm>
          <a:prstGeom prst="roundRect">
            <a:avLst>
              <a:gd name="adj" fmla="val 7402"/>
            </a:avLst>
          </a:prstGeom>
          <a:solidFill>
            <a:srgbClr val="D2D2E0"/>
          </a:solidFill>
          <a:ln/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266" y="6737033"/>
            <a:ext cx="235625" cy="188476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406366" y="6686907"/>
            <a:ext cx="12241768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For organizational diagnostic use, individual construct scores identify specific adoption barriers and map directly to evidence-based intervention strategies.</a:t>
            </a:r>
            <a:endParaRPr lang="en-US" sz="14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93790" y="2643307"/>
            <a:ext cx="1131808" cy="373142"/>
          </a:xfrm>
          <a:prstGeom prst="roundRect">
            <a:avLst>
              <a:gd name="adj" fmla="val 17872"/>
            </a:avLst>
          </a:prstGeom>
          <a:solidFill>
            <a:srgbClr val="E1E1EA"/>
          </a:solidFill>
          <a:ln/>
        </p:spPr>
      </p:sp>
      <p:sp>
        <p:nvSpPr>
          <p:cNvPr id="4" name="Text 1"/>
          <p:cNvSpPr/>
          <p:nvPr/>
        </p:nvSpPr>
        <p:spPr>
          <a:xfrm>
            <a:off x="912852" y="2702838"/>
            <a:ext cx="893683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APPENDIX B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793790" y="3095744"/>
            <a:ext cx="75564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AIRS Enterprise: Research to Practice</a:t>
            </a:r>
            <a:endParaRPr lang="en-US" sz="3900" dirty="0"/>
          </a:p>
        </p:txBody>
      </p:sp>
      <p:sp>
        <p:nvSpPr>
          <p:cNvPr id="6" name="Text 3"/>
          <p:cNvSpPr/>
          <p:nvPr/>
        </p:nvSpPr>
        <p:spPr>
          <a:xfrm>
            <a:off x="793790" y="4633555"/>
            <a:ext cx="75564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AIRS Enterprise platform (airs.correax.com) translates the validated AIRS-16 into a production SaaS platform — delivering practical assessment tools, enabling longitudinal data collection at scale, and narrowing the research-practice gap.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54229"/>
            <a:ext cx="595514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Platform Core Capabilities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3790" y="2471142"/>
            <a:ext cx="496133" cy="49613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37930" y="24711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5-Minute Assessment</a:t>
            </a:r>
            <a:endParaRPr lang="en-US" sz="1950" dirty="0"/>
          </a:p>
        </p:txBody>
      </p:sp>
      <p:sp>
        <p:nvSpPr>
          <p:cNvPr id="5" name="Text 2"/>
          <p:cNvSpPr/>
          <p:nvPr/>
        </p:nvSpPr>
        <p:spPr>
          <a:xfrm>
            <a:off x="1537930" y="2900363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Interactive AIRS-16 with progress tracking, save/resume, and smart follow-up questions</a:t>
            </a:r>
            <a:endParaRPr lang="en-US" sz="15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439144" y="2471142"/>
            <a:ext cx="496133" cy="49613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183285" y="247114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AIRS Score</a:t>
            </a:r>
            <a:endParaRPr lang="en-US" sz="1950" dirty="0"/>
          </a:p>
        </p:txBody>
      </p:sp>
      <p:sp>
        <p:nvSpPr>
          <p:cNvPr id="8" name="Text 4"/>
          <p:cNvSpPr/>
          <p:nvPr/>
        </p:nvSpPr>
        <p:spPr>
          <a:xfrm>
            <a:off x="8183285" y="2900363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Composite readiness score (8–40) with demonstrated validity (r = .876) and animated gauge visualization</a:t>
            </a:r>
            <a:endParaRPr lang="en-US" sz="15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3790" y="3932277"/>
            <a:ext cx="496133" cy="49613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37930" y="3932277"/>
            <a:ext cx="26274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Typology Classification</a:t>
            </a:r>
            <a:endParaRPr lang="en-US" sz="1950" dirty="0"/>
          </a:p>
        </p:txBody>
      </p:sp>
      <p:sp>
        <p:nvSpPr>
          <p:cNvPr id="11" name="Text 6"/>
          <p:cNvSpPr/>
          <p:nvPr/>
        </p:nvSpPr>
        <p:spPr>
          <a:xfrm>
            <a:off x="1537930" y="4361498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Three-segment classification at 94.5% accuracy matching the empirically derived clusters</a:t>
            </a:r>
            <a:endParaRPr lang="en-US" sz="15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439144" y="3932277"/>
            <a:ext cx="496133" cy="49613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8183285" y="3932277"/>
            <a:ext cx="266783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AI-Personalized Guides</a:t>
            </a:r>
            <a:endParaRPr lang="en-US" sz="1950" dirty="0"/>
          </a:p>
        </p:txBody>
      </p:sp>
      <p:sp>
        <p:nvSpPr>
          <p:cNvPr id="14" name="Text 8"/>
          <p:cNvSpPr/>
          <p:nvPr/>
        </p:nvSpPr>
        <p:spPr>
          <a:xfrm>
            <a:off x="8183285" y="4361498"/>
            <a:ext cx="565332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Streaming LLM-generated action plans (3–5 pages) tailored to individual profile and career context via Azure OpenAI GPT-4o-mini</a:t>
            </a:r>
            <a:endParaRPr lang="en-US" sz="15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3790" y="5710952"/>
            <a:ext cx="496133" cy="496133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537930" y="571095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Results Visualization</a:t>
            </a:r>
            <a:endParaRPr lang="en-US" sz="1950" dirty="0"/>
          </a:p>
        </p:txBody>
      </p:sp>
      <p:sp>
        <p:nvSpPr>
          <p:cNvPr id="17" name="Text 10"/>
          <p:cNvSpPr/>
          <p:nvPr/>
        </p:nvSpPr>
        <p:spPr>
          <a:xfrm>
            <a:off x="1537930" y="6140172"/>
            <a:ext cx="565320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8-axis construct radar chart and typology badge with actionable context in 29 languages</a:t>
            </a:r>
            <a:endParaRPr lang="en-US" sz="15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39144" y="5710952"/>
            <a:ext cx="496133" cy="496133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8183285" y="5710952"/>
            <a:ext cx="303466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Organization Management</a:t>
            </a:r>
            <a:endParaRPr lang="en-US" sz="1950" dirty="0"/>
          </a:p>
        </p:txBody>
      </p:sp>
      <p:sp>
        <p:nvSpPr>
          <p:cNvPr id="20" name="Text 12"/>
          <p:cNvSpPr/>
          <p:nvPr/>
        </p:nvSpPr>
        <p:spPr>
          <a:xfrm>
            <a:off x="8183285" y="6140172"/>
            <a:ext cx="565332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Team analytics, department/role segmentation, CSV exports, impact reporting, and longitudinal tracking</a:t>
            </a:r>
            <a:endParaRPr lang="en-US" sz="15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14776"/>
            <a:ext cx="7146369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Three Intervention Frameworks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3031688"/>
            <a:ext cx="4215289" cy="3183017"/>
          </a:xfrm>
          <a:prstGeom prst="roundRect">
            <a:avLst>
              <a:gd name="adj" fmla="val 261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99768" y="32376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🔄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TRANSFORM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999768" y="3666887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Skeptics (AIRS ≤ 20)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999768" y="4103489"/>
            <a:ext cx="380333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Trust-building through graduated autonomy — starting with low-risk AI tasks, demonstrating reliability through small wins, progressively expanding scope. Emphasizes explainability and human-in-the-loop safeguards.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031688"/>
            <a:ext cx="4215408" cy="3183017"/>
          </a:xfrm>
          <a:prstGeom prst="roundRect">
            <a:avLst>
              <a:gd name="adj" fmla="val 261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13415" y="32376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🔧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REDESIGN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3666887"/>
            <a:ext cx="3803452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Moderate Users (AIRS 21–30)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413415" y="4103489"/>
            <a:ext cx="3803452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Workflow integration and ROI demonstration — identifying specific processes where AI adds measurable value, providing social proof through peer success stories, building competence through structured skill development.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9621203" y="3031688"/>
            <a:ext cx="4215289" cy="3183017"/>
          </a:xfrm>
          <a:prstGeom prst="roundRect">
            <a:avLst>
              <a:gd name="adj" fmla="val 2619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827181" y="323766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000000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⚡</a:t>
            </a:r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 AMPLIFY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827181" y="3666887"/>
            <a:ext cx="3803333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Enthusiasts (AIRS &gt; 30)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827181" y="4103489"/>
            <a:ext cx="3803333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Champion network activation — leveraging high-readiness individuals as change agents, providing access to advanced AI capabilities, creating mentorship structures that accelerate adoption across the organization.</a:t>
            </a:r>
            <a:endParaRPr lang="en-US" sz="1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04480"/>
            <a:ext cx="795206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Organizational Engagement Model</a:t>
            </a:r>
            <a:endParaRPr lang="en-US" sz="39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790" y="1621393"/>
            <a:ext cx="13042821" cy="514540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2822767" y="3403395"/>
            <a:ext cx="2594624" cy="706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Baseline Assessment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2822767" y="4209827"/>
            <a:ext cx="2594624" cy="56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Weeks 1-2: AIRS-16 &amp; typology mapping</a:t>
            </a: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6048495" y="3966250"/>
            <a:ext cx="2594624" cy="35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Intervention Design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048495" y="4419672"/>
            <a:ext cx="2594624" cy="5648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Weeks 3-6: segment protocols &amp; 90-day plan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9311877" y="3403395"/>
            <a:ext cx="2594625" cy="353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Implementation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9311877" y="3856817"/>
            <a:ext cx="2594625" cy="847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200"/>
              </a:lnSpc>
              <a:buNone/>
            </a:pPr>
            <a:r>
              <a:rPr lang="en-US" sz="17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Ongoing: adoption metrics, reassessment, barriers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99004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organizational deployment generates structured data (8 construct scores, composite AIRS score, typology classification, demographic context) that feeds directly into the normative benchmarking database.</a:t>
            </a:r>
            <a:endParaRPr lang="en-US" sz="15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7472"/>
            <a:ext cx="731305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Longitudinal Validation Program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303770" y="1744385"/>
            <a:ext cx="22860" cy="4899422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</p:sp>
      <p:sp>
        <p:nvSpPr>
          <p:cNvPr id="4" name="Shape 2"/>
          <p:cNvSpPr/>
          <p:nvPr/>
        </p:nvSpPr>
        <p:spPr>
          <a:xfrm>
            <a:off x="6941225" y="1956197"/>
            <a:ext cx="396835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</p:sp>
      <p:sp>
        <p:nvSpPr>
          <p:cNvPr id="5" name="Shape 3"/>
          <p:cNvSpPr/>
          <p:nvPr/>
        </p:nvSpPr>
        <p:spPr>
          <a:xfrm>
            <a:off x="7240786" y="1893213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1B1B27"/>
          </a:solidFill>
          <a:ln/>
        </p:spPr>
      </p:sp>
      <p:sp>
        <p:nvSpPr>
          <p:cNvPr id="6" name="Text 4"/>
          <p:cNvSpPr/>
          <p:nvPr/>
        </p:nvSpPr>
        <p:spPr>
          <a:xfrm>
            <a:off x="4040505" y="181260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T1 — Baseline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2241828"/>
            <a:ext cx="57276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Initial AIRS-16 administration; establish individual and organizational readiness profiles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292340" y="3146822"/>
            <a:ext cx="396835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</p:sp>
      <p:sp>
        <p:nvSpPr>
          <p:cNvPr id="9" name="Shape 7"/>
          <p:cNvSpPr/>
          <p:nvPr/>
        </p:nvSpPr>
        <p:spPr>
          <a:xfrm>
            <a:off x="7240786" y="3083838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1B1B27"/>
          </a:solidFill>
          <a:ln/>
        </p:spPr>
      </p:sp>
      <p:sp>
        <p:nvSpPr>
          <p:cNvPr id="10" name="Text 8"/>
          <p:cNvSpPr/>
          <p:nvPr/>
        </p:nvSpPr>
        <p:spPr>
          <a:xfrm>
            <a:off x="8108990" y="300323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T2 — 3 Months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8108990" y="3432453"/>
            <a:ext cx="57276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Score stability assessment; early intervention responsiveness measurement</a:t>
            </a:r>
            <a:endParaRPr lang="en-US" sz="1550" dirty="0"/>
          </a:p>
        </p:txBody>
      </p:sp>
      <p:sp>
        <p:nvSpPr>
          <p:cNvPr id="12" name="Shape 10"/>
          <p:cNvSpPr/>
          <p:nvPr/>
        </p:nvSpPr>
        <p:spPr>
          <a:xfrm>
            <a:off x="6941225" y="4173141"/>
            <a:ext cx="396835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</p:sp>
      <p:sp>
        <p:nvSpPr>
          <p:cNvPr id="13" name="Shape 11"/>
          <p:cNvSpPr/>
          <p:nvPr/>
        </p:nvSpPr>
        <p:spPr>
          <a:xfrm>
            <a:off x="7240786" y="4110157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1B1B27"/>
          </a:solidFill>
          <a:ln/>
        </p:spPr>
      </p:sp>
      <p:sp>
        <p:nvSpPr>
          <p:cNvPr id="14" name="Text 12"/>
          <p:cNvSpPr/>
          <p:nvPr/>
        </p:nvSpPr>
        <p:spPr>
          <a:xfrm>
            <a:off x="4040505" y="40295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T3 — 6 Months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93790" y="4458772"/>
            <a:ext cx="57276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Mid-point predictive validity check; typology migration tracking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292340" y="5199578"/>
            <a:ext cx="396835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</p:sp>
      <p:sp>
        <p:nvSpPr>
          <p:cNvPr id="17" name="Shape 15"/>
          <p:cNvSpPr/>
          <p:nvPr/>
        </p:nvSpPr>
        <p:spPr>
          <a:xfrm>
            <a:off x="7240786" y="5136594"/>
            <a:ext cx="148828" cy="148828"/>
          </a:xfrm>
          <a:prstGeom prst="roundRect">
            <a:avLst>
              <a:gd name="adj" fmla="val 307200"/>
            </a:avLst>
          </a:prstGeom>
          <a:solidFill>
            <a:srgbClr val="1B1B27"/>
          </a:solidFill>
          <a:ln/>
        </p:spPr>
      </p:sp>
      <p:sp>
        <p:nvSpPr>
          <p:cNvPr id="18" name="Text 16"/>
          <p:cNvSpPr/>
          <p:nvPr/>
        </p:nvSpPr>
        <p:spPr>
          <a:xfrm>
            <a:off x="8108990" y="505598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T4 — 12 Months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8108990" y="5485209"/>
            <a:ext cx="57276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Full longitudinal validation; normative benchmarking across 8+ target groups (N = 300–500+ each)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93790" y="686704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Target groups for normative benchmarking (2026–2028): students, early/mid/senior career professionals, technology sector, healthcare, finance, and international samples.</a:t>
            </a:r>
            <a:endParaRPr lang="en-US" sz="15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142762"/>
            <a:ext cx="686109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The Research-Practice Bridge</a:t>
            </a:r>
            <a:endParaRPr lang="en-US" sz="3900" dirty="0"/>
          </a:p>
        </p:txBody>
      </p:sp>
      <p:sp>
        <p:nvSpPr>
          <p:cNvPr id="4" name="Text 1"/>
          <p:cNvSpPr/>
          <p:nvPr/>
        </p:nvSpPr>
        <p:spPr>
          <a:xfrm>
            <a:off x="793790" y="2060496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AIRS Enterprise represents a deliberate attempt to close the implementation gap that characterizes many academic psychometric instruments. Instead of the familiar pattern — instrument developed, published, then rarely operationalized — AIRS pairs the validated instrument with a platform that evolves alongside it.</a:t>
            </a:r>
            <a:endParaRPr lang="en-US" sz="1550" dirty="0"/>
          </a:p>
        </p:txBody>
      </p:sp>
      <p:sp>
        <p:nvSpPr>
          <p:cNvPr id="5" name="Shape 2"/>
          <p:cNvSpPr/>
          <p:nvPr/>
        </p:nvSpPr>
        <p:spPr>
          <a:xfrm>
            <a:off x="793790" y="3553897"/>
            <a:ext cx="7556421" cy="3532823"/>
          </a:xfrm>
          <a:prstGeom prst="roundRect">
            <a:avLst>
              <a:gd name="adj" fmla="val 2360"/>
            </a:avLst>
          </a:prstGeom>
          <a:solidFill>
            <a:srgbClr val="E1E1EA"/>
          </a:solidFill>
          <a:ln w="7620">
            <a:solidFill>
              <a:srgbClr val="C7C7D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801410" y="3561517"/>
            <a:ext cx="7541181" cy="1758791"/>
          </a:xfrm>
          <a:prstGeom prst="roundRect">
            <a:avLst>
              <a:gd name="adj" fmla="val 4740"/>
            </a:avLst>
          </a:prstGeom>
          <a:solidFill>
            <a:srgbClr val="E1E1EA"/>
          </a:solidFill>
          <a:ln/>
        </p:spPr>
      </p:sp>
      <p:sp>
        <p:nvSpPr>
          <p:cNvPr id="7" name="Text 4"/>
          <p:cNvSpPr/>
          <p:nvPr/>
        </p:nvSpPr>
        <p:spPr>
          <a:xfrm>
            <a:off x="999768" y="375987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Research → Practice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999768" y="4189095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research finding improves the intervention recommendations delivered to practitioners through the platform.</a:t>
            </a:r>
            <a:endParaRPr lang="en-US" sz="1550" dirty="0"/>
          </a:p>
        </p:txBody>
      </p:sp>
      <p:sp>
        <p:nvSpPr>
          <p:cNvPr id="9" name="Shape 6"/>
          <p:cNvSpPr/>
          <p:nvPr/>
        </p:nvSpPr>
        <p:spPr>
          <a:xfrm>
            <a:off x="801410" y="5320308"/>
            <a:ext cx="7541181" cy="1758791"/>
          </a:xfrm>
          <a:prstGeom prst="rect">
            <a:avLst/>
          </a:prstGeom>
          <a:solidFill>
            <a:srgbClr val="E1E1EA"/>
          </a:solidFill>
          <a:ln/>
        </p:spPr>
      </p:sp>
      <p:sp>
        <p:nvSpPr>
          <p:cNvPr id="10" name="Shape 7"/>
          <p:cNvSpPr/>
          <p:nvPr/>
        </p:nvSpPr>
        <p:spPr>
          <a:xfrm>
            <a:off x="801410" y="5320308"/>
            <a:ext cx="7541181" cy="22860"/>
          </a:xfrm>
          <a:prstGeom prst="roundRect">
            <a:avLst>
              <a:gd name="adj" fmla="val 364651"/>
            </a:avLst>
          </a:prstGeom>
          <a:solidFill>
            <a:srgbClr val="C7C7D0"/>
          </a:solidFill>
          <a:ln/>
        </p:spPr>
      </p:sp>
      <p:sp>
        <p:nvSpPr>
          <p:cNvPr id="11" name="Shape 8"/>
          <p:cNvSpPr/>
          <p:nvPr/>
        </p:nvSpPr>
        <p:spPr>
          <a:xfrm>
            <a:off x="4323874" y="5083671"/>
            <a:ext cx="496133" cy="496133"/>
          </a:xfrm>
          <a:prstGeom prst="roundRect">
            <a:avLst>
              <a:gd name="adj" fmla="val 16802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47937" y="5207615"/>
            <a:ext cx="248007" cy="24800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99768" y="581644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Practice → Research</a:t>
            </a:r>
            <a:endParaRPr lang="en-US" sz="1950" dirty="0"/>
          </a:p>
        </p:txBody>
      </p:sp>
      <p:sp>
        <p:nvSpPr>
          <p:cNvPr id="14" name="Text 10"/>
          <p:cNvSpPr/>
          <p:nvPr/>
        </p:nvSpPr>
        <p:spPr>
          <a:xfrm>
            <a:off x="999768" y="6245662"/>
            <a:ext cx="71444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Every organizational deployment generates data that strengthens the normative database and enables future validation studies.</a:t>
            </a:r>
            <a:endParaRPr lang="en-US" sz="15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77077"/>
            <a:ext cx="6220063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50"/>
              </a:lnSpc>
              <a:buNone/>
            </a:pPr>
            <a:r>
              <a:rPr lang="en-US" sz="39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Conclusion: Key Takeaways</a:t>
            </a:r>
            <a:endParaRPr lang="en-US" sz="3900" dirty="0"/>
          </a:p>
        </p:txBody>
      </p:sp>
      <p:sp>
        <p:nvSpPr>
          <p:cNvPr id="3" name="Shape 1"/>
          <p:cNvSpPr/>
          <p:nvPr/>
        </p:nvSpPr>
        <p:spPr>
          <a:xfrm>
            <a:off x="793790" y="2393990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0930" y="2393990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5" name="Text 3"/>
          <p:cNvSpPr/>
          <p:nvPr/>
        </p:nvSpPr>
        <p:spPr>
          <a:xfrm>
            <a:off x="1083588" y="2615208"/>
            <a:ext cx="393239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Strong Psychometric Performance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083588" y="3044428"/>
            <a:ext cx="591121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AIRS demonstrated CFI = .975, all α &gt; .74, all CR &gt; .75, explaining </a:t>
            </a:r>
            <a:pPr algn="l" indent="0" marL="0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89.7% of variance</a:t>
            </a:r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in behavioral intention to adopt AI tools.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4379" y="2393990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391519" y="2393990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9" name="Text 7"/>
          <p:cNvSpPr/>
          <p:nvPr/>
        </p:nvSpPr>
        <p:spPr>
          <a:xfrm>
            <a:off x="7704177" y="2615208"/>
            <a:ext cx="364009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Price Value Is the Primary Driver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7704177" y="3044428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β = .505 — the strongest predictor, displacing Performance Expectancy. Organizations must emphasize value demonstration and cost-benefit analysis over capability showcases.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416623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0930" y="4416623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3" name="Text 11"/>
          <p:cNvSpPr/>
          <p:nvPr/>
        </p:nvSpPr>
        <p:spPr>
          <a:xfrm>
            <a:off x="1083588" y="4637842"/>
            <a:ext cx="318051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Workforce Is Not Monolithic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83588" y="5067062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The three-segment typology (Enthusiasts 31%, Moderate Users 47%, Skeptics 22%) demands targeted intervention — any single strategy will fail for at least one-third of employees.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14379" y="4416623"/>
            <a:ext cx="6422231" cy="1824276"/>
          </a:xfrm>
          <a:prstGeom prst="roundRect">
            <a:avLst>
              <a:gd name="adj" fmla="val 6015"/>
            </a:avLst>
          </a:prstGeom>
          <a:solidFill>
            <a:srgbClr val="FFFFFF">
              <a:alpha val="95000"/>
            </a:srgbClr>
          </a:solidFill>
          <a:ln w="22860">
            <a:solidFill>
              <a:srgbClr val="C7C7D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391519" y="4416623"/>
            <a:ext cx="91440" cy="1824276"/>
          </a:xfrm>
          <a:prstGeom prst="roundRect">
            <a:avLst>
              <a:gd name="adj" fmla="val 91163"/>
            </a:avLst>
          </a:prstGeom>
          <a:solidFill>
            <a:srgbClr val="1B1B27"/>
          </a:solidFill>
          <a:ln/>
        </p:spPr>
      </p:sp>
      <p:sp>
        <p:nvSpPr>
          <p:cNvPr id="17" name="Text 15"/>
          <p:cNvSpPr/>
          <p:nvPr/>
        </p:nvSpPr>
        <p:spPr>
          <a:xfrm>
            <a:off x="7704177" y="4637842"/>
            <a:ext cx="30143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95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 Practical Diagnostic Tool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7704177" y="5067062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AIRS translates AI readiness from a general concern into measurable conditions that can be monitored and addressed through targeted, evidence-based intervention.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793790" y="6464141"/>
            <a:ext cx="6704052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1B1B2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20472" y="6531293"/>
            <a:ext cx="6450687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DBA · N = 523 · PYTHON + R/LAVAAN 0.6.21 · AIRS-16 (8 FACTORS × 2 ITEMS + 4 BI ITEMS)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2026-03-12T18:47:35Z</dcterms:created>
  <dcterms:modified xsi:type="dcterms:W3CDTF">2026-03-12T18:47:35Z</dcterms:modified>
</cp:coreProperties>
</file>