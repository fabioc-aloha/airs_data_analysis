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4630400" cy="8229600"/>
  <p:notesSz cx="8229600" cy="14630400"/>
  <p:embeddedFontLst>
    <p:embeddedFont>
      <p:font typeface="Raleway"/>
      <p:regular r:id="rId52"/>
    </p:embeddedFont>
    <p:embeddedFont>
      <p:font typeface="Raleway"/>
      <p:regular r:id="rId53"/>
    </p:embeddedFont>
    <p:embeddedFont>
      <p:font typeface="Raleway"/>
      <p:regular r:id="rId54"/>
    </p:embeddedFont>
    <p:embeddedFont>
      <p:font typeface="Raleway"/>
      <p:regular r:id="rId55"/>
    </p:embeddedFont>
    <p:embeddedFont>
      <p:font typeface="Roboto"/>
      <p:regular r:id="rId56"/>
    </p:embeddedFont>
    <p:embeddedFont>
      <p:font typeface="Roboto"/>
      <p:regular r:id="rId57"/>
    </p:embeddedFont>
    <p:embeddedFont>
      <p:font typeface="Roboto"/>
      <p:regular r:id="rId58"/>
    </p:embeddedFont>
    <p:embeddedFont>
      <p:font typeface="Roboto"/>
      <p:regular r:id="rId59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font" Target="fonts/font1.fntdata"/><Relationship Id="rId53" Type="http://schemas.openxmlformats.org/officeDocument/2006/relationships/font" Target="fonts/font2.fntdata"/><Relationship Id="rId54" Type="http://schemas.openxmlformats.org/officeDocument/2006/relationships/font" Target="fonts/font3.fntdata"/><Relationship Id="rId55" Type="http://schemas.openxmlformats.org/officeDocument/2006/relationships/font" Target="fonts/font4.fntdata"/><Relationship Id="rId56" Type="http://schemas.openxmlformats.org/officeDocument/2006/relationships/font" Target="fonts/font5.fntdata"/><Relationship Id="rId57" Type="http://schemas.openxmlformats.org/officeDocument/2006/relationships/font" Target="fonts/font6.fntdata"/><Relationship Id="rId58" Type="http://schemas.openxmlformats.org/officeDocument/2006/relationships/font" Target="fonts/font7.fntdata"/><Relationship Id="rId59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0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slideLayout" Target="../slideLayouts/slideLayout2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29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3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7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slideLayout" Target="../slideLayouts/slideLayout38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image" Target="../media/image-38-3.png"/><Relationship Id="rId4" Type="http://schemas.openxmlformats.org/officeDocument/2006/relationships/image" Target="../media/image-38-4.svg"/><Relationship Id="rId5" Type="http://schemas.openxmlformats.org/officeDocument/2006/relationships/image" Target="../media/image-38-5.png"/><Relationship Id="rId6" Type="http://schemas.openxmlformats.org/officeDocument/2006/relationships/image" Target="../media/image-38-6.svg"/><Relationship Id="rId7" Type="http://schemas.openxmlformats.org/officeDocument/2006/relationships/image" Target="../media/image-38-7.png"/><Relationship Id="rId8" Type="http://schemas.openxmlformats.org/officeDocument/2006/relationships/image" Target="../media/image-38-8.svg"/><Relationship Id="rId9" Type="http://schemas.openxmlformats.org/officeDocument/2006/relationships/image" Target="../media/image-38-9.png"/><Relationship Id="rId10" Type="http://schemas.openxmlformats.org/officeDocument/2006/relationships/image" Target="../media/image-38-10.svg"/><Relationship Id="rId11" Type="http://schemas.openxmlformats.org/officeDocument/2006/relationships/image" Target="../media/image-38-11.png"/><Relationship Id="rId12" Type="http://schemas.openxmlformats.org/officeDocument/2006/relationships/image" Target="../media/image-38-12.svg"/><Relationship Id="rId13" Type="http://schemas.openxmlformats.org/officeDocument/2006/relationships/image" Target="../media/image-38-13.png"/><Relationship Id="rId14" Type="http://schemas.openxmlformats.org/officeDocument/2006/relationships/image" Target="../media/image-38-14.svg"/><Relationship Id="rId15" Type="http://schemas.openxmlformats.org/officeDocument/2006/relationships/slideLayout" Target="../slideLayouts/slideLayout39.xml"/><Relationship Id="rId1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4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image" Target="../media/image-41-3.png"/><Relationship Id="rId4" Type="http://schemas.openxmlformats.org/officeDocument/2006/relationships/image" Target="../media/image-41-4.svg"/><Relationship Id="rId5" Type="http://schemas.openxmlformats.org/officeDocument/2006/relationships/image" Target="../media/image-41-5.png"/><Relationship Id="rId6" Type="http://schemas.openxmlformats.org/officeDocument/2006/relationships/image" Target="../media/image-41-6.svg"/><Relationship Id="rId7" Type="http://schemas.openxmlformats.org/officeDocument/2006/relationships/image" Target="../media/image-41-7.png"/><Relationship Id="rId8" Type="http://schemas.openxmlformats.org/officeDocument/2006/relationships/image" Target="../media/image-41-8.svg"/><Relationship Id="rId9" Type="http://schemas.openxmlformats.org/officeDocument/2006/relationships/slideLayout" Target="../slideLayouts/slideLayout42.xml"/><Relationship Id="rId10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5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762131"/>
            <a:ext cx="581227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Readiness Scale (AIRS)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3679865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Development and Validation of a Psychometric Instrument for Assessing Enterprise AI Adoption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793790" y="4538186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Doctor of Business Administration Dissertation Defense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793790" y="5086588"/>
            <a:ext cx="1644134" cy="373142"/>
          </a:xfrm>
          <a:prstGeom prst="roundRect">
            <a:avLst>
              <a:gd name="adj" fmla="val 17872"/>
            </a:avLst>
          </a:prstGeom>
          <a:solidFill>
            <a:srgbClr val="E1E1EA"/>
          </a:solidFill>
          <a:ln/>
        </p:spPr>
      </p:sp>
      <p:sp>
        <p:nvSpPr>
          <p:cNvPr id="7" name="Text 4"/>
          <p:cNvSpPr/>
          <p:nvPr/>
        </p:nvSpPr>
        <p:spPr>
          <a:xfrm>
            <a:off x="912852" y="5146119"/>
            <a:ext cx="1406009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DBA DISSERTATION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537103" y="5078968"/>
            <a:ext cx="2956798" cy="388382"/>
          </a:xfrm>
          <a:prstGeom prst="roundRect">
            <a:avLst>
              <a:gd name="adj" fmla="val 17171"/>
            </a:avLst>
          </a:prstGeom>
          <a:noFill/>
          <a:ln w="7620">
            <a:solidFill>
              <a:srgbClr val="1B1B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63785" y="5146119"/>
            <a:ext cx="2703433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 = 523 · OCTOBER–NOVEMBER 2025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4844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2237899"/>
            <a:ext cx="498121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Dissertation Overview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3155632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93790" y="3469958"/>
            <a:ext cx="4215289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6" name="Text 4"/>
          <p:cNvSpPr/>
          <p:nvPr/>
        </p:nvSpPr>
        <p:spPr>
          <a:xfrm>
            <a:off x="793790" y="3614857"/>
            <a:ext cx="379083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Research Problem &amp; Significance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793790" y="4044077"/>
            <a:ext cx="421528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adoption-value gap and three motivating gaps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207437" y="3155632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07437" y="3469958"/>
            <a:ext cx="4215408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0" name="Text 8"/>
          <p:cNvSpPr/>
          <p:nvPr/>
        </p:nvSpPr>
        <p:spPr>
          <a:xfrm>
            <a:off x="5207437" y="3614857"/>
            <a:ext cx="263985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Theoretical Framework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5207437" y="4044077"/>
            <a:ext cx="42154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UTAUT2 extended with AI Trust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621203" y="3155632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21203" y="3469958"/>
            <a:ext cx="4215289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4" name="Text 12"/>
          <p:cNvSpPr/>
          <p:nvPr/>
        </p:nvSpPr>
        <p:spPr>
          <a:xfrm>
            <a:off x="9621203" y="361485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Methodology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21203" y="4044077"/>
            <a:ext cx="421528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Mixed-methods design, instrument development, and analytical pipeline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93790" y="5026343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93790" y="5340668"/>
            <a:ext cx="6422112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8" name="Text 16"/>
          <p:cNvSpPr/>
          <p:nvPr/>
        </p:nvSpPr>
        <p:spPr>
          <a:xfrm>
            <a:off x="793790" y="548556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Findings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793790" y="5914787"/>
            <a:ext cx="642211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Psychometric properties, structural model, moderation, and typology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414260" y="5026343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414260" y="5340668"/>
            <a:ext cx="6422231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2" name="Text 20"/>
          <p:cNvSpPr/>
          <p:nvPr/>
        </p:nvSpPr>
        <p:spPr>
          <a:xfrm>
            <a:off x="7414260" y="5485567"/>
            <a:ext cx="321004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Contributions &amp; Implications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7414260" y="5914787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Theory, practice, and future research roadmap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875949"/>
            <a:ext cx="563868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Adoption-Value Gap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2892862"/>
            <a:ext cx="2353389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88%</a:t>
            </a:r>
            <a:endParaRPr lang="en-US" sz="5150" dirty="0"/>
          </a:p>
        </p:txBody>
      </p:sp>
      <p:sp>
        <p:nvSpPr>
          <p:cNvPr id="5" name="Text 2"/>
          <p:cNvSpPr/>
          <p:nvPr/>
        </p:nvSpPr>
        <p:spPr>
          <a:xfrm>
            <a:off x="793790" y="3795832"/>
            <a:ext cx="235338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Tool Usage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793790" y="4225052"/>
            <a:ext cx="2353389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Knowledge workers using AI tools in 2025, up from 50% in 2023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3395186" y="2892862"/>
            <a:ext cx="2353508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5%</a:t>
            </a:r>
            <a:endParaRPr lang="en-US" sz="5150" dirty="0"/>
          </a:p>
        </p:txBody>
      </p:sp>
      <p:sp>
        <p:nvSpPr>
          <p:cNvPr id="8" name="Text 5"/>
          <p:cNvSpPr/>
          <p:nvPr/>
        </p:nvSpPr>
        <p:spPr>
          <a:xfrm>
            <a:off x="3395186" y="3795832"/>
            <a:ext cx="235350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Value Realized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3395186" y="4225052"/>
            <a:ext cx="2353508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Organizations reporting measurable value from AI implementations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996702" y="2892862"/>
            <a:ext cx="2353389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90–95%</a:t>
            </a:r>
            <a:endParaRPr lang="en-US" sz="5150" dirty="0"/>
          </a:p>
        </p:txBody>
      </p:sp>
      <p:sp>
        <p:nvSpPr>
          <p:cNvPr id="11" name="Text 8"/>
          <p:cNvSpPr/>
          <p:nvPr/>
        </p:nvSpPr>
        <p:spPr>
          <a:xfrm>
            <a:off x="5996702" y="3795832"/>
            <a:ext cx="235338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Pilots Stalled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5996702" y="4225052"/>
            <a:ext cx="2353389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Generative AI pilot programs that do not progress beyond initial trials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793790" y="5718453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Organizations invest heavily in AI tools yet consistently fail to realize meaningful returns — a critical problem for both scholarship and practice.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59067"/>
            <a:ext cx="515838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Motivating Gaps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3075980"/>
            <a:ext cx="4215289" cy="3094434"/>
          </a:xfrm>
          <a:prstGeom prst="roundRect">
            <a:avLst>
              <a:gd name="adj" fmla="val 3546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0930" y="3075980"/>
            <a:ext cx="91440" cy="3094434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</p:sp>
      <p:sp>
        <p:nvSpPr>
          <p:cNvPr id="5" name="Text 3"/>
          <p:cNvSpPr/>
          <p:nvPr/>
        </p:nvSpPr>
        <p:spPr>
          <a:xfrm>
            <a:off x="1083588" y="329719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Theoretical Gap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83588" y="3726418"/>
            <a:ext cx="3704273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UTAUT2 was validated for consumer mobile technologies. Whether its predictor structure holds for AI — characterized by autonomous decision-making, probabilistic outputs, and evolving capabilities — remained empirically untested.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07437" y="3075980"/>
            <a:ext cx="4215408" cy="3094434"/>
          </a:xfrm>
          <a:prstGeom prst="roundRect">
            <a:avLst>
              <a:gd name="adj" fmla="val 3546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84577" y="3075980"/>
            <a:ext cx="91440" cy="3094434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</p:sp>
      <p:sp>
        <p:nvSpPr>
          <p:cNvPr id="9" name="Text 7"/>
          <p:cNvSpPr/>
          <p:nvPr/>
        </p:nvSpPr>
        <p:spPr>
          <a:xfrm>
            <a:off x="5497235" y="329719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Measurement Gap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497235" y="3726418"/>
            <a:ext cx="3704392" cy="1905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validated psychometric instrument existed for AI-specific adoption readiness. Existing scales addressed general technology acceptance or narrow AI applications, leaving organizations without a diagnostic tool.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21203" y="3075980"/>
            <a:ext cx="4215289" cy="3094434"/>
          </a:xfrm>
          <a:prstGeom prst="roundRect">
            <a:avLst>
              <a:gd name="adj" fmla="val 3546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98343" y="3075980"/>
            <a:ext cx="91440" cy="3094434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</p:sp>
      <p:sp>
        <p:nvSpPr>
          <p:cNvPr id="13" name="Text 11"/>
          <p:cNvSpPr/>
          <p:nvPr/>
        </p:nvSpPr>
        <p:spPr>
          <a:xfrm>
            <a:off x="9911001" y="329719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Practice Gap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11001" y="3726418"/>
            <a:ext cx="3704273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Organizations lacked evidence-based frameworks to identify specific adoption barriers and design targeted interventions. Without systematic measurement, AI implementation strategies remained generic rather than responsive.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98489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1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793790" y="3374350"/>
            <a:ext cx="528089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Theoretical Framework</a:t>
            </a:r>
            <a:endParaRPr lang="en-US" sz="3900" dirty="0"/>
          </a:p>
        </p:txBody>
      </p:sp>
      <p:sp>
        <p:nvSpPr>
          <p:cNvPr id="5" name="Text 2"/>
          <p:cNvSpPr/>
          <p:nvPr/>
        </p:nvSpPr>
        <p:spPr>
          <a:xfrm>
            <a:off x="793790" y="4292084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study builds upon UTAUT2 — the most comprehensive validated model of technology acceptance — and extends it with an AI-specific construct to address the unique characteristics of artificial intelligence as a technology category.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81100"/>
            <a:ext cx="883372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UTAUT2 Foundation: Seven Constructs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198013"/>
            <a:ext cx="6422231" cy="1476256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768" y="2403991"/>
            <a:ext cx="338554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Performance Expectancy (PE)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99768" y="2833211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Perceived improvement in job performance from using the technology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414379" y="2198013"/>
            <a:ext cx="6422231" cy="1476256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20357" y="2403991"/>
            <a:ext cx="252305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Effort Expectancy (EE)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620357" y="2833211"/>
            <a:ext cx="601027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Perceived ease of learning and using the technology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93790" y="3872627"/>
            <a:ext cx="6422231" cy="1476256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9768" y="407860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Social Influence (SI)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9768" y="4507825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Degree to which important others believe one should use the technology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414379" y="3872627"/>
            <a:ext cx="6422231" cy="1476256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357" y="4078605"/>
            <a:ext cx="302121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Facilitating Conditions (FC)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620357" y="4507825"/>
            <a:ext cx="601027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Perception of available resources and support infrastructure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93790" y="5572125"/>
            <a:ext cx="4215289" cy="1476256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9768" y="5778103"/>
            <a:ext cx="281416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Hedonic Motivation (HM)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99768" y="6207323"/>
            <a:ext cx="380333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Pleasure or enjoyment derived from using the technology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5207437" y="5572125"/>
            <a:ext cx="4215408" cy="1476256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13415" y="577810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Price Value (PV)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5413415" y="6207323"/>
            <a:ext cx="3803452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Perceived balance between benefits received and monetary cost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9621203" y="5572125"/>
            <a:ext cx="4215289" cy="1476256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27181" y="577810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Habit (HB)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827181" y="6207323"/>
            <a:ext cx="380333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Extent to which technology use has become automatic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0915" y="1897737"/>
            <a:ext cx="7241381" cy="4434007"/>
          </a:xfrm>
          <a:prstGeom prst="roundRect">
            <a:avLst>
              <a:gd name="adj" fmla="val 3223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49273" y="2096095"/>
            <a:ext cx="5400556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AI-Specific Extension: AI Trust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49273" y="2790587"/>
            <a:ext cx="684466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tools differ fundamentally from conventional technologies in their capacity for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autonomous reasoning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opaque decision processes, and evolving behaviors.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49273" y="3921800"/>
            <a:ext cx="684466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Trust (TR) was introduced as an eighth construct, capturing the degree to which users believe AI systems will provide accurate, reliable information and operate in a trustworthy manner.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49273" y="5053013"/>
            <a:ext cx="684466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extension is grounded in emerging literature identifying trust as a unique barrier to AI adoption not adequately captured by existing UTAUT2 constructs.</a:t>
            </a:r>
            <a:endParaRPr lang="en-US" sz="15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1149" y="2120979"/>
            <a:ext cx="2286000" cy="2286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41149" y="4630222"/>
            <a:ext cx="5602962" cy="1478280"/>
          </a:xfrm>
          <a:prstGeom prst="roundRect">
            <a:avLst>
              <a:gd name="adj" fmla="val 5639"/>
            </a:avLst>
          </a:prstGeom>
          <a:solidFill>
            <a:srgbClr val="D2D2E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507" y="4925497"/>
            <a:ext cx="248007" cy="1983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885873" y="4878110"/>
            <a:ext cx="475988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 Distinction: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Trust in AI is not merely confidence in a tool — it reflects users' beliefs about autonomous, probabilistic systems that may behave unexpectedly.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17126"/>
            <a:ext cx="789205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Research Questions &amp; Hypotheses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1834039"/>
            <a:ext cx="6422231" cy="2419588"/>
          </a:xfrm>
          <a:prstGeom prst="roundRect">
            <a:avLst>
              <a:gd name="adj" fmla="val 3445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6650" y="1856899"/>
            <a:ext cx="6376511" cy="595313"/>
          </a:xfrm>
          <a:prstGeom prst="roundRect">
            <a:avLst>
              <a:gd name="adj" fmla="val 9395"/>
            </a:avLst>
          </a:prstGeom>
          <a:solidFill>
            <a:srgbClr val="E1E1EA"/>
          </a:solidFill>
          <a:ln/>
        </p:spPr>
      </p:sp>
      <p:sp>
        <p:nvSpPr>
          <p:cNvPr id="5" name="Text 3"/>
          <p:cNvSpPr/>
          <p:nvPr/>
        </p:nvSpPr>
        <p:spPr>
          <a:xfrm>
            <a:off x="3856077" y="1964650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15008" y="265056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Primary RQ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15008" y="3079790"/>
            <a:ext cx="597979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 what extent does UTAUT2, extended with AI Trust, explain Behavioral Intention to adopt AI tools among U.S. students and professionals?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414379" y="1834039"/>
            <a:ext cx="6422231" cy="2419588"/>
          </a:xfrm>
          <a:prstGeom prst="roundRect">
            <a:avLst>
              <a:gd name="adj" fmla="val 3445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37239" y="1856899"/>
            <a:ext cx="6376511" cy="595313"/>
          </a:xfrm>
          <a:prstGeom prst="roundRect">
            <a:avLst>
              <a:gd name="adj" fmla="val 9395"/>
            </a:avLst>
          </a:prstGeom>
          <a:solidFill>
            <a:srgbClr val="E1E1EA"/>
          </a:solidFill>
          <a:ln/>
        </p:spPr>
      </p:sp>
      <p:sp>
        <p:nvSpPr>
          <p:cNvPr id="10" name="Text 8"/>
          <p:cNvSpPr/>
          <p:nvPr/>
        </p:nvSpPr>
        <p:spPr>
          <a:xfrm>
            <a:off x="10476667" y="1964650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635597" y="265056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RQ2: Factorial Validity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635597" y="3079790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Psychometric adequacy of the extended model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93790" y="4451985"/>
            <a:ext cx="6422231" cy="2102048"/>
          </a:xfrm>
          <a:prstGeom prst="roundRect">
            <a:avLst>
              <a:gd name="adj" fmla="val 3966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6650" y="4474845"/>
            <a:ext cx="6376511" cy="595313"/>
          </a:xfrm>
          <a:prstGeom prst="roundRect">
            <a:avLst>
              <a:gd name="adj" fmla="val 9395"/>
            </a:avLst>
          </a:prstGeom>
          <a:solidFill>
            <a:srgbClr val="E1E1EA"/>
          </a:solidFill>
          <a:ln/>
        </p:spPr>
      </p:sp>
      <p:sp>
        <p:nvSpPr>
          <p:cNvPr id="15" name="Text 13"/>
          <p:cNvSpPr/>
          <p:nvPr/>
        </p:nvSpPr>
        <p:spPr>
          <a:xfrm>
            <a:off x="3856077" y="4582597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1015008" y="526851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RQ3: Moderation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15008" y="5697736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Experience and role moderation of structural paths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414379" y="4451985"/>
            <a:ext cx="6422231" cy="2102048"/>
          </a:xfrm>
          <a:prstGeom prst="roundRect">
            <a:avLst>
              <a:gd name="adj" fmla="val 3966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37239" y="4474845"/>
            <a:ext cx="6376511" cy="595313"/>
          </a:xfrm>
          <a:prstGeom prst="roundRect">
            <a:avLst>
              <a:gd name="adj" fmla="val 9395"/>
            </a:avLst>
          </a:prstGeom>
          <a:solidFill>
            <a:srgbClr val="E1E1EA"/>
          </a:solidFill>
          <a:ln/>
        </p:spPr>
      </p:sp>
      <p:sp>
        <p:nvSpPr>
          <p:cNvPr id="20" name="Text 18"/>
          <p:cNvSpPr/>
          <p:nvPr/>
        </p:nvSpPr>
        <p:spPr>
          <a:xfrm>
            <a:off x="10476667" y="4582597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635597" y="526851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RQ4 &amp; RQ5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7635597" y="5697736"/>
            <a:ext cx="59797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intention–usage relationship and user typology based on readiness patterns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93790" y="6777276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Twelve hypotheses were tested: seven core UTAUT2 path hypotheses (H1a–H1g), one AI Trust hypothesis (H2), two moderation hypotheses (H3–H4), and two behavioral validation hypotheses (H5–H6).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16657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2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793790" y="155602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Methodology</a:t>
            </a:r>
            <a:endParaRPr lang="en-US" sz="3900" dirty="0"/>
          </a:p>
        </p:txBody>
      </p:sp>
      <p:sp>
        <p:nvSpPr>
          <p:cNvPr id="5" name="Shape 2"/>
          <p:cNvSpPr/>
          <p:nvPr/>
        </p:nvSpPr>
        <p:spPr>
          <a:xfrm>
            <a:off x="793790" y="2473762"/>
            <a:ext cx="7556421" cy="4589145"/>
          </a:xfrm>
          <a:prstGeom prst="roundRect">
            <a:avLst>
              <a:gd name="adj" fmla="val 1816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1410" y="2481382"/>
            <a:ext cx="7541181" cy="1143476"/>
          </a:xfrm>
          <a:prstGeom prst="roundRect">
            <a:avLst>
              <a:gd name="adj" fmla="val 7290"/>
            </a:avLst>
          </a:prstGeom>
          <a:solidFill>
            <a:srgbClr val="E1E1EA"/>
          </a:solidFill>
          <a:ln/>
        </p:spPr>
      </p:sp>
      <p:sp>
        <p:nvSpPr>
          <p:cNvPr id="7" name="Text 4"/>
          <p:cNvSpPr/>
          <p:nvPr/>
        </p:nvSpPr>
        <p:spPr>
          <a:xfrm>
            <a:off x="999768" y="267974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Design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999768" y="3108960"/>
            <a:ext cx="71444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Post-positivist sequential mixed-methods with quantitative primacy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801410" y="3624858"/>
            <a:ext cx="7541181" cy="1143476"/>
          </a:xfrm>
          <a:prstGeom prst="rect">
            <a:avLst/>
          </a:prstGeom>
          <a:solidFill>
            <a:srgbClr val="E1E1EA"/>
          </a:solidFill>
          <a:ln/>
        </p:spPr>
      </p:sp>
      <p:sp>
        <p:nvSpPr>
          <p:cNvPr id="10" name="Shape 7"/>
          <p:cNvSpPr/>
          <p:nvPr/>
        </p:nvSpPr>
        <p:spPr>
          <a:xfrm>
            <a:off x="801410" y="3624858"/>
            <a:ext cx="7541181" cy="22860"/>
          </a:xfrm>
          <a:prstGeom prst="roundRect">
            <a:avLst>
              <a:gd name="adj" fmla="val 364651"/>
            </a:avLst>
          </a:prstGeom>
          <a:solidFill>
            <a:srgbClr val="C7C7D0"/>
          </a:solidFill>
          <a:ln/>
        </p:spPr>
      </p:sp>
      <p:sp>
        <p:nvSpPr>
          <p:cNvPr id="11" name="Text 8"/>
          <p:cNvSpPr/>
          <p:nvPr/>
        </p:nvSpPr>
        <p:spPr>
          <a:xfrm>
            <a:off x="999768" y="382321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Sample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999768" y="4252436"/>
            <a:ext cx="71444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 = 523 U.S. adults via Centiment topic-blinded recruitment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01410" y="4768334"/>
            <a:ext cx="7541181" cy="1143476"/>
          </a:xfrm>
          <a:prstGeom prst="rect">
            <a:avLst/>
          </a:prstGeom>
          <a:solidFill>
            <a:srgbClr val="E1E1EA"/>
          </a:solidFill>
          <a:ln/>
        </p:spPr>
      </p:sp>
      <p:sp>
        <p:nvSpPr>
          <p:cNvPr id="14" name="Shape 11"/>
          <p:cNvSpPr/>
          <p:nvPr/>
        </p:nvSpPr>
        <p:spPr>
          <a:xfrm>
            <a:off x="801410" y="4768334"/>
            <a:ext cx="7541181" cy="22860"/>
          </a:xfrm>
          <a:prstGeom prst="roundRect">
            <a:avLst>
              <a:gd name="adj" fmla="val 364651"/>
            </a:avLst>
          </a:prstGeom>
          <a:solidFill>
            <a:srgbClr val="C7C7D0"/>
          </a:solidFill>
          <a:ln/>
        </p:spPr>
      </p:sp>
      <p:sp>
        <p:nvSpPr>
          <p:cNvPr id="15" name="Text 12"/>
          <p:cNvSpPr/>
          <p:nvPr/>
        </p:nvSpPr>
        <p:spPr>
          <a:xfrm>
            <a:off x="999768" y="496669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Period</a:t>
            </a:r>
            <a:endParaRPr lang="en-US" sz="1950" dirty="0"/>
          </a:p>
        </p:txBody>
      </p:sp>
      <p:sp>
        <p:nvSpPr>
          <p:cNvPr id="16" name="Text 13"/>
          <p:cNvSpPr/>
          <p:nvPr/>
        </p:nvSpPr>
        <p:spPr>
          <a:xfrm>
            <a:off x="999768" y="5395913"/>
            <a:ext cx="71444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October–November 2025 (3-week collection window)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801410" y="5911810"/>
            <a:ext cx="7541181" cy="1143476"/>
          </a:xfrm>
          <a:prstGeom prst="rect">
            <a:avLst/>
          </a:prstGeom>
          <a:solidFill>
            <a:srgbClr val="E1E1EA"/>
          </a:solidFill>
          <a:ln/>
        </p:spPr>
      </p:sp>
      <p:sp>
        <p:nvSpPr>
          <p:cNvPr id="18" name="Shape 15"/>
          <p:cNvSpPr/>
          <p:nvPr/>
        </p:nvSpPr>
        <p:spPr>
          <a:xfrm>
            <a:off x="801410" y="5911810"/>
            <a:ext cx="7541181" cy="22860"/>
          </a:xfrm>
          <a:prstGeom prst="roundRect">
            <a:avLst>
              <a:gd name="adj" fmla="val 364651"/>
            </a:avLst>
          </a:prstGeom>
          <a:solidFill>
            <a:srgbClr val="C7C7D0"/>
          </a:solidFill>
          <a:ln/>
        </p:spPr>
      </p:sp>
      <p:sp>
        <p:nvSpPr>
          <p:cNvPr id="19" name="Text 16"/>
          <p:cNvSpPr/>
          <p:nvPr/>
        </p:nvSpPr>
        <p:spPr>
          <a:xfrm>
            <a:off x="999768" y="611016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999768" y="6539389"/>
            <a:ext cx="71444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Dual-platform validation: Python + R/lavaan 0.6.21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74495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Sample Composition</a:t>
            </a:r>
            <a:endParaRPr lang="en-US" sz="3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2898088"/>
            <a:ext cx="6278880" cy="34864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27211" y="4248099"/>
            <a:ext cx="1580305" cy="178400"/>
          </a:xfrm>
          <a:prstGeom prst="roundRect">
            <a:avLst>
              <a:gd name="adj" fmla="val 71758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5043" y="4287729"/>
            <a:ext cx="99140" cy="991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87454" y="4272883"/>
            <a:ext cx="1310380" cy="128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Academic (Students)·41.3%</a:t>
            </a:r>
            <a:endParaRPr lang="en-US" sz="700" dirty="0"/>
          </a:p>
        </p:txBody>
      </p:sp>
      <p:sp>
        <p:nvSpPr>
          <p:cNvPr id="7" name="Text 3"/>
          <p:cNvSpPr/>
          <p:nvPr/>
        </p:nvSpPr>
        <p:spPr>
          <a:xfrm>
            <a:off x="5820766" y="4272883"/>
            <a:ext cx="377069" cy="128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·41.3%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5860397" y="4272883"/>
            <a:ext cx="28141" cy="128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·</a:t>
            </a:r>
            <a:endParaRPr lang="en-US" sz="700" dirty="0"/>
          </a:p>
        </p:txBody>
      </p:sp>
      <p:sp>
        <p:nvSpPr>
          <p:cNvPr id="9" name="Shape 5"/>
          <p:cNvSpPr/>
          <p:nvPr/>
        </p:nvSpPr>
        <p:spPr>
          <a:xfrm>
            <a:off x="4627211" y="4492593"/>
            <a:ext cx="2064130" cy="178401"/>
          </a:xfrm>
          <a:prstGeom prst="roundRect">
            <a:avLst>
              <a:gd name="adj" fmla="val 71757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043" y="4532223"/>
            <a:ext cx="99140" cy="991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887454" y="4517378"/>
            <a:ext cx="1785685" cy="128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Professional (ICs/Freelancers)·35.18%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6239788" y="4517378"/>
            <a:ext cx="433351" cy="128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·35.18%</a:t>
            </a:r>
            <a:endParaRPr lang="en-US" sz="700" dirty="0"/>
          </a:p>
        </p:txBody>
      </p:sp>
      <p:sp>
        <p:nvSpPr>
          <p:cNvPr id="13" name="Text 8"/>
          <p:cNvSpPr/>
          <p:nvPr/>
        </p:nvSpPr>
        <p:spPr>
          <a:xfrm>
            <a:off x="6279419" y="4517378"/>
            <a:ext cx="28141" cy="128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·</a:t>
            </a:r>
            <a:endParaRPr lang="en-US" sz="700" dirty="0"/>
          </a:p>
        </p:txBody>
      </p:sp>
      <p:sp>
        <p:nvSpPr>
          <p:cNvPr id="14" name="Shape 9"/>
          <p:cNvSpPr/>
          <p:nvPr/>
        </p:nvSpPr>
        <p:spPr>
          <a:xfrm>
            <a:off x="4627211" y="4737087"/>
            <a:ext cx="2086334" cy="178401"/>
          </a:xfrm>
          <a:prstGeom prst="roundRect">
            <a:avLst>
              <a:gd name="adj" fmla="val 71757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5043" y="4776717"/>
            <a:ext cx="99140" cy="991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887454" y="4761872"/>
            <a:ext cx="1789816" cy="128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Leader (Managers/Executives)·23.52%</a:t>
            </a:r>
            <a:endParaRPr lang="en-US" sz="700" dirty="0"/>
          </a:p>
        </p:txBody>
      </p:sp>
      <p:sp>
        <p:nvSpPr>
          <p:cNvPr id="17" name="Text 11"/>
          <p:cNvSpPr/>
          <p:nvPr/>
        </p:nvSpPr>
        <p:spPr>
          <a:xfrm>
            <a:off x="6243919" y="4761872"/>
            <a:ext cx="433351" cy="128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·23.52%</a:t>
            </a:r>
            <a:endParaRPr lang="en-US" sz="700" dirty="0"/>
          </a:p>
        </p:txBody>
      </p:sp>
      <p:sp>
        <p:nvSpPr>
          <p:cNvPr id="18" name="Text 12"/>
          <p:cNvSpPr/>
          <p:nvPr/>
        </p:nvSpPr>
        <p:spPr>
          <a:xfrm>
            <a:off x="6283549" y="4761872"/>
            <a:ext cx="28142" cy="128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·</a:t>
            </a:r>
            <a:endParaRPr lang="en-US" sz="700" dirty="0"/>
          </a:p>
        </p:txBody>
      </p:sp>
      <p:sp>
        <p:nvSpPr>
          <p:cNvPr id="19" name="Text 13"/>
          <p:cNvSpPr/>
          <p:nvPr/>
        </p:nvSpPr>
        <p:spPr>
          <a:xfrm>
            <a:off x="7564874" y="2790587"/>
            <a:ext cx="273284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Sampling Decisions</a:t>
            </a:r>
            <a:endParaRPr lang="en-US" sz="1950" dirty="0"/>
          </a:p>
        </p:txBody>
      </p:sp>
      <p:sp>
        <p:nvSpPr>
          <p:cNvPr id="20" name="Text 14"/>
          <p:cNvSpPr/>
          <p:nvPr/>
        </p:nvSpPr>
        <p:spPr>
          <a:xfrm>
            <a:off x="7564874" y="3299103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Topic-blinded recruitment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via Centiment: respondents did not know the survey concerned AI when deciding to participate, mitigating self-selection bias.</a:t>
            </a:r>
            <a:endParaRPr lang="en-US" sz="1550" dirty="0"/>
          </a:p>
        </p:txBody>
      </p:sp>
      <p:sp>
        <p:nvSpPr>
          <p:cNvPr id="21" name="Text 15"/>
          <p:cNvSpPr/>
          <p:nvPr/>
        </p:nvSpPr>
        <p:spPr>
          <a:xfrm>
            <a:off x="7564874" y="4430316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50/50 sample split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(seed = 67, stratified by AI adoption): development subsample (n = 261) for EFA; holdout sample (n = 262) for CFA confirmation.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7564874" y="5561528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Disability representation: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68 participants (13.0%) self-reported a disability — consistent with U.S. Census Bureau estimates.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2456" y="414218"/>
            <a:ext cx="5329833" cy="470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00"/>
              </a:lnSpc>
              <a:buNone/>
            </a:pPr>
            <a:r>
              <a:rPr lang="en-US" sz="2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Instrument Development: AIRS</a:t>
            </a:r>
            <a:endParaRPr lang="en-US" sz="29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6475" y="1113473"/>
            <a:ext cx="11977449" cy="65449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905878" y="4180187"/>
            <a:ext cx="2775283" cy="377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950"/>
              </a:lnSpc>
              <a:buNone/>
            </a:pP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Initial Pool</a:t>
            </a:r>
            <a:endParaRPr lang="en-US" sz="2350" dirty="0"/>
          </a:p>
        </p:txBody>
      </p:sp>
      <p:sp>
        <p:nvSpPr>
          <p:cNvPr id="5" name="Text 2"/>
          <p:cNvSpPr/>
          <p:nvPr/>
        </p:nvSpPr>
        <p:spPr>
          <a:xfrm>
            <a:off x="9913939" y="3948808"/>
            <a:ext cx="2775284" cy="755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50"/>
              </a:lnSpc>
              <a:buNone/>
            </a:pP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EFA Model Selection</a:t>
            </a:r>
            <a:endParaRPr lang="en-US" sz="2350" dirty="0"/>
          </a:p>
        </p:txBody>
      </p:sp>
      <p:sp>
        <p:nvSpPr>
          <p:cNvPr id="6" name="Text 3"/>
          <p:cNvSpPr/>
          <p:nvPr/>
        </p:nvSpPr>
        <p:spPr>
          <a:xfrm>
            <a:off x="6490461" y="4151238"/>
            <a:ext cx="2775283" cy="377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950"/>
              </a:lnSpc>
              <a:buNone/>
            </a:pP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Final AIRS‑16</a:t>
            </a:r>
            <a:endParaRPr lang="en-US" sz="2350" dirty="0"/>
          </a:p>
        </p:txBody>
      </p:sp>
      <p:sp>
        <p:nvSpPr>
          <p:cNvPr id="7" name="Text 4"/>
          <p:cNvSpPr/>
          <p:nvPr/>
        </p:nvSpPr>
        <p:spPr>
          <a:xfrm>
            <a:off x="602456" y="7787045"/>
            <a:ext cx="13425488" cy="2119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final instrument retains 8 theoretically interpretable factors with strong psychometric properties, providing a compact yet diagnostically rich tool for organizational assessment.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91039"/>
            <a:ext cx="5784294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10-Phase Analytical Pipeline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7303770" y="1570673"/>
            <a:ext cx="22860" cy="5244108"/>
          </a:xfrm>
          <a:prstGeom prst="roundRect">
            <a:avLst>
              <a:gd name="adj" fmla="val 328186"/>
            </a:avLst>
          </a:prstGeom>
          <a:solidFill>
            <a:srgbClr val="C7C7D0"/>
          </a:solidFill>
          <a:ln/>
        </p:spPr>
      </p:sp>
      <p:sp>
        <p:nvSpPr>
          <p:cNvPr id="4" name="Shape 2"/>
          <p:cNvSpPr/>
          <p:nvPr/>
        </p:nvSpPr>
        <p:spPr>
          <a:xfrm>
            <a:off x="6601361" y="1760101"/>
            <a:ext cx="535781" cy="22860"/>
          </a:xfrm>
          <a:prstGeom prst="roundRect">
            <a:avLst>
              <a:gd name="adj" fmla="val 328186"/>
            </a:avLst>
          </a:prstGeom>
          <a:solidFill>
            <a:srgbClr val="C7C7D0"/>
          </a:solidFill>
          <a:ln/>
        </p:spPr>
      </p:sp>
      <p:sp>
        <p:nvSpPr>
          <p:cNvPr id="5" name="Shape 3"/>
          <p:cNvSpPr/>
          <p:nvPr/>
        </p:nvSpPr>
        <p:spPr>
          <a:xfrm>
            <a:off x="7114282" y="1570673"/>
            <a:ext cx="401836" cy="401836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81195" y="1604070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189333" y="1631990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0–1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93790" y="2007394"/>
            <a:ext cx="562832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Sample splitting &amp; Exploratory Factor Analysis (EFA)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93258" y="2796064"/>
            <a:ext cx="535781" cy="22860"/>
          </a:xfrm>
          <a:prstGeom prst="roundRect">
            <a:avLst>
              <a:gd name="adj" fmla="val 328186"/>
            </a:avLst>
          </a:prstGeom>
          <a:solidFill>
            <a:srgbClr val="C7C7D0"/>
          </a:solidFill>
          <a:ln/>
        </p:spPr>
      </p:sp>
      <p:sp>
        <p:nvSpPr>
          <p:cNvPr id="10" name="Shape 8"/>
          <p:cNvSpPr/>
          <p:nvPr/>
        </p:nvSpPr>
        <p:spPr>
          <a:xfrm>
            <a:off x="7114282" y="2606635"/>
            <a:ext cx="401836" cy="401836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1195" y="2640032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208288" y="2667953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2–3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8208288" y="3043357"/>
            <a:ext cx="562832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Confirmatory Factor Analysis (CFA) &amp; Measurement Invariance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01361" y="3701891"/>
            <a:ext cx="535781" cy="22860"/>
          </a:xfrm>
          <a:prstGeom prst="roundRect">
            <a:avLst>
              <a:gd name="adj" fmla="val 328186"/>
            </a:avLst>
          </a:prstGeom>
          <a:solidFill>
            <a:srgbClr val="C7C7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14282" y="3512463"/>
            <a:ext cx="401836" cy="401836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81195" y="3545860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189333" y="3573780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4–5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793790" y="3949184"/>
            <a:ext cx="562832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Structural Equation Modeling &amp; Mediation Analysis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3258" y="4607838"/>
            <a:ext cx="535781" cy="22860"/>
          </a:xfrm>
          <a:prstGeom prst="roundRect">
            <a:avLst>
              <a:gd name="adj" fmla="val 328186"/>
            </a:avLst>
          </a:prstGeom>
          <a:solidFill>
            <a:srgbClr val="C7C7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114282" y="4418409"/>
            <a:ext cx="401836" cy="401836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81195" y="4451806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208288" y="4479727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6–7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8208288" y="4855131"/>
            <a:ext cx="562832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Moderation Analysis &amp; Behavioral Validation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01361" y="5513784"/>
            <a:ext cx="535781" cy="22860"/>
          </a:xfrm>
          <a:prstGeom prst="roundRect">
            <a:avLst>
              <a:gd name="adj" fmla="val 328186"/>
            </a:avLst>
          </a:prstGeom>
          <a:solidFill>
            <a:srgbClr val="C7C7D0"/>
          </a:solidFill>
          <a:ln/>
        </p:spPr>
      </p:sp>
      <p:sp>
        <p:nvSpPr>
          <p:cNvPr id="25" name="Shape 23"/>
          <p:cNvSpPr/>
          <p:nvPr/>
        </p:nvSpPr>
        <p:spPr>
          <a:xfrm>
            <a:off x="7114282" y="5324356"/>
            <a:ext cx="401836" cy="401836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81195" y="5357753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4189333" y="5385673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8–10</a:t>
            </a:r>
            <a:endParaRPr lang="en-US" sz="1750" dirty="0"/>
          </a:p>
        </p:txBody>
      </p:sp>
      <p:sp>
        <p:nvSpPr>
          <p:cNvPr id="28" name="Text 26"/>
          <p:cNvSpPr/>
          <p:nvPr/>
        </p:nvSpPr>
        <p:spPr>
          <a:xfrm>
            <a:off x="793790" y="5761077"/>
            <a:ext cx="562832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Qualitative Content Analysis &amp; Comprehensive Synthesis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93790" y="6995636"/>
            <a:ext cx="13042821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EFA used MINRES extraction with promax rotation (item retention: primary loading ≥ .50, cross-loading gap ≥ .20, communality ≥ .30). CFA/SEM used Maximum Likelihood with Satorra-Bentler robust corrections (MLM). Bootstrap validation: 1,000 resamples.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67485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3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6280190" y="3064312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Findings: Measurement Model</a:t>
            </a:r>
            <a:endParaRPr lang="en-US" sz="3900" dirty="0"/>
          </a:p>
        </p:txBody>
      </p:sp>
      <p:sp>
        <p:nvSpPr>
          <p:cNvPr id="5" name="Text 2"/>
          <p:cNvSpPr/>
          <p:nvPr/>
        </p:nvSpPr>
        <p:spPr>
          <a:xfrm>
            <a:off x="6280190" y="4602123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16-item AIRS demonstrated excellent suitability for factor analysis: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KMO = .937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(superb) and Bartlett's Test χ² = 4,668.45, p &lt; .001. No multivariate outliers were detected.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09149"/>
            <a:ext cx="729424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CFA Model Fit: Holdout Sample (n = 262)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793790" y="1638657"/>
            <a:ext cx="6327815" cy="4907280"/>
          </a:xfrm>
          <a:prstGeom prst="roundRect">
            <a:avLst>
              <a:gd name="adj" fmla="val 1359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1646277"/>
            <a:ext cx="6312575" cy="108204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60477" y="1730097"/>
            <a:ext cx="2203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Index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89246" y="173009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Value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67300" y="173009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Threshold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645354" y="1730097"/>
            <a:ext cx="30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Assessment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1410" y="2728317"/>
            <a:ext cx="6312575" cy="85344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60477" y="2812137"/>
            <a:ext cx="2203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CFI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489246" y="281213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.975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67300" y="281213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≥ .95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645354" y="2812137"/>
            <a:ext cx="30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1410" y="3581757"/>
            <a:ext cx="6312575" cy="85344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60477" y="3665577"/>
            <a:ext cx="2203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TLI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89246" y="366557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.960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67300" y="366557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≥ .95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45354" y="3665577"/>
            <a:ext cx="30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410" y="4435197"/>
            <a:ext cx="6312575" cy="62484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60477" y="4519017"/>
            <a:ext cx="2203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RMSEA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489246" y="451901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.065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67300" y="451901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≤ .08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645354" y="4519017"/>
            <a:ext cx="30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1410" y="5060037"/>
            <a:ext cx="6312575" cy="85344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960477" y="5143857"/>
            <a:ext cx="2203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SRMR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489246" y="514385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.026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67300" y="514385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≤ .08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645354" y="5143857"/>
            <a:ext cx="30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1410" y="5913477"/>
            <a:ext cx="6312575" cy="62484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960477" y="5997297"/>
            <a:ext cx="2203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χ²/df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489246" y="599729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2.10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067300" y="5997297"/>
            <a:ext cx="125301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≤ 3.0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645354" y="5997297"/>
            <a:ext cx="30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793790" y="6688812"/>
            <a:ext cx="6327815" cy="588764"/>
          </a:xfrm>
          <a:prstGeom prst="roundRect">
            <a:avLst>
              <a:gd name="adj" fmla="val 11327"/>
            </a:avLst>
          </a:prstGeom>
          <a:solidFill>
            <a:srgbClr val="D2D2E0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6915864"/>
            <a:ext cx="198358" cy="15871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309568" y="6855381"/>
            <a:ext cx="565332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Full-sample CFA confirmed: CFI = .979, TLI = .966, RMSEA = .061, SRMR = .022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7402116" y="1495782"/>
            <a:ext cx="6556415" cy="5924669"/>
          </a:xfrm>
          <a:prstGeom prst="roundRect">
            <a:avLst>
              <a:gd name="adj" fmla="val 1930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7560826" y="1622703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 This Means</a:t>
            </a:r>
            <a:endParaRPr lang="en-US" sz="1550" dirty="0"/>
          </a:p>
        </p:txBody>
      </p:sp>
      <p:sp>
        <p:nvSpPr>
          <p:cNvPr id="39" name="Text 36"/>
          <p:cNvSpPr/>
          <p:nvPr/>
        </p:nvSpPr>
        <p:spPr>
          <a:xfrm>
            <a:off x="7560826" y="1997631"/>
            <a:ext cx="6238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8-factor model achieved </a:t>
            </a:r>
            <a:pPr algn="l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excellent fit</a:t>
            </a:r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on an independent holdout sample — a stringent test that rules out overfitting to the development data.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7560826" y="2569131"/>
            <a:ext cx="6238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Cross-validation across dual platforms (Python and R/lavaan) confirmed the stability of these results, providing high confidence in the instrument's psychometric integrity.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59262"/>
            <a:ext cx="725400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Reliability &amp; Convergent Validity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1776174"/>
            <a:ext cx="13042821" cy="5153382"/>
          </a:xfrm>
          <a:prstGeom prst="roundRect">
            <a:avLst>
              <a:gd name="adj" fmla="val 161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1783794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00125" y="1910477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Factor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4912162" y="1910477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Cronbach's α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517606" y="1910477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Composite Reliability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0123051" y="1910477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2077105" y="1910477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Status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01410" y="2354699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00125" y="2481382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Performance Expectancy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912162" y="2481382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.863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517606" y="2481382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.866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0123051" y="2481382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.764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2077105" y="2481382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01410" y="2925604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00125" y="3052286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Effort Expectancy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912162" y="3052286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.803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517606" y="3052286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.805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0123051" y="3052286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.674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2077105" y="3052286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01410" y="3496508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00125" y="3623191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Social Influence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912162" y="3623191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.792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517606" y="3623191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.793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123051" y="3623191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.659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2077105" y="3623191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801410" y="4067413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1000125" y="4194096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Facilitating Conditions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4912162" y="4194096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.743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517606" y="4194096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.750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10123051" y="4194096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.601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2077105" y="4194096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801410" y="4638318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000125" y="4765000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4912162" y="4765000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.909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7517606" y="4765000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.910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10123051" y="4765000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.835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12077105" y="4765000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550" dirty="0"/>
          </a:p>
        </p:txBody>
      </p:sp>
      <p:sp>
        <p:nvSpPr>
          <p:cNvPr id="40" name="Shape 38"/>
          <p:cNvSpPr/>
          <p:nvPr/>
        </p:nvSpPr>
        <p:spPr>
          <a:xfrm>
            <a:off x="801410" y="5209223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000125" y="5335905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</a:t>
            </a:r>
            <a:endParaRPr lang="en-US" sz="1550" dirty="0"/>
          </a:p>
        </p:txBody>
      </p:sp>
      <p:sp>
        <p:nvSpPr>
          <p:cNvPr id="42" name="Text 40"/>
          <p:cNvSpPr/>
          <p:nvPr/>
        </p:nvSpPr>
        <p:spPr>
          <a:xfrm>
            <a:off x="4912162" y="5335905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.882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7517606" y="5335905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.883</a:t>
            </a:r>
            <a:endParaRPr lang="en-US" sz="1550" dirty="0"/>
          </a:p>
        </p:txBody>
      </p:sp>
      <p:sp>
        <p:nvSpPr>
          <p:cNvPr id="44" name="Text 42"/>
          <p:cNvSpPr/>
          <p:nvPr/>
        </p:nvSpPr>
        <p:spPr>
          <a:xfrm>
            <a:off x="10123051" y="5335905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.791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12077105" y="5335905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550" dirty="0"/>
          </a:p>
        </p:txBody>
      </p:sp>
      <p:sp>
        <p:nvSpPr>
          <p:cNvPr id="46" name="Shape 44"/>
          <p:cNvSpPr/>
          <p:nvPr/>
        </p:nvSpPr>
        <p:spPr>
          <a:xfrm>
            <a:off x="801410" y="5780127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00125" y="5906810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Habit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4912162" y="5906810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.909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7517606" y="5906810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.909</a:t>
            </a:r>
            <a:endParaRPr lang="en-US" sz="1550" dirty="0"/>
          </a:p>
        </p:txBody>
      </p:sp>
      <p:sp>
        <p:nvSpPr>
          <p:cNvPr id="50" name="Text 48"/>
          <p:cNvSpPr/>
          <p:nvPr/>
        </p:nvSpPr>
        <p:spPr>
          <a:xfrm>
            <a:off x="10123051" y="5906810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.833</a:t>
            </a:r>
            <a:endParaRPr lang="en-US" sz="1550" dirty="0"/>
          </a:p>
        </p:txBody>
      </p:sp>
      <p:sp>
        <p:nvSpPr>
          <p:cNvPr id="51" name="Text 49"/>
          <p:cNvSpPr/>
          <p:nvPr/>
        </p:nvSpPr>
        <p:spPr>
          <a:xfrm>
            <a:off x="12077105" y="5906810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550" dirty="0"/>
          </a:p>
        </p:txBody>
      </p:sp>
      <p:sp>
        <p:nvSpPr>
          <p:cNvPr id="52" name="Shape 50"/>
          <p:cNvSpPr/>
          <p:nvPr/>
        </p:nvSpPr>
        <p:spPr>
          <a:xfrm>
            <a:off x="801410" y="6351032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1000125" y="6477714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Trust</a:t>
            </a:r>
            <a:endParaRPr lang="en-US" sz="1550" dirty="0"/>
          </a:p>
        </p:txBody>
      </p:sp>
      <p:sp>
        <p:nvSpPr>
          <p:cNvPr id="54" name="Text 52"/>
          <p:cNvSpPr/>
          <p:nvPr/>
        </p:nvSpPr>
        <p:spPr>
          <a:xfrm>
            <a:off x="4912162" y="6477714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.862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7517606" y="6477714"/>
            <a:ext cx="220110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.862</a:t>
            </a:r>
            <a:endParaRPr lang="en-US" sz="1550" dirty="0"/>
          </a:p>
        </p:txBody>
      </p:sp>
      <p:sp>
        <p:nvSpPr>
          <p:cNvPr id="56" name="Text 54"/>
          <p:cNvSpPr/>
          <p:nvPr/>
        </p:nvSpPr>
        <p:spPr>
          <a:xfrm>
            <a:off x="10123051" y="6477714"/>
            <a:ext cx="15497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.758</a:t>
            </a:r>
            <a:endParaRPr lang="en-US" sz="1550" dirty="0"/>
          </a:p>
        </p:txBody>
      </p:sp>
      <p:sp>
        <p:nvSpPr>
          <p:cNvPr id="57" name="Text 55"/>
          <p:cNvSpPr/>
          <p:nvPr/>
        </p:nvSpPr>
        <p:spPr>
          <a:xfrm>
            <a:off x="12077105" y="6477714"/>
            <a:ext cx="155352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✓</a:t>
            </a:r>
            <a:endParaRPr lang="en-US" sz="1550" dirty="0"/>
          </a:p>
        </p:txBody>
      </p:sp>
      <p:sp>
        <p:nvSpPr>
          <p:cNvPr id="58" name="Text 56"/>
          <p:cNvSpPr/>
          <p:nvPr/>
        </p:nvSpPr>
        <p:spPr>
          <a:xfrm>
            <a:off x="793790" y="7152799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composite reliabilities exceeded .750 and all AVE values exceeded .50, confirming convergent validity across all eight factors.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39428"/>
            <a:ext cx="821459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Discriminant Validity: HTMT Analysis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255520"/>
            <a:ext cx="366510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HTMT Violations (Threshold: .85)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793790" y="2788920"/>
            <a:ext cx="6279356" cy="2869763"/>
          </a:xfrm>
          <a:prstGeom prst="roundRect">
            <a:avLst>
              <a:gd name="adj" fmla="val 290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1410" y="2796540"/>
            <a:ext cx="6264116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99887" y="2923223"/>
            <a:ext cx="241827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3822502" y="2923223"/>
            <a:ext cx="14748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HTMT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701665" y="2923223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Status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01410" y="3367445"/>
            <a:ext cx="6264116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99887" y="3494127"/>
            <a:ext cx="241827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 × PV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822502" y="3494127"/>
            <a:ext cx="14748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.902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701665" y="3494127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Exceeds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01410" y="3938349"/>
            <a:ext cx="6264116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99887" y="4065032"/>
            <a:ext cx="241827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 × HM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822502" y="4065032"/>
            <a:ext cx="14748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.900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701665" y="4065032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Exceeds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01410" y="4509254"/>
            <a:ext cx="6264116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99887" y="4635937"/>
            <a:ext cx="241827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 × PV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3822502" y="4635937"/>
            <a:ext cx="14748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.904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701665" y="4635937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Exceeds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01410" y="5080159"/>
            <a:ext cx="6264116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99887" y="5206841"/>
            <a:ext cx="2418278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 × TR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3822502" y="5206841"/>
            <a:ext cx="14748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.850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701665" y="5206841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 threshold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564874" y="225552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Interpretive Context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7564874" y="2764036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Violations are concentrated in the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PE–HM–PV triad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are structurally expected for 2-item-per-factor scales with conceptually adjacent constructs.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7564874" y="3895249"/>
            <a:ext cx="6279356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CFA model nonetheless demonstrated excellent overall fit. Each construct measures a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distinct intervention target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organizations benefit from separately assessing performance perceptions, enjoyment, and value even when these dimensions are highly correlated.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7564874" y="5706189"/>
            <a:ext cx="6279356" cy="1160740"/>
          </a:xfrm>
          <a:prstGeom prst="roundRect">
            <a:avLst>
              <a:gd name="adj" fmla="val 7182"/>
            </a:avLst>
          </a:prstGeom>
          <a:solidFill>
            <a:srgbClr val="D2D2E0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3232" y="6001464"/>
            <a:ext cx="248007" cy="198358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209598" y="5954078"/>
            <a:ext cx="5436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HTMT violations do not compromise the instrument's diagnostic purpose.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79284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4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793790" y="2182297"/>
            <a:ext cx="561034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Structural Model Results</a:t>
            </a:r>
            <a:endParaRPr lang="en-US" sz="3900" dirty="0"/>
          </a:p>
        </p:txBody>
      </p:sp>
      <p:sp>
        <p:nvSpPr>
          <p:cNvPr id="5" name="Text 2"/>
          <p:cNvSpPr/>
          <p:nvPr/>
        </p:nvSpPr>
        <p:spPr>
          <a:xfrm>
            <a:off x="793790" y="3199209"/>
            <a:ext cx="2353389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89.7%</a:t>
            </a:r>
            <a:endParaRPr lang="en-US" sz="5150" dirty="0"/>
          </a:p>
        </p:txBody>
      </p:sp>
      <p:sp>
        <p:nvSpPr>
          <p:cNvPr id="6" name="Text 3"/>
          <p:cNvSpPr/>
          <p:nvPr/>
        </p:nvSpPr>
        <p:spPr>
          <a:xfrm>
            <a:off x="793790" y="4102179"/>
            <a:ext cx="235338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Variance Explained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793790" y="4531400"/>
            <a:ext cx="2353389" cy="1905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R² for Behavioral Intention — an exceptionally high value indicating AIRS captures the vast majority of systematic variance in AI adoption intention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3395186" y="3199209"/>
            <a:ext cx="2353508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5150" dirty="0"/>
          </a:p>
        </p:txBody>
      </p:sp>
      <p:sp>
        <p:nvSpPr>
          <p:cNvPr id="9" name="Text 6"/>
          <p:cNvSpPr/>
          <p:nvPr/>
        </p:nvSpPr>
        <p:spPr>
          <a:xfrm>
            <a:off x="3395186" y="4102179"/>
            <a:ext cx="235350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Hypotheses Tested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3395186" y="4531400"/>
            <a:ext cx="2353508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UTAUT2 core paths, AI Trust extension, moderation, and behavioral validation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996702" y="3199209"/>
            <a:ext cx="2353389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5150" dirty="0"/>
          </a:p>
        </p:txBody>
      </p:sp>
      <p:sp>
        <p:nvSpPr>
          <p:cNvPr id="12" name="Text 9"/>
          <p:cNvSpPr/>
          <p:nvPr/>
        </p:nvSpPr>
        <p:spPr>
          <a:xfrm>
            <a:off x="5996702" y="4102179"/>
            <a:ext cx="235338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Supported</a:t>
            </a:r>
            <a:endParaRPr lang="en-US" sz="1950" dirty="0"/>
          </a:p>
        </p:txBody>
      </p:sp>
      <p:sp>
        <p:nvSpPr>
          <p:cNvPr id="13" name="Text 10"/>
          <p:cNvSpPr/>
          <p:nvPr/>
        </p:nvSpPr>
        <p:spPr>
          <a:xfrm>
            <a:off x="5996702" y="4531400"/>
            <a:ext cx="2353389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Hypotheses fully or marginally supported, with 3 partially supported and 4 not supported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11555"/>
            <a:ext cx="5177433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Primary Path Coefficients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793790" y="1891189"/>
            <a:ext cx="13042821" cy="4602956"/>
          </a:xfrm>
          <a:prstGeom prst="roundRect">
            <a:avLst>
              <a:gd name="adj" fmla="val 163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1898809"/>
            <a:ext cx="13027581" cy="4795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80242" y="2002869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026206" y="2002869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73923" y="2002869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237214" y="2002869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39877" y="2002869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Bootstrap 95% CI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448103" y="2002869"/>
            <a:ext cx="120229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1410" y="2378393"/>
            <a:ext cx="13027581" cy="4795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80242" y="2482453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026206" y="2482453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 → BI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73923" y="2482453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−.028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37214" y="2482453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.791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39877" y="2482453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[−.234, .178]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448103" y="2482453"/>
            <a:ext cx="120229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Supported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1410" y="2857976"/>
            <a:ext cx="13027581" cy="4795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80242" y="2962037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026206" y="2962037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EE → BI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73923" y="2962037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−.008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237214" y="2962037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.875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39877" y="2962037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[−.108, .092]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448103" y="2962037"/>
            <a:ext cx="120229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Supported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1410" y="3337560"/>
            <a:ext cx="13027581" cy="4795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980242" y="3441621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026206" y="3441621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 → BI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73923" y="3441621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.136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237214" y="3441621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.024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539877" y="3441621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[.018, .254]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448103" y="3441621"/>
            <a:ext cx="120229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Supported*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01410" y="3817144"/>
            <a:ext cx="13027581" cy="4795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980242" y="3921204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026206" y="3921204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FC → BI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673923" y="3921204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.059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237214" y="3921204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.338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539877" y="3921204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[−.062, .180]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2448103" y="3921204"/>
            <a:ext cx="120229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Supported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01410" y="4296727"/>
            <a:ext cx="13027581" cy="4795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980242" y="4400788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026206" y="4400788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 → BI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673923" y="4400788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.217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237214" y="4400788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.014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539877" y="4400788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[.044, .390]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2448103" y="4400788"/>
            <a:ext cx="120229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Supported*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01410" y="4776311"/>
            <a:ext cx="13027581" cy="751046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980242" y="4880372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H1f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2026206" y="4880372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PV → BI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673923" y="4880372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.505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237214" y="4880372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&lt;.001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539877" y="4880372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[.352, .658]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12448103" y="4880372"/>
            <a:ext cx="1202293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Confirmed — Strongest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801410" y="5527357"/>
            <a:ext cx="13027581" cy="4795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80242" y="5631418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H1g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2026206" y="5631418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HB →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5673923" y="5631418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.023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237214" y="5631418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.631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8539877" y="5631418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[−.071, .117]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12448103" y="5631418"/>
            <a:ext cx="120229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Supported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801410" y="6006941"/>
            <a:ext cx="13027581" cy="4795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980242" y="6111002"/>
            <a:ext cx="681157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H2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2026206" y="6111002"/>
            <a:ext cx="3282910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 → BI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5673923" y="6111002"/>
            <a:ext cx="119848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.106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7237214" y="6111002"/>
            <a:ext cx="93785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.064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8539877" y="6111002"/>
            <a:ext cx="3543419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[−.006, .218]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12448103" y="6111002"/>
            <a:ext cx="120229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Marginal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793790" y="6675001"/>
            <a:ext cx="13042821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*z-test significant; bootstrap CIs include zero — interpreted as suggestive rather than conclusive. Bootstrap validation (1,000 resamples): only Price Value's path was confirmed as fully robust.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257" y="1028462"/>
            <a:ext cx="7386042" cy="561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5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Price Value Dominance Finding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589836" y="1834753"/>
            <a:ext cx="6635472" cy="5366266"/>
          </a:xfrm>
          <a:prstGeom prst="roundRect">
            <a:avLst>
              <a:gd name="adj" fmla="val 2413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69620" y="1997631"/>
            <a:ext cx="2247781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Striking Reversal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69620" y="2441496"/>
            <a:ext cx="6275903" cy="548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Blut et al. (2022) meta-analysis</a:t>
            </a:r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across 417+ UTAUT studies:</a:t>
            </a:r>
            <a:endParaRPr lang="en-US" sz="1400" dirty="0"/>
          </a:p>
          <a:p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Performance Expectancy dominant (weighted β = .39)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9620" y="3136225"/>
            <a:ext cx="6275903" cy="822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Present study:</a:t>
            </a:r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 non-significant (β = −.028)</a:t>
            </a:r>
            <a:endParaRPr lang="en-US" sz="1400" dirty="0"/>
          </a:p>
          <a:p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 dominant (β = .505)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9620" y="4105037"/>
            <a:ext cx="6275903" cy="822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reversal suggests AI tools represent a </a:t>
            </a:r>
            <a:pPr algn="l" indent="0" marL="0">
              <a:lnSpc>
                <a:spcPts val="215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distinct technology category</a:t>
            </a:r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where cost-value outcomes have displaced perceived utility as the primary adoption driver.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42133" y="1997631"/>
            <a:ext cx="2247781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Interpretive Logic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42133" y="2441496"/>
            <a:ext cx="6376630" cy="822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users already regard AI's usefulness as a </a:t>
            </a:r>
            <a:pPr algn="l" indent="0" marL="0">
              <a:lnSpc>
                <a:spcPts val="2150"/>
              </a:lnSpc>
              <a:buNone/>
            </a:pPr>
            <a:r>
              <a:rPr lang="en-US" sz="14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baseline expectation</a:t>
            </a:r>
            <a:pPr algn="l" indent="0" marL="0">
              <a:lnSpc>
                <a:spcPts val="21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supported by uniformly high PE means in this sample — adoption decisions shift to whether perceived benefits justify the financial investment.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2133" y="3446978"/>
            <a:ext cx="6278880" cy="356904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90380"/>
            <a:ext cx="893397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Trust: Diagnostic Retention Rationale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3404949"/>
            <a:ext cx="4215289" cy="2734270"/>
          </a:xfrm>
          <a:prstGeom prst="roundRect">
            <a:avLst>
              <a:gd name="adj" fmla="val 4013"/>
            </a:avLst>
          </a:prstGeom>
          <a:solidFill>
            <a:srgbClr val="FFFFFF">
              <a:alpha val="9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93790" y="3382089"/>
            <a:ext cx="4215289" cy="91440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</p:sp>
      <p:sp>
        <p:nvSpPr>
          <p:cNvPr id="5" name="Shape 3"/>
          <p:cNvSpPr/>
          <p:nvPr/>
        </p:nvSpPr>
        <p:spPr>
          <a:xfrm>
            <a:off x="2603778" y="3107293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1B27"/>
          </a:solidFill>
          <a:ln/>
        </p:spPr>
      </p:sp>
      <p:sp>
        <p:nvSpPr>
          <p:cNvPr id="6" name="Text 4"/>
          <p:cNvSpPr/>
          <p:nvPr/>
        </p:nvSpPr>
        <p:spPr>
          <a:xfrm>
            <a:off x="2782372" y="3256121"/>
            <a:ext cx="23812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015008" y="3901083"/>
            <a:ext cx="330148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Unique Diagnostic Capability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15008" y="4330303"/>
            <a:ext cx="3772853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Trust provides organizational insight that other constructs cannot detect — identifying trust deficits that require targeted confidence-building interventions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07437" y="3404949"/>
            <a:ext cx="4215408" cy="2734270"/>
          </a:xfrm>
          <a:prstGeom prst="roundRect">
            <a:avLst>
              <a:gd name="adj" fmla="val 4013"/>
            </a:avLst>
          </a:prstGeom>
          <a:solidFill>
            <a:srgbClr val="FFFFFF">
              <a:alpha val="9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5207437" y="3382089"/>
            <a:ext cx="4215408" cy="91440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</p:sp>
      <p:sp>
        <p:nvSpPr>
          <p:cNvPr id="11" name="Shape 9"/>
          <p:cNvSpPr/>
          <p:nvPr/>
        </p:nvSpPr>
        <p:spPr>
          <a:xfrm>
            <a:off x="7017425" y="3107293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1B27"/>
          </a:solidFill>
          <a:ln/>
        </p:spPr>
      </p:sp>
      <p:sp>
        <p:nvSpPr>
          <p:cNvPr id="12" name="Text 10"/>
          <p:cNvSpPr/>
          <p:nvPr/>
        </p:nvSpPr>
        <p:spPr>
          <a:xfrm>
            <a:off x="7196018" y="3256121"/>
            <a:ext cx="23812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5428655" y="3901083"/>
            <a:ext cx="352246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Statistical Power Consideration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428655" y="4330303"/>
            <a:ext cx="3772972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Detecting the marginal effect (β = .106) at 80% power requires n &gt; 600; the present N = 523 yields ~68% power — the effect is theoretically relevant but underpowered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9621203" y="3404949"/>
            <a:ext cx="4215289" cy="2734270"/>
          </a:xfrm>
          <a:prstGeom prst="roundRect">
            <a:avLst>
              <a:gd name="adj" fmla="val 4013"/>
            </a:avLst>
          </a:prstGeom>
          <a:solidFill>
            <a:srgbClr val="FFFFFF">
              <a:alpha val="9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21203" y="3382089"/>
            <a:ext cx="4215289" cy="91440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1191" y="3107293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1B27"/>
          </a:solidFill>
          <a:ln/>
        </p:spPr>
      </p:sp>
      <p:sp>
        <p:nvSpPr>
          <p:cNvPr id="18" name="Text 16"/>
          <p:cNvSpPr/>
          <p:nvPr/>
        </p:nvSpPr>
        <p:spPr>
          <a:xfrm>
            <a:off x="11609784" y="3256121"/>
            <a:ext cx="23812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842421" y="390108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Parsimony vs. Utility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42421" y="4330303"/>
            <a:ext cx="3772853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comparison favored the 7-factor model on parsimony (ΔAIC = +2.01), but the 8-factor AIRS is retained as the recommended diagnostic instrument for organizational assessment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81614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Moderation Effects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597706"/>
            <a:ext cx="547258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Experience Moderation (H3: Partially Supported)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3106222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Professional experience significantly moderated the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HM → BI path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(β = .136, p = .007). Professionals with 4+ years weight hedonic motivation more heavily as experience grows.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3790" y="4237434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Usage-group comparison: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93790" y="4733568"/>
            <a:ext cx="6279356" cy="1022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Low-usage group: Performance Expectancy mattered (β = .371, significant)</a:t>
            </a:r>
            <a:endParaRPr lang="en-US" sz="1550" dirty="0"/>
          </a:p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High-usage group: Price Value dominated (β = .878, significant)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3790" y="5934194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Adoption drivers evolve with experience: new users focus on utility; experienced users focus on value.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421999" y="2399348"/>
            <a:ext cx="6565106" cy="4348520"/>
          </a:xfrm>
          <a:prstGeom prst="roundRect">
            <a:avLst>
              <a:gd name="adj" fmla="val 3286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7620357" y="2597706"/>
            <a:ext cx="541972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Population Moderation (H4: Partially Supported)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620357" y="3106222"/>
            <a:ext cx="6168390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 showed significant population moderation (p = .041):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620357" y="3919895"/>
            <a:ext cx="6168390" cy="704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Academic group: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HM β = 0.449 (strong positive)</a:t>
            </a:r>
            <a:endParaRPr lang="en-US" sz="1550" dirty="0"/>
          </a:p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Professional group: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HM β = −0.301 (negative)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20357" y="4802981"/>
            <a:ext cx="6168390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Academics adopt AI partly for the enjoyment of exploration and learning. Professionals may view the "enjoyment" dimension as irrelevant or counterproductive to task-focused work.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620357" y="5934194"/>
            <a:ext cx="61683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 remained dominant for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groups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5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00344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Behavioral Validation</a:t>
            </a:r>
            <a:endParaRPr lang="en-US" sz="3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3790" y="2817257"/>
            <a:ext cx="496133" cy="4961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3561398"/>
            <a:ext cx="4182189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Intention–Usage Correlation (H5: Supported)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793790" y="4300776"/>
            <a:ext cx="4182189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Intention was strongly associated with actual AI tool usage frequency: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Spearman ρ = .69, p &lt; .001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confirming AIRS measures a construct with real behavioral consequences.</a:t>
            </a:r>
            <a:endParaRPr lang="en-US" sz="15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23986" y="2817257"/>
            <a:ext cx="496133" cy="49613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23986" y="3561398"/>
            <a:ext cx="307955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Individual Tool Correlations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5223986" y="3990618"/>
            <a:ext cx="4182308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ChatGPT × BI: ρ = .57</a:t>
            </a:r>
            <a:endParaRPr lang="en-US" sz="155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Microsoft Copilot × BI: ρ = .54</a:t>
            </a:r>
            <a:endParaRPr lang="en-US" sz="155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Gemini × BI: ρ = .52</a:t>
            </a:r>
            <a:endParaRPr lang="en-US" sz="15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54302" y="2817257"/>
            <a:ext cx="496133" cy="49613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54302" y="3561398"/>
            <a:ext cx="375011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Role Differences (H6: Supported)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9654302" y="3990618"/>
            <a:ext cx="4182308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One-way ANOVA confirmed a clear hierarchy: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Leaders &gt; Professionals &gt; Academics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across tool breadth (η² = .066), usage frequency (η² = .078), and usage intensity (η² = .058).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793790" y="5794177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Leaders demonstrated particularly elevated Microsoft Copilot usage (Cohen's d = 1.14 vs. Professionals), likely reflecting enterprise licensing and workflow integration.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333738"/>
            <a:ext cx="732353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User Typology: Three Segments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793790" y="2251472"/>
            <a:ext cx="3679031" cy="2111335"/>
          </a:xfrm>
          <a:prstGeom prst="roundRect">
            <a:avLst>
              <a:gd name="adj" fmla="val 3948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9768" y="2457450"/>
            <a:ext cx="272224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🚀</a:t>
            </a:r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AI Enthusiasts — 31%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99768" y="2886670"/>
            <a:ext cx="3267075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Early adopters with high engagement across all dimensions. Mean BI = 4.23. Deploy as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change champions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peer influencers.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4671179" y="2251472"/>
            <a:ext cx="3679031" cy="2111335"/>
          </a:xfrm>
          <a:prstGeom prst="roundRect">
            <a:avLst>
              <a:gd name="adj" fmla="val 3948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877157" y="2457450"/>
            <a:ext cx="299561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⚖️</a:t>
            </a:r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Moderate Users — 47%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4877157" y="2886670"/>
            <a:ext cx="3267075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Pragmatic users near population means. Respond to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value demonstrations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social proof from peers.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93790" y="4561165"/>
            <a:ext cx="7556421" cy="1476256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99768" y="476714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🛑</a:t>
            </a:r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AI Skeptics — 22%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999768" y="5196364"/>
            <a:ext cx="71444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Resistant users with below-mean readiness. Mean BI = 1.71. Require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trust-building and anxiety-reduction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before engagement strategies will succeed.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793790" y="6260663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K-means cluster analysis (k = 3, silhouette = 0.271) explained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65.9% of BI variance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(F(2,520) = 503.47, p &lt; .001, η² = .659), confirming a clear readiness gradient.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77278"/>
            <a:ext cx="718208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Hypothesis Outcome Summary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218253"/>
            <a:ext cx="6279356" cy="4710827"/>
          </a:xfrm>
          <a:prstGeom prst="roundRect">
            <a:avLst>
              <a:gd name="adj" fmla="val 177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2225873"/>
            <a:ext cx="6264116" cy="88844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00006" y="2352556"/>
            <a:ext cx="210502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Category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09367" y="2352556"/>
            <a:ext cx="84843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762143" y="2352556"/>
            <a:ext cx="53518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Partial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701665" y="2352556"/>
            <a:ext cx="116550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Supported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01410" y="3114318"/>
            <a:ext cx="6264116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000006" y="3241000"/>
            <a:ext cx="210502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UTAUT2 Core (H1a–g)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509367" y="3241000"/>
            <a:ext cx="84843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(43%)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762143" y="3241000"/>
            <a:ext cx="53518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701665" y="3241000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(57%)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01410" y="3685223"/>
            <a:ext cx="6264116" cy="12059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00006" y="3811905"/>
            <a:ext cx="210502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Extension (H2)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509367" y="3811905"/>
            <a:ext cx="84843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762143" y="3811905"/>
            <a:ext cx="53518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(marginal)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701665" y="3811905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01410" y="4891207"/>
            <a:ext cx="6264116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000006" y="5017889"/>
            <a:ext cx="210502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Moderation (H3–H4)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3509367" y="5017889"/>
            <a:ext cx="84843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762143" y="5017889"/>
            <a:ext cx="53518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5701665" y="5017889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801410" y="5462111"/>
            <a:ext cx="6264116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000006" y="5588794"/>
            <a:ext cx="210502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Behavioral (H5–H6)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3509367" y="5588794"/>
            <a:ext cx="84843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(100%)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4762143" y="5588794"/>
            <a:ext cx="53518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701665" y="5588794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801410" y="6033016"/>
            <a:ext cx="6264116" cy="88844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1000006" y="6159698"/>
            <a:ext cx="210502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3509367" y="6159698"/>
            <a:ext cx="84843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(42%)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4762143" y="6159698"/>
            <a:ext cx="53518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(25%)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701665" y="6159698"/>
            <a:ext cx="11655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(33%)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7421999" y="1995011"/>
            <a:ext cx="6565106" cy="5157311"/>
          </a:xfrm>
          <a:prstGeom prst="roundRect">
            <a:avLst>
              <a:gd name="adj" fmla="val 2771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620357" y="2193369"/>
            <a:ext cx="292679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Pattern Is the Finding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7620357" y="2701885"/>
            <a:ext cx="6168390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distribution of supported vs. unsupported hypotheses reveals that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adoption follows a different predictor structure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than traditional technology adoption — with cost-value perceptions displacing utility perceptions as the primary driver.</a:t>
            </a:r>
            <a:endParaRPr lang="en-US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360997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5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6280190" y="3999428"/>
            <a:ext cx="5767149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Theoretical Contributions</a:t>
            </a:r>
            <a:endParaRPr lang="en-US" sz="3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76607"/>
            <a:ext cx="1241333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Contribution 1 &amp; 2: UTAUT2 Extension &amp; PV Dominance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3393519"/>
            <a:ext cx="6422231" cy="2459355"/>
          </a:xfrm>
          <a:prstGeom prst="roundRect">
            <a:avLst>
              <a:gd name="adj" fmla="val 4462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0930" y="3393519"/>
            <a:ext cx="91440" cy="2459355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</p:sp>
      <p:sp>
        <p:nvSpPr>
          <p:cNvPr id="5" name="Text 3"/>
          <p:cNvSpPr/>
          <p:nvPr/>
        </p:nvSpPr>
        <p:spPr>
          <a:xfrm>
            <a:off x="1083588" y="3614738"/>
            <a:ext cx="473344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First Empirical Validation of UTAUT2 for AI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83588" y="4043958"/>
            <a:ext cx="5911215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is the first study to empirically validate UTAUT2 for AI tool adoption with a purpose-built psychometric instrument. The 8-factor structure demonstrates UTAUT2's architecture applies to AI contexts, but predictor importance shifts substantially — four traditional predictors (PE, EE, FC, HB) were non-significant.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14379" y="3393519"/>
            <a:ext cx="6422231" cy="2459355"/>
          </a:xfrm>
          <a:prstGeom prst="roundRect">
            <a:avLst>
              <a:gd name="adj" fmla="val 4462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91519" y="3393519"/>
            <a:ext cx="91440" cy="2459355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</p:sp>
      <p:sp>
        <p:nvSpPr>
          <p:cNvPr id="9" name="Text 7"/>
          <p:cNvSpPr/>
          <p:nvPr/>
        </p:nvSpPr>
        <p:spPr>
          <a:xfrm>
            <a:off x="7704177" y="3614738"/>
            <a:ext cx="417147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as a Distinct Technology Category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704177" y="4043958"/>
            <a:ext cx="5911215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 dominance (β = .505) challenges decades of UTAUT research positioning Performance Expectancy as the primary driver. In AI contexts, utility may function as a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baseline expectation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rather than a differentiating factor, with adoption shaped more strongly by perceived cost-benefit ratios.</a:t>
            </a:r>
            <a:endParaRPr lang="en-US" sz="15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81056"/>
            <a:ext cx="130428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Contributions 3–5: Career Stage, Typology &amp; Industry Validation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3418046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204" y="3455253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438632" y="3486269"/>
            <a:ext cx="3537347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Career Development Integration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438632" y="4225647"/>
            <a:ext cx="3537347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HM → BI moderation (p = .007) and population moderation (Academic β = 0.449 vs. Professional β = −0.301) establish that adoption mechanisms are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career-stage dependent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a novel bridge between career development theory and technology acceptance.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23986" y="3418046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98400" y="3455253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868829" y="3486269"/>
            <a:ext cx="3537466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Three-Segment User Typology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868829" y="4225647"/>
            <a:ext cx="3537466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empirically derived typology (Enthusiasts, Moderate Users, Skeptics) explained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65.9% of BI variance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providing a segmentation framework grounded in validated psychometric dimensions rather than ad hoc categorization.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54302" y="3418046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28716" y="3455253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0299144" y="3486269"/>
            <a:ext cx="3537466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Converging 2025 Industry Validation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299144" y="4225647"/>
            <a:ext cx="3537466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McKinsey (N = 1,993), BCG, MIT Media Lab, Gartner, Deloitte, and Capgemini each reported patterns broadly consistent with AIRS findings — including centrality of perceived value, heterogeneous readiness, and limits of one-size-fits-all strategies.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37178"/>
            <a:ext cx="12273439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Contribution 6: Four Adoption-Value Gap Mechanisms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254091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9768" y="2460069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1B2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479" y="2623661"/>
            <a:ext cx="267891" cy="2678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99768" y="3253740"/>
            <a:ext cx="414254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Value Communication Misalignment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99768" y="3682960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Organizations emphasize capability rather than ROI, failing to address the dominant PV predictor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414379" y="2254091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20357" y="2460069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1B2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84068" y="2623661"/>
            <a:ext cx="267891" cy="2678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20357" y="3253740"/>
            <a:ext cx="302621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Heterogeneous Readiness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7620357" y="3682960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Treating the workforce as monolithic when 22% are Skeptics requiring fundamentally different intervention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793790" y="4722376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9768" y="4928354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1B2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479" y="5091946"/>
            <a:ext cx="267891" cy="2678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99768" y="5722025"/>
            <a:ext cx="323361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Neglected Affective Barriers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999768" y="6151245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Anxiety and hedonic motivation are ignored in favor of rational-utilitarian framings</a:t>
            </a:r>
            <a:endParaRPr lang="en-US" sz="1550" dirty="0"/>
          </a:p>
        </p:txBody>
      </p:sp>
      <p:sp>
        <p:nvSpPr>
          <p:cNvPr id="18" name="Shape 13"/>
          <p:cNvSpPr/>
          <p:nvPr/>
        </p:nvSpPr>
        <p:spPr>
          <a:xfrm>
            <a:off x="7414379" y="4722376"/>
            <a:ext cx="6422231" cy="2269927"/>
          </a:xfrm>
          <a:prstGeom prst="roundRect">
            <a:avLst>
              <a:gd name="adj" fmla="val 3672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620357" y="4928354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1B2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84068" y="5091946"/>
            <a:ext cx="267891" cy="2678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20357" y="5722025"/>
            <a:ext cx="400192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Context-Inappropriate Frameworks</a:t>
            </a:r>
            <a:endParaRPr lang="en-US" sz="1950" dirty="0"/>
          </a:p>
        </p:txBody>
      </p:sp>
      <p:sp>
        <p:nvSpPr>
          <p:cNvPr id="22" name="Text 16"/>
          <p:cNvSpPr/>
          <p:nvPr/>
        </p:nvSpPr>
        <p:spPr>
          <a:xfrm>
            <a:off x="7620357" y="6151245"/>
            <a:ext cx="601027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Generic technology adoption strategies fail to account for AI's distinctive characteristics as a technology category</a:t>
            </a:r>
            <a:endParaRPr lang="en-US" sz="15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14360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6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793790" y="3533061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Practical Implications</a:t>
            </a:r>
            <a:endParaRPr lang="en-US" sz="3900" dirty="0"/>
          </a:p>
        </p:txBody>
      </p:sp>
      <p:sp>
        <p:nvSpPr>
          <p:cNvPr id="5" name="Text 2"/>
          <p:cNvSpPr/>
          <p:nvPr/>
        </p:nvSpPr>
        <p:spPr>
          <a:xfrm>
            <a:off x="793790" y="4450794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AIRS findings translate directly into evidence-based recommendations for organizations deploying AI tools, AI tool designers, trainers, and policymakers.</a:t>
            </a:r>
            <a:endParaRPr lang="en-US" sz="15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04292"/>
            <a:ext cx="10688479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 Organizations: Eight Practitioner Recommendations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1818084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93790" y="2081927"/>
            <a:ext cx="6449735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2211943"/>
            <a:ext cx="2763560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Diagnose Before Prescribing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93790" y="2561392"/>
            <a:ext cx="6449735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Conduct baseline AIRS assessment before designing AI adoption initiatives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86876" y="1818084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86876" y="2081927"/>
            <a:ext cx="6449735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9" name="Text 7"/>
          <p:cNvSpPr/>
          <p:nvPr/>
        </p:nvSpPr>
        <p:spPr>
          <a:xfrm>
            <a:off x="7386876" y="2211943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 with Value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386876" y="2561392"/>
            <a:ext cx="6449735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Frame AI in terms of cost-benefit returns (PV dominance), not capability showcases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3790" y="3080861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3790" y="3344704"/>
            <a:ext cx="6449735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3" name="Text 11"/>
          <p:cNvSpPr/>
          <p:nvPr/>
        </p:nvSpPr>
        <p:spPr>
          <a:xfrm>
            <a:off x="793790" y="3474720"/>
            <a:ext cx="2615327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Attend to Affective Barriers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93790" y="3824168"/>
            <a:ext cx="6449735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 and anxiety influence adoption beyond rational calculations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86876" y="3080861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86876" y="3344704"/>
            <a:ext cx="6449735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7" name="Text 15"/>
          <p:cNvSpPr/>
          <p:nvPr/>
        </p:nvSpPr>
        <p:spPr>
          <a:xfrm>
            <a:off x="7386876" y="3474720"/>
            <a:ext cx="2515195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Leverage Social Influence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386876" y="3824168"/>
            <a:ext cx="6449735" cy="499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Peer champions and leadership endorsement are the third significant predictor (SI β = .136)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3790" y="4593312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790" y="4857155"/>
            <a:ext cx="6449735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1" name="Text 19"/>
          <p:cNvSpPr/>
          <p:nvPr/>
        </p:nvSpPr>
        <p:spPr>
          <a:xfrm>
            <a:off x="793790" y="4987171"/>
            <a:ext cx="2630567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Differentiate by Experience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93790" y="5336619"/>
            <a:ext cx="6449735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Novice and experienced users respond to different adoption drivers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86876" y="4593312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06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86876" y="4857155"/>
            <a:ext cx="6449735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5" name="Text 23"/>
          <p:cNvSpPr/>
          <p:nvPr/>
        </p:nvSpPr>
        <p:spPr>
          <a:xfrm>
            <a:off x="7386876" y="4987171"/>
            <a:ext cx="2599730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 Trust Continuously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7386876" y="5336619"/>
            <a:ext cx="6449735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Trust functions as a diagnostic indicator and necessary condition, not just a predictor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93790" y="5856089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07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3790" y="6119932"/>
            <a:ext cx="6449735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9" name="Text 27"/>
          <p:cNvSpPr/>
          <p:nvPr/>
        </p:nvSpPr>
        <p:spPr>
          <a:xfrm>
            <a:off x="793790" y="6249948"/>
            <a:ext cx="2242780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Design for Accessibility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93790" y="6599396"/>
            <a:ext cx="6449735" cy="499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Universal design principles reduce anxiety-driven non-adoption among users with disabilities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86876" y="5856089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08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86876" y="6119932"/>
            <a:ext cx="6449735" cy="2286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33" name="Text 31"/>
          <p:cNvSpPr/>
          <p:nvPr/>
        </p:nvSpPr>
        <p:spPr>
          <a:xfrm>
            <a:off x="7386876" y="6249948"/>
            <a:ext cx="2326838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Segment the Workforce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386876" y="6599396"/>
            <a:ext cx="6449735" cy="249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 single intervention strategy will fail for at least one-third of the workforce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49780"/>
            <a:ext cx="9045535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Segment-Specific Intervention Strategy</a:t>
            </a:r>
            <a:endParaRPr lang="en-US" sz="3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3066693"/>
            <a:ext cx="4347567" cy="7937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2148" y="405884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Skeptics (22%)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992148" y="4488061"/>
            <a:ext cx="395085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Address trust barriers and anxiety </a:t>
            </a:r>
            <a:pPr algn="l" indent="0" marL="0">
              <a:lnSpc>
                <a:spcPts val="2500"/>
              </a:lnSpc>
              <a:buNone/>
            </a:pPr>
            <a:r>
              <a:rPr lang="en-US" sz="15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before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engagement. Generic training will not move this group.</a:t>
            </a:r>
            <a:endParaRPr lang="en-US" sz="15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357" y="3066693"/>
            <a:ext cx="4347567" cy="79379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39715" y="405884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Moderate Users (47%)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5339715" y="4488061"/>
            <a:ext cx="395085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 value demonstrations and social proof from peers. Workflow integration and ROI evidence are key.</a:t>
            </a:r>
            <a:endParaRPr lang="en-US" sz="15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8924" y="3066693"/>
            <a:ext cx="4347567" cy="79379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87282" y="405884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Enthusiasts (31%)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9687282" y="4488061"/>
            <a:ext cx="395085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as change champions and peer influencers. Provide access to advanced capabilities and mentorship structures.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793790" y="5862280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AI tool designers: manage pricing and perceived value explicitly, and treat accessibility as an adoption condition — not merely an inclusion issue.</a:t>
            </a:r>
            <a:endParaRPr lang="en-US" sz="15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67485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Special Section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793790" y="3064312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Neurodiversity &amp; Disability Insights</a:t>
            </a:r>
            <a:endParaRPr lang="en-US" sz="3900" dirty="0"/>
          </a:p>
        </p:txBody>
      </p:sp>
      <p:sp>
        <p:nvSpPr>
          <p:cNvPr id="5" name="Text 2"/>
          <p:cNvSpPr/>
          <p:nvPr/>
        </p:nvSpPr>
        <p:spPr>
          <a:xfrm>
            <a:off x="793790" y="4602123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AIRS dataset includes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68 participants (13.0%)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who self-reported a disability — sufficient for exploratory between-group analysis and among the most practically salient findings in the dissertation.</a:t>
            </a:r>
            <a:endParaRPr lang="en-US" sz="15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36263"/>
            <a:ext cx="990040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Disability–Anxiety Association: Core Finding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652355"/>
            <a:ext cx="327898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Statistically Significant Effect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3160871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Participants with disabilities reported significantly higher AI-related anxiety than non-disabled participants: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3790" y="3974544"/>
            <a:ext cx="6279356" cy="109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Disability group: M = 2.89, SD = 1.08</a:t>
            </a:r>
            <a:endParaRPr lang="en-US" sz="1550" dirty="0"/>
          </a:p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Non-disability group: M = 2.48, SD = 0.96</a:t>
            </a:r>
            <a:endParaRPr lang="en-US" sz="1550" dirty="0"/>
          </a:p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t(521) = 2.76, p = .006, Cohen's d = 0.36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93790" y="5244584"/>
            <a:ext cx="6279356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Notably, this finding emerged from AI Anxiety items that were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subsequently excluded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from the final AIRS-16 due to inadequate psychometric properties — suggesting the true effect may be larger than observed.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21999" y="2453997"/>
            <a:ext cx="6565106" cy="4239339"/>
          </a:xfrm>
          <a:prstGeom prst="roundRect">
            <a:avLst>
              <a:gd name="adj" fmla="val 3371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620357" y="2652355"/>
            <a:ext cx="348626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Coherent Disadvantage Profile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620357" y="3160871"/>
            <a:ext cx="6168390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all 8 UTAUT2 constructs, participants with disabilities showed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consistently lower scores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on every positive adoption construct and higher anxiety — a uniform directional pattern constituting coherent disadvantage rather than random noise.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620357" y="4609624"/>
            <a:ext cx="6168390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 also reached significance (d = .28, p = .030): current AI tools are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less enjoyable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users with disabilities — pointing to accessibility failures in existing AI products.</a:t>
            </a:r>
            <a:endParaRPr lang="en-US" sz="15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26087"/>
            <a:ext cx="1009435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Disability Findings: Four Interpretive Threads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70930" y="3020139"/>
            <a:ext cx="45720" cy="1427559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4" name="Text 2"/>
          <p:cNvSpPr/>
          <p:nvPr/>
        </p:nvSpPr>
        <p:spPr>
          <a:xfrm>
            <a:off x="1037868" y="3042999"/>
            <a:ext cx="388477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Anxiety Reflects Lived Experience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37868" y="3472220"/>
            <a:ext cx="6153269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users who have repeatedly encountered inaccessible interfaces or algorithmic bias, elevated anxiety about AI is a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rational response to historical exclusion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not a deficit to be corrected.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416284" y="3020139"/>
            <a:ext cx="45720" cy="1427559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7" name="Text 5"/>
          <p:cNvSpPr/>
          <p:nvPr/>
        </p:nvSpPr>
        <p:spPr>
          <a:xfrm>
            <a:off x="7683222" y="3042999"/>
            <a:ext cx="422386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HM Suppression Is a Design Problem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683222" y="3472220"/>
            <a:ext cx="6153388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significant HM gap (d = .28) implies current AI tools are less enjoyable for users with disabilities — pointing to accessibility failures, not user deficits.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70930" y="4798814"/>
            <a:ext cx="45720" cy="1427559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0" name="Text 8"/>
          <p:cNvSpPr/>
          <p:nvPr/>
        </p:nvSpPr>
        <p:spPr>
          <a:xfrm>
            <a:off x="1037868" y="4821674"/>
            <a:ext cx="426946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Anxiety Construct Needs Redesign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037868" y="5250894"/>
            <a:ext cx="6153269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AIRS-28 expansion should prioritize redesigning anxiety items using neurodiversity-informed language distinguishing displacement anxiety from accessibility-barrier anxiety.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416284" y="4798814"/>
            <a:ext cx="45720" cy="1427559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3" name="Text 11"/>
          <p:cNvSpPr/>
          <p:nvPr/>
        </p:nvSpPr>
        <p:spPr>
          <a:xfrm>
            <a:off x="7683222" y="4821674"/>
            <a:ext cx="472154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Universal Design as Adoption Accelerator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683222" y="5250894"/>
            <a:ext cx="6153388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Making AI tools more accessible reduces anxiety-driven non-adoption broadly — the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"curb cut effect"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applied to AI adoption benefits the entire user population.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7542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793790" y="1864876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Limitations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93790" y="298096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Methodological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93790" y="3623489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6" name="Text 4"/>
          <p:cNvSpPr/>
          <p:nvPr/>
        </p:nvSpPr>
        <p:spPr>
          <a:xfrm>
            <a:off x="1091327" y="3514368"/>
            <a:ext cx="598181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Cross-sectional design: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Prevents causal inference about direction of relationships or how adoption intentions evolve over time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93790" y="4655403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8" name="Text 6"/>
          <p:cNvSpPr/>
          <p:nvPr/>
        </p:nvSpPr>
        <p:spPr>
          <a:xfrm>
            <a:off x="1091327" y="4546283"/>
            <a:ext cx="5981819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Self-reported intention: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BI-Usage correlation (ρ = .69) confirms meaningful association, but intention does not perfectly predict behavior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93790" y="6004858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10" name="Text 8"/>
          <p:cNvSpPr/>
          <p:nvPr/>
        </p:nvSpPr>
        <p:spPr>
          <a:xfrm>
            <a:off x="1091327" y="5895737"/>
            <a:ext cx="598181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Panel sampling: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Centiment panel may not perfectly represent the broader U.S. population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564874" y="2980968"/>
            <a:ext cx="261556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Measurement &amp; Scope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7564874" y="3623489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13" name="Text 11"/>
          <p:cNvSpPr/>
          <p:nvPr/>
        </p:nvSpPr>
        <p:spPr>
          <a:xfrm>
            <a:off x="7862411" y="3514368"/>
            <a:ext cx="598181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items per factor: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Constrains reliability and contributes to elevated inter-factor correlations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7564874" y="4655403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15" name="Text 13"/>
          <p:cNvSpPr/>
          <p:nvPr/>
        </p:nvSpPr>
        <p:spPr>
          <a:xfrm>
            <a:off x="7862411" y="4546283"/>
            <a:ext cx="598181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 dropped constructs: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Voluntariness, Explainability, Ethical Risk, and AI Anxiety warrant item redesign and re-investigation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564874" y="5687318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17" name="Text 15"/>
          <p:cNvSpPr/>
          <p:nvPr/>
        </p:nvSpPr>
        <p:spPr>
          <a:xfrm>
            <a:off x="7862411" y="5578197"/>
            <a:ext cx="598181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Western sample: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All U.S.-based participants; AI adoption patterns may differ substantially in non-Western contexts</a:t>
            </a:r>
            <a:endParaRPr lang="en-US" sz="15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60997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8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793790" y="3999428"/>
            <a:ext cx="610100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Future Research Roadmap</a:t>
            </a:r>
            <a:endParaRPr lang="en-US" sz="3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503" y="547926"/>
            <a:ext cx="6760607" cy="6167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Four-Phase Research Agenda</a:t>
            </a:r>
            <a:endParaRPr lang="en-US" sz="3850" dirty="0"/>
          </a:p>
        </p:txBody>
      </p:sp>
      <p:sp>
        <p:nvSpPr>
          <p:cNvPr id="3" name="Shape 1"/>
          <p:cNvSpPr/>
          <p:nvPr/>
        </p:nvSpPr>
        <p:spPr>
          <a:xfrm>
            <a:off x="1085493" y="2050613"/>
            <a:ext cx="6131481" cy="197287"/>
          </a:xfrm>
          <a:prstGeom prst="roundRect">
            <a:avLst>
              <a:gd name="adj" fmla="val 42019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9503" y="1853148"/>
            <a:ext cx="592098" cy="592098"/>
          </a:xfrm>
          <a:prstGeom prst="roundRect">
            <a:avLst>
              <a:gd name="adj" fmla="val 7721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7498" y="2001262"/>
            <a:ext cx="295989" cy="29598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6790" y="2641521"/>
            <a:ext cx="4927402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1: AIRS-28 Development (2026–2027)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86790" y="3067645"/>
            <a:ext cx="6033016" cy="1259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Expand from 16 to 28 items (3–4 per factor) to improve reliability and resolve discriminant validity concerns. Redesign Explainability, Ethical Risk, and AI Anxiety items. Target: eliminate all HTMT violations.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709297" y="1754624"/>
            <a:ext cx="6131481" cy="197287"/>
          </a:xfrm>
          <a:prstGeom prst="roundRect">
            <a:avLst>
              <a:gd name="adj" fmla="val 42019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13308" y="1557159"/>
            <a:ext cx="592098" cy="592098"/>
          </a:xfrm>
          <a:prstGeom prst="roundRect">
            <a:avLst>
              <a:gd name="adj" fmla="val 7721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61302" y="1705273"/>
            <a:ext cx="295989" cy="2959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10594" y="2345531"/>
            <a:ext cx="6033016" cy="61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2: Longitudinal &amp; Cross-Cultural Validation (2026–2028)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7610594" y="3080028"/>
            <a:ext cx="6033016" cy="944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12-month longitudinal panel to track readiness profile evolution. Simultaneously validate AIRS across non-Western cultural contexts to establish cross-cultural measurement invariance.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1085493" y="5214223"/>
            <a:ext cx="6131481" cy="197287"/>
          </a:xfrm>
          <a:prstGeom prst="roundRect">
            <a:avLst>
              <a:gd name="adj" fmla="val 42019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89503" y="5016758"/>
            <a:ext cx="592098" cy="592098"/>
          </a:xfrm>
          <a:prstGeom prst="roundRect">
            <a:avLst>
              <a:gd name="adj" fmla="val 7721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7498" y="5164872"/>
            <a:ext cx="295989" cy="29598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6790" y="5805130"/>
            <a:ext cx="6033016" cy="61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3: Intervention Framework Development (2028–2029)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986790" y="6539627"/>
            <a:ext cx="6033016" cy="944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 and test AIRS-informed organizational change programs targeted at each user segment. Test whether AIRS-guided interventions outperform generic AI training approaches.</a:t>
            </a:r>
            <a:endParaRPr lang="en-US" sz="1550" dirty="0"/>
          </a:p>
        </p:txBody>
      </p:sp>
      <p:sp>
        <p:nvSpPr>
          <p:cNvPr id="18" name="Shape 13"/>
          <p:cNvSpPr/>
          <p:nvPr/>
        </p:nvSpPr>
        <p:spPr>
          <a:xfrm>
            <a:off x="7709297" y="4918234"/>
            <a:ext cx="6131481" cy="197287"/>
          </a:xfrm>
          <a:prstGeom prst="roundRect">
            <a:avLst>
              <a:gd name="adj" fmla="val 42019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413308" y="4720769"/>
            <a:ext cx="592098" cy="592098"/>
          </a:xfrm>
          <a:prstGeom prst="roundRect">
            <a:avLst>
              <a:gd name="adj" fmla="val 7721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1302" y="4868882"/>
            <a:ext cx="295989" cy="29598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10594" y="5509141"/>
            <a:ext cx="5773460" cy="3083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Phase 4: Comprehensive Prediction System (2029+)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7610594" y="5935266"/>
            <a:ext cx="6033016" cy="944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Integrate AIRS with behavioral data, organizational context measures, and industry-specific moderators to build a comprehensive AI readiness prediction and monitoring system.</a:t>
            </a:r>
            <a:endParaRPr lang="en-US" sz="1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075" y="546021"/>
            <a:ext cx="7346871" cy="5885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Seven Scholar Recommendations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3679" y="1501319"/>
            <a:ext cx="282535" cy="2825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05176" y="1492091"/>
            <a:ext cx="12432149" cy="293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Larger samples</a:t>
            </a:r>
            <a:pPr algn="l"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(n &gt; 600) to increase power for multi-group and moderation analyses</a:t>
            </a:r>
            <a:endParaRPr lang="en-US" sz="14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679" y="2433221"/>
            <a:ext cx="282535" cy="28253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405176" y="2423993"/>
            <a:ext cx="12432149" cy="293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Improved AI-specific measures</a:t>
            </a:r>
            <a:pPr algn="l"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with 3–4 items per dimension to resolve HTMT violations inherent in 2-item scales</a:t>
            </a:r>
            <a:endParaRPr lang="en-US" sz="14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3679" y="3365123"/>
            <a:ext cx="282535" cy="28253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405176" y="3355896"/>
            <a:ext cx="12432149" cy="293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PV dominance investigation</a:t>
            </a:r>
            <a:pPr algn="l"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replicate and explain why Price Value overtakes Performance Expectancy specifically in AI contexts</a:t>
            </a:r>
            <a:endParaRPr lang="en-US" sz="14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3679" y="4297025"/>
            <a:ext cx="282535" cy="28253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405176" y="4287798"/>
            <a:ext cx="12432149" cy="293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Career development integration</a:t>
            </a:r>
            <a:pPr algn="l"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study how adoption mechanisms change across career stages (student → early → mid → senior)</a:t>
            </a:r>
            <a:endParaRPr lang="en-US" sz="14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3679" y="5228927"/>
            <a:ext cx="282535" cy="28253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405176" y="5219700"/>
            <a:ext cx="12432149" cy="587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Typology validation</a:t>
            </a:r>
            <a:pPr algn="l"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confirm the three-segment structure in independent samples and test whether typology membership predicts actual adoption behavior</a:t>
            </a:r>
            <a:endParaRPr lang="en-US" sz="14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63679" y="6173688"/>
            <a:ext cx="282535" cy="282535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405176" y="6164461"/>
            <a:ext cx="12432149" cy="293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Cross-cultural replication</a:t>
            </a:r>
            <a:pPr algn="l"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establish measurement invariance across non-Western contexts</a:t>
            </a:r>
            <a:endParaRPr lang="en-US" sz="1450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63679" y="7105590"/>
            <a:ext cx="282535" cy="282535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1405176" y="7096363"/>
            <a:ext cx="12432149" cy="587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Longitudinal designs</a:t>
            </a:r>
            <a:pPr algn="l"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move beyond cross-sectional snapshots to track readiness trajectories and determine whether AIRS scores predict future behavior</a:t>
            </a:r>
            <a:endParaRPr lang="en-US" sz="14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53684"/>
            <a:ext cx="1260181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Appropriate Reliance &amp; 2026 Contextual Developments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969776"/>
            <a:ext cx="251460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Calibrated AI Reliance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3478292"/>
            <a:ext cx="6279356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distinctive future direction concerns the paradox that optimizing AI adoption may inadvertently increase over-reliance. The AETHER group's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Calibrated AI Reliance (CAIR)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Calibrated Self-Reliance (CSR) constructs suggest the goal should be </a:t>
            </a:r>
            <a:pPr algn="l" indent="0" marL="0">
              <a:lnSpc>
                <a:spcPts val="2500"/>
              </a:lnSpc>
              <a:buNone/>
            </a:pPr>
            <a:r>
              <a:rPr lang="en-US" sz="15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appropriate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adoption — knowing when to use AI and when to rely on human judgment.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3790" y="5244584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reframing from "more adoption is better" to "calibrated adoption is optimal" represents an important evolution of the research program, also addressed in </a:t>
            </a:r>
            <a:pPr algn="l" indent="0" marL="0">
              <a:lnSpc>
                <a:spcPts val="2500"/>
              </a:lnSpc>
              <a:buNone/>
            </a:pPr>
            <a:r>
              <a:rPr lang="en-US" sz="15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Life of Alex Finch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(AlexBooks, March 2026).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421999" y="2771418"/>
            <a:ext cx="6565106" cy="3604379"/>
          </a:xfrm>
          <a:prstGeom prst="roundRect">
            <a:avLst>
              <a:gd name="adj" fmla="val 3965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620357" y="2969776"/>
            <a:ext cx="332184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2026 Landscape Shifts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620357" y="3478292"/>
            <a:ext cx="6168390" cy="267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DeepSeek R1: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Open-source frontier capabilities change the PV calculation entirely — no longer exclusive to well-resourced organizations</a:t>
            </a:r>
            <a:endParaRPr lang="en-US" sz="1550" dirty="0"/>
          </a:p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Agentic AI: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Systems operating with greater autonomy raise new trust and control questions beyond the original AIRS scope</a:t>
            </a:r>
            <a:endParaRPr lang="en-US" sz="1550" dirty="0"/>
          </a:p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EU AI Act: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Enforcement timeline introduces regulatory compliance as a new adoption consideration absent from the current UTAUT2 framework</a:t>
            </a:r>
            <a:endParaRPr lang="en-US" sz="15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98489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Chapter 9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6280190" y="3374350"/>
            <a:ext cx="5628680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AIRS Enterprise Platform</a:t>
            </a:r>
            <a:endParaRPr lang="en-US" sz="3900" dirty="0"/>
          </a:p>
        </p:txBody>
      </p:sp>
      <p:sp>
        <p:nvSpPr>
          <p:cNvPr id="5" name="Text 2"/>
          <p:cNvSpPr/>
          <p:nvPr/>
        </p:nvSpPr>
        <p:spPr>
          <a:xfrm>
            <a:off x="6280190" y="4292084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AIRS Enterprise (airs.correax.com) translates the validated AIRS-16 instrument into a production SaaS platform — delivering practical assessment and remediation tools to organizations while enabling longitudinal data collection at scale.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96866"/>
            <a:ext cx="5955149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 Core Capabilities</a:t>
            </a:r>
            <a:endParaRPr lang="en-US" sz="3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3790" y="2613779"/>
            <a:ext cx="496133" cy="4961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37930" y="261377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5-Minute Assessment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1537930" y="3042999"/>
            <a:ext cx="5653207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Interactive AIRS-16 with progress tracking, save/resume, and smart follow-up questions. Composite AIRS score (8–40) with demonstrated validity (r = .876).</a:t>
            </a:r>
            <a:endParaRPr lang="en-US" sz="15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39144" y="2613779"/>
            <a:ext cx="496133" cy="49613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183285" y="2613779"/>
            <a:ext cx="266783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AI-Personalized Guides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8183285" y="3042999"/>
            <a:ext cx="565332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Streaming LLM-generated action plans (3–5 pages) tailored to individual profile and career context via Azure OpenAI GPT-4o-mini. Available in 29 languages.</a:t>
            </a:r>
            <a:endParaRPr lang="en-US" sz="15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90" y="4392454"/>
            <a:ext cx="496133" cy="49613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7930" y="439245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Results Visualization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1537930" y="4821674"/>
            <a:ext cx="5653207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Animated gauge, 8-axis construct radar chart, and typology badge with actionable context. Three-segment classification at 94.5% accuracy.</a:t>
            </a:r>
            <a:endParaRPr lang="en-US" sz="15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39144" y="4392454"/>
            <a:ext cx="496133" cy="49613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183285" y="4392454"/>
            <a:ext cx="303466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Organization Management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8183285" y="4821674"/>
            <a:ext cx="565332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Team analytics, department/role segmentation, CSV exports, impact reporting, and longitudinal pre/post assessment comparison with trend analysis.</a:t>
            </a:r>
            <a:endParaRPr lang="en-US" sz="1550" dirty="0"/>
          </a:p>
        </p:txBody>
      </p:sp>
      <p:sp>
        <p:nvSpPr>
          <p:cNvPr id="15" name="Text 9"/>
          <p:cNvSpPr/>
          <p:nvPr/>
        </p:nvSpPr>
        <p:spPr>
          <a:xfrm>
            <a:off x="793790" y="5997535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Technology Stack: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Next.js 16.1, React 19, Prisma ORM with PostgreSQL, Microsoft Entra ID authentication, Azure App Service Premium (P2v3) with VNet integration and managed identity — no stored secrets.</a:t>
            </a:r>
            <a:endParaRPr lang="en-US" sz="15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74307"/>
            <a:ext cx="1007602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Intervention Frameworks by Typology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3091220"/>
            <a:ext cx="4215289" cy="3063954"/>
          </a:xfrm>
          <a:prstGeom prst="roundRect">
            <a:avLst>
              <a:gd name="adj" fmla="val 2721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768" y="3297198"/>
            <a:ext cx="288536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TRANSFORM Framework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99768" y="3726418"/>
            <a:ext cx="3803333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Skeptics (AIRS ≤ 20)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Trust-building through graduated autonomy — starting with low-risk AI tasks, demonstrating reliability through small wins, progressively expanding scope. Emphasizes explainability and human-in-the-loop safeguards.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207437" y="3091220"/>
            <a:ext cx="4215408" cy="3063954"/>
          </a:xfrm>
          <a:prstGeom prst="roundRect">
            <a:avLst>
              <a:gd name="adj" fmla="val 2721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13415" y="3297198"/>
            <a:ext cx="257639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REDESIGN Framework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5413415" y="3726418"/>
            <a:ext cx="3803452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Moderate Users (AIRS 21–30)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Workflow integration and ROI demonstration — identifying specific processes where AI adds measurable value, providing social proof through peer success stories, building competence through structured skill development.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9621203" y="3091220"/>
            <a:ext cx="4215289" cy="3063954"/>
          </a:xfrm>
          <a:prstGeom prst="roundRect">
            <a:avLst>
              <a:gd name="adj" fmla="val 2721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27181" y="329719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AMPLIFY Framework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827181" y="3726418"/>
            <a:ext cx="3803333" cy="2222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Enthusiasts (AIRS &gt; 30)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Champion network activation — leveraging high-readiness individuals as change agents, providing access to advanced AI capabilities, and creating mentorship structures that accelerate adoption across the organization.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83018"/>
            <a:ext cx="7364730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Construct-Specific Interventions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299930"/>
            <a:ext cx="13042821" cy="4646652"/>
          </a:xfrm>
          <a:prstGeom prst="roundRect">
            <a:avLst>
              <a:gd name="adj" fmla="val 1794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2307550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00006" y="2434233"/>
            <a:ext cx="194441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Construct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348752" y="2434233"/>
            <a:ext cx="24616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Barrier Indicator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214705" y="2434233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Evidence-Based Intervention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01410" y="2878455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000006" y="3005138"/>
            <a:ext cx="194441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Price Value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348752" y="3005138"/>
            <a:ext cx="24616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 perceived ROI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214705" y="3005138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TCO analysis workshops, pilot-to-proof ROI tracking, phased investment models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1410" y="3449360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000006" y="3576042"/>
            <a:ext cx="194441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Hedonic Motivation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348752" y="3576042"/>
            <a:ext cx="24616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 engagement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214705" y="3576042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Gamification elements, AI sandboxes for exploration, social learning communities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01410" y="4020264"/>
            <a:ext cx="13027581" cy="88844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000006" y="4146947"/>
            <a:ext cx="194441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Social Influence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348752" y="4146947"/>
            <a:ext cx="24616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Insufficient advocacy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214705" y="4146947"/>
            <a:ext cx="7415927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Peer champion programs, leadership endorsement campaigns, success story sharing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01410" y="4908709"/>
            <a:ext cx="13027581" cy="88844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000006" y="5035391"/>
            <a:ext cx="194441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Trust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348752" y="5035391"/>
            <a:ext cx="24616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Reliability concerns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14705" y="5035391"/>
            <a:ext cx="7415927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Explainability tools, human-in-the-loop with graduated autonomy, transparent error reporting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801410" y="5797153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000006" y="5923836"/>
            <a:ext cx="194441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Effort Expectancy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3348752" y="5923836"/>
            <a:ext cx="24616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Usability barriers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214705" y="5923836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Guided onboarding, contextual help systems, progressive complexity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801410" y="6368058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1000006" y="6494740"/>
            <a:ext cx="194441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Habit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3348752" y="6494740"/>
            <a:ext cx="246161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 integration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214705" y="6494740"/>
            <a:ext cx="7415927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AI-assisted workflows, reminder systems, routine integration coaching</a:t>
            </a:r>
            <a:endParaRPr lang="en-US" sz="15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30511"/>
            <a:ext cx="1056667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Longitudinal Research Design: AIRS Enterprise</a:t>
            </a:r>
            <a:endParaRPr lang="en-US" sz="3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2247424"/>
            <a:ext cx="13042821" cy="35758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66066" y="3539547"/>
            <a:ext cx="1970959" cy="352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T1 Baseline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366066" y="3992831"/>
            <a:ext cx="1970959" cy="846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Initial measurement and profiling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5026164" y="3003136"/>
            <a:ext cx="1970959" cy="705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T2 Three Months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026164" y="3809321"/>
            <a:ext cx="1970959" cy="84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 short-term stability and change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736454" y="3539547"/>
            <a:ext cx="1970959" cy="352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T3 Six Months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36454" y="3992831"/>
            <a:ext cx="1970959" cy="846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Evaluate intervention responsiveness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0421648" y="3285458"/>
            <a:ext cx="1970959" cy="705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T4 Twelve Months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0421648" y="4091643"/>
            <a:ext cx="1970959" cy="564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Measure long-term predictive validity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93790" y="6046470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organizational deployment generates structured data (8 construct scores, composite AIRS score, typology classification, demographic context) feeding directly into a normative benchmarking database targeting N = 300–500+ per population group across 8+ target groups (2026–2028).</a:t>
            </a:r>
            <a:endParaRPr lang="en-US" sz="15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04543"/>
            <a:ext cx="5851446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Research-Practice Bridge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220635"/>
            <a:ext cx="370451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Closing the Implementation Gap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2729151"/>
            <a:ext cx="6955631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Instead of the familiar pattern in which an instrument is developed, published, and then rarely operationalized, AIRS pairs the validated instrument with a platform that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evolves alongside it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Every organizational deployment strengthens the normative database; every research finding improves intervention recommendations.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3790" y="4495443"/>
            <a:ext cx="6955631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medium-term strategy (1–3 years) focuses on building a benchmark database. The longer-term goal (3–5 years) is to establish AIRS as a recognized AI readiness standard through academic use, organizational partnerships, and integration with enterprise HR and LMS systems.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098274" y="2022277"/>
            <a:ext cx="5888712" cy="5102662"/>
          </a:xfrm>
          <a:prstGeom prst="roundRect">
            <a:avLst>
              <a:gd name="adj" fmla="val 2801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8296632" y="2220635"/>
            <a:ext cx="329255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Complementary Paths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296632" y="2863155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9" name="Text 7"/>
          <p:cNvSpPr/>
          <p:nvPr/>
        </p:nvSpPr>
        <p:spPr>
          <a:xfrm>
            <a:off x="8594169" y="2754035"/>
            <a:ext cx="519445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AIRS-16 Instrument: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Validated psychometric tool for academic and organizational use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96632" y="3895070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11" name="Text 9"/>
          <p:cNvSpPr/>
          <p:nvPr/>
        </p:nvSpPr>
        <p:spPr>
          <a:xfrm>
            <a:off x="8594169" y="3785949"/>
            <a:ext cx="519445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AIRS Enterprise Platform: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Production SaaS delivering assessment, personalization, and longitudinal tracking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96632" y="4926985"/>
            <a:ext cx="99179" cy="99179"/>
          </a:xfrm>
          <a:prstGeom prst="roundRect">
            <a:avLst>
              <a:gd name="adj" fmla="val 460985"/>
            </a:avLst>
          </a:prstGeom>
          <a:solidFill>
            <a:srgbClr val="1B1B27"/>
          </a:solidFill>
          <a:ln/>
        </p:spPr>
      </p:sp>
      <p:sp>
        <p:nvSpPr>
          <p:cNvPr id="13" name="Text 11"/>
          <p:cNvSpPr/>
          <p:nvPr/>
        </p:nvSpPr>
        <p:spPr>
          <a:xfrm>
            <a:off x="8594169" y="4817864"/>
            <a:ext cx="5194459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i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Life of Alex Finch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(AlexBooks, March 2026): Public-facing narrative on appropriate reliance, over-reliance, and preservation of human judgment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96632" y="5993725"/>
            <a:ext cx="549199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Together, these create complementary paths for advancing the research across academic, organizational, and public audiences.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2026-03-12T22:07:41Z</dcterms:created>
  <dcterms:modified xsi:type="dcterms:W3CDTF">2026-03-12T22:07:41Z</dcterms:modified>
</cp:coreProperties>
</file>